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Logo: official kit horizontal INK PNG (gem-horizontal-ink-1024.png), unchanged. Ring is the single decorative form, cropped off the edge, clear of the logo (Part A slides 41-43). Tagline set per Part A slides 23-24 / Part B tagline token (caps, Jost 400, 0.18em, 14px class). Working revision 04 supersedes the prose draft and corrects the label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B slide 5 (roles, change control), naming approval 2026-10-18, FA01/RP01 release records. Document control values are intentionally pending; they must be assigned by the owner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slide 4: authority order is the Approval Register, Part A, Part B, Part C, formal technical and legal standards where they apply (WCAG 2.2 AA), then historical and benchmark material; and "Where sources conflict, the register wins. Domain ownership: where Parts A, B and C cover different implementation domains, the owning document governs that domain unless the register overrides it." Part D is a concept record and Part E is a subordinate application; neither is placed above an applicable legal or technical obligation. Chip styles follow the Part A/B status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A slides 12-14 (positioning, audiences). Commercial scope, capabilities and proof points stay CONDITIONAL until VAL-01 closes (Part A slide 13). Audience sentence is the owner-supplied context; the "not a promise" clause is a PROPOSED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A slides 16-17; naming approval 2026-10-18 (names, qualifiers, not adopted); Bar Soap is PROPOSED (PE-04) and not recorded as a sixth pilot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governance/product-naming-approval-2026-10-18.md (English naming only). Descriptor format from Part A slide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Corrects the prose draft, which had renamed Levels 4-6. Levels follow Part A slide 61 (GEM &gt; collection/tier &gt; product and function &gt; quantity &gt; instructions &gt; SKU and artwork version), cross-referenced in Part B slide 27 and Part C slide 29. Level 02 omission: naming approval 2026-10-18. Concept vs consumer-ready placeholder rule: Part A slide 62 and PE-05.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names from the owner-supplied context (precision, restraint, geometry, space); the one-line applications are PROPOSED (PE-21). Restraint line fixed so it cannot be read as removing hierarchy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from gem-tokens.v3.0.css and Part B slides 3, 6, 7, 9, 10, 11; tagline treatment Part A slides 23-24. Quick reference only: the master documents govern. Colour-coded labels: owner instruction that this is a master-level (V3.1) amendment route via the Approval Register, not an exception in the product document; the exact outcome (scoped amendment, addendum or new version) is decided there. The bright-label sheet is a visual direction marked "visual review only", with visual-design approval pending on its own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A slide 63 (materials) and slide 62; Part B slide 28 (O17/O18, ratios 3:2, 4:5, 16:9 CONDITIONAL) and slide 15; Part A slide 4 (concept labels). Disclosure variants PE-10. Crop ratios stay CONDITIONAL and do not amend Part B token status (PE-12). Bottle worksheet: all dimensions, resin, pump and fit-proof fields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B slides 8, 14, 16, 17, 19. The Do/Don’t pairs are PROPOSED (PE-14).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A slide 60 (tiers CONDITIONAL; AC03/VAL-01); naming approval. The "Consistent GEM range" is descriptive copy, not a tier, so the matrix column is "Baseline packs".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1/3/5 scale definitions are a PROPOSED method (PE-23). No feature has been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set is PROPOSED (PE-24). No numeric thresholds are approved. Candidate standards for the reviewer are on slide 16 and are marked TO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(PE-24). Part C governs physical production and its validation status; this table lists the evidence a release record must point to, not the test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slide 22 (unverified facts), Part B slides 12, 16, 33, VAL-05/06/07. The reference list is PROPOSED and not exhaustive; no standard is asserted as legally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A slides 19-20; Part B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draw on Part A slides 20-22 and the naming approval. The pairs are PROPOSED (PE-25). “Where true” keeps the draft/send example tied to what the implementation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Signature: Part A slides 23-24 (INHERITED). Frame and sentence are PROPOSED (PE-26), built only from owner-supplied context and Part A positioning; no capability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classes from Part A slide 4 / Part B slide 2. Field set is PROPOSED (PE-08); the editable register (claims-register.csv) accompanies the working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content requirements are PROPOSED (PE-13, PE-14). Build-specific audit statements are kept in the audit annex, not in this normative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Part B slide 5; Part A slide 72. No delegation is inferred where the records do not state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Hashes computed read-only from documents/working/product-line-guidelines-parte/ at deck build time. The deck does not alter these records. Full 64-character hashes are shown on the slide; verify with shasum -a 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checklist: Part B slide 33, VAL-16, VAL-21. The colour route follows the owner instruction recorded in owner-instruction-2026-10-18.md. The bright-label sheet is marked visual review only, with visual-design approval on its own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55280" y="-1371600"/>
            <a:ext cx="6949440" cy="6949440"/>
          </a:xfrm>
          <a:prstGeom prst="ellipse">
            <a:avLst/>
          </a:prstGeom>
          <a:ln w="25400">
            <a:solidFill>
              <a:srgbClr val="BCACA7"/>
            </a:solidFill>
            <a:prstDash val="solid"/>
          </a:ln>
        </p:spPr>
      </p:sp>
      <p:pic>
        <p:nvPicPr>
          <p:cNvPr id="3" name="Image 0" descr="/Users/mediacenter1/Downloads/GEM-3.0/GEM_Brand_Assets_v1.0/04_official_kit/logo/horizontal/png/gem-horizontal-ink-1024.png">    </p:cNvPr>
          <p:cNvPicPr>
            <a:picLocks noChangeAspect="1"/>
          </p:cNvPicPr>
          <p:nvPr/>
        </p:nvPicPr>
        <p:blipFill>
          <a:blip r:embed="rId1"/>
          <a:stretch>
            <a:fillRect/>
          </a:stretch>
        </p:blipFill>
        <p:spPr>
          <a:xfrm>
            <a:off x="548640" y="548640"/>
            <a:ext cx="2194560" cy="711518"/>
          </a:xfrm>
          <a:prstGeom prst="rect">
            <a:avLst/>
          </a:prstGeom>
        </p:spPr>
      </p:pic>
      <p:sp>
        <p:nvSpPr>
          <p:cNvPr id="4" name="Text 1"/>
          <p:cNvSpPr/>
          <p:nvPr/>
        </p:nvSpPr>
        <p:spPr>
          <a:xfrm>
            <a:off x="548640" y="2331720"/>
            <a:ext cx="7315200" cy="274320"/>
          </a:xfrm>
          <a:prstGeom prst="rect">
            <a:avLst/>
          </a:prstGeom>
          <a:noFill/>
          <a:ln/>
        </p:spPr>
        <p:txBody>
          <a:bodyPr wrap="square" lIns="0" tIns="0" rIns="0" bIns="0" rtlCol="0" anchor="ctr"/>
          <a:lstStyle/>
          <a:p>
            <a:pPr indent="0" marL="0">
              <a:buNone/>
            </a:pPr>
            <a:r>
              <a:rPr lang="en-US" sz="1050" spc="170" kern="0" dirty="0">
                <a:solidFill>
                  <a:srgbClr val="12171D"/>
                </a:solidFill>
                <a:latin typeface="Jost" pitchFamily="34" charset="0"/>
                <a:ea typeface="Jost" pitchFamily="34" charset="-122"/>
                <a:cs typeface="Jost" pitchFamily="34" charset="-120"/>
              </a:rPr>
              <a:t>PART E · PRODUCT-LINE GUIDELINES · WORKING EDITION</a:t>
            </a:r>
            <a:endParaRPr lang="en-US" sz="1050" dirty="0"/>
          </a:p>
        </p:txBody>
      </p:sp>
      <p:sp>
        <p:nvSpPr>
          <p:cNvPr id="5" name="Text 2"/>
          <p:cNvSpPr/>
          <p:nvPr/>
        </p:nvSpPr>
        <p:spPr>
          <a:xfrm>
            <a:off x="548640" y="2697480"/>
            <a:ext cx="7498080" cy="1371600"/>
          </a:xfrm>
          <a:prstGeom prst="rect">
            <a:avLst/>
          </a:prstGeom>
          <a:noFill/>
          <a:ln/>
        </p:spPr>
        <p:txBody>
          <a:bodyPr wrap="square" lIns="0" tIns="0" rIns="0" bIns="0" rtlCol="0" anchor="t"/>
          <a:lstStyle/>
          <a:p>
            <a:pPr indent="0" marL="0">
              <a:buNone/>
            </a:pPr>
            <a:r>
              <a:rPr lang="en-US" sz="4400" dirty="0">
                <a:solidFill>
                  <a:srgbClr val="12171D"/>
                </a:solidFill>
                <a:latin typeface="Jost" pitchFamily="34" charset="0"/>
                <a:ea typeface="Jost" pitchFamily="34" charset="-122"/>
                <a:cs typeface="Jost" pitchFamily="34" charset="-120"/>
              </a:rPr>
              <a:t>GEM™ — Amenities &amp; Packaging</a:t>
            </a:r>
            <a:endParaRPr lang="en-US" sz="4400" dirty="0"/>
          </a:p>
        </p:txBody>
      </p:sp>
      <p:sp>
        <p:nvSpPr>
          <p:cNvPr id="6" name="Text 3"/>
          <p:cNvSpPr/>
          <p:nvPr/>
        </p:nvSpPr>
        <p:spPr>
          <a:xfrm>
            <a:off x="548640" y="4160520"/>
            <a:ext cx="6583680" cy="731520"/>
          </a:xfrm>
          <a:prstGeom prst="rect">
            <a:avLst/>
          </a:prstGeom>
          <a:noFill/>
          <a:ln/>
        </p:spPr>
        <p:txBody>
          <a:bodyPr wrap="square" lIns="0" tIns="0" rIns="0" bIns="0" rtlCol="0" anchor="t"/>
          <a:lstStyle/>
          <a:p>
            <a:pPr indent="0" marL="0">
              <a:buNone/>
            </a:pPr>
            <a:r>
              <a:rPr lang="en-US" sz="1600" dirty="0">
                <a:solidFill>
                  <a:srgbClr val="12171D"/>
                </a:solidFill>
                <a:latin typeface="Inter" pitchFamily="34" charset="0"/>
                <a:ea typeface="Inter" pitchFamily="34" charset="-122"/>
                <a:cs typeface="Inter" pitchFamily="34" charset="-120"/>
              </a:rPr>
              <a:t>Part E: product-line guidelines for naming, label information, design, evidence gates and messaging.</a:t>
            </a:r>
            <a:endParaRPr lang="en-US" sz="1600" dirty="0"/>
          </a:p>
        </p:txBody>
      </p:sp>
      <p:sp>
        <p:nvSpPr>
          <p:cNvPr id="7" name="Text 4"/>
          <p:cNvSpPr/>
          <p:nvPr/>
        </p:nvSpPr>
        <p:spPr>
          <a:xfrm>
            <a:off x="548640" y="5166360"/>
            <a:ext cx="1920240" cy="274320"/>
          </a:xfrm>
          <a:prstGeom prst="rect">
            <a:avLst/>
          </a:prstGeom>
          <a:solidFill>
            <a:srgbClr val="12171D"/>
          </a:solidFill>
          <a:ln/>
        </p:spPr>
        <p:txBody>
          <a:bodyPr wrap="square" lIns="0" tIns="0" rIns="0" bIns="0" rtlCol="0" anchor="ctr"/>
          <a:lstStyle/>
          <a:p>
            <a:pPr algn="ctr" indent="0" marL="0">
              <a:buNone/>
            </a:pPr>
            <a:r>
              <a:rPr lang="en-US" sz="1000" spc="80" kern="0" dirty="0">
                <a:solidFill>
                  <a:srgbClr val="FFFFFF"/>
                </a:solidFill>
                <a:latin typeface="Jost" pitchFamily="34" charset="0"/>
                <a:ea typeface="Jost" pitchFamily="34" charset="-122"/>
                <a:cs typeface="Jost" pitchFamily="34" charset="-120"/>
              </a:rPr>
              <a:t>WORKING EDITION</a:t>
            </a:r>
            <a:endParaRPr lang="en-US" sz="1000" dirty="0"/>
          </a:p>
        </p:txBody>
      </p:sp>
      <p:sp>
        <p:nvSpPr>
          <p:cNvPr id="8" name="Text 5"/>
          <p:cNvSpPr/>
          <p:nvPr/>
        </p:nvSpPr>
        <p:spPr>
          <a:xfrm>
            <a:off x="2651760" y="5166360"/>
            <a:ext cx="265176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RELEASE: NOT AUTHORIZED</a:t>
            </a:r>
            <a:endParaRPr lang="en-US" sz="1000" dirty="0"/>
          </a:p>
        </p:txBody>
      </p:sp>
      <p:sp>
        <p:nvSpPr>
          <p:cNvPr id="9" name="Text 6"/>
          <p:cNvSpPr/>
          <p:nvPr/>
        </p:nvSpPr>
        <p:spPr>
          <a:xfrm>
            <a:off x="548640" y="5623560"/>
            <a:ext cx="822960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Document ID: PENDING ASSIGNMENT · Working revision 04 · 18 October 2026 · English first</a:t>
            </a:r>
            <a:endParaRPr lang="en-US" sz="1300" dirty="0"/>
          </a:p>
        </p:txBody>
      </p:sp>
      <p:sp>
        <p:nvSpPr>
          <p:cNvPr id="10" name="Text 7"/>
          <p:cNvSpPr/>
          <p:nvPr/>
        </p:nvSpPr>
        <p:spPr>
          <a:xfrm>
            <a:off x="548640" y="6126480"/>
            <a:ext cx="6400800" cy="274320"/>
          </a:xfrm>
          <a:prstGeom prst="rect">
            <a:avLst/>
          </a:prstGeom>
          <a:noFill/>
          <a:ln/>
        </p:spPr>
        <p:txBody>
          <a:bodyPr wrap="square" lIns="0" tIns="0" rIns="0" bIns="0" rtlCol="0" anchor="ctr"/>
          <a:lstStyle/>
          <a:p>
            <a:pPr indent="0" marL="0">
              <a:buNone/>
            </a:pPr>
            <a:r>
              <a:rPr lang="en-US" sz="1050" spc="190" kern="0" dirty="0">
                <a:solidFill>
                  <a:srgbClr val="12171D"/>
                </a:solidFill>
                <a:latin typeface="Jost" pitchFamily="34" charset="0"/>
                <a:ea typeface="Jost" pitchFamily="34" charset="-122"/>
                <a:cs typeface="Jost" pitchFamily="34" charset="-120"/>
              </a:rPr>
              <a:t>HOSPITALITY, IN PERFECT PROPORTION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00 · CONTROL</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Supplements Parts A–D. Does not replace them.</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THIS DOCUMENT</a:t>
            </a:r>
            <a:endParaRPr lang="en-US" sz="1050" dirty="0"/>
          </a:p>
        </p:txBody>
      </p:sp>
      <p:sp>
        <p:nvSpPr>
          <p:cNvPr id="6" name="Text 4"/>
          <p:cNvSpPr/>
          <p:nvPr/>
        </p:nvSpPr>
        <p:spPr>
          <a:xfrm>
            <a:off x="548640" y="2148840"/>
            <a:ext cx="512064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Applies the released V3.0 baseline to the Amenities &amp; Packaging line.</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Implements the English naming approved on 18 October 2026.</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Proposes line-specific requirements where Parts A–D leave gaps. Each proposal is tagged and stays a proposal until accepted.</a:t>
            </a:r>
            <a:endParaRPr lang="en-US" sz="1400" dirty="0"/>
          </a:p>
        </p:txBody>
      </p:sp>
      <p:sp>
        <p:nvSpPr>
          <p:cNvPr id="7" name="Text 5"/>
          <p:cNvSpPr/>
          <p:nvPr/>
        </p:nvSpPr>
        <p:spPr>
          <a:xfrm>
            <a:off x="548640" y="397764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THIS DOCUMENT DOES NOT</a:t>
            </a:r>
            <a:endParaRPr lang="en-US" sz="1050" dirty="0"/>
          </a:p>
        </p:txBody>
      </p:sp>
      <p:sp>
        <p:nvSpPr>
          <p:cNvPr id="8" name="Text 6"/>
          <p:cNvSpPr/>
          <p:nvPr/>
        </p:nvSpPr>
        <p:spPr>
          <a:xfrm>
            <a:off x="548640" y="4297680"/>
            <a:ext cx="5120640" cy="17373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12171D"/>
                </a:solidFill>
                <a:latin typeface="Inter" pitchFamily="34" charset="0"/>
                <a:ea typeface="Inter" pitchFamily="34" charset="-122"/>
                <a:cs typeface="Inter" pitchFamily="34" charset="-120"/>
              </a:rPr>
              <a:t>Replace master identity rules.</a:t>
            </a:r>
            <a:endParaRPr lang="en-US" sz="1500" dirty="0"/>
          </a:p>
          <a:p>
            <a:pPr marL="177800" indent="-177800">
              <a:spcAft>
                <a:spcPts val="500"/>
              </a:spcAft>
              <a:buSzPct val="100000"/>
              <a:buChar char="•"/>
            </a:pPr>
            <a:r>
              <a:rPr lang="en-US" sz="1500" dirty="0">
                <a:solidFill>
                  <a:srgbClr val="12171D"/>
                </a:solidFill>
                <a:latin typeface="Inter" pitchFamily="34" charset="0"/>
                <a:ea typeface="Inter" pitchFamily="34" charset="-122"/>
                <a:cs typeface="Inter" pitchFamily="34" charset="-120"/>
              </a:rPr>
              <a:t>Approve product specifications or artwork.</a:t>
            </a:r>
            <a:endParaRPr lang="en-US" sz="1500" dirty="0"/>
          </a:p>
          <a:p>
            <a:pPr marL="177800" indent="-177800">
              <a:spcAft>
                <a:spcPts val="500"/>
              </a:spcAft>
              <a:buSzPct val="100000"/>
              <a:buChar char="•"/>
            </a:pPr>
            <a:r>
              <a:rPr lang="en-US" sz="1500" dirty="0">
                <a:solidFill>
                  <a:srgbClr val="12171D"/>
                </a:solidFill>
                <a:latin typeface="Inter" pitchFamily="34" charset="0"/>
                <a:ea typeface="Inter" pitchFamily="34" charset="-122"/>
                <a:cs typeface="Inter" pitchFamily="34" charset="-120"/>
              </a:rPr>
              <a:t>Establish regulatory compliance.</a:t>
            </a:r>
            <a:endParaRPr lang="en-US" sz="1500" dirty="0"/>
          </a:p>
          <a:p>
            <a:pPr marL="177800" indent="-177800">
              <a:spcAft>
                <a:spcPts val="500"/>
              </a:spcAft>
              <a:buSzPct val="100000"/>
              <a:buChar char="•"/>
            </a:pPr>
            <a:r>
              <a:rPr lang="en-US" sz="1500" dirty="0">
                <a:solidFill>
                  <a:srgbClr val="12171D"/>
                </a:solidFill>
                <a:latin typeface="Inter" pitchFamily="34" charset="0"/>
                <a:ea typeface="Inter" pitchFamily="34" charset="-122"/>
                <a:cs typeface="Inter" pitchFamily="34" charset="-120"/>
              </a:rPr>
              <a:t>Authorize publication or website changes.</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828800"/>
          <a:ext cx="5239512" cy="914400"/>
        </p:xfrm>
        <a:graphic>
          <a:graphicData uri="http://schemas.openxmlformats.org/drawingml/2006/table">
            <a:tbl>
              <a:tblPr/>
              <a:tblGrid>
                <a:gridCol w="2011680"/>
                <a:gridCol w="322783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CONTROL FIELD</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VALUE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Designation</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Part E · Amenities &amp; Packaging product-line guidelines</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Document ID</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PENDING ASSIGNMENT</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Final issue version</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PENDING ASSIGNMENT</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Edition state</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WORKING EDITION</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Release</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NOT AUTHORIZED</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Working revision</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04 · 18 October 2026</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400" dirty="0">
                          <a:solidFill>
                            <a:srgbClr val="12171D"/>
                          </a:solidFill>
                          <a:latin typeface="Jost" pitchFamily="34" charset="0"/>
                          <a:ea typeface="Jost" pitchFamily="34" charset="-122"/>
                          <a:cs typeface="Jost" pitchFamily="34" charset="-120"/>
                        </a:rPr>
                        <a:t>Language</a:t>
                      </a:r>
                      <a:endParaRPr lang="en-US" sz="14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400" dirty="0">
                          <a:solidFill>
                            <a:srgbClr val="12171D"/>
                          </a:solidFill>
                          <a:latin typeface="Inter" pitchFamily="34" charset="0"/>
                          <a:ea typeface="Inter" pitchFamily="34" charset="-122"/>
                          <a:cs typeface="Inter" pitchFamily="34" charset="-120"/>
                        </a:rPr>
                        <a:t>English. Arabic: approval workflow only, no approved Arabic text</a:t>
                      </a:r>
                      <a:endParaRPr lang="en-US" sz="14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10" name="Shape 7"/>
          <p:cNvSpPr/>
          <p:nvPr/>
        </p:nvSpPr>
        <p:spPr>
          <a:xfrm>
            <a:off x="548640" y="6400800"/>
            <a:ext cx="11094415" cy="0"/>
          </a:xfrm>
          <a:prstGeom prst="line">
            <a:avLst/>
          </a:prstGeom>
          <a:noFill/>
          <a:ln w="12700">
            <a:solidFill>
              <a:srgbClr val="BCACA7"/>
            </a:solidFill>
            <a:prstDash val="solid"/>
          </a:ln>
        </p:spPr>
      </p:sp>
      <p:sp>
        <p:nvSpPr>
          <p:cNvPr id="11" name="Text 8"/>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2" name="Text 9"/>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 / 24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00 · AUTHORITY</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Register precedence and domain ownership.</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54864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CONFLICT RULE (PART B SLIDE 4)</a:t>
            </a:r>
            <a:endParaRPr lang="en-US" sz="1050" dirty="0"/>
          </a:p>
        </p:txBody>
      </p:sp>
      <p:sp>
        <p:nvSpPr>
          <p:cNvPr id="6" name="Text 4"/>
          <p:cNvSpPr/>
          <p:nvPr/>
        </p:nvSpPr>
        <p:spPr>
          <a:xfrm>
            <a:off x="548640" y="2103120"/>
            <a:ext cx="6309360" cy="868680"/>
          </a:xfrm>
          <a:prstGeom prst="rect">
            <a:avLst/>
          </a:prstGeom>
          <a:noFill/>
          <a:ln/>
        </p:spPr>
        <p:txBody>
          <a:bodyPr wrap="square" lIns="0" tIns="0" rIns="0" bIns="0" rtlCol="0" anchor="t"/>
          <a:lstStyle/>
          <a:p>
            <a:pPr indent="0" marL="0">
              <a:buNone/>
            </a:pPr>
            <a:r>
              <a:rPr lang="en-US" sz="1300" dirty="0">
                <a:solidFill>
                  <a:srgbClr val="12171D"/>
                </a:solidFill>
                <a:latin typeface="Inter" pitchFamily="34" charset="0"/>
                <a:ea typeface="Inter" pitchFamily="34" charset="-122"/>
                <a:cs typeface="Inter" pitchFamily="34" charset="-120"/>
              </a:rPr>
              <a:t>Where sources conflict, the Approval Register wins. Where Parts A, B and C cover different domains, the owning document governs its domain unless the register overrides it.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6309360" cy="914400"/>
        </p:xfrm>
        <a:graphic>
          <a:graphicData uri="http://schemas.openxmlformats.org/drawingml/2006/table">
            <a:tbl>
              <a:tblPr/>
              <a:tblGrid>
                <a:gridCol w="2286000"/>
                <a:gridCol w="4023360"/>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DOMAIN</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GOVERNING SOURCE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Identity and expression</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Part A</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Digital implementation</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Part B</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Physical production</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Part C, within its retained validation status</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Concepts</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Part D records concepts only</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Product-line application</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Part E, this document: subordinate; proposals stay proposals</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00" dirty="0">
                          <a:solidFill>
                            <a:srgbClr val="12171D"/>
                          </a:solidFill>
                          <a:latin typeface="Jost" pitchFamily="34" charset="0"/>
                          <a:ea typeface="Jost" pitchFamily="34" charset="-122"/>
                          <a:cs typeface="Jost" pitchFamily="34" charset="-120"/>
                        </a:rPr>
                        <a:t>Legal, regulatory and technical standards</a:t>
                      </a:r>
                      <a:endParaRPr lang="en-US" sz="12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00" dirty="0">
                          <a:solidFill>
                            <a:srgbClr val="12171D"/>
                          </a:solidFill>
                          <a:latin typeface="Inter" pitchFamily="34" charset="0"/>
                          <a:ea typeface="Inter" pitchFamily="34" charset="-122"/>
                          <a:cs typeface="Inter" pitchFamily="34" charset="-120"/>
                        </a:rPr>
                        <a:t>The applicable authority or standard (for example WCAG 2.2 AA). Brand rules do not override them.</a:t>
                      </a:r>
                      <a:endParaRPr lang="en-US" sz="12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8" name="Text 5"/>
          <p:cNvSpPr/>
          <p:nvPr/>
        </p:nvSpPr>
        <p:spPr>
          <a:xfrm>
            <a:off x="7223760" y="1828800"/>
            <a:ext cx="45720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TAGS USED ON FOLLOWING SLIDES</a:t>
            </a:r>
            <a:endParaRPr lang="en-US" sz="1050" dirty="0"/>
          </a:p>
        </p:txBody>
      </p:sp>
      <p:sp>
        <p:nvSpPr>
          <p:cNvPr id="9" name="Text 6"/>
          <p:cNvSpPr/>
          <p:nvPr/>
        </p:nvSpPr>
        <p:spPr>
          <a:xfrm>
            <a:off x="7223760" y="2194560"/>
            <a:ext cx="137160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a:t>
            </a:r>
            <a:endParaRPr lang="en-US" sz="1000" dirty="0"/>
          </a:p>
        </p:txBody>
      </p:sp>
      <p:sp>
        <p:nvSpPr>
          <p:cNvPr id="10" name="Text 7"/>
          <p:cNvSpPr/>
          <p:nvPr/>
        </p:nvSpPr>
        <p:spPr>
          <a:xfrm>
            <a:off x="8732520" y="2148840"/>
            <a:ext cx="2926080" cy="86868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Taken from Parts A–D. Cited by slide number.</a:t>
            </a:r>
            <a:endParaRPr lang="en-US" sz="1250" dirty="0"/>
          </a:p>
        </p:txBody>
      </p:sp>
      <p:sp>
        <p:nvSpPr>
          <p:cNvPr id="11" name="Text 8"/>
          <p:cNvSpPr/>
          <p:nvPr/>
        </p:nvSpPr>
        <p:spPr>
          <a:xfrm>
            <a:off x="7223760" y="3154680"/>
            <a:ext cx="1371600" cy="274320"/>
          </a:xfrm>
          <a:prstGeom prst="rect">
            <a:avLst/>
          </a:prstGeom>
          <a:solidFill>
            <a:srgbClr val="12171D"/>
          </a:solidFill>
          <a:ln/>
        </p:spPr>
        <p:txBody>
          <a:bodyPr wrap="square" lIns="0" tIns="0" rIns="0" bIns="0" rtlCol="0" anchor="ctr"/>
          <a:lstStyle/>
          <a:p>
            <a:pPr algn="ctr" indent="0" marL="0">
              <a:buNone/>
            </a:pPr>
            <a:r>
              <a:rPr lang="en-US" sz="1000" spc="80" kern="0" dirty="0">
                <a:solidFill>
                  <a:srgbClr val="FFFFFF"/>
                </a:solidFill>
                <a:latin typeface="Jost" pitchFamily="34" charset="0"/>
                <a:ea typeface="Jost" pitchFamily="34" charset="-122"/>
                <a:cs typeface="Jost" pitchFamily="34" charset="-120"/>
              </a:rPr>
              <a:t>APPROVED</a:t>
            </a:r>
            <a:endParaRPr lang="en-US" sz="1000" dirty="0"/>
          </a:p>
        </p:txBody>
      </p:sp>
      <p:sp>
        <p:nvSpPr>
          <p:cNvPr id="12" name="Text 9"/>
          <p:cNvSpPr/>
          <p:nvPr/>
        </p:nvSpPr>
        <p:spPr>
          <a:xfrm>
            <a:off x="8732520" y="3108960"/>
            <a:ext cx="2926080" cy="86868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Covered by an owner decision (for example the 18 Oct naming approval).</a:t>
            </a:r>
            <a:endParaRPr lang="en-US" sz="1250" dirty="0"/>
          </a:p>
        </p:txBody>
      </p:sp>
      <p:sp>
        <p:nvSpPr>
          <p:cNvPr id="13" name="Text 10"/>
          <p:cNvSpPr/>
          <p:nvPr/>
        </p:nvSpPr>
        <p:spPr>
          <a:xfrm>
            <a:off x="7223760" y="4114800"/>
            <a:ext cx="137160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a:t>
            </a:r>
            <a:endParaRPr lang="en-US" sz="1000" dirty="0"/>
          </a:p>
        </p:txBody>
      </p:sp>
      <p:sp>
        <p:nvSpPr>
          <p:cNvPr id="14" name="Text 11"/>
          <p:cNvSpPr/>
          <p:nvPr/>
        </p:nvSpPr>
        <p:spPr>
          <a:xfrm>
            <a:off x="8732520" y="4069080"/>
            <a:ext cx="2926080" cy="86868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New to this document, with its PE ID. A proposal cannot close an evidence requirement or amend a master rule.</a:t>
            </a:r>
            <a:endParaRPr lang="en-US" sz="1250" dirty="0"/>
          </a:p>
        </p:txBody>
      </p:sp>
      <p:sp>
        <p:nvSpPr>
          <p:cNvPr id="15" name="Text 12"/>
          <p:cNvSpPr/>
          <p:nvPr/>
        </p:nvSpPr>
        <p:spPr>
          <a:xfrm>
            <a:off x="7223760" y="5166360"/>
            <a:ext cx="4434840" cy="822960"/>
          </a:xfrm>
          <a:prstGeom prst="rect">
            <a:avLst/>
          </a:prstGeom>
          <a:noFill/>
          <a:ln/>
        </p:spPr>
        <p:txBody>
          <a:bodyPr wrap="square" lIns="0" tIns="0" rIns="0" bIns="0" rtlCol="0" anchor="t"/>
          <a:lstStyle/>
          <a:p>
            <a:pPr indent="0" marL="0">
              <a:buNone/>
            </a:pPr>
            <a:r>
              <a:rPr lang="en-US" sz="1300" dirty="0">
                <a:solidFill>
                  <a:srgbClr val="12171D"/>
                </a:solidFill>
                <a:latin typeface="Inter" pitchFamily="34" charset="0"/>
                <a:ea typeface="Inter" pitchFamily="34" charset="-122"/>
                <a:cs typeface="Inter" pitchFamily="34" charset="-120"/>
              </a:rPr>
              <a:t>Approval of this document does not approve individual claims, images, product data or publication.</a:t>
            </a:r>
            <a:endParaRPr lang="en-US" sz="1300" dirty="0"/>
          </a:p>
        </p:txBody>
      </p:sp>
      <p:sp>
        <p:nvSpPr>
          <p:cNvPr id="16" name="Shape 13"/>
          <p:cNvSpPr/>
          <p:nvPr/>
        </p:nvSpPr>
        <p:spPr>
          <a:xfrm>
            <a:off x="548640" y="6400800"/>
            <a:ext cx="11094415" cy="0"/>
          </a:xfrm>
          <a:prstGeom prst="line">
            <a:avLst/>
          </a:prstGeom>
          <a:noFill/>
          <a:ln w="12700">
            <a:solidFill>
              <a:srgbClr val="BCACA7"/>
            </a:solidFill>
            <a:prstDash val="solid"/>
          </a:ln>
        </p:spPr>
      </p:sp>
      <p:sp>
        <p:nvSpPr>
          <p:cNvPr id="17" name="Text 14"/>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8" name="Text 15"/>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3 / 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01 · VISION &amp; PORTFOLIO ARCHITECTURE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One identity across guest amenities and packaging.</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74520"/>
            <a:ext cx="5212080" cy="3291840"/>
          </a:xfrm>
          <a:prstGeom prst="rect">
            <a:avLst/>
          </a:prstGeom>
          <a:noFill/>
          <a:ln/>
        </p:spPr>
        <p:txBody>
          <a:bodyPr wrap="square" lIns="0" tIns="0" rIns="0" bIns="0" rtlCol="0" anchor="t"/>
          <a:lstStyle/>
          <a:p>
            <a:pPr indent="0" marL="0">
              <a:spcAft>
                <a:spcPts val="600"/>
              </a:spcAft>
              <a:buNone/>
            </a:pPr>
            <a:r>
              <a:rPr lang="en-US" sz="1500" dirty="0">
                <a:solidFill>
                  <a:srgbClr val="12171D"/>
                </a:solidFill>
                <a:latin typeface="Inter" pitchFamily="34" charset="0"/>
                <a:ea typeface="Inter" pitchFamily="34" charset="-122"/>
                <a:cs typeface="Inter" pitchFamily="34" charset="-120"/>
              </a:rPr>
              <a:t>A coherent hospitality amenities and packaging system. Consistency comes from identity, information hierarchy and application, not from invented collections or unsupported product claims.</a:t>
            </a:r>
            <a:endParaRPr lang="en-US" sz="1500" dirty="0"/>
          </a:p>
          <a:p>
            <a:pPr indent="0" marL="0">
              <a:spcAft>
                <a:spcPts val="600"/>
              </a:spcAft>
              <a:buNone/>
            </a:pPr>
            <a:r>
              <a:rPr lang="en-US" sz="1500" dirty="0">
                <a:solidFill>
                  <a:srgbClr val="12171D"/>
                </a:solidFill>
                <a:latin typeface="Inter" pitchFamily="34" charset="0"/>
                <a:ea typeface="Inter" pitchFamily="34" charset="-122"/>
                <a:cs typeface="Inter" pitchFamily="34" charset="-120"/>
              </a:rPr>
              <a:t>Audience: hospitality owners, developers, operators and procurement teams in Saudi Arabia and the wider GCC.</a:t>
            </a:r>
            <a:endParaRPr lang="en-US" sz="1500" dirty="0"/>
          </a:p>
          <a:p>
            <a:pPr indent="0" marL="0">
              <a:spcAft>
                <a:spcPts val="600"/>
              </a:spcAft>
              <a:buNone/>
            </a:pPr>
            <a:r>
              <a:rPr lang="en-US" sz="1500" dirty="0">
                <a:solidFill>
                  <a:srgbClr val="12171D"/>
                </a:solidFill>
                <a:latin typeface="Inter" pitchFamily="34" charset="0"/>
                <a:ea typeface="Inter" pitchFamily="34" charset="-122"/>
                <a:cs typeface="Inter" pitchFamily="34" charset="-120"/>
              </a:rPr>
              <a:t>That audience is a statement of who the line addresses. It is not a promise of distribution, supply or regulatory clearance in those markets.</a:t>
            </a:r>
            <a:endParaRPr lang="en-US" sz="1500" dirty="0"/>
          </a:p>
        </p:txBody>
      </p:sp>
      <p:sp>
        <p:nvSpPr>
          <p:cNvPr id="6" name="Shape 4"/>
          <p:cNvSpPr/>
          <p:nvPr/>
        </p:nvSpPr>
        <p:spPr>
          <a:xfrm>
            <a:off x="6309360" y="1874520"/>
            <a:ext cx="5330952" cy="3840480"/>
          </a:xfrm>
          <a:prstGeom prst="rect">
            <a:avLst/>
          </a:prstGeom>
          <a:solidFill>
            <a:srgbClr val="FFFFFF"/>
          </a:solidFill>
          <a:ln w="12700">
            <a:solidFill>
              <a:srgbClr val="BCACA7"/>
            </a:solidFill>
            <a:prstDash val="solid"/>
          </a:ln>
        </p:spPr>
      </p:sp>
      <p:sp>
        <p:nvSpPr>
          <p:cNvPr id="7" name="Text 5"/>
          <p:cNvSpPr/>
          <p:nvPr/>
        </p:nvSpPr>
        <p:spPr>
          <a:xfrm>
            <a:off x="6537960" y="201168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GEM IS</a:t>
            </a:r>
            <a:endParaRPr lang="en-US" sz="1050" dirty="0"/>
          </a:p>
        </p:txBody>
      </p:sp>
      <p:sp>
        <p:nvSpPr>
          <p:cNvPr id="8" name="Text 6"/>
          <p:cNvSpPr/>
          <p:nvPr/>
        </p:nvSpPr>
        <p:spPr>
          <a:xfrm>
            <a:off x="9144000" y="201168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GEM IS NOT</a:t>
            </a:r>
            <a:endParaRPr lang="en-US" sz="1050" dirty="0"/>
          </a:p>
        </p:txBody>
      </p:sp>
      <p:sp>
        <p:nvSpPr>
          <p:cNvPr id="9" name="Text 7"/>
          <p:cNvSpPr/>
          <p:nvPr/>
        </p:nvSpPr>
        <p:spPr>
          <a:xfrm>
            <a:off x="6537960" y="2331720"/>
            <a:ext cx="2468880" cy="3474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 hospitality supplier and partner.</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One master brand, applied the same way everywhere.</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Precise, restrained and specific in what it says.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Bilingual by design for Saudi/GCC hospitality.</a:t>
            </a:r>
            <a:endParaRPr lang="en-US" sz="1400" dirty="0"/>
          </a:p>
        </p:txBody>
      </p:sp>
      <p:sp>
        <p:nvSpPr>
          <p:cNvPr id="10" name="Text 8"/>
          <p:cNvSpPr/>
          <p:nvPr/>
        </p:nvSpPr>
        <p:spPr>
          <a:xfrm>
            <a:off x="9144000" y="2331720"/>
            <a:ext cx="2331720" cy="3474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 hotel operator.</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 decorative luxury brand.</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 family of separate sub-brands.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 source of unverified claims.</a:t>
            </a:r>
            <a:endParaRPr lang="en-US" sz="1400" dirty="0"/>
          </a:p>
        </p:txBody>
      </p:sp>
      <p:sp>
        <p:nvSpPr>
          <p:cNvPr id="11" name="Text 9"/>
          <p:cNvSpPr/>
          <p:nvPr/>
        </p:nvSpPr>
        <p:spPr>
          <a:xfrm>
            <a:off x="6309360" y="5852160"/>
            <a:ext cx="256032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 · PART A 12–13</a:t>
            </a:r>
            <a:endParaRPr lang="en-US" sz="1000" dirty="0"/>
          </a:p>
        </p:txBody>
      </p:sp>
      <p:sp>
        <p:nvSpPr>
          <p:cNvPr id="12" name="Shape 10"/>
          <p:cNvSpPr/>
          <p:nvPr/>
        </p:nvSpPr>
        <p:spPr>
          <a:xfrm>
            <a:off x="548640" y="6400800"/>
            <a:ext cx="11094415" cy="0"/>
          </a:xfrm>
          <a:prstGeom prst="line">
            <a:avLst/>
          </a:prstGeom>
          <a:noFill/>
          <a:ln w="12700">
            <a:solidFill>
              <a:srgbClr val="BCACA7"/>
            </a:solidFill>
            <a:prstDash val="solid"/>
          </a:ln>
        </p:spPr>
      </p:sp>
      <p:sp>
        <p:nvSpPr>
          <p:cNvPr id="13" name="Text 11"/>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4" name="Text 12"/>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4 / 24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01 · VISION &amp; PORTFOLIO ARCHITECTURE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Portfolio: controlled names and what each may mean.</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1920240"/>
                <a:gridCol w="3108960"/>
                <a:gridCol w="4663440"/>
                <a:gridCol w="139903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LAYER</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CONTROLLED NAMING</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APPLICATION</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TAG</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Master brand</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GEM™</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Fixed identity across the portfolio</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INHERITED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Descriptive stream</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GEM™ — Amenities &amp; Packaging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 descriptor, not a sub-brand. No separate logo, symbol or palette.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INHERITED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Baseline description</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Consistent GEM range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B2B comparison copy. Not a printed collection name or a required pack line.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Five pilot products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Shampoo · Conditioner · Body Wash · Body Lotion · Hand Wash</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Exact English names. They do not establish formula, quantity or availability.</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Additional concept category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Bar Soap</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Outside the five-product pilot count. “bar soap” in running prose.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PROPOSED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Concept packages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Room set · Wall-mounted set · Travel set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Keep: “Concept · supplier proof required”. Contents and capacities not approved.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Programmes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Property Edition · Bespoke Programme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Keep: “Being defined; scope and availability pending.”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5989320"/>
            <a:ext cx="11094415" cy="32004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Core Collection and Standard Range are not adopted.</a:t>
            </a:r>
            <a:endParaRPr lang="en-US" sz="1500" dirty="0"/>
          </a:p>
        </p:txBody>
      </p:sp>
      <p:sp>
        <p:nvSpPr>
          <p:cNvPr id="7" name="Shape 4"/>
          <p:cNvSpPr/>
          <p:nvPr/>
        </p:nvSpPr>
        <p:spPr>
          <a:xfrm>
            <a:off x="548640" y="6400800"/>
            <a:ext cx="11094415" cy="0"/>
          </a:xfrm>
          <a:prstGeom prst="line">
            <a:avLst/>
          </a:prstGeom>
          <a:noFill/>
          <a:ln w="12700">
            <a:solidFill>
              <a:srgbClr val="BCACA7"/>
            </a:solidFill>
            <a:prstDash val="solid"/>
          </a:ln>
        </p:spPr>
      </p:sp>
      <p:sp>
        <p:nvSpPr>
          <p:cNvPr id="8" name="Text 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9" name="Text 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5 / 24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01 · VISION &amp; PORTFOLIO ARCHITECTURE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Naming rules: exact names, exact case.</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5550408"/>
                <a:gridCol w="5541264"/>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“Room set”, “Wall-mounted set”, “Travel set”: sentence case, keep the hyphen.</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“Room Set”, “Wall Mounted Set”.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“Property Edition”, “Bespoke Programme”: title case, British spelling.</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“Bespoke Program”.</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“Consistent GEM range” in B2B comparison copy.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Print it on a pack as a collection name.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Omit Level 02 on baseline packs.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Print “[COLLECTION / TIER PENDING]”.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Use “GEM™ — Amenities &amp; Packaging” for the descriptor.</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Invent a stream logo or a sub-brand name.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4754880"/>
            <a:ext cx="11094415" cy="822960"/>
          </a:xfrm>
          <a:prstGeom prst="rect">
            <a:avLst/>
          </a:prstGeom>
          <a:noFill/>
          <a:ln/>
        </p:spPr>
        <p:txBody>
          <a:bodyPr wrap="square" lIns="0" tIns="0" rIns="0" bIns="0" rtlCol="0" anchor="t"/>
          <a:lstStyle/>
          <a:p>
            <a:pPr indent="0" marL="0">
              <a:buNone/>
            </a:pPr>
            <a:r>
              <a:rPr lang="en-US" sz="1500" dirty="0">
                <a:solidFill>
                  <a:srgbClr val="12171D"/>
                </a:solidFill>
                <a:latin typeface="Inter" pitchFamily="34" charset="0"/>
                <a:ea typeface="Inter" pitchFamily="34" charset="-122"/>
                <a:cs typeface="Inter" pitchFamily="34" charset="-120"/>
              </a:rPr>
              <a:t>Any new name needs a new owner naming decision. Naming never approves contents, capacities, availability or commercial terms.</a:t>
            </a:r>
            <a:endParaRPr lang="en-US" sz="1500" dirty="0"/>
          </a:p>
        </p:txBody>
      </p:sp>
      <p:sp>
        <p:nvSpPr>
          <p:cNvPr id="7" name="Text 4"/>
          <p:cNvSpPr/>
          <p:nvPr/>
        </p:nvSpPr>
        <p:spPr>
          <a:xfrm>
            <a:off x="548640" y="5760720"/>
            <a:ext cx="3108960" cy="274320"/>
          </a:xfrm>
          <a:prstGeom prst="rect">
            <a:avLst/>
          </a:prstGeom>
          <a:solidFill>
            <a:srgbClr val="12171D"/>
          </a:solidFill>
          <a:ln/>
        </p:spPr>
        <p:txBody>
          <a:bodyPr wrap="square" lIns="0" tIns="0" rIns="0" bIns="0" rtlCol="0" anchor="ctr"/>
          <a:lstStyle/>
          <a:p>
            <a:pPr algn="ctr" indent="0" marL="0">
              <a:buNone/>
            </a:pPr>
            <a:r>
              <a:rPr lang="en-US" sz="1000" spc="80" kern="0" dirty="0">
                <a:solidFill>
                  <a:srgbClr val="FFFFFF"/>
                </a:solidFill>
                <a:latin typeface="Jost" pitchFamily="34" charset="0"/>
                <a:ea typeface="Jost" pitchFamily="34" charset="-122"/>
                <a:cs typeface="Jost" pitchFamily="34" charset="-120"/>
              </a:rPr>
              <a:t>APPROVED · NAMING 18 OCT 2026</a:t>
            </a:r>
            <a:endParaRPr lang="en-US" sz="1000" dirty="0"/>
          </a:p>
        </p:txBody>
      </p:sp>
      <p:sp>
        <p:nvSpPr>
          <p:cNvPr id="8" name="Shape 5"/>
          <p:cNvSpPr/>
          <p:nvPr/>
        </p:nvSpPr>
        <p:spPr>
          <a:xfrm>
            <a:off x="548640" y="6400800"/>
            <a:ext cx="11094415" cy="0"/>
          </a:xfrm>
          <a:prstGeom prst="line">
            <a:avLst/>
          </a:prstGeom>
          <a:noFill/>
          <a:ln w="12700">
            <a:solidFill>
              <a:srgbClr val="BCACA7"/>
            </a:solidFill>
            <a:prstDash val="solid"/>
          </a:ln>
        </p:spPr>
      </p:sp>
      <p:sp>
        <p:nvSpPr>
          <p:cNvPr id="9" name="Text 6"/>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0" name="Text 7"/>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6 / 24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01 · VISION &amp; PORTFOLIO ARCHITECTURE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Six levels. Order never reversed.</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Shape 3"/>
          <p:cNvSpPr/>
          <p:nvPr/>
        </p:nvSpPr>
        <p:spPr>
          <a:xfrm>
            <a:off x="548640" y="1828800"/>
            <a:ext cx="6035040" cy="612648"/>
          </a:xfrm>
          <a:prstGeom prst="rect">
            <a:avLst/>
          </a:prstGeom>
          <a:solidFill>
            <a:srgbClr val="FFFFFF"/>
          </a:solidFill>
          <a:ln w="12700">
            <a:solidFill>
              <a:srgbClr val="BCACA7"/>
            </a:solidFill>
            <a:prstDash val="solid"/>
          </a:ln>
        </p:spPr>
      </p:sp>
      <p:sp>
        <p:nvSpPr>
          <p:cNvPr id="6" name="Text 4"/>
          <p:cNvSpPr/>
          <p:nvPr/>
        </p:nvSpPr>
        <p:spPr>
          <a:xfrm>
            <a:off x="640080" y="1828800"/>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01</a:t>
            </a:r>
            <a:endParaRPr lang="en-US" sz="2000" dirty="0"/>
          </a:p>
        </p:txBody>
      </p:sp>
      <p:sp>
        <p:nvSpPr>
          <p:cNvPr id="7" name="Text 5"/>
          <p:cNvSpPr/>
          <p:nvPr/>
        </p:nvSpPr>
        <p:spPr>
          <a:xfrm>
            <a:off x="1280160" y="1865376"/>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GEM master artwork</a:t>
            </a:r>
            <a:endParaRPr lang="en-US" sz="1500" dirty="0"/>
          </a:p>
        </p:txBody>
      </p:sp>
      <p:sp>
        <p:nvSpPr>
          <p:cNvPr id="8" name="Text 6"/>
          <p:cNvSpPr/>
          <p:nvPr/>
        </p:nvSpPr>
        <p:spPr>
          <a:xfrm>
            <a:off x="1280160" y="2139696"/>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Supplied kit, unchanged</a:t>
            </a:r>
            <a:endParaRPr lang="en-US" sz="1300" dirty="0"/>
          </a:p>
        </p:txBody>
      </p:sp>
      <p:sp>
        <p:nvSpPr>
          <p:cNvPr id="9" name="Shape 7"/>
          <p:cNvSpPr/>
          <p:nvPr/>
        </p:nvSpPr>
        <p:spPr>
          <a:xfrm>
            <a:off x="548640" y="2532888"/>
            <a:ext cx="6035040" cy="612648"/>
          </a:xfrm>
          <a:prstGeom prst="rect">
            <a:avLst/>
          </a:prstGeom>
          <a:solidFill>
            <a:srgbClr val="FFFFFF"/>
          </a:solidFill>
          <a:ln w="25400">
            <a:solidFill>
              <a:srgbClr val="12171D"/>
            </a:solidFill>
            <a:prstDash val="dash"/>
          </a:ln>
        </p:spPr>
      </p:sp>
      <p:sp>
        <p:nvSpPr>
          <p:cNvPr id="10" name="Text 8"/>
          <p:cNvSpPr/>
          <p:nvPr/>
        </p:nvSpPr>
        <p:spPr>
          <a:xfrm>
            <a:off x="640080" y="2532888"/>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02</a:t>
            </a:r>
            <a:endParaRPr lang="en-US" sz="2000" dirty="0"/>
          </a:p>
        </p:txBody>
      </p:sp>
      <p:sp>
        <p:nvSpPr>
          <p:cNvPr id="11" name="Text 9"/>
          <p:cNvSpPr/>
          <p:nvPr/>
        </p:nvSpPr>
        <p:spPr>
          <a:xfrm>
            <a:off x="1280160" y="2569464"/>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Collection or tier</a:t>
            </a:r>
            <a:endParaRPr lang="en-US" sz="1500" dirty="0"/>
          </a:p>
        </p:txBody>
      </p:sp>
      <p:sp>
        <p:nvSpPr>
          <p:cNvPr id="12" name="Text 10"/>
          <p:cNvSpPr/>
          <p:nvPr/>
        </p:nvSpPr>
        <p:spPr>
          <a:xfrm>
            <a:off x="1280160" y="2843784"/>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OMITTED on baseline packs</a:t>
            </a:r>
            <a:endParaRPr lang="en-US" sz="1300" dirty="0"/>
          </a:p>
        </p:txBody>
      </p:sp>
      <p:sp>
        <p:nvSpPr>
          <p:cNvPr id="13" name="Shape 11"/>
          <p:cNvSpPr/>
          <p:nvPr/>
        </p:nvSpPr>
        <p:spPr>
          <a:xfrm>
            <a:off x="548640" y="3236976"/>
            <a:ext cx="6035040" cy="612648"/>
          </a:xfrm>
          <a:prstGeom prst="rect">
            <a:avLst/>
          </a:prstGeom>
          <a:solidFill>
            <a:srgbClr val="FFFFFF"/>
          </a:solidFill>
          <a:ln w="12700">
            <a:solidFill>
              <a:srgbClr val="BCACA7"/>
            </a:solidFill>
            <a:prstDash val="solid"/>
          </a:ln>
        </p:spPr>
      </p:sp>
      <p:sp>
        <p:nvSpPr>
          <p:cNvPr id="14" name="Text 12"/>
          <p:cNvSpPr/>
          <p:nvPr/>
        </p:nvSpPr>
        <p:spPr>
          <a:xfrm>
            <a:off x="640080" y="3236976"/>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03</a:t>
            </a:r>
            <a:endParaRPr lang="en-US" sz="2000" dirty="0"/>
          </a:p>
        </p:txBody>
      </p:sp>
      <p:sp>
        <p:nvSpPr>
          <p:cNvPr id="15" name="Text 13"/>
          <p:cNvSpPr/>
          <p:nvPr/>
        </p:nvSpPr>
        <p:spPr>
          <a:xfrm>
            <a:off x="1280160" y="3273552"/>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Product and function</a:t>
            </a:r>
            <a:endParaRPr lang="en-US" sz="1500" dirty="0"/>
          </a:p>
        </p:txBody>
      </p:sp>
      <p:sp>
        <p:nvSpPr>
          <p:cNvPr id="16" name="Text 14"/>
          <p:cNvSpPr/>
          <p:nvPr/>
        </p:nvSpPr>
        <p:spPr>
          <a:xfrm>
            <a:off x="1280160" y="3547872"/>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Approved product name; function only when verified</a:t>
            </a:r>
            <a:endParaRPr lang="en-US" sz="1300" dirty="0"/>
          </a:p>
        </p:txBody>
      </p:sp>
      <p:sp>
        <p:nvSpPr>
          <p:cNvPr id="17" name="Shape 15"/>
          <p:cNvSpPr/>
          <p:nvPr/>
        </p:nvSpPr>
        <p:spPr>
          <a:xfrm>
            <a:off x="548640" y="3941064"/>
            <a:ext cx="6035040" cy="612648"/>
          </a:xfrm>
          <a:prstGeom prst="rect">
            <a:avLst/>
          </a:prstGeom>
          <a:solidFill>
            <a:srgbClr val="FFFFFF"/>
          </a:solidFill>
          <a:ln w="12700">
            <a:solidFill>
              <a:srgbClr val="BCACA7"/>
            </a:solidFill>
            <a:prstDash val="solid"/>
          </a:ln>
        </p:spPr>
      </p:sp>
      <p:sp>
        <p:nvSpPr>
          <p:cNvPr id="18" name="Text 16"/>
          <p:cNvSpPr/>
          <p:nvPr/>
        </p:nvSpPr>
        <p:spPr>
          <a:xfrm>
            <a:off x="640080" y="3941064"/>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04</a:t>
            </a:r>
            <a:endParaRPr lang="en-US" sz="2000" dirty="0"/>
          </a:p>
        </p:txBody>
      </p:sp>
      <p:sp>
        <p:nvSpPr>
          <p:cNvPr id="19" name="Text 17"/>
          <p:cNvSpPr/>
          <p:nvPr/>
        </p:nvSpPr>
        <p:spPr>
          <a:xfrm>
            <a:off x="1280160" y="3977640"/>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Quantity / size</a:t>
            </a:r>
            <a:endParaRPr lang="en-US" sz="1500" dirty="0"/>
          </a:p>
        </p:txBody>
      </p:sp>
      <p:sp>
        <p:nvSpPr>
          <p:cNvPr id="20" name="Text 18"/>
          <p:cNvSpPr/>
          <p:nvPr/>
        </p:nvSpPr>
        <p:spPr>
          <a:xfrm>
            <a:off x="1280160" y="4251960"/>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[PENDING] until verified</a:t>
            </a:r>
            <a:endParaRPr lang="en-US" sz="1300" dirty="0"/>
          </a:p>
        </p:txBody>
      </p:sp>
      <p:sp>
        <p:nvSpPr>
          <p:cNvPr id="21" name="Shape 19"/>
          <p:cNvSpPr/>
          <p:nvPr/>
        </p:nvSpPr>
        <p:spPr>
          <a:xfrm>
            <a:off x="548640" y="4645152"/>
            <a:ext cx="6035040" cy="612648"/>
          </a:xfrm>
          <a:prstGeom prst="rect">
            <a:avLst/>
          </a:prstGeom>
          <a:solidFill>
            <a:srgbClr val="FFFFFF"/>
          </a:solidFill>
          <a:ln w="12700">
            <a:solidFill>
              <a:srgbClr val="BCACA7"/>
            </a:solidFill>
            <a:prstDash val="solid"/>
          </a:ln>
        </p:spPr>
      </p:sp>
      <p:sp>
        <p:nvSpPr>
          <p:cNvPr id="22" name="Text 20"/>
          <p:cNvSpPr/>
          <p:nvPr/>
        </p:nvSpPr>
        <p:spPr>
          <a:xfrm>
            <a:off x="640080" y="4645152"/>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05</a:t>
            </a:r>
            <a:endParaRPr lang="en-US" sz="2000" dirty="0"/>
          </a:p>
        </p:txBody>
      </p:sp>
      <p:sp>
        <p:nvSpPr>
          <p:cNvPr id="23" name="Text 21"/>
          <p:cNvSpPr/>
          <p:nvPr/>
        </p:nvSpPr>
        <p:spPr>
          <a:xfrm>
            <a:off x="1280160" y="4681728"/>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Instructions and market information</a:t>
            </a:r>
            <a:endParaRPr lang="en-US" sz="1500" dirty="0"/>
          </a:p>
        </p:txBody>
      </p:sp>
      <p:sp>
        <p:nvSpPr>
          <p:cNvPr id="24" name="Text 22"/>
          <p:cNvSpPr/>
          <p:nvPr/>
        </p:nvSpPr>
        <p:spPr>
          <a:xfrm>
            <a:off x="1280160" y="4956048"/>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[PENDING]; product, linguistic and legal review</a:t>
            </a:r>
            <a:endParaRPr lang="en-US" sz="1300" dirty="0"/>
          </a:p>
        </p:txBody>
      </p:sp>
      <p:sp>
        <p:nvSpPr>
          <p:cNvPr id="25" name="Shape 23"/>
          <p:cNvSpPr/>
          <p:nvPr/>
        </p:nvSpPr>
        <p:spPr>
          <a:xfrm>
            <a:off x="548640" y="5349240"/>
            <a:ext cx="6035040" cy="612648"/>
          </a:xfrm>
          <a:prstGeom prst="rect">
            <a:avLst/>
          </a:prstGeom>
          <a:solidFill>
            <a:srgbClr val="FFFFFF"/>
          </a:solidFill>
          <a:ln w="12700">
            <a:solidFill>
              <a:srgbClr val="BCACA7"/>
            </a:solidFill>
            <a:prstDash val="solid"/>
          </a:ln>
        </p:spPr>
      </p:sp>
      <p:sp>
        <p:nvSpPr>
          <p:cNvPr id="26" name="Text 24"/>
          <p:cNvSpPr/>
          <p:nvPr/>
        </p:nvSpPr>
        <p:spPr>
          <a:xfrm>
            <a:off x="640080" y="5349240"/>
            <a:ext cx="548640" cy="612648"/>
          </a:xfrm>
          <a:prstGeom prst="rect">
            <a:avLst/>
          </a:prstGeom>
          <a:noFill/>
          <a:ln/>
        </p:spPr>
        <p:txBody>
          <a:bodyPr wrap="square" lIns="0" tIns="0" rIns="0" bIns="0" rtlCol="0" anchor="ctr"/>
          <a:lstStyle/>
          <a:p>
            <a:pPr indent="0" marL="0">
              <a:buNone/>
            </a:pPr>
            <a:r>
              <a:rPr lang="en-US" sz="2000" dirty="0">
                <a:solidFill>
                  <a:srgbClr val="12171D"/>
                </a:solidFill>
                <a:latin typeface="Jost" pitchFamily="34" charset="0"/>
                <a:ea typeface="Jost" pitchFamily="34" charset="-122"/>
                <a:cs typeface="Jost" pitchFamily="34" charset="-120"/>
              </a:rPr>
              <a:t>06</a:t>
            </a:r>
            <a:endParaRPr lang="en-US" sz="2000" dirty="0"/>
          </a:p>
        </p:txBody>
      </p:sp>
      <p:sp>
        <p:nvSpPr>
          <p:cNvPr id="27" name="Text 25"/>
          <p:cNvSpPr/>
          <p:nvPr/>
        </p:nvSpPr>
        <p:spPr>
          <a:xfrm>
            <a:off x="1280160" y="5385816"/>
            <a:ext cx="5212080" cy="27432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SKU and artwork version</a:t>
            </a:r>
            <a:endParaRPr lang="en-US" sz="1500" dirty="0"/>
          </a:p>
        </p:txBody>
      </p:sp>
      <p:sp>
        <p:nvSpPr>
          <p:cNvPr id="28" name="Text 26"/>
          <p:cNvSpPr/>
          <p:nvPr/>
        </p:nvSpPr>
        <p:spPr>
          <a:xfrm>
            <a:off x="1280160" y="5660136"/>
            <a:ext cx="521208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[PENDING] controlled identifiers</a:t>
            </a:r>
            <a:endParaRPr lang="en-US" sz="1300" dirty="0"/>
          </a:p>
        </p:txBody>
      </p:sp>
      <p:sp>
        <p:nvSpPr>
          <p:cNvPr id="29" name="Text 27"/>
          <p:cNvSpPr/>
          <p:nvPr/>
        </p:nvSpPr>
        <p:spPr>
          <a:xfrm>
            <a:off x="69494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RULES</a:t>
            </a:r>
            <a:endParaRPr lang="en-US" sz="1050" dirty="0"/>
          </a:p>
        </p:txBody>
      </p:sp>
      <p:sp>
        <p:nvSpPr>
          <p:cNvPr id="30" name="Text 28"/>
          <p:cNvSpPr/>
          <p:nvPr/>
        </p:nvSpPr>
        <p:spPr>
          <a:xfrm>
            <a:off x="6949440" y="2148840"/>
            <a:ext cx="4690872" cy="3749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Part A defines the six levels and their order. This document does not replace them.</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Omitting Level 02 does not allow another element to move into that position as an invented collection.</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The omission applies to baseline packs. A programme that later receives its own scope approval may use Level 02.</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Concept artwork may show [PENDING], clearly disclosed. Consumer-ready labels must carry approved information, never placeholders.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Pending fields are never filled with invented values.</a:t>
            </a:r>
            <a:endParaRPr lang="en-US" sz="1400" dirty="0"/>
          </a:p>
        </p:txBody>
      </p:sp>
      <p:sp>
        <p:nvSpPr>
          <p:cNvPr id="31" name="Text 29"/>
          <p:cNvSpPr/>
          <p:nvPr/>
        </p:nvSpPr>
        <p:spPr>
          <a:xfrm>
            <a:off x="548640" y="6053328"/>
            <a:ext cx="228600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 · PART A 61</a:t>
            </a:r>
            <a:endParaRPr lang="en-US" sz="1000" dirty="0"/>
          </a:p>
        </p:txBody>
      </p:sp>
      <p:sp>
        <p:nvSpPr>
          <p:cNvPr id="32" name="Text 30"/>
          <p:cNvSpPr/>
          <p:nvPr/>
        </p:nvSpPr>
        <p:spPr>
          <a:xfrm>
            <a:off x="3017520" y="6053328"/>
            <a:ext cx="2926080" cy="274320"/>
          </a:xfrm>
          <a:prstGeom prst="rect">
            <a:avLst/>
          </a:prstGeom>
          <a:solidFill>
            <a:srgbClr val="12171D"/>
          </a:solidFill>
          <a:ln/>
        </p:spPr>
        <p:txBody>
          <a:bodyPr wrap="square" lIns="0" tIns="0" rIns="0" bIns="0" rtlCol="0" anchor="ctr"/>
          <a:lstStyle/>
          <a:p>
            <a:pPr algn="ctr" indent="0" marL="0">
              <a:buNone/>
            </a:pPr>
            <a:r>
              <a:rPr lang="en-US" sz="1000" spc="80" kern="0" dirty="0">
                <a:solidFill>
                  <a:srgbClr val="FFFFFF"/>
                </a:solidFill>
                <a:latin typeface="Jost" pitchFamily="34" charset="0"/>
                <a:ea typeface="Jost" pitchFamily="34" charset="-122"/>
                <a:cs typeface="Jost" pitchFamily="34" charset="-120"/>
              </a:rPr>
              <a:t>APPROVED · LEVEL 02 OMITTED</a:t>
            </a:r>
            <a:endParaRPr lang="en-US" sz="1000" dirty="0"/>
          </a:p>
        </p:txBody>
      </p:sp>
      <p:sp>
        <p:nvSpPr>
          <p:cNvPr id="33" name="Shape 31"/>
          <p:cNvSpPr/>
          <p:nvPr/>
        </p:nvSpPr>
        <p:spPr>
          <a:xfrm>
            <a:off x="548640" y="6400800"/>
            <a:ext cx="11094415" cy="0"/>
          </a:xfrm>
          <a:prstGeom prst="line">
            <a:avLst/>
          </a:prstGeom>
          <a:noFill/>
          <a:ln w="12700">
            <a:solidFill>
              <a:srgbClr val="BCACA7"/>
            </a:solidFill>
            <a:prstDash val="solid"/>
          </a:ln>
        </p:spPr>
      </p:sp>
      <p:sp>
        <p:nvSpPr>
          <p:cNvPr id="34" name="Text 32"/>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35" name="Text 33"/>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7 / 24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02 · DESIGN DNA &amp; VISUAL SYSTEMS</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Four shared pillars, applied the same way to every item.</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Shape 3"/>
          <p:cNvSpPr/>
          <p:nvPr/>
        </p:nvSpPr>
        <p:spPr>
          <a:xfrm>
            <a:off x="548640" y="1920240"/>
            <a:ext cx="2651760" cy="3108960"/>
          </a:xfrm>
          <a:prstGeom prst="rect">
            <a:avLst/>
          </a:prstGeom>
          <a:solidFill>
            <a:srgbClr val="FFFFFF"/>
          </a:solidFill>
          <a:ln w="12700">
            <a:solidFill>
              <a:srgbClr val="BCACA7"/>
            </a:solidFill>
            <a:prstDash val="solid"/>
          </a:ln>
        </p:spPr>
      </p:sp>
      <p:sp>
        <p:nvSpPr>
          <p:cNvPr id="6" name="Text 4"/>
          <p:cNvSpPr/>
          <p:nvPr/>
        </p:nvSpPr>
        <p:spPr>
          <a:xfrm>
            <a:off x="731520" y="2057400"/>
            <a:ext cx="914400" cy="457200"/>
          </a:xfrm>
          <a:prstGeom prst="rect">
            <a:avLst/>
          </a:prstGeom>
          <a:noFill/>
          <a:ln/>
        </p:spPr>
        <p:txBody>
          <a:bodyPr wrap="square" lIns="0" tIns="0" rIns="0" bIns="0" rtlCol="0" anchor="ctr"/>
          <a:lstStyle/>
          <a:p>
            <a:pPr indent="0" marL="0">
              <a:buNone/>
            </a:pPr>
            <a:r>
              <a:rPr lang="en-US" sz="2200" dirty="0">
                <a:solidFill>
                  <a:srgbClr val="12171D"/>
                </a:solidFill>
                <a:latin typeface="Jost" pitchFamily="34" charset="0"/>
                <a:ea typeface="Jost" pitchFamily="34" charset="-122"/>
                <a:cs typeface="Jost" pitchFamily="34" charset="-120"/>
              </a:rPr>
              <a:t>01</a:t>
            </a:r>
            <a:endParaRPr lang="en-US" sz="2200" dirty="0"/>
          </a:p>
        </p:txBody>
      </p:sp>
      <p:sp>
        <p:nvSpPr>
          <p:cNvPr id="7" name="Text 5"/>
          <p:cNvSpPr/>
          <p:nvPr/>
        </p:nvSpPr>
        <p:spPr>
          <a:xfrm>
            <a:off x="731520" y="2651760"/>
            <a:ext cx="2286000" cy="365760"/>
          </a:xfrm>
          <a:prstGeom prst="rect">
            <a:avLst/>
          </a:prstGeom>
          <a:noFill/>
          <a:ln/>
        </p:spPr>
        <p:txBody>
          <a:bodyPr wrap="square" lIns="0" tIns="0" rIns="0" bIns="0" rtlCol="0" anchor="ctr"/>
          <a:lstStyle/>
          <a:p>
            <a:pPr indent="0" marL="0">
              <a:buNone/>
            </a:pPr>
            <a:r>
              <a:rPr lang="en-US" sz="1800" dirty="0">
                <a:solidFill>
                  <a:srgbClr val="12171D"/>
                </a:solidFill>
                <a:latin typeface="Jost" pitchFamily="34" charset="0"/>
                <a:ea typeface="Jost" pitchFamily="34" charset="-122"/>
                <a:cs typeface="Jost" pitchFamily="34" charset="-120"/>
              </a:rPr>
              <a:t>Precision</a:t>
            </a:r>
            <a:endParaRPr lang="en-US" sz="1800" dirty="0"/>
          </a:p>
        </p:txBody>
      </p:sp>
      <p:sp>
        <p:nvSpPr>
          <p:cNvPr id="8" name="Text 6"/>
          <p:cNvSpPr/>
          <p:nvPr/>
        </p:nvSpPr>
        <p:spPr>
          <a:xfrm>
            <a:off x="731520" y="3108960"/>
            <a:ext cx="2286000" cy="17373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Use controlled artwork, exact product names and a consistent information order.</a:t>
            </a:r>
            <a:endParaRPr lang="en-US" sz="1400" dirty="0"/>
          </a:p>
        </p:txBody>
      </p:sp>
      <p:sp>
        <p:nvSpPr>
          <p:cNvPr id="9" name="Shape 7"/>
          <p:cNvSpPr/>
          <p:nvPr/>
        </p:nvSpPr>
        <p:spPr>
          <a:xfrm>
            <a:off x="3346704" y="1920240"/>
            <a:ext cx="2651760" cy="3108960"/>
          </a:xfrm>
          <a:prstGeom prst="rect">
            <a:avLst/>
          </a:prstGeom>
          <a:solidFill>
            <a:srgbClr val="FFFFFF"/>
          </a:solidFill>
          <a:ln w="12700">
            <a:solidFill>
              <a:srgbClr val="BCACA7"/>
            </a:solidFill>
            <a:prstDash val="solid"/>
          </a:ln>
        </p:spPr>
      </p:sp>
      <p:sp>
        <p:nvSpPr>
          <p:cNvPr id="10" name="Text 8"/>
          <p:cNvSpPr/>
          <p:nvPr/>
        </p:nvSpPr>
        <p:spPr>
          <a:xfrm>
            <a:off x="3529584" y="2057400"/>
            <a:ext cx="914400" cy="457200"/>
          </a:xfrm>
          <a:prstGeom prst="rect">
            <a:avLst/>
          </a:prstGeom>
          <a:noFill/>
          <a:ln/>
        </p:spPr>
        <p:txBody>
          <a:bodyPr wrap="square" lIns="0" tIns="0" rIns="0" bIns="0" rtlCol="0" anchor="ctr"/>
          <a:lstStyle/>
          <a:p>
            <a:pPr indent="0" marL="0">
              <a:buNone/>
            </a:pPr>
            <a:r>
              <a:rPr lang="en-US" sz="2200" dirty="0">
                <a:solidFill>
                  <a:srgbClr val="12171D"/>
                </a:solidFill>
                <a:latin typeface="Jost" pitchFamily="34" charset="0"/>
                <a:ea typeface="Jost" pitchFamily="34" charset="-122"/>
                <a:cs typeface="Jost" pitchFamily="34" charset="-120"/>
              </a:rPr>
              <a:t>02</a:t>
            </a:r>
            <a:endParaRPr lang="en-US" sz="2200" dirty="0"/>
          </a:p>
        </p:txBody>
      </p:sp>
      <p:sp>
        <p:nvSpPr>
          <p:cNvPr id="11" name="Text 9"/>
          <p:cNvSpPr/>
          <p:nvPr/>
        </p:nvSpPr>
        <p:spPr>
          <a:xfrm>
            <a:off x="3529584" y="2651760"/>
            <a:ext cx="2286000" cy="365760"/>
          </a:xfrm>
          <a:prstGeom prst="rect">
            <a:avLst/>
          </a:prstGeom>
          <a:noFill/>
          <a:ln/>
        </p:spPr>
        <p:txBody>
          <a:bodyPr wrap="square" lIns="0" tIns="0" rIns="0" bIns="0" rtlCol="0" anchor="ctr"/>
          <a:lstStyle/>
          <a:p>
            <a:pPr indent="0" marL="0">
              <a:buNone/>
            </a:pPr>
            <a:r>
              <a:rPr lang="en-US" sz="1800" dirty="0">
                <a:solidFill>
                  <a:srgbClr val="12171D"/>
                </a:solidFill>
                <a:latin typeface="Jost" pitchFamily="34" charset="0"/>
                <a:ea typeface="Jost" pitchFamily="34" charset="-122"/>
                <a:cs typeface="Jost" pitchFamily="34" charset="-120"/>
              </a:rPr>
              <a:t>Restraint</a:t>
            </a:r>
            <a:endParaRPr lang="en-US" sz="1800" dirty="0"/>
          </a:p>
        </p:txBody>
      </p:sp>
      <p:sp>
        <p:nvSpPr>
          <p:cNvPr id="12" name="Text 10"/>
          <p:cNvSpPr/>
          <p:nvPr/>
        </p:nvSpPr>
        <p:spPr>
          <a:xfrm>
            <a:off x="3529584" y="3108960"/>
            <a:ext cx="2286000" cy="17373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Preserve the six-level hierarchy; omit Level 02 on baseline packs. Remove unsupported descriptors and decorative badges.</a:t>
            </a:r>
            <a:endParaRPr lang="en-US" sz="1400" dirty="0"/>
          </a:p>
        </p:txBody>
      </p:sp>
      <p:sp>
        <p:nvSpPr>
          <p:cNvPr id="13" name="Shape 11"/>
          <p:cNvSpPr/>
          <p:nvPr/>
        </p:nvSpPr>
        <p:spPr>
          <a:xfrm>
            <a:off x="6144768" y="1920240"/>
            <a:ext cx="2651760" cy="3108960"/>
          </a:xfrm>
          <a:prstGeom prst="rect">
            <a:avLst/>
          </a:prstGeom>
          <a:solidFill>
            <a:srgbClr val="FFFFFF"/>
          </a:solidFill>
          <a:ln w="12700">
            <a:solidFill>
              <a:srgbClr val="BCACA7"/>
            </a:solidFill>
            <a:prstDash val="solid"/>
          </a:ln>
        </p:spPr>
      </p:sp>
      <p:sp>
        <p:nvSpPr>
          <p:cNvPr id="14" name="Text 12"/>
          <p:cNvSpPr/>
          <p:nvPr/>
        </p:nvSpPr>
        <p:spPr>
          <a:xfrm>
            <a:off x="6327648" y="2057400"/>
            <a:ext cx="914400" cy="457200"/>
          </a:xfrm>
          <a:prstGeom prst="rect">
            <a:avLst/>
          </a:prstGeom>
          <a:noFill/>
          <a:ln/>
        </p:spPr>
        <p:txBody>
          <a:bodyPr wrap="square" lIns="0" tIns="0" rIns="0" bIns="0" rtlCol="0" anchor="ctr"/>
          <a:lstStyle/>
          <a:p>
            <a:pPr indent="0" marL="0">
              <a:buNone/>
            </a:pPr>
            <a:r>
              <a:rPr lang="en-US" sz="2200" dirty="0">
                <a:solidFill>
                  <a:srgbClr val="12171D"/>
                </a:solidFill>
                <a:latin typeface="Jost" pitchFamily="34" charset="0"/>
                <a:ea typeface="Jost" pitchFamily="34" charset="-122"/>
                <a:cs typeface="Jost" pitchFamily="34" charset="-120"/>
              </a:rPr>
              <a:t>03</a:t>
            </a:r>
            <a:endParaRPr lang="en-US" sz="2200" dirty="0"/>
          </a:p>
        </p:txBody>
      </p:sp>
      <p:sp>
        <p:nvSpPr>
          <p:cNvPr id="15" name="Text 13"/>
          <p:cNvSpPr/>
          <p:nvPr/>
        </p:nvSpPr>
        <p:spPr>
          <a:xfrm>
            <a:off x="6327648" y="2651760"/>
            <a:ext cx="2286000" cy="365760"/>
          </a:xfrm>
          <a:prstGeom prst="rect">
            <a:avLst/>
          </a:prstGeom>
          <a:noFill/>
          <a:ln/>
        </p:spPr>
        <p:txBody>
          <a:bodyPr wrap="square" lIns="0" tIns="0" rIns="0" bIns="0" rtlCol="0" anchor="ctr"/>
          <a:lstStyle/>
          <a:p>
            <a:pPr indent="0" marL="0">
              <a:buNone/>
            </a:pPr>
            <a:r>
              <a:rPr lang="en-US" sz="1800" dirty="0">
                <a:solidFill>
                  <a:srgbClr val="12171D"/>
                </a:solidFill>
                <a:latin typeface="Jost" pitchFamily="34" charset="0"/>
                <a:ea typeface="Jost" pitchFamily="34" charset="-122"/>
                <a:cs typeface="Jost" pitchFamily="34" charset="-120"/>
              </a:rPr>
              <a:t>Geometry</a:t>
            </a:r>
            <a:endParaRPr lang="en-US" sz="1800" dirty="0"/>
          </a:p>
        </p:txBody>
      </p:sp>
      <p:sp>
        <p:nvSpPr>
          <p:cNvPr id="16" name="Text 14"/>
          <p:cNvSpPr/>
          <p:nvPr/>
        </p:nvSpPr>
        <p:spPr>
          <a:xfrm>
            <a:off x="6327648" y="3108960"/>
            <a:ext cx="2286000" cy="17373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Follow the approved mark geometry and a supplier-verified packaging drawing.</a:t>
            </a:r>
            <a:endParaRPr lang="en-US" sz="1400" dirty="0"/>
          </a:p>
        </p:txBody>
      </p:sp>
      <p:sp>
        <p:nvSpPr>
          <p:cNvPr id="17" name="Shape 15"/>
          <p:cNvSpPr/>
          <p:nvPr/>
        </p:nvSpPr>
        <p:spPr>
          <a:xfrm>
            <a:off x="8942832" y="1920240"/>
            <a:ext cx="2651760" cy="3108960"/>
          </a:xfrm>
          <a:prstGeom prst="rect">
            <a:avLst/>
          </a:prstGeom>
          <a:solidFill>
            <a:srgbClr val="FFFFFF"/>
          </a:solidFill>
          <a:ln w="12700">
            <a:solidFill>
              <a:srgbClr val="BCACA7"/>
            </a:solidFill>
            <a:prstDash val="solid"/>
          </a:ln>
        </p:spPr>
      </p:sp>
      <p:sp>
        <p:nvSpPr>
          <p:cNvPr id="18" name="Text 16"/>
          <p:cNvSpPr/>
          <p:nvPr/>
        </p:nvSpPr>
        <p:spPr>
          <a:xfrm>
            <a:off x="9125712" y="2057400"/>
            <a:ext cx="914400" cy="457200"/>
          </a:xfrm>
          <a:prstGeom prst="rect">
            <a:avLst/>
          </a:prstGeom>
          <a:noFill/>
          <a:ln/>
        </p:spPr>
        <p:txBody>
          <a:bodyPr wrap="square" lIns="0" tIns="0" rIns="0" bIns="0" rtlCol="0" anchor="ctr"/>
          <a:lstStyle/>
          <a:p>
            <a:pPr indent="0" marL="0">
              <a:buNone/>
            </a:pPr>
            <a:r>
              <a:rPr lang="en-US" sz="2200" dirty="0">
                <a:solidFill>
                  <a:srgbClr val="12171D"/>
                </a:solidFill>
                <a:latin typeface="Jost" pitchFamily="34" charset="0"/>
                <a:ea typeface="Jost" pitchFamily="34" charset="-122"/>
                <a:cs typeface="Jost" pitchFamily="34" charset="-120"/>
              </a:rPr>
              <a:t>04</a:t>
            </a:r>
            <a:endParaRPr lang="en-US" sz="2200" dirty="0"/>
          </a:p>
        </p:txBody>
      </p:sp>
      <p:sp>
        <p:nvSpPr>
          <p:cNvPr id="19" name="Text 17"/>
          <p:cNvSpPr/>
          <p:nvPr/>
        </p:nvSpPr>
        <p:spPr>
          <a:xfrm>
            <a:off x="9125712" y="2651760"/>
            <a:ext cx="2286000" cy="365760"/>
          </a:xfrm>
          <a:prstGeom prst="rect">
            <a:avLst/>
          </a:prstGeom>
          <a:noFill/>
          <a:ln/>
        </p:spPr>
        <p:txBody>
          <a:bodyPr wrap="square" lIns="0" tIns="0" rIns="0" bIns="0" rtlCol="0" anchor="ctr"/>
          <a:lstStyle/>
          <a:p>
            <a:pPr indent="0" marL="0">
              <a:buNone/>
            </a:pPr>
            <a:r>
              <a:rPr lang="en-US" sz="1800" dirty="0">
                <a:solidFill>
                  <a:srgbClr val="12171D"/>
                </a:solidFill>
                <a:latin typeface="Jost" pitchFamily="34" charset="0"/>
                <a:ea typeface="Jost" pitchFamily="34" charset="-122"/>
                <a:cs typeface="Jost" pitchFamily="34" charset="-120"/>
              </a:rPr>
              <a:t>Space</a:t>
            </a:r>
            <a:endParaRPr lang="en-US" sz="1800" dirty="0"/>
          </a:p>
        </p:txBody>
      </p:sp>
      <p:sp>
        <p:nvSpPr>
          <p:cNvPr id="20" name="Text 18"/>
          <p:cNvSpPr/>
          <p:nvPr/>
        </p:nvSpPr>
        <p:spPr>
          <a:xfrm>
            <a:off x="9125712" y="3108960"/>
            <a:ext cx="2286000" cy="17373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Preserve master clearspace and readable separation between information groups.</a:t>
            </a:r>
            <a:endParaRPr lang="en-US" sz="1400" dirty="0"/>
          </a:p>
        </p:txBody>
      </p:sp>
      <p:sp>
        <p:nvSpPr>
          <p:cNvPr id="21" name="Text 19"/>
          <p:cNvSpPr/>
          <p:nvPr/>
        </p:nvSpPr>
        <p:spPr>
          <a:xfrm>
            <a:off x="548640" y="5303520"/>
            <a:ext cx="11094415" cy="73152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Part A character: precise, restrained, geometric, composed. Part B principles: precision over decoration; restraint is the luxury; geometry is the language; space is part of the identity.</a:t>
            </a:r>
            <a:endParaRPr lang="en-US" sz="1400" dirty="0"/>
          </a:p>
        </p:txBody>
      </p:sp>
      <p:sp>
        <p:nvSpPr>
          <p:cNvPr id="22" name="Text 20"/>
          <p:cNvSpPr/>
          <p:nvPr/>
        </p:nvSpPr>
        <p:spPr>
          <a:xfrm>
            <a:off x="548640" y="6035040"/>
            <a:ext cx="365760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 · PRINCIPLES · PART A / B 3</a:t>
            </a:r>
            <a:endParaRPr lang="en-US" sz="1000" dirty="0"/>
          </a:p>
        </p:txBody>
      </p:sp>
      <p:sp>
        <p:nvSpPr>
          <p:cNvPr id="23" name="Text 21"/>
          <p:cNvSpPr/>
          <p:nvPr/>
        </p:nvSpPr>
        <p:spPr>
          <a:xfrm>
            <a:off x="4389120" y="6035040"/>
            <a:ext cx="33832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APPLICATIONS · PE-21</a:t>
            </a:r>
            <a:endParaRPr lang="en-US" sz="1000" dirty="0"/>
          </a:p>
        </p:txBody>
      </p:sp>
      <p:sp>
        <p:nvSpPr>
          <p:cNvPr id="24" name="Shape 22"/>
          <p:cNvSpPr/>
          <p:nvPr/>
        </p:nvSpPr>
        <p:spPr>
          <a:xfrm>
            <a:off x="548640" y="6400800"/>
            <a:ext cx="11094415" cy="0"/>
          </a:xfrm>
          <a:prstGeom prst="line">
            <a:avLst/>
          </a:prstGeom>
          <a:noFill/>
          <a:ln w="12700">
            <a:solidFill>
              <a:srgbClr val="BCACA7"/>
            </a:solidFill>
            <a:prstDash val="solid"/>
          </a:ln>
        </p:spPr>
      </p:sp>
      <p:sp>
        <p:nvSpPr>
          <p:cNvPr id="25" name="Text 23"/>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26" name="Text 24"/>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8 / 24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02 · DESIGN DNA &amp; VISUAL SYSTEMS</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Quick reference: palette and type. Cited, not redefined.</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Shape 3"/>
          <p:cNvSpPr/>
          <p:nvPr/>
        </p:nvSpPr>
        <p:spPr>
          <a:xfrm>
            <a:off x="548640" y="1828800"/>
            <a:ext cx="1325880" cy="1188720"/>
          </a:xfrm>
          <a:prstGeom prst="rect">
            <a:avLst/>
          </a:prstGeom>
          <a:solidFill>
            <a:srgbClr val="12171D"/>
          </a:solidFill>
          <a:ln w="12700">
            <a:solidFill>
              <a:srgbClr val="12171D"/>
            </a:solidFill>
            <a:prstDash val="solid"/>
          </a:ln>
        </p:spPr>
      </p:sp>
      <p:sp>
        <p:nvSpPr>
          <p:cNvPr id="6" name="Text 4"/>
          <p:cNvSpPr/>
          <p:nvPr/>
        </p:nvSpPr>
        <p:spPr>
          <a:xfrm>
            <a:off x="640080" y="1920240"/>
            <a:ext cx="1188720" cy="274320"/>
          </a:xfrm>
          <a:prstGeom prst="rect">
            <a:avLst/>
          </a:prstGeom>
          <a:noFill/>
          <a:ln/>
        </p:spPr>
        <p:txBody>
          <a:bodyPr wrap="square" lIns="0" tIns="0" rIns="0" bIns="0" rtlCol="0" anchor="ctr"/>
          <a:lstStyle/>
          <a:p>
            <a:pPr indent="0" marL="0">
              <a:buNone/>
            </a:pPr>
            <a:r>
              <a:rPr lang="en-US" sz="1300" spc="100" kern="0" dirty="0">
                <a:solidFill>
                  <a:srgbClr val="FFFFFF"/>
                </a:solidFill>
                <a:latin typeface="Jost" pitchFamily="34" charset="0"/>
                <a:ea typeface="Jost" pitchFamily="34" charset="-122"/>
                <a:cs typeface="Jost" pitchFamily="34" charset="-120"/>
              </a:rPr>
              <a:t>INK</a:t>
            </a:r>
            <a:endParaRPr lang="en-US" sz="1300" dirty="0"/>
          </a:p>
        </p:txBody>
      </p:sp>
      <p:sp>
        <p:nvSpPr>
          <p:cNvPr id="7" name="Text 5"/>
          <p:cNvSpPr/>
          <p:nvPr/>
        </p:nvSpPr>
        <p:spPr>
          <a:xfrm>
            <a:off x="640080" y="2651760"/>
            <a:ext cx="1188720" cy="274320"/>
          </a:xfrm>
          <a:prstGeom prst="rect">
            <a:avLst/>
          </a:prstGeom>
          <a:noFill/>
          <a:ln/>
        </p:spPr>
        <p:txBody>
          <a:bodyPr wrap="square" lIns="0" tIns="0" rIns="0" bIns="0" rtlCol="0" anchor="ctr"/>
          <a:lstStyle/>
          <a:p>
            <a:pPr indent="0" marL="0">
              <a:buNone/>
            </a:pPr>
            <a:r>
              <a:rPr lang="en-US" sz="1300" dirty="0">
                <a:solidFill>
                  <a:srgbClr val="FFFFFF"/>
                </a:solidFill>
                <a:latin typeface="Inter" pitchFamily="34" charset="0"/>
                <a:ea typeface="Inter" pitchFamily="34" charset="-122"/>
                <a:cs typeface="Inter" pitchFamily="34" charset="-120"/>
              </a:rPr>
              <a:t>#12171D</a:t>
            </a:r>
            <a:endParaRPr lang="en-US" sz="1300" dirty="0"/>
          </a:p>
        </p:txBody>
      </p:sp>
      <p:sp>
        <p:nvSpPr>
          <p:cNvPr id="8" name="Shape 6"/>
          <p:cNvSpPr/>
          <p:nvPr/>
        </p:nvSpPr>
        <p:spPr>
          <a:xfrm>
            <a:off x="1965960" y="1828800"/>
            <a:ext cx="1325880" cy="1188720"/>
          </a:xfrm>
          <a:prstGeom prst="rect">
            <a:avLst/>
          </a:prstGeom>
          <a:solidFill>
            <a:srgbClr val="BCACA7"/>
          </a:solidFill>
          <a:ln w="12700">
            <a:solidFill>
              <a:srgbClr val="12171D"/>
            </a:solidFill>
            <a:prstDash val="solid"/>
          </a:ln>
        </p:spPr>
      </p:sp>
      <p:sp>
        <p:nvSpPr>
          <p:cNvPr id="9" name="Text 7"/>
          <p:cNvSpPr/>
          <p:nvPr/>
        </p:nvSpPr>
        <p:spPr>
          <a:xfrm>
            <a:off x="2057400" y="1920240"/>
            <a:ext cx="1188720" cy="274320"/>
          </a:xfrm>
          <a:prstGeom prst="rect">
            <a:avLst/>
          </a:prstGeom>
          <a:noFill/>
          <a:ln/>
        </p:spPr>
        <p:txBody>
          <a:bodyPr wrap="square" lIns="0" tIns="0" rIns="0" bIns="0" rtlCol="0" anchor="ctr"/>
          <a:lstStyle/>
          <a:p>
            <a:pPr indent="0" marL="0">
              <a:buNone/>
            </a:pPr>
            <a:r>
              <a:rPr lang="en-US" sz="1300" spc="100" kern="0" dirty="0">
                <a:solidFill>
                  <a:srgbClr val="12171D"/>
                </a:solidFill>
                <a:latin typeface="Jost" pitchFamily="34" charset="0"/>
                <a:ea typeface="Jost" pitchFamily="34" charset="-122"/>
                <a:cs typeface="Jost" pitchFamily="34" charset="-120"/>
              </a:rPr>
              <a:t>BEIGE</a:t>
            </a:r>
            <a:endParaRPr lang="en-US" sz="1300" dirty="0"/>
          </a:p>
        </p:txBody>
      </p:sp>
      <p:sp>
        <p:nvSpPr>
          <p:cNvPr id="10" name="Text 8"/>
          <p:cNvSpPr/>
          <p:nvPr/>
        </p:nvSpPr>
        <p:spPr>
          <a:xfrm>
            <a:off x="2057400" y="2651760"/>
            <a:ext cx="118872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#BCACA7</a:t>
            </a:r>
            <a:endParaRPr lang="en-US" sz="1300" dirty="0"/>
          </a:p>
        </p:txBody>
      </p:sp>
      <p:sp>
        <p:nvSpPr>
          <p:cNvPr id="11" name="Shape 9"/>
          <p:cNvSpPr/>
          <p:nvPr/>
        </p:nvSpPr>
        <p:spPr>
          <a:xfrm>
            <a:off x="3383280" y="1828800"/>
            <a:ext cx="1325880" cy="1188720"/>
          </a:xfrm>
          <a:prstGeom prst="rect">
            <a:avLst/>
          </a:prstGeom>
          <a:solidFill>
            <a:srgbClr val="020202"/>
          </a:solidFill>
          <a:ln w="12700">
            <a:solidFill>
              <a:srgbClr val="12171D"/>
            </a:solidFill>
            <a:prstDash val="solid"/>
          </a:ln>
        </p:spPr>
      </p:sp>
      <p:sp>
        <p:nvSpPr>
          <p:cNvPr id="12" name="Text 10"/>
          <p:cNvSpPr/>
          <p:nvPr/>
        </p:nvSpPr>
        <p:spPr>
          <a:xfrm>
            <a:off x="3474720" y="1920240"/>
            <a:ext cx="1188720" cy="274320"/>
          </a:xfrm>
          <a:prstGeom prst="rect">
            <a:avLst/>
          </a:prstGeom>
          <a:noFill/>
          <a:ln/>
        </p:spPr>
        <p:txBody>
          <a:bodyPr wrap="square" lIns="0" tIns="0" rIns="0" bIns="0" rtlCol="0" anchor="ctr"/>
          <a:lstStyle/>
          <a:p>
            <a:pPr indent="0" marL="0">
              <a:buNone/>
            </a:pPr>
            <a:r>
              <a:rPr lang="en-US" sz="1300" spc="100" kern="0" dirty="0">
                <a:solidFill>
                  <a:srgbClr val="FFFFFF"/>
                </a:solidFill>
                <a:latin typeface="Jost" pitchFamily="34" charset="0"/>
                <a:ea typeface="Jost" pitchFamily="34" charset="-122"/>
                <a:cs typeface="Jost" pitchFamily="34" charset="-120"/>
              </a:rPr>
              <a:t>BLACK</a:t>
            </a:r>
            <a:endParaRPr lang="en-US" sz="1300" dirty="0"/>
          </a:p>
        </p:txBody>
      </p:sp>
      <p:sp>
        <p:nvSpPr>
          <p:cNvPr id="13" name="Text 11"/>
          <p:cNvSpPr/>
          <p:nvPr/>
        </p:nvSpPr>
        <p:spPr>
          <a:xfrm>
            <a:off x="3474720" y="2651760"/>
            <a:ext cx="1188720" cy="274320"/>
          </a:xfrm>
          <a:prstGeom prst="rect">
            <a:avLst/>
          </a:prstGeom>
          <a:noFill/>
          <a:ln/>
        </p:spPr>
        <p:txBody>
          <a:bodyPr wrap="square" lIns="0" tIns="0" rIns="0" bIns="0" rtlCol="0" anchor="ctr"/>
          <a:lstStyle/>
          <a:p>
            <a:pPr indent="0" marL="0">
              <a:buNone/>
            </a:pPr>
            <a:r>
              <a:rPr lang="en-US" sz="1300" dirty="0">
                <a:solidFill>
                  <a:srgbClr val="FFFFFF"/>
                </a:solidFill>
                <a:latin typeface="Inter" pitchFamily="34" charset="0"/>
                <a:ea typeface="Inter" pitchFamily="34" charset="-122"/>
                <a:cs typeface="Inter" pitchFamily="34" charset="-120"/>
              </a:rPr>
              <a:t>#020202</a:t>
            </a:r>
            <a:endParaRPr lang="en-US" sz="1300" dirty="0"/>
          </a:p>
        </p:txBody>
      </p:sp>
      <p:sp>
        <p:nvSpPr>
          <p:cNvPr id="14" name="Shape 12"/>
          <p:cNvSpPr/>
          <p:nvPr/>
        </p:nvSpPr>
        <p:spPr>
          <a:xfrm>
            <a:off x="4800600" y="1828800"/>
            <a:ext cx="1325880" cy="1188720"/>
          </a:xfrm>
          <a:prstGeom prst="rect">
            <a:avLst/>
          </a:prstGeom>
          <a:solidFill>
            <a:srgbClr val="FFFFFF"/>
          </a:solidFill>
          <a:ln w="12700">
            <a:solidFill>
              <a:srgbClr val="12171D"/>
            </a:solidFill>
            <a:prstDash val="solid"/>
          </a:ln>
        </p:spPr>
      </p:sp>
      <p:sp>
        <p:nvSpPr>
          <p:cNvPr id="15" name="Text 13"/>
          <p:cNvSpPr/>
          <p:nvPr/>
        </p:nvSpPr>
        <p:spPr>
          <a:xfrm>
            <a:off x="4892040" y="1920240"/>
            <a:ext cx="1188720" cy="274320"/>
          </a:xfrm>
          <a:prstGeom prst="rect">
            <a:avLst/>
          </a:prstGeom>
          <a:noFill/>
          <a:ln/>
        </p:spPr>
        <p:txBody>
          <a:bodyPr wrap="square" lIns="0" tIns="0" rIns="0" bIns="0" rtlCol="0" anchor="ctr"/>
          <a:lstStyle/>
          <a:p>
            <a:pPr indent="0" marL="0">
              <a:buNone/>
            </a:pPr>
            <a:r>
              <a:rPr lang="en-US" sz="1300" spc="100" kern="0" dirty="0">
                <a:solidFill>
                  <a:srgbClr val="12171D"/>
                </a:solidFill>
                <a:latin typeface="Jost" pitchFamily="34" charset="0"/>
                <a:ea typeface="Jost" pitchFamily="34" charset="-122"/>
                <a:cs typeface="Jost" pitchFamily="34" charset="-120"/>
              </a:rPr>
              <a:t>WHITE</a:t>
            </a:r>
            <a:endParaRPr lang="en-US" sz="1300" dirty="0"/>
          </a:p>
        </p:txBody>
      </p:sp>
      <p:sp>
        <p:nvSpPr>
          <p:cNvPr id="16" name="Text 14"/>
          <p:cNvSpPr/>
          <p:nvPr/>
        </p:nvSpPr>
        <p:spPr>
          <a:xfrm>
            <a:off x="4892040" y="2651760"/>
            <a:ext cx="118872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#FFFFFF</a:t>
            </a:r>
            <a:endParaRPr lang="en-US" sz="1300" dirty="0"/>
          </a:p>
        </p:txBody>
      </p:sp>
      <p:sp>
        <p:nvSpPr>
          <p:cNvPr id="17" name="Text 15"/>
          <p:cNvSpPr/>
          <p:nvPr/>
        </p:nvSpPr>
        <p:spPr>
          <a:xfrm>
            <a:off x="548640" y="3200400"/>
            <a:ext cx="557784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Pairings: INK on WHITE 18.0:1 · BEIGE on INK 8.2:1 · BLACK on WHITE 20.8:1.</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Never BEIGE on WHITE (2.2:1) for essential text or the logo.</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Not allowed: gold, gradients, decorative shadows, a fifth colour, accent colours.</a:t>
            </a:r>
            <a:endParaRPr lang="en-US" sz="1400" dirty="0"/>
          </a:p>
        </p:txBody>
      </p:sp>
      <p:sp>
        <p:nvSpPr>
          <p:cNvPr id="18" name="Shape 16"/>
          <p:cNvSpPr/>
          <p:nvPr/>
        </p:nvSpPr>
        <p:spPr>
          <a:xfrm>
            <a:off x="548640" y="4892040"/>
            <a:ext cx="5577840" cy="1280160"/>
          </a:xfrm>
          <a:prstGeom prst="rect">
            <a:avLst/>
          </a:prstGeom>
          <a:solidFill>
            <a:srgbClr val="FFFFFF"/>
          </a:solidFill>
          <a:ln w="25400">
            <a:solidFill>
              <a:srgbClr val="12171D"/>
            </a:solidFill>
            <a:prstDash val="dash"/>
          </a:ln>
        </p:spPr>
      </p:sp>
      <p:sp>
        <p:nvSpPr>
          <p:cNvPr id="19" name="Text 17"/>
          <p:cNvSpPr/>
          <p:nvPr/>
        </p:nvSpPr>
        <p:spPr>
          <a:xfrm>
            <a:off x="685800" y="4937760"/>
            <a:ext cx="5303520" cy="1188720"/>
          </a:xfrm>
          <a:prstGeom prst="rect">
            <a:avLst/>
          </a:prstGeom>
          <a:noFill/>
          <a:ln/>
        </p:spPr>
        <p:txBody>
          <a:bodyPr wrap="square" lIns="0" tIns="0" rIns="0" bIns="0" rtlCol="0" anchor="ctr"/>
          <a:lstStyle/>
          <a:p>
            <a:pPr indent="0" marL="0">
              <a:buNone/>
            </a:pPr>
            <a:r>
              <a:rPr lang="en-US" sz="1400" dirty="0">
                <a:solidFill>
                  <a:srgbClr val="12171D"/>
                </a:solidFill>
                <a:latin typeface="Inter" pitchFamily="34" charset="0"/>
                <a:ea typeface="Inter" pitchFamily="34" charset="-122"/>
                <a:cs typeface="Inter" pitchFamily="34" charset="-120"/>
              </a:rPr>
              <a:t>Colour-coded labels are not part of the current system. If the owner wants them, the route is an amendment to the master guidelines through the Approval Register. This document cannot grant an exception.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1828800"/>
          <a:ext cx="5239512" cy="914400"/>
        </p:xfrm>
        <a:graphic>
          <a:graphicData uri="http://schemas.openxmlformats.org/drawingml/2006/table">
            <a:tbl>
              <a:tblPr/>
              <a:tblGrid>
                <a:gridCol w="1554480"/>
                <a:gridCol w="368503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ELEMENT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RULE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Display and headings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Jost, weight 400</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Body and UI</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Inter, weight 400</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Arabic</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Noto Sans Arabic, interim · PENDING VALIDATION</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Weights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400 only until accepted font files exist</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Tracking</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Capitals only, at token values. Body, caption, label and Arabic: 0</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Tagline</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HOSPITALITY, IN PERFECT PROPORTION · caps · Jost 400 · 0.18em · never shortened or lowercased</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21" name="Text 18"/>
          <p:cNvSpPr/>
          <p:nvPr/>
        </p:nvSpPr>
        <p:spPr>
          <a:xfrm>
            <a:off x="6400800" y="5943600"/>
            <a:ext cx="283464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 · PART B 3, 6–11</a:t>
            </a:r>
            <a:endParaRPr lang="en-US" sz="1000" dirty="0"/>
          </a:p>
        </p:txBody>
      </p:sp>
      <p:sp>
        <p:nvSpPr>
          <p:cNvPr id="22" name="Shape 19"/>
          <p:cNvSpPr/>
          <p:nvPr/>
        </p:nvSpPr>
        <p:spPr>
          <a:xfrm>
            <a:off x="548640" y="6400800"/>
            <a:ext cx="11094415" cy="0"/>
          </a:xfrm>
          <a:prstGeom prst="line">
            <a:avLst/>
          </a:prstGeom>
          <a:noFill/>
          <a:ln w="12700">
            <a:solidFill>
              <a:srgbClr val="BCACA7"/>
            </a:solidFill>
            <a:prstDash val="solid"/>
          </a:ln>
        </p:spPr>
      </p:sp>
      <p:sp>
        <p:nvSpPr>
          <p:cNvPr id="23" name="Text 20"/>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24" name="Text 21"/>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9 / 24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02 · DESIGN DNA &amp; VISUAL SYSTEMS</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Physical standards and imagery: specification before appearance.</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PHYSICAL</a:t>
            </a:r>
            <a:endParaRPr lang="en-US" sz="1050" dirty="0"/>
          </a:p>
        </p:txBody>
      </p:sp>
      <p:sp>
        <p:nvSpPr>
          <p:cNvPr id="6" name="Text 4"/>
          <p:cNvSpPr/>
          <p:nvPr/>
        </p:nvSpPr>
        <p:spPr>
          <a:xfrm>
            <a:off x="548640" y="2148840"/>
            <a:ext cx="5394960" cy="38404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Warm uncoated stock, matte direction: feel before shine.</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Avoid decorative gold, holographic, chrome, heavy foil, gloss-heavy cues.</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Finish suppliers, stock weights, tolerances: [REQUIRES OWNER], Part C.</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Bottle appearance (round-shouldered cylinder, black pumps, amber and ivory) is a visual proposal only. Lock to a supplier drawing before production artwork.</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SKU specification records substrate, grade, finish, adhesive, decoration method. No unverified material or recyclability claims.</a:t>
            </a:r>
            <a:endParaRPr lang="en-US" sz="1350" dirty="0"/>
          </a:p>
        </p:txBody>
      </p:sp>
      <p:sp>
        <p:nvSpPr>
          <p:cNvPr id="7" name="Text 5"/>
          <p:cNvSpPr/>
          <p:nvPr/>
        </p:nvSpPr>
        <p:spPr>
          <a:xfrm>
            <a:off x="640080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IMAGERY</a:t>
            </a:r>
            <a:endParaRPr lang="en-US" sz="1050" dirty="0"/>
          </a:p>
        </p:txBody>
      </p:sp>
      <p:sp>
        <p:nvSpPr>
          <p:cNvPr id="8" name="Text 6"/>
          <p:cNvSpPr/>
          <p:nvPr/>
        </p:nvSpPr>
        <p:spPr>
          <a:xfrm>
            <a:off x="6400800" y="2148840"/>
            <a:ext cx="5239512" cy="21945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Classify every image: concept render, production photography or source artwork.</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A realistic render is never presented as production photography.</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Alt text states concept status and describes the content. A caption does not replace alt text.</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Disclosure stays visible near the image and readable on narrow screens.</a:t>
            </a:r>
            <a:endParaRPr lang="en-US" sz="1350" dirty="0"/>
          </a:p>
        </p:txBody>
      </p:sp>
      <p:sp>
        <p:nvSpPr>
          <p:cNvPr id="9" name="Shape 7"/>
          <p:cNvSpPr/>
          <p:nvPr/>
        </p:nvSpPr>
        <p:spPr>
          <a:xfrm>
            <a:off x="6400800" y="4114800"/>
            <a:ext cx="5239512" cy="502920"/>
          </a:xfrm>
          <a:prstGeom prst="rect">
            <a:avLst/>
          </a:prstGeom>
          <a:solidFill>
            <a:srgbClr val="FFFFFF"/>
          </a:solidFill>
          <a:ln w="12700">
            <a:solidFill>
              <a:srgbClr val="BCACA7"/>
            </a:solidFill>
            <a:prstDash val="solid"/>
          </a:ln>
        </p:spPr>
      </p:sp>
      <p:sp>
        <p:nvSpPr>
          <p:cNvPr id="10" name="Text 8"/>
          <p:cNvSpPr/>
          <p:nvPr/>
        </p:nvSpPr>
        <p:spPr>
          <a:xfrm>
            <a:off x="6492240" y="4114800"/>
            <a:ext cx="5029200" cy="502920"/>
          </a:xfrm>
          <a:prstGeom prst="rect">
            <a:avLst/>
          </a:prstGeom>
          <a:noFill/>
          <a:ln/>
        </p:spPr>
        <p:txBody>
          <a:bodyPr wrap="square" lIns="0" tIns="0" rIns="0" bIns="0" rtlCol="0" anchor="ctr"/>
          <a:lstStyle/>
          <a:p>
            <a:pPr indent="0" marL="0">
              <a:buNone/>
            </a:pPr>
            <a:r>
              <a:rPr lang="en-US" sz="1300" spc="110" kern="0" dirty="0">
                <a:solidFill>
                  <a:srgbClr val="12171D"/>
                </a:solidFill>
                <a:latin typeface="Jost" pitchFamily="34" charset="0"/>
                <a:ea typeface="Jost" pitchFamily="34" charset="-122"/>
                <a:cs typeface="Jost" pitchFamily="34" charset="-120"/>
              </a:rPr>
              <a:t>CONCEPT / NOT PRODUCTION ARTWORK</a:t>
            </a:r>
            <a:endParaRPr lang="en-US" sz="1300" dirty="0"/>
          </a:p>
        </p:txBody>
      </p:sp>
      <p:sp>
        <p:nvSpPr>
          <p:cNvPr id="11" name="Shape 9"/>
          <p:cNvSpPr/>
          <p:nvPr/>
        </p:nvSpPr>
        <p:spPr>
          <a:xfrm>
            <a:off x="6400800" y="4709160"/>
            <a:ext cx="5239512" cy="502920"/>
          </a:xfrm>
          <a:prstGeom prst="rect">
            <a:avLst/>
          </a:prstGeom>
          <a:solidFill>
            <a:srgbClr val="FFFFFF"/>
          </a:solidFill>
          <a:ln w="12700">
            <a:solidFill>
              <a:srgbClr val="BCACA7"/>
            </a:solidFill>
            <a:prstDash val="solid"/>
          </a:ln>
        </p:spPr>
      </p:sp>
      <p:sp>
        <p:nvSpPr>
          <p:cNvPr id="12" name="Text 10"/>
          <p:cNvSpPr/>
          <p:nvPr/>
        </p:nvSpPr>
        <p:spPr>
          <a:xfrm>
            <a:off x="6492240" y="4709160"/>
            <a:ext cx="5029200" cy="502920"/>
          </a:xfrm>
          <a:prstGeom prst="rect">
            <a:avLst/>
          </a:prstGeom>
          <a:noFill/>
          <a:ln/>
        </p:spPr>
        <p:txBody>
          <a:bodyPr wrap="square" lIns="0" tIns="0" rIns="0" bIns="0" rtlCol="0" anchor="ctr"/>
          <a:lstStyle/>
          <a:p>
            <a:pPr indent="0" marL="0">
              <a:buNone/>
            </a:pPr>
            <a:r>
              <a:rPr lang="en-US" sz="1300" spc="110" kern="0" dirty="0">
                <a:solidFill>
                  <a:srgbClr val="12171D"/>
                </a:solidFill>
                <a:latin typeface="Jost" pitchFamily="34" charset="0"/>
                <a:ea typeface="Jost" pitchFamily="34" charset="-122"/>
                <a:cs typeface="Jost" pitchFamily="34" charset="-120"/>
              </a:rPr>
              <a:t>CONCEPT / NOT PRODUCTION PHOTOGRAPHY</a:t>
            </a:r>
            <a:endParaRPr lang="en-US" sz="1300" dirty="0"/>
          </a:p>
        </p:txBody>
      </p:sp>
      <p:sp>
        <p:nvSpPr>
          <p:cNvPr id="13" name="Text 11"/>
          <p:cNvSpPr/>
          <p:nvPr/>
        </p:nvSpPr>
        <p:spPr>
          <a:xfrm>
            <a:off x="6400800" y="5349240"/>
            <a:ext cx="5239512" cy="59436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Proposed deliverables: 4:5 product and 16:9 hero, with a separate narrow-screen composition when a shared crop would hide the product or its disclosure.</a:t>
            </a:r>
            <a:endParaRPr lang="en-US" sz="1250" dirty="0"/>
          </a:p>
        </p:txBody>
      </p:sp>
      <p:sp>
        <p:nvSpPr>
          <p:cNvPr id="14" name="Text 12"/>
          <p:cNvSpPr/>
          <p:nvPr/>
        </p:nvSpPr>
        <p:spPr>
          <a:xfrm>
            <a:off x="6400800" y="6016752"/>
            <a:ext cx="274320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CONDITIONAL · PROPOSED</a:t>
            </a:r>
            <a:endParaRPr lang="en-US" sz="1000" dirty="0"/>
          </a:p>
        </p:txBody>
      </p:sp>
      <p:sp>
        <p:nvSpPr>
          <p:cNvPr id="15" name="Shape 13"/>
          <p:cNvSpPr/>
          <p:nvPr/>
        </p:nvSpPr>
        <p:spPr>
          <a:xfrm>
            <a:off x="548640" y="6400800"/>
            <a:ext cx="11094415" cy="0"/>
          </a:xfrm>
          <a:prstGeom prst="line">
            <a:avLst/>
          </a:prstGeom>
          <a:noFill/>
          <a:ln w="12700">
            <a:solidFill>
              <a:srgbClr val="BCACA7"/>
            </a:solidFill>
            <a:prstDash val="solid"/>
          </a:ln>
        </p:spPr>
      </p:sp>
      <p:sp>
        <p:nvSpPr>
          <p:cNvPr id="16" name="Text 14"/>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7" name="Text 15"/>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10 / 24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02 · DESIGN DNA &amp; VISUAL SYSTEMS</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Digital behaviour is inherited from Part B.</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669280" cy="914400"/>
        </p:xfrm>
        <a:graphic>
          <a:graphicData uri="http://schemas.openxmlformats.org/drawingml/2006/table">
            <a:tbl>
              <a:tblPr/>
              <a:tblGrid>
                <a:gridCol w="1554480"/>
                <a:gridCol w="4114800"/>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RULE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VALUE (PART B)</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Radius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0 editorial · 4px controls · no pills</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Separation</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1px hairlines. No decorative shadow.</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Focus ring</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2px, offset 2px · INK on light, WHITE on dark</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Target size</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44 × 44 CSS px</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Motion</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One easing. No bounce, parallax or autoplay loops. Reduced motion honoured.</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Breakpoints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480 · 720 · 1024 · 1440. Body stays 16px.</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Buttons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Sentence case, outcome verbs, one primary per view</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92240" y="1828800"/>
          <a:ext cx="5148072" cy="914400"/>
        </p:xfrm>
        <a:graphic>
          <a:graphicData uri="http://schemas.openxmlformats.org/drawingml/2006/table">
            <a:tbl>
              <a:tblPr/>
              <a:tblGrid>
                <a:gridCol w="2606040"/>
                <a:gridCol w="254203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Name the real action: “Draft enquiry”.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Imply submission when only a draft exists.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Show concept images with a disclosure.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Let a hero image carry unverified product facts.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Keep ring or quarter forms off headlines.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Put a ring behind text.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Describe what the implementation actually does.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Copy another build’s approved wording as proof.</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7" name="Text 3"/>
          <p:cNvSpPr/>
          <p:nvPr/>
        </p:nvSpPr>
        <p:spPr>
          <a:xfrm>
            <a:off x="548640" y="5760720"/>
            <a:ext cx="11094415" cy="36576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This document does not authorize website redesign or implementation.</a:t>
            </a:r>
            <a:endParaRPr lang="en-US" sz="1500" dirty="0"/>
          </a:p>
        </p:txBody>
      </p:sp>
      <p:sp>
        <p:nvSpPr>
          <p:cNvPr id="8" name="Shape 4"/>
          <p:cNvSpPr/>
          <p:nvPr/>
        </p:nvSpPr>
        <p:spPr>
          <a:xfrm>
            <a:off x="548640" y="6400800"/>
            <a:ext cx="11094415" cy="0"/>
          </a:xfrm>
          <a:prstGeom prst="line">
            <a:avLst/>
          </a:prstGeom>
          <a:noFill/>
          <a:ln w="12700">
            <a:solidFill>
              <a:srgbClr val="BCACA7"/>
            </a:solidFill>
            <a:prstDash val="solid"/>
          </a:ln>
        </p:spPr>
      </p:sp>
      <p:sp>
        <p:nvSpPr>
          <p:cNvPr id="9" name="Text 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0" name="Text 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11 / 24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03 · GATES &amp; TIERING</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No product tiers are approved. Use development routes.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783080"/>
            <a:ext cx="11094415" cy="77724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Part A keeps tiers CONDITIONAL until commercial scope closes (AC03, VAL-01). The naming approval gave baseline packs no collection name and did not adopt Core Collection or Standard Range. Property Edition and Bespoke Programme are not automatically superior formulations or performance levels.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4415" cy="914400"/>
        </p:xfrm>
        <a:graphic>
          <a:graphicData uri="http://schemas.openxmlformats.org/drawingml/2006/table">
            <a:tbl>
              <a:tblPr/>
              <a:tblGrid>
                <a:gridCol w="2194560"/>
                <a:gridCol w="2926080"/>
                <a:gridCol w="3017520"/>
                <a:gridCol w="295351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GATE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BASELINE PACKS</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PROPERTY EDITION</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BESPOKE PROGRAMME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Master identity</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Fixed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Fixed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Fixed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English product naming</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Controlled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Controlled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Controlled unless separately approved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Property identity</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No property-specific application established</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Proposed under agreed co-branding rules</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Determined by an approved brief</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Packaging structure</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Supplier proof pending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Adaptation scope pending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Development scope pending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Formula, volume, material</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Verified per SKU</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Verified per SKU</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Verified per SKU</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Commercial availability</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Not established by naming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Pending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Pending</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250" dirty="0">
                          <a:solidFill>
                            <a:srgbClr val="12171D"/>
                          </a:solidFill>
                          <a:latin typeface="Jost" pitchFamily="34" charset="0"/>
                          <a:ea typeface="Jost" pitchFamily="34" charset="-122"/>
                          <a:cs typeface="Jost" pitchFamily="34" charset="-120"/>
                        </a:rPr>
                        <a:t>Release gate</a:t>
                      </a:r>
                      <a:endParaRPr lang="en-US" sz="12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Approved SKU evidence</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SKU evidence + co-branding approval</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250" dirty="0">
                          <a:solidFill>
                            <a:srgbClr val="12171D"/>
                          </a:solidFill>
                          <a:latin typeface="Inter" pitchFamily="34" charset="0"/>
                          <a:ea typeface="Inter" pitchFamily="34" charset="-122"/>
                          <a:cs typeface="Inter" pitchFamily="34" charset="-120"/>
                        </a:rPr>
                        <a:t>SKU evidence + brief and development approval</a:t>
                      </a:r>
                      <a:endParaRPr lang="en-US" sz="12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7" name="Text 4"/>
          <p:cNvSpPr/>
          <p:nvPr/>
        </p:nvSpPr>
        <p:spPr>
          <a:xfrm>
            <a:off x="548640" y="6053328"/>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PE-22</a:t>
            </a:r>
            <a:endParaRPr lang="en-US" sz="1000" dirty="0"/>
          </a:p>
        </p:txBody>
      </p:sp>
      <p:sp>
        <p:nvSpPr>
          <p:cNvPr id="8" name="Shape 5"/>
          <p:cNvSpPr/>
          <p:nvPr/>
        </p:nvSpPr>
        <p:spPr>
          <a:xfrm>
            <a:off x="548640" y="6400800"/>
            <a:ext cx="11094415" cy="0"/>
          </a:xfrm>
          <a:prstGeom prst="line">
            <a:avLst/>
          </a:prstGeom>
          <a:noFill/>
          <a:ln w="12700">
            <a:solidFill>
              <a:srgbClr val="BCACA7"/>
            </a:solidFill>
            <a:prstDash val="solid"/>
          </a:ln>
        </p:spPr>
      </p:sp>
      <p:sp>
        <p:nvSpPr>
          <p:cNvPr id="9" name="Text 6"/>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0" name="Text 7"/>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12 / 24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03 · GATES &amp; TIERING</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Feature prioritisation: a method, not scores.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035040" cy="914400"/>
        </p:xfrm>
        <a:graphic>
          <a:graphicData uri="http://schemas.openxmlformats.org/drawingml/2006/table">
            <a:tbl>
              <a:tblPr/>
              <a:tblGrid>
                <a:gridCol w="822960"/>
                <a:gridCol w="2560320"/>
                <a:gridCol w="2651760"/>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SCORE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CUSTOMER IMPACT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TECHNICAL EFFORT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1</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Minor preference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Controlled artwork change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3</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Meaningful operational improvement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Supplier tooling or compatibility work</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5</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Essential guest or operator need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New formulation, structure or qualification programme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3840480"/>
            <a:ext cx="6035040" cy="21031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Record evidence, dependencies and validation cost beside each score.</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Safety, legal requirements and basic usability are mandatory gates, never premium features.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An unverified performance improvement receives no promotional claim, whatever its score.</a:t>
            </a:r>
            <a:endParaRPr lang="en-US" sz="1400" dirty="0"/>
          </a:p>
        </p:txBody>
      </p:sp>
      <p:sp>
        <p:nvSpPr>
          <p:cNvPr id="7" name="Shape 4"/>
          <p:cNvSpPr/>
          <p:nvPr/>
        </p:nvSpPr>
        <p:spPr>
          <a:xfrm>
            <a:off x="6858000" y="1828800"/>
            <a:ext cx="4782312" cy="3291840"/>
          </a:xfrm>
          <a:prstGeom prst="rect">
            <a:avLst/>
          </a:prstGeom>
          <a:solidFill>
            <a:srgbClr val="FFFFFF"/>
          </a:solidFill>
          <a:ln w="25400">
            <a:solidFill>
              <a:srgbClr val="12171D"/>
            </a:solidFill>
            <a:prstDash val="dash"/>
          </a:ln>
        </p:spPr>
      </p:sp>
      <p:sp>
        <p:nvSpPr>
          <p:cNvPr id="8" name="Text 5"/>
          <p:cNvSpPr/>
          <p:nvPr/>
        </p:nvSpPr>
        <p:spPr>
          <a:xfrm>
            <a:off x="7040880" y="1965960"/>
            <a:ext cx="36576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DATA STILL MISSING</a:t>
            </a:r>
            <a:endParaRPr lang="en-US" sz="1050" dirty="0"/>
          </a:p>
        </p:txBody>
      </p:sp>
      <p:sp>
        <p:nvSpPr>
          <p:cNvPr id="9" name="Text 6"/>
          <p:cNvSpPr/>
          <p:nvPr/>
        </p:nvSpPr>
        <p:spPr>
          <a:xfrm>
            <a:off x="7040880" y="2331720"/>
            <a:ext cx="4389120"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Supplier cost and lead-time inputs.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Buyer research with hospitality procurement.</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Owner decision on scoring criteria and weights.</a:t>
            </a:r>
            <a:endParaRPr lang="en-US" sz="1400" dirty="0"/>
          </a:p>
        </p:txBody>
      </p:sp>
      <p:sp>
        <p:nvSpPr>
          <p:cNvPr id="10" name="Text 7"/>
          <p:cNvSpPr/>
          <p:nvPr/>
        </p:nvSpPr>
        <p:spPr>
          <a:xfrm>
            <a:off x="7040880" y="3840480"/>
            <a:ext cx="4389120" cy="109728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Without that data any score would be invented. No scores are given in this edition.</a:t>
            </a:r>
            <a:endParaRPr lang="en-US" sz="1400" dirty="0"/>
          </a:p>
        </p:txBody>
      </p:sp>
      <p:sp>
        <p:nvSpPr>
          <p:cNvPr id="11" name="Text 8"/>
          <p:cNvSpPr/>
          <p:nvPr/>
        </p:nvSpPr>
        <p:spPr>
          <a:xfrm>
            <a:off x="548640" y="5989320"/>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PE-23</a:t>
            </a:r>
            <a:endParaRPr lang="en-US" sz="1000" dirty="0"/>
          </a:p>
        </p:txBody>
      </p:sp>
      <p:sp>
        <p:nvSpPr>
          <p:cNvPr id="12" name="Shape 9"/>
          <p:cNvSpPr/>
          <p:nvPr/>
        </p:nvSpPr>
        <p:spPr>
          <a:xfrm>
            <a:off x="548640" y="6400800"/>
            <a:ext cx="11094415" cy="0"/>
          </a:xfrm>
          <a:prstGeom prst="line">
            <a:avLst/>
          </a:prstGeom>
          <a:noFill/>
          <a:ln w="12700">
            <a:solidFill>
              <a:srgbClr val="BCACA7"/>
            </a:solidFill>
            <a:prstDash val="solid"/>
          </a:ln>
        </p:spPr>
      </p:sp>
      <p:sp>
        <p:nvSpPr>
          <p:cNvPr id="13" name="Text 10"/>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4" name="Text 11"/>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13 / 24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04 · QUALITY, COMPLIANCE &amp; PERFORMANCE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Evidence gates (1 of 2): product and formula.</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783080"/>
            <a:ext cx="11094415" cy="64008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Exact legal requirements depend on product classification, formulation, intended use and destination market. A competent regulatory reviewer establishes them. This document does not certify compliance.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4415" cy="914400"/>
        </p:xfrm>
        <a:graphic>
          <a:graphicData uri="http://schemas.openxmlformats.org/drawingml/2006/table">
            <a:tbl>
              <a:tblPr/>
              <a:tblGrid>
                <a:gridCol w="2286000"/>
                <a:gridCol w="4572000"/>
                <a:gridCol w="423367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GATE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REQUIRED EVIDENCE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ACCEPTANCE CONDITION</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Product identity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Controlled SKU record, intended use, formulation reference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Records identify the same product and revision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Regulatory assessment</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Market-specific classification, requirements, clearance record</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Applicable obligations resolved by the authorised reviewer</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Formula safety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Qualified safety assessment and applicable test reports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 criteria met; no unresolved critical findings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Product stability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 stability and packaging-compatibility protocol</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Results meet predefined limits for the intended shelf life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Microbiological quality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Applicable testing and preservation evidence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Qualified reviewer accepts results against the approved protocol</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7" name="Text 4"/>
          <p:cNvSpPr/>
          <p:nvPr/>
        </p:nvSpPr>
        <p:spPr>
          <a:xfrm>
            <a:off x="548640" y="5852160"/>
            <a:ext cx="8595360" cy="502920"/>
          </a:xfrm>
          <a:prstGeom prst="rect">
            <a:avLst/>
          </a:prstGeom>
          <a:noFill/>
          <a:ln/>
        </p:spPr>
        <p:txBody>
          <a:bodyPr wrap="square" lIns="0" tIns="0" rIns="0" bIns="0" rtlCol="0" anchor="ctr"/>
          <a:lstStyle/>
          <a:p>
            <a:pPr indent="0" marL="0">
              <a:buNone/>
            </a:pPr>
            <a:r>
              <a:rPr lang="en-US" sz="1400" dirty="0">
                <a:solidFill>
                  <a:srgbClr val="12171D"/>
                </a:solidFill>
                <a:latin typeface="Jost" pitchFamily="34" charset="0"/>
                <a:ea typeface="Jost" pitchFamily="34" charset="-122"/>
                <a:cs typeface="Jost" pitchFamily="34" charset="-120"/>
              </a:rPr>
              <a:t>Do not invent universal cycle counts, shelf lives, doses or temperature limits. Set numeric thresholds before testing, with the responsible technical reviewer and supplier.</a:t>
            </a:r>
            <a:endParaRPr lang="en-US" sz="1400" dirty="0"/>
          </a:p>
        </p:txBody>
      </p:sp>
      <p:sp>
        <p:nvSpPr>
          <p:cNvPr id="8" name="Text 5"/>
          <p:cNvSpPr/>
          <p:nvPr/>
        </p:nvSpPr>
        <p:spPr>
          <a:xfrm>
            <a:off x="9631375" y="5943600"/>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PE-24</a:t>
            </a:r>
            <a:endParaRPr lang="en-US" sz="1000" dirty="0"/>
          </a:p>
        </p:txBody>
      </p:sp>
      <p:sp>
        <p:nvSpPr>
          <p:cNvPr id="9" name="Shape 6"/>
          <p:cNvSpPr/>
          <p:nvPr/>
        </p:nvSpPr>
        <p:spPr>
          <a:xfrm>
            <a:off x="548640" y="6400800"/>
            <a:ext cx="11094415" cy="0"/>
          </a:xfrm>
          <a:prstGeom prst="line">
            <a:avLst/>
          </a:prstGeom>
          <a:noFill/>
          <a:ln w="12700">
            <a:solidFill>
              <a:srgbClr val="BCACA7"/>
            </a:solidFill>
            <a:prstDash val="solid"/>
          </a:ln>
        </p:spPr>
      </p:sp>
      <p:sp>
        <p:nvSpPr>
          <p:cNvPr id="10" name="Text 7"/>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1" name="Text 8"/>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14 / 24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04 · QUALITY, COMPLIANCE &amp; PERFORMANCE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Evidence gates (2 of 2): packaging and artwork.</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286000"/>
                <a:gridCol w="4572000"/>
                <a:gridCol w="423367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GATE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REQUIRED EVIDENCE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ACCEPTANCE CONDITION</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Dispensing system</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Closure fit, leakage, priming and dose-consistency results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Supplier-agreed numerical limits met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Label durability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Adhesion, wet exposure, abrasion and legibility testing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 protocol passed on the actual substrate and print process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Transport packaging</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Distribution-specific protection testing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 damage and leakage limits met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Traceability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Batch identification and controlled manufacturing records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Product traceable to relevant production evidence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Artwork</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Verified copy, facts, mark, fonts and required information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Final proof approved for the exact SKU and market</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5257800"/>
            <a:ext cx="11094415" cy="73152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Each release record identifies the artifact revision, full checksum, evidence references, reviewers and the authorised final approver. An unassigned approval route is a blocking item.</a:t>
            </a:r>
            <a:endParaRPr lang="en-US" sz="1400" dirty="0"/>
          </a:p>
        </p:txBody>
      </p:sp>
      <p:sp>
        <p:nvSpPr>
          <p:cNvPr id="7" name="Text 4"/>
          <p:cNvSpPr/>
          <p:nvPr/>
        </p:nvSpPr>
        <p:spPr>
          <a:xfrm>
            <a:off x="548640" y="5989320"/>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PE-24</a:t>
            </a:r>
            <a:endParaRPr lang="en-US" sz="1000" dirty="0"/>
          </a:p>
        </p:txBody>
      </p:sp>
      <p:sp>
        <p:nvSpPr>
          <p:cNvPr id="8" name="Shape 5"/>
          <p:cNvSpPr/>
          <p:nvPr/>
        </p:nvSpPr>
        <p:spPr>
          <a:xfrm>
            <a:off x="548640" y="6400800"/>
            <a:ext cx="11094415" cy="0"/>
          </a:xfrm>
          <a:prstGeom prst="line">
            <a:avLst/>
          </a:prstGeom>
          <a:noFill/>
          <a:ln w="12700">
            <a:solidFill>
              <a:srgbClr val="BCACA7"/>
            </a:solidFill>
            <a:prstDash val="solid"/>
          </a:ln>
        </p:spPr>
      </p:sp>
      <p:sp>
        <p:nvSpPr>
          <p:cNvPr id="9" name="Text 6"/>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0" name="Text 7"/>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15 / 24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04 · QUALITY, COMPLIANCE &amp; PERFORMANCE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Label, localization, digital and rights controls.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CONTROLS</a:t>
            </a:r>
            <a:endParaRPr lang="en-US" sz="1050" dirty="0"/>
          </a:p>
        </p:txBody>
      </p:sp>
      <p:sp>
        <p:nvSpPr>
          <p:cNvPr id="6" name="Text 4"/>
          <p:cNvSpPr/>
          <p:nvPr/>
        </p:nvSpPr>
        <p:spPr>
          <a:xfrm>
            <a:off x="548640" y="2148840"/>
            <a:ext cx="5669280" cy="4023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2171D"/>
                </a:solidFill>
                <a:latin typeface="Inter" pitchFamily="34" charset="0"/>
                <a:ea typeface="Inter" pitchFamily="34" charset="-122"/>
                <a:cs typeface="Inter" pitchFamily="34" charset="-120"/>
              </a:rPr>
              <a:t>Do not print unverified volume, formulation, certification or Arabic wording.</a:t>
            </a:r>
            <a:pPr indent="0" marL="0">
              <a:buNone/>
            </a:pPr>
            <a:r>
              <a:rPr lang="en-US" sz="1000" spc="80" kern="0" dirty="0">
                <a:solidFill>
                  <a:srgbClr val="12171D"/>
                </a:solidFill>
                <a:latin typeface="Jost" pitchFamily="34" charset="0"/>
                <a:ea typeface="Jost" pitchFamily="34" charset="-122"/>
                <a:cs typeface="Jost" pitchFamily="34" charset="-120"/>
              </a:rPr>
              <a:t>  INHERITED · A22</a:t>
            </a:r>
            <a:endParaRPr lang="en-US" sz="1300" dirty="0"/>
          </a:p>
          <a:p>
            <a:pPr marL="177800" indent="-177800">
              <a:spcAft>
                <a:spcPts val="600"/>
              </a:spcAft>
              <a:buSzPct val="100000"/>
              <a:buChar char="•"/>
            </a:pPr>
            <a:r>
              <a:rPr lang="en-US" sz="1300" dirty="0">
                <a:solidFill>
                  <a:srgbClr val="12171D"/>
                </a:solidFill>
                <a:latin typeface="Inter" pitchFamily="34" charset="0"/>
                <a:ea typeface="Inter" pitchFamily="34" charset="-122"/>
                <a:cs typeface="Inter" pitchFamily="34" charset="-120"/>
              </a:rPr>
              <a:t>Generated mockups never become production artwork.</a:t>
            </a:r>
            <a:pPr indent="0" marL="0">
              <a:buNone/>
            </a:pPr>
            <a:r>
              <a:rPr lang="en-US" sz="1000" spc="80" kern="0" dirty="0">
                <a:solidFill>
                  <a:srgbClr val="12171D"/>
                </a:solidFill>
                <a:latin typeface="Jost" pitchFamily="34" charset="0"/>
                <a:ea typeface="Jost" pitchFamily="34" charset="-122"/>
                <a:cs typeface="Jost" pitchFamily="34" charset="-120"/>
              </a:rPr>
              <a:t>  PROPOSED · PE-09</a:t>
            </a:r>
            <a:endParaRPr lang="en-US" sz="1300" dirty="0"/>
          </a:p>
          <a:p>
            <a:pPr marL="177800" indent="-177800">
              <a:spcAft>
                <a:spcPts val="600"/>
              </a:spcAft>
              <a:buSzPct val="100000"/>
              <a:buChar char="•"/>
            </a:pPr>
            <a:r>
              <a:rPr lang="en-US" sz="1300" dirty="0">
                <a:solidFill>
                  <a:srgbClr val="12171D"/>
                </a:solidFill>
                <a:latin typeface="Inter" pitchFamily="34" charset="0"/>
                <a:ea typeface="Inter" pitchFamily="34" charset="-122"/>
                <a:cs typeface="Inter" pitchFamily="34" charset="-120"/>
              </a:rPr>
              <a:t>Arabic: source terminology, qualified translation, native review, shaping, font and RTL checks, final artwork approval.</a:t>
            </a:r>
            <a:pPr indent="0" marL="0">
              <a:buNone/>
            </a:pPr>
            <a:r>
              <a:rPr lang="en-US" sz="1000" spc="80" kern="0" dirty="0">
                <a:solidFill>
                  <a:srgbClr val="12171D"/>
                </a:solidFill>
                <a:latin typeface="Jost" pitchFamily="34" charset="0"/>
                <a:ea typeface="Jost" pitchFamily="34" charset="-122"/>
                <a:cs typeface="Jost" pitchFamily="34" charset="-120"/>
              </a:rPr>
              <a:t>  PROPOSED · PE-15</a:t>
            </a:r>
            <a:endParaRPr lang="en-US" sz="1300" dirty="0"/>
          </a:p>
          <a:p>
            <a:pPr marL="177800" indent="-177800">
              <a:spcAft>
                <a:spcPts val="600"/>
              </a:spcAft>
              <a:buSzPct val="100000"/>
              <a:buChar char="•"/>
            </a:pPr>
            <a:r>
              <a:rPr lang="en-US" sz="1300" dirty="0">
                <a:solidFill>
                  <a:srgbClr val="12171D"/>
                </a:solidFill>
                <a:latin typeface="Inter" pitchFamily="34" charset="0"/>
                <a:ea typeface="Inter" pitchFamily="34" charset="-122"/>
                <a:cs typeface="Inter" pitchFamily="34" charset="-120"/>
              </a:rPr>
              <a:t>Digital artifacts: WCAG 2.2 AA with the Part B test list (axe-core, keyboard, screen reader EN and AR, 400% zoom, 320px reflow, reduced motion).</a:t>
            </a:r>
            <a:pPr indent="0" marL="0">
              <a:buNone/>
            </a:pPr>
            <a:r>
              <a:rPr lang="en-US" sz="1000" spc="80" kern="0" dirty="0">
                <a:solidFill>
                  <a:srgbClr val="12171D"/>
                </a:solidFill>
                <a:latin typeface="Jost" pitchFamily="34" charset="0"/>
                <a:ea typeface="Jost" pitchFamily="34" charset="-122"/>
                <a:cs typeface="Jost" pitchFamily="34" charset="-120"/>
              </a:rPr>
              <a:t>  INHERITED · B16</a:t>
            </a:r>
            <a:endParaRPr lang="en-US" sz="1300" dirty="0"/>
          </a:p>
          <a:p>
            <a:pPr marL="177800" indent="-177800">
              <a:spcAft>
                <a:spcPts val="600"/>
              </a:spcAft>
              <a:buSzPct val="100000"/>
              <a:buChar char="•"/>
            </a:pPr>
            <a:r>
              <a:rPr lang="en-US" sz="1300" dirty="0">
                <a:solidFill>
                  <a:srgbClr val="12171D"/>
                </a:solidFill>
                <a:latin typeface="Inter" pitchFamily="34" charset="0"/>
                <a:ea typeface="Inter" pitchFamily="34" charset="-122"/>
                <a:cs typeface="Inter" pitchFamily="34" charset="-120"/>
              </a:rPr>
              <a:t>Rights: image rights register (VAL-06) and font licence (VAL-05) before publication.</a:t>
            </a:r>
            <a:pPr indent="0" marL="0">
              <a:buNone/>
            </a:pPr>
            <a:r>
              <a:rPr lang="en-US" sz="1000" spc="80" kern="0" dirty="0">
                <a:solidFill>
                  <a:srgbClr val="12171D"/>
                </a:solidFill>
                <a:latin typeface="Jost" pitchFamily="34" charset="0"/>
                <a:ea typeface="Jost" pitchFamily="34" charset="-122"/>
                <a:cs typeface="Jost" pitchFamily="34" charset="-120"/>
              </a:rPr>
              <a:t>  INHERITED · B28, B32</a:t>
            </a:r>
            <a:endParaRPr lang="en-US" sz="1300" dirty="0"/>
          </a:p>
        </p:txBody>
      </p:sp>
      <p:sp>
        <p:nvSpPr>
          <p:cNvPr id="7" name="Shape 5"/>
          <p:cNvSpPr/>
          <p:nvPr/>
        </p:nvSpPr>
        <p:spPr>
          <a:xfrm>
            <a:off x="6492240" y="1828800"/>
            <a:ext cx="5148072" cy="4251960"/>
          </a:xfrm>
          <a:prstGeom prst="rect">
            <a:avLst/>
          </a:prstGeom>
          <a:solidFill>
            <a:srgbClr val="FFFFFF"/>
          </a:solidFill>
          <a:ln w="25400">
            <a:solidFill>
              <a:srgbClr val="12171D"/>
            </a:solidFill>
            <a:prstDash val="dash"/>
          </a:ln>
        </p:spPr>
      </p:sp>
      <p:sp>
        <p:nvSpPr>
          <p:cNvPr id="8" name="Text 6"/>
          <p:cNvSpPr/>
          <p:nvPr/>
        </p:nvSpPr>
        <p:spPr>
          <a:xfrm>
            <a:off x="6675120" y="1938528"/>
            <a:ext cx="475488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CANDIDATE REFERENCES · TO BE VERIFIED</a:t>
            </a:r>
            <a:endParaRPr lang="en-US" sz="1050" dirty="0"/>
          </a:p>
        </p:txBody>
      </p:sp>
      <p:sp>
        <p:nvSpPr>
          <p:cNvPr id="9" name="Text 7"/>
          <p:cNvSpPr/>
          <p:nvPr/>
        </p:nvSpPr>
        <p:spPr>
          <a:xfrm>
            <a:off x="6675120" y="5669280"/>
            <a:ext cx="219456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PE-27</a:t>
            </a:r>
            <a:endParaRPr lang="en-US" sz="1000" dirty="0"/>
          </a:p>
        </p:txBody>
      </p:sp>
      <p:sp>
        <p:nvSpPr>
          <p:cNvPr id="10" name="Text 8"/>
          <p:cNvSpPr/>
          <p:nvPr/>
        </p:nvSpPr>
        <p:spPr>
          <a:xfrm>
            <a:off x="6675120" y="2286000"/>
            <a:ext cx="4800600" cy="27432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ISO 22716 · cosmetics good manufacturing practice</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ISO 11930 · antimicrobial protection of a cosmetic product</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ISO 29621 · microbiological risk and low-risk products</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ISO 17516 · microbiological limits</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ISTA or ASTM D4169 · distribution testing</a:t>
            </a:r>
            <a:endParaRPr lang="en-US" sz="1350" dirty="0"/>
          </a:p>
          <a:p>
            <a:pPr marL="177800" indent="-177800">
              <a:spcAft>
                <a:spcPts val="500"/>
              </a:spcAft>
              <a:buSzPct val="100000"/>
              <a:buChar char="•"/>
            </a:pPr>
            <a:r>
              <a:rPr lang="en-US" sz="1350" dirty="0">
                <a:solidFill>
                  <a:srgbClr val="12171D"/>
                </a:solidFill>
                <a:latin typeface="Inter" pitchFamily="34" charset="0"/>
                <a:ea typeface="Inter" pitchFamily="34" charset="-122"/>
                <a:cs typeface="Inter" pitchFamily="34" charset="-120"/>
              </a:rPr>
              <a:t>SFDA cosmetics requirements and GSO standards (secondary sources cite GSO 2528:2016 for claims)</a:t>
            </a:r>
            <a:endParaRPr lang="en-US" sz="1350" dirty="0"/>
          </a:p>
        </p:txBody>
      </p:sp>
      <p:sp>
        <p:nvSpPr>
          <p:cNvPr id="11" name="Text 9"/>
          <p:cNvSpPr/>
          <p:nvPr/>
        </p:nvSpPr>
        <p:spPr>
          <a:xfrm>
            <a:off x="6675120" y="4892040"/>
            <a:ext cx="4800600" cy="114300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A prompt for the reviewer, not requirements. Saudi label rules came from consultant and testing-body summaries and must be checked against SFDA and GSO primary texts.</a:t>
            </a:r>
            <a:endParaRPr lang="en-US" sz="1250" dirty="0"/>
          </a:p>
        </p:txBody>
      </p:sp>
      <p:sp>
        <p:nvSpPr>
          <p:cNvPr id="12" name="Shape 10"/>
          <p:cNvSpPr/>
          <p:nvPr/>
        </p:nvSpPr>
        <p:spPr>
          <a:xfrm>
            <a:off x="548640" y="6400800"/>
            <a:ext cx="11094415" cy="0"/>
          </a:xfrm>
          <a:prstGeom prst="line">
            <a:avLst/>
          </a:prstGeom>
          <a:noFill/>
          <a:ln w="12700">
            <a:solidFill>
              <a:srgbClr val="BCACA7"/>
            </a:solidFill>
            <a:prstDash val="solid"/>
          </a:ln>
        </p:spPr>
      </p:sp>
      <p:sp>
        <p:nvSpPr>
          <p:cNvPr id="13" name="Text 11"/>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4" name="Text 12"/>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16 / 24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05 · MESSAGING &amp; TONE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Voice: measured, warm, quietly confident.</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Shape 3"/>
          <p:cNvSpPr/>
          <p:nvPr/>
        </p:nvSpPr>
        <p:spPr>
          <a:xfrm>
            <a:off x="548640" y="1874520"/>
            <a:ext cx="2651760" cy="1554480"/>
          </a:xfrm>
          <a:prstGeom prst="rect">
            <a:avLst/>
          </a:prstGeom>
          <a:solidFill>
            <a:srgbClr val="FFFFFF"/>
          </a:solidFill>
          <a:ln w="12700">
            <a:solidFill>
              <a:srgbClr val="BCACA7"/>
            </a:solidFill>
            <a:prstDash val="solid"/>
          </a:ln>
        </p:spPr>
      </p:sp>
      <p:sp>
        <p:nvSpPr>
          <p:cNvPr id="6" name="Text 4"/>
          <p:cNvSpPr/>
          <p:nvPr/>
        </p:nvSpPr>
        <p:spPr>
          <a:xfrm>
            <a:off x="731520" y="2011680"/>
            <a:ext cx="2286000" cy="365760"/>
          </a:xfrm>
          <a:prstGeom prst="rect">
            <a:avLst/>
          </a:prstGeom>
          <a:noFill/>
          <a:ln/>
        </p:spPr>
        <p:txBody>
          <a:bodyPr wrap="square" lIns="0" tIns="0" rIns="0" bIns="0" rtlCol="0" anchor="ctr"/>
          <a:lstStyle/>
          <a:p>
            <a:pPr indent="0" marL="0">
              <a:buNone/>
            </a:pPr>
            <a:r>
              <a:rPr lang="en-US" sz="1600" dirty="0">
                <a:solidFill>
                  <a:srgbClr val="12171D"/>
                </a:solidFill>
                <a:latin typeface="Jost" pitchFamily="34" charset="0"/>
                <a:ea typeface="Jost" pitchFamily="34" charset="-122"/>
                <a:cs typeface="Jost" pitchFamily="34" charset="-120"/>
              </a:rPr>
              <a:t>Measured</a:t>
            </a:r>
            <a:endParaRPr lang="en-US" sz="1600" dirty="0"/>
          </a:p>
        </p:txBody>
      </p:sp>
      <p:sp>
        <p:nvSpPr>
          <p:cNvPr id="7" name="Text 5"/>
          <p:cNvSpPr/>
          <p:nvPr/>
        </p:nvSpPr>
        <p:spPr>
          <a:xfrm>
            <a:off x="731520" y="2514600"/>
            <a:ext cx="2286000" cy="8229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Short sentences. No hurry.</a:t>
            </a:r>
            <a:endParaRPr lang="en-US" sz="1400" dirty="0"/>
          </a:p>
        </p:txBody>
      </p:sp>
      <p:sp>
        <p:nvSpPr>
          <p:cNvPr id="8" name="Shape 6"/>
          <p:cNvSpPr/>
          <p:nvPr/>
        </p:nvSpPr>
        <p:spPr>
          <a:xfrm>
            <a:off x="3346704" y="1874520"/>
            <a:ext cx="2651760" cy="1554480"/>
          </a:xfrm>
          <a:prstGeom prst="rect">
            <a:avLst/>
          </a:prstGeom>
          <a:solidFill>
            <a:srgbClr val="FFFFFF"/>
          </a:solidFill>
          <a:ln w="12700">
            <a:solidFill>
              <a:srgbClr val="BCACA7"/>
            </a:solidFill>
            <a:prstDash val="solid"/>
          </a:ln>
        </p:spPr>
      </p:sp>
      <p:sp>
        <p:nvSpPr>
          <p:cNvPr id="9" name="Text 7"/>
          <p:cNvSpPr/>
          <p:nvPr/>
        </p:nvSpPr>
        <p:spPr>
          <a:xfrm>
            <a:off x="3529584" y="2011680"/>
            <a:ext cx="2286000" cy="365760"/>
          </a:xfrm>
          <a:prstGeom prst="rect">
            <a:avLst/>
          </a:prstGeom>
          <a:noFill/>
          <a:ln/>
        </p:spPr>
        <p:txBody>
          <a:bodyPr wrap="square" lIns="0" tIns="0" rIns="0" bIns="0" rtlCol="0" anchor="ctr"/>
          <a:lstStyle/>
          <a:p>
            <a:pPr indent="0" marL="0">
              <a:buNone/>
            </a:pPr>
            <a:r>
              <a:rPr lang="en-US" sz="1600" dirty="0">
                <a:solidFill>
                  <a:srgbClr val="12171D"/>
                </a:solidFill>
                <a:latin typeface="Jost" pitchFamily="34" charset="0"/>
                <a:ea typeface="Jost" pitchFamily="34" charset="-122"/>
                <a:cs typeface="Jost" pitchFamily="34" charset="-120"/>
              </a:rPr>
              <a:t>Warm, not effusive</a:t>
            </a:r>
            <a:endParaRPr lang="en-US" sz="1600" dirty="0"/>
          </a:p>
        </p:txBody>
      </p:sp>
      <p:sp>
        <p:nvSpPr>
          <p:cNvPr id="10" name="Text 8"/>
          <p:cNvSpPr/>
          <p:nvPr/>
        </p:nvSpPr>
        <p:spPr>
          <a:xfrm>
            <a:off x="3529584" y="2514600"/>
            <a:ext cx="2286000" cy="8229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Welcome without exclamation.</a:t>
            </a:r>
            <a:endParaRPr lang="en-US" sz="1400" dirty="0"/>
          </a:p>
        </p:txBody>
      </p:sp>
      <p:sp>
        <p:nvSpPr>
          <p:cNvPr id="11" name="Shape 9"/>
          <p:cNvSpPr/>
          <p:nvPr/>
        </p:nvSpPr>
        <p:spPr>
          <a:xfrm>
            <a:off x="6144768" y="1874520"/>
            <a:ext cx="2651760" cy="1554480"/>
          </a:xfrm>
          <a:prstGeom prst="rect">
            <a:avLst/>
          </a:prstGeom>
          <a:solidFill>
            <a:srgbClr val="FFFFFF"/>
          </a:solidFill>
          <a:ln w="12700">
            <a:solidFill>
              <a:srgbClr val="BCACA7"/>
            </a:solidFill>
            <a:prstDash val="solid"/>
          </a:ln>
        </p:spPr>
      </p:sp>
      <p:sp>
        <p:nvSpPr>
          <p:cNvPr id="12" name="Text 10"/>
          <p:cNvSpPr/>
          <p:nvPr/>
        </p:nvSpPr>
        <p:spPr>
          <a:xfrm>
            <a:off x="6327648" y="2011680"/>
            <a:ext cx="2286000" cy="365760"/>
          </a:xfrm>
          <a:prstGeom prst="rect">
            <a:avLst/>
          </a:prstGeom>
          <a:noFill/>
          <a:ln/>
        </p:spPr>
        <p:txBody>
          <a:bodyPr wrap="square" lIns="0" tIns="0" rIns="0" bIns="0" rtlCol="0" anchor="ctr"/>
          <a:lstStyle/>
          <a:p>
            <a:pPr indent="0" marL="0">
              <a:buNone/>
            </a:pPr>
            <a:r>
              <a:rPr lang="en-US" sz="1600" dirty="0">
                <a:solidFill>
                  <a:srgbClr val="12171D"/>
                </a:solidFill>
                <a:latin typeface="Jost" pitchFamily="34" charset="0"/>
                <a:ea typeface="Jost" pitchFamily="34" charset="-122"/>
                <a:cs typeface="Jost" pitchFamily="34" charset="-120"/>
              </a:rPr>
              <a:t>Quietly confident</a:t>
            </a:r>
            <a:endParaRPr lang="en-US" sz="1600" dirty="0"/>
          </a:p>
        </p:txBody>
      </p:sp>
      <p:sp>
        <p:nvSpPr>
          <p:cNvPr id="13" name="Text 11"/>
          <p:cNvSpPr/>
          <p:nvPr/>
        </p:nvSpPr>
        <p:spPr>
          <a:xfrm>
            <a:off x="6327648" y="2514600"/>
            <a:ext cx="2286000" cy="8229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State rather than sell.</a:t>
            </a:r>
            <a:endParaRPr lang="en-US" sz="1400" dirty="0"/>
          </a:p>
        </p:txBody>
      </p:sp>
      <p:sp>
        <p:nvSpPr>
          <p:cNvPr id="14" name="Shape 12"/>
          <p:cNvSpPr/>
          <p:nvPr/>
        </p:nvSpPr>
        <p:spPr>
          <a:xfrm>
            <a:off x="8942832" y="1874520"/>
            <a:ext cx="2651760" cy="1554480"/>
          </a:xfrm>
          <a:prstGeom prst="rect">
            <a:avLst/>
          </a:prstGeom>
          <a:solidFill>
            <a:srgbClr val="FFFFFF"/>
          </a:solidFill>
          <a:ln w="12700">
            <a:solidFill>
              <a:srgbClr val="BCACA7"/>
            </a:solidFill>
            <a:prstDash val="solid"/>
          </a:ln>
        </p:spPr>
      </p:sp>
      <p:sp>
        <p:nvSpPr>
          <p:cNvPr id="15" name="Text 13"/>
          <p:cNvSpPr/>
          <p:nvPr/>
        </p:nvSpPr>
        <p:spPr>
          <a:xfrm>
            <a:off x="9125712" y="2011680"/>
            <a:ext cx="2286000" cy="365760"/>
          </a:xfrm>
          <a:prstGeom prst="rect">
            <a:avLst/>
          </a:prstGeom>
          <a:noFill/>
          <a:ln/>
        </p:spPr>
        <p:txBody>
          <a:bodyPr wrap="square" lIns="0" tIns="0" rIns="0" bIns="0" rtlCol="0" anchor="ctr"/>
          <a:lstStyle/>
          <a:p>
            <a:pPr indent="0" marL="0">
              <a:buNone/>
            </a:pPr>
            <a:r>
              <a:rPr lang="en-US" sz="1600" dirty="0">
                <a:solidFill>
                  <a:srgbClr val="12171D"/>
                </a:solidFill>
                <a:latin typeface="Jost" pitchFamily="34" charset="0"/>
                <a:ea typeface="Jost" pitchFamily="34" charset="-122"/>
                <a:cs typeface="Jost" pitchFamily="34" charset="-120"/>
              </a:rPr>
              <a:t>Precise</a:t>
            </a:r>
            <a:endParaRPr lang="en-US" sz="1600" dirty="0"/>
          </a:p>
        </p:txBody>
      </p:sp>
      <p:sp>
        <p:nvSpPr>
          <p:cNvPr id="16" name="Text 14"/>
          <p:cNvSpPr/>
          <p:nvPr/>
        </p:nvSpPr>
        <p:spPr>
          <a:xfrm>
            <a:off x="9125712" y="2514600"/>
            <a:ext cx="2286000" cy="82296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Facts, verified. Never an adjective in place of one.</a:t>
            </a:r>
            <a:endParaRPr lang="en-US" sz="1400" dirty="0"/>
          </a:p>
        </p:txBody>
      </p:sp>
      <p:sp>
        <p:nvSpPr>
          <p:cNvPr id="17" name="Text 15"/>
          <p:cNvSpPr/>
          <p:nvPr/>
        </p:nvSpPr>
        <p:spPr>
          <a:xfrm>
            <a:off x="548640" y="374904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USE</a:t>
            </a:r>
            <a:endParaRPr lang="en-US" sz="1050" dirty="0"/>
          </a:p>
        </p:txBody>
      </p:sp>
      <p:sp>
        <p:nvSpPr>
          <p:cNvPr id="18" name="Text 16"/>
          <p:cNvSpPr/>
          <p:nvPr/>
        </p:nvSpPr>
        <p:spPr>
          <a:xfrm>
            <a:off x="6400800" y="374904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AVOID</a:t>
            </a:r>
            <a:endParaRPr lang="en-US" sz="1050" dirty="0"/>
          </a:p>
        </p:txBody>
      </p:sp>
      <p:sp>
        <p:nvSpPr>
          <p:cNvPr id="19" name="Text 17"/>
          <p:cNvSpPr/>
          <p:nvPr/>
        </p:nvSpPr>
        <p:spPr>
          <a:xfrm>
            <a:off x="548640" y="4069080"/>
            <a:ext cx="5486400" cy="822960"/>
          </a:xfrm>
          <a:prstGeom prst="rect">
            <a:avLst/>
          </a:prstGeom>
          <a:noFill/>
          <a:ln/>
        </p:spPr>
        <p:txBody>
          <a:bodyPr wrap="square" lIns="0" tIns="0" rIns="0" bIns="0" rtlCol="0" anchor="t"/>
          <a:lstStyle/>
          <a:p>
            <a:pPr indent="0" marL="0">
              <a:buNone/>
            </a:pPr>
            <a:r>
              <a:rPr lang="en-US" sz="1500" dirty="0">
                <a:solidFill>
                  <a:srgbClr val="12171D"/>
                </a:solidFill>
                <a:latin typeface="Inter" pitchFamily="34" charset="0"/>
                <a:ea typeface="Inter" pitchFamily="34" charset="-122"/>
                <a:cs typeface="Inter" pitchFamily="34" charset="-120"/>
              </a:rPr>
              <a:t>arrival · stay · proportion · composed · measured · quiet · exact · welcome · crafted</a:t>
            </a:r>
            <a:endParaRPr lang="en-US" sz="1500" dirty="0"/>
          </a:p>
        </p:txBody>
      </p:sp>
      <p:sp>
        <p:nvSpPr>
          <p:cNvPr id="20" name="Text 18"/>
          <p:cNvSpPr/>
          <p:nvPr/>
        </p:nvSpPr>
        <p:spPr>
          <a:xfrm>
            <a:off x="6400800" y="4069080"/>
            <a:ext cx="5239512" cy="822960"/>
          </a:xfrm>
          <a:prstGeom prst="rect">
            <a:avLst/>
          </a:prstGeom>
          <a:noFill/>
          <a:ln/>
        </p:spPr>
        <p:txBody>
          <a:bodyPr wrap="square" lIns="0" tIns="0" rIns="0" bIns="0" rtlCol="0" anchor="t"/>
          <a:lstStyle/>
          <a:p>
            <a:pPr indent="0" marL="0">
              <a:buNone/>
            </a:pPr>
            <a:r>
              <a:rPr lang="en-US" sz="1500" dirty="0">
                <a:solidFill>
                  <a:srgbClr val="12171D"/>
                </a:solidFill>
                <a:latin typeface="Inter" pitchFamily="34" charset="0"/>
                <a:ea typeface="Inter" pitchFamily="34" charset="-122"/>
                <a:cs typeface="Inter" pitchFamily="34" charset="-120"/>
              </a:rPr>
              <a:t>luxurious · world-class · indulge · pamper · oasis · escape · unforgettable · best</a:t>
            </a:r>
            <a:endParaRPr lang="en-US" sz="1500" dirty="0"/>
          </a:p>
        </p:txBody>
      </p:sp>
      <p:sp>
        <p:nvSpPr>
          <p:cNvPr id="21" name="Text 19"/>
          <p:cNvSpPr/>
          <p:nvPr/>
        </p:nvSpPr>
        <p:spPr>
          <a:xfrm>
            <a:off x="548640" y="5120640"/>
            <a:ext cx="11094415" cy="457200"/>
          </a:xfrm>
          <a:prstGeom prst="rect">
            <a:avLst/>
          </a:prstGeom>
          <a:noFill/>
          <a:ln/>
        </p:spPr>
        <p:txBody>
          <a:bodyPr wrap="square" lIns="0" tIns="0" rIns="0" bIns="0" rtlCol="0" anchor="ctr"/>
          <a:lstStyle/>
          <a:p>
            <a:pPr indent="0" marL="0">
              <a:buNone/>
            </a:pPr>
            <a:r>
              <a:rPr lang="en-US" sz="1500" dirty="0">
                <a:solidFill>
                  <a:srgbClr val="12171D"/>
                </a:solidFill>
                <a:latin typeface="Jost" pitchFamily="34" charset="0"/>
                <a:ea typeface="Jost" pitchFamily="34" charset="-122"/>
                <a:cs typeface="Jost" pitchFamily="34" charset="-120"/>
              </a:rPr>
              <a:t>No exclamation marks. No unsupported superlatives such as “leading” or “number one”.</a:t>
            </a:r>
            <a:endParaRPr lang="en-US" sz="1500" dirty="0"/>
          </a:p>
        </p:txBody>
      </p:sp>
      <p:sp>
        <p:nvSpPr>
          <p:cNvPr id="22" name="Text 20"/>
          <p:cNvSpPr/>
          <p:nvPr/>
        </p:nvSpPr>
        <p:spPr>
          <a:xfrm>
            <a:off x="548640" y="5943600"/>
            <a:ext cx="265176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INHERITED · PART A 19–20</a:t>
            </a:r>
            <a:endParaRPr lang="en-US" sz="1000" dirty="0"/>
          </a:p>
        </p:txBody>
      </p:sp>
      <p:sp>
        <p:nvSpPr>
          <p:cNvPr id="23" name="Shape 21"/>
          <p:cNvSpPr/>
          <p:nvPr/>
        </p:nvSpPr>
        <p:spPr>
          <a:xfrm>
            <a:off x="548640" y="6400800"/>
            <a:ext cx="11094415" cy="0"/>
          </a:xfrm>
          <a:prstGeom prst="line">
            <a:avLst/>
          </a:prstGeom>
          <a:noFill/>
          <a:ln w="12700">
            <a:solidFill>
              <a:srgbClr val="BCACA7"/>
            </a:solidFill>
            <a:prstDash val="solid"/>
          </a:ln>
        </p:spPr>
      </p:sp>
      <p:sp>
        <p:nvSpPr>
          <p:cNvPr id="24" name="Text 22"/>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25" name="Text 23"/>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17 / 24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05 · MESSAGING &amp; TONE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Do and don’t: exact contrast pairs.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5550408"/>
                <a:gridCol w="5541264"/>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DON'T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“Room set — concept; supplier proof required.”</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“Your complete, ready-to-order bathroom solution.”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“Scope and availability pending.”</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“Available now: Property Edition.”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“GEM is developing guest amenities and packaging…”</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“We are the leading amenity manufacturer.”</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“Creates text for you to copy. Nothing is sent.” (where true)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“Enquiry sent.” when only a draft exists.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“[PENDING] mL” on clearly disclosed concept artwork.</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“300 ml” copied from a mockup.</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“Consistent GEM range.”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“Core Collection” or “Standard Range”.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5989320"/>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PE-25</a:t>
            </a:r>
            <a:endParaRPr lang="en-US" sz="1000" dirty="0"/>
          </a:p>
        </p:txBody>
      </p:sp>
      <p:sp>
        <p:nvSpPr>
          <p:cNvPr id="7" name="Shape 4"/>
          <p:cNvSpPr/>
          <p:nvPr/>
        </p:nvSpPr>
        <p:spPr>
          <a:xfrm>
            <a:off x="548640" y="6400800"/>
            <a:ext cx="11094415" cy="0"/>
          </a:xfrm>
          <a:prstGeom prst="line">
            <a:avLst/>
          </a:prstGeom>
          <a:noFill/>
          <a:ln w="12700">
            <a:solidFill>
              <a:srgbClr val="BCACA7"/>
            </a:solidFill>
            <a:prstDash val="solid"/>
          </a:ln>
        </p:spPr>
      </p:sp>
      <p:sp>
        <p:nvSpPr>
          <p:cNvPr id="8" name="Text 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9" name="Text 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18 / 24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05 · MESSAGING &amp; TONE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Positioning frame and signature.</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035040" cy="914400"/>
        </p:xfrm>
        <a:graphic>
          <a:graphicData uri="http://schemas.openxmlformats.org/drawingml/2006/table">
            <a:tbl>
              <a:tblPr/>
              <a:tblGrid>
                <a:gridCol w="1371600"/>
                <a:gridCol w="4663440"/>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ELEMENT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STATEMENT</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Audience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Hospitality owners, developers, operators and procurement teams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Category</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Amenities &amp; Packaging, a descriptive stream under GEM™</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Value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 consistent identity across guest amenities and packaging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Method</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Precision, restraint, geometry and space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Proof</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Approved, artifact-specific evidence only. Not generated imagery or aspiration. [PENDING]</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Shape 3"/>
          <p:cNvSpPr/>
          <p:nvPr/>
        </p:nvSpPr>
        <p:spPr>
          <a:xfrm>
            <a:off x="6858000" y="1828800"/>
            <a:ext cx="4782312" cy="2743200"/>
          </a:xfrm>
          <a:prstGeom prst="rect">
            <a:avLst/>
          </a:prstGeom>
          <a:solidFill>
            <a:srgbClr val="FFFFFF"/>
          </a:solidFill>
          <a:ln w="12700">
            <a:solidFill>
              <a:srgbClr val="BCACA7"/>
            </a:solidFill>
            <a:prstDash val="solid"/>
          </a:ln>
        </p:spPr>
      </p:sp>
      <p:sp>
        <p:nvSpPr>
          <p:cNvPr id="7" name="Text 4"/>
          <p:cNvSpPr/>
          <p:nvPr/>
        </p:nvSpPr>
        <p:spPr>
          <a:xfrm>
            <a:off x="7040880" y="196596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SIGNATURE</a:t>
            </a:r>
            <a:endParaRPr lang="en-US" sz="1050" dirty="0"/>
          </a:p>
        </p:txBody>
      </p:sp>
      <p:sp>
        <p:nvSpPr>
          <p:cNvPr id="8" name="Text 5"/>
          <p:cNvSpPr/>
          <p:nvPr/>
        </p:nvSpPr>
        <p:spPr>
          <a:xfrm>
            <a:off x="7040880" y="2377440"/>
            <a:ext cx="4480560" cy="365760"/>
          </a:xfrm>
          <a:prstGeom prst="rect">
            <a:avLst/>
          </a:prstGeom>
          <a:noFill/>
          <a:ln/>
        </p:spPr>
        <p:txBody>
          <a:bodyPr wrap="square" lIns="0" tIns="0" rIns="0" bIns="0" rtlCol="0" anchor="ctr"/>
          <a:lstStyle/>
          <a:p>
            <a:pPr indent="0" marL="0">
              <a:buNone/>
            </a:pPr>
            <a:r>
              <a:rPr lang="en-US" sz="1400" spc="220" kern="0" dirty="0">
                <a:solidFill>
                  <a:srgbClr val="12171D"/>
                </a:solidFill>
                <a:latin typeface="Jost" pitchFamily="34" charset="0"/>
                <a:ea typeface="Jost" pitchFamily="34" charset="-122"/>
                <a:cs typeface="Jost" pitchFamily="34" charset="-120"/>
              </a:rPr>
              <a:t>HOSPITALITY, IN PERFECT PROPORTION</a:t>
            </a:r>
            <a:endParaRPr lang="en-US" sz="1400" dirty="0"/>
          </a:p>
        </p:txBody>
      </p:sp>
      <p:sp>
        <p:nvSpPr>
          <p:cNvPr id="9" name="Text 6"/>
          <p:cNvSpPr/>
          <p:nvPr/>
        </p:nvSpPr>
        <p:spPr>
          <a:xfrm>
            <a:off x="7040880" y="2834640"/>
            <a:ext cx="443484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2171D"/>
                </a:solidFill>
                <a:latin typeface="Inter" pitchFamily="34" charset="0"/>
                <a:ea typeface="Inter" pitchFamily="34" charset="-122"/>
                <a:cs typeface="Inter" pitchFamily="34" charset="-120"/>
              </a:rPr>
              <a:t>Fixed. Capitals, Jost 400, 0.18em.</a:t>
            </a:r>
            <a:endParaRPr lang="en-US" sz="1300" dirty="0"/>
          </a:p>
          <a:p>
            <a:pPr marL="177800" indent="-177800">
              <a:spcAft>
                <a:spcPts val="500"/>
              </a:spcAft>
              <a:buSzPct val="100000"/>
              <a:buChar char="•"/>
            </a:pPr>
            <a:r>
              <a:rPr lang="en-US" sz="1300" dirty="0">
                <a:solidFill>
                  <a:srgbClr val="12171D"/>
                </a:solidFill>
                <a:latin typeface="Inter" pitchFamily="34" charset="0"/>
                <a:ea typeface="Inter" pitchFamily="34" charset="-122"/>
                <a:cs typeface="Inter" pitchFamily="34" charset="-120"/>
              </a:rPr>
              <a:t>Never shortened or lowercased. Use the approved tracking value unchanged.</a:t>
            </a:r>
            <a:endParaRPr lang="en-US" sz="1300" dirty="0"/>
          </a:p>
          <a:p>
            <a:pPr marL="177800" indent="-177800">
              <a:spcAft>
                <a:spcPts val="500"/>
              </a:spcAft>
              <a:buSzPct val="100000"/>
              <a:buChar char="•"/>
            </a:pPr>
            <a:r>
              <a:rPr lang="en-US" sz="1300" dirty="0">
                <a:solidFill>
                  <a:srgbClr val="12171D"/>
                </a:solidFill>
                <a:latin typeface="Inter" pitchFamily="34" charset="0"/>
                <a:ea typeface="Inter" pitchFamily="34" charset="-122"/>
                <a:cs typeface="Inter" pitchFamily="34" charset="-120"/>
              </a:rPr>
              <a:t>Never a measurable performance promise.</a:t>
            </a:r>
            <a:endParaRPr lang="en-US" sz="1300" dirty="0"/>
          </a:p>
          <a:p>
            <a:pPr marL="177800" indent="-177800">
              <a:spcAft>
                <a:spcPts val="500"/>
              </a:spcAft>
              <a:buSzPct val="100000"/>
              <a:buChar char="•"/>
            </a:pPr>
            <a:r>
              <a:rPr lang="en-US" sz="1300" dirty="0">
                <a:solidFill>
                  <a:srgbClr val="12171D"/>
                </a:solidFill>
                <a:latin typeface="Inter" pitchFamily="34" charset="0"/>
                <a:ea typeface="Inter" pitchFamily="34" charset="-122"/>
                <a:cs typeface="Inter" pitchFamily="34" charset="-120"/>
              </a:rPr>
              <a:t>Secondary line: once per composition, never at equal weight beside the primary.</a:t>
            </a:r>
            <a:endParaRPr lang="en-US" sz="1300" dirty="0"/>
          </a:p>
        </p:txBody>
      </p:sp>
      <p:sp>
        <p:nvSpPr>
          <p:cNvPr id="10" name="Text 7"/>
          <p:cNvSpPr/>
          <p:nvPr/>
        </p:nvSpPr>
        <p:spPr>
          <a:xfrm>
            <a:off x="548640" y="5074920"/>
            <a:ext cx="6035040" cy="86868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“For hospitality owners, developers, operators and procurement teams, GEM is a hospitality supplier and partner bringing guest amenities and packaging under one identity.”</a:t>
            </a:r>
            <a:endParaRPr lang="en-US" sz="1400" dirty="0"/>
          </a:p>
        </p:txBody>
      </p:sp>
      <p:sp>
        <p:nvSpPr>
          <p:cNvPr id="11" name="Text 8"/>
          <p:cNvSpPr/>
          <p:nvPr/>
        </p:nvSpPr>
        <p:spPr>
          <a:xfrm>
            <a:off x="548640" y="6035040"/>
            <a:ext cx="29260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SENTENCE · PE-26</a:t>
            </a:r>
            <a:endParaRPr lang="en-US" sz="1000" dirty="0"/>
          </a:p>
        </p:txBody>
      </p:sp>
      <p:sp>
        <p:nvSpPr>
          <p:cNvPr id="12" name="Shape 9"/>
          <p:cNvSpPr/>
          <p:nvPr/>
        </p:nvSpPr>
        <p:spPr>
          <a:xfrm>
            <a:off x="548640" y="6400800"/>
            <a:ext cx="11094415" cy="0"/>
          </a:xfrm>
          <a:prstGeom prst="line">
            <a:avLst/>
          </a:prstGeom>
          <a:noFill/>
          <a:ln w="12700">
            <a:solidFill>
              <a:srgbClr val="BCACA7"/>
            </a:solidFill>
            <a:prstDash val="solid"/>
          </a:ln>
        </p:spPr>
      </p:sp>
      <p:sp>
        <p:nvSpPr>
          <p:cNvPr id="13" name="Text 10"/>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4" name="Text 11"/>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19 / 24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05 · MESSAGING &amp; TONE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Claims register: one claim per row.</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126480" cy="914400"/>
        </p:xfrm>
        <a:graphic>
          <a:graphicData uri="http://schemas.openxmlformats.org/drawingml/2006/table">
            <a:tbl>
              <a:tblPr/>
              <a:tblGrid>
                <a:gridCol w="2743200"/>
                <a:gridCol w="3383280"/>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FIELD</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PURPOSE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Exact wording, intended use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Prevents paraphrased approval</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Product, market, channel scope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Bounds where the claim applies</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Controlled status; decision status</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Separates evidence state from adoption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Full-revision evidence reference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Makes the record locatable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Reviewer; final-approver role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Separates review from authorisation</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50" dirty="0">
                          <a:solidFill>
                            <a:srgbClr val="12171D"/>
                          </a:solidFill>
                          <a:latin typeface="Jost" pitchFamily="34" charset="0"/>
                          <a:ea typeface="Jost" pitchFamily="34" charset="-122"/>
                          <a:cs typeface="Jost" pitchFamily="34" charset="-120"/>
                        </a:rPr>
                        <a:t>Acceptance evidence; approval reference</a:t>
                      </a:r>
                      <a:endParaRPr lang="en-US" sz="13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50" dirty="0">
                          <a:solidFill>
                            <a:srgbClr val="12171D"/>
                          </a:solidFill>
                          <a:latin typeface="Inter" pitchFamily="34" charset="0"/>
                          <a:ea typeface="Inter" pitchFamily="34" charset="-122"/>
                          <a:cs typeface="Inter" pitchFamily="34" charset="-120"/>
                        </a:rPr>
                        <a:t>Defines what closes the gate</a:t>
                      </a:r>
                      <a:endParaRPr lang="en-US" sz="13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69494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CONTROLLED STATUS</a:t>
            </a:r>
            <a:endParaRPr lang="en-US" sz="1050" dirty="0"/>
          </a:p>
        </p:txBody>
      </p:sp>
      <p:sp>
        <p:nvSpPr>
          <p:cNvPr id="7" name="Text 4"/>
          <p:cNvSpPr/>
          <p:nvPr/>
        </p:nvSpPr>
        <p:spPr>
          <a:xfrm>
            <a:off x="6949440" y="2194560"/>
            <a:ext cx="2194560" cy="274320"/>
          </a:xfrm>
          <a:prstGeom prst="rect">
            <a:avLst/>
          </a:prstGeom>
          <a:solidFill>
            <a:srgbClr val="12171D"/>
          </a:solidFill>
          <a:ln/>
        </p:spPr>
        <p:txBody>
          <a:bodyPr wrap="square" lIns="0" tIns="0" rIns="0" bIns="0" rtlCol="0" anchor="ctr"/>
          <a:lstStyle/>
          <a:p>
            <a:pPr algn="ctr" indent="0" marL="0">
              <a:buNone/>
            </a:pPr>
            <a:r>
              <a:rPr lang="en-US" sz="1000" spc="80" kern="0" dirty="0">
                <a:solidFill>
                  <a:srgbClr val="FFFFFF"/>
                </a:solidFill>
                <a:latin typeface="Jost" pitchFamily="34" charset="0"/>
                <a:ea typeface="Jost" pitchFamily="34" charset="-122"/>
                <a:cs typeface="Jost" pitchFamily="34" charset="-120"/>
              </a:rPr>
              <a:t>APPROVED</a:t>
            </a:r>
            <a:endParaRPr lang="en-US" sz="1000" dirty="0"/>
          </a:p>
        </p:txBody>
      </p:sp>
      <p:sp>
        <p:nvSpPr>
          <p:cNvPr id="8" name="Text 5"/>
          <p:cNvSpPr/>
          <p:nvPr/>
        </p:nvSpPr>
        <p:spPr>
          <a:xfrm>
            <a:off x="9281160" y="2194560"/>
            <a:ext cx="237744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Final under the register</a:t>
            </a:r>
            <a:endParaRPr lang="en-US" sz="1300" dirty="0"/>
          </a:p>
        </p:txBody>
      </p:sp>
      <p:sp>
        <p:nvSpPr>
          <p:cNvPr id="9" name="Text 6"/>
          <p:cNvSpPr/>
          <p:nvPr/>
        </p:nvSpPr>
        <p:spPr>
          <a:xfrm>
            <a:off x="6949440" y="2743200"/>
            <a:ext cx="2194560" cy="274320"/>
          </a:xfrm>
          <a:prstGeom prst="rect">
            <a:avLst/>
          </a:prstGeom>
          <a:solidFill>
            <a:srgbClr val="FFFFFF"/>
          </a:solidFill>
          <a:ln w="25400">
            <a:solidFill>
              <a:srgbClr val="12171D"/>
            </a:solidFill>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CONDITIONAL</a:t>
            </a:r>
            <a:endParaRPr lang="en-US" sz="1000" dirty="0"/>
          </a:p>
        </p:txBody>
      </p:sp>
      <p:sp>
        <p:nvSpPr>
          <p:cNvPr id="10" name="Text 7"/>
          <p:cNvSpPr/>
          <p:nvPr/>
        </p:nvSpPr>
        <p:spPr>
          <a:xfrm>
            <a:off x="9281160" y="2743200"/>
            <a:ext cx="237744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Approved with a condition open</a:t>
            </a:r>
            <a:endParaRPr lang="en-US" sz="1300" dirty="0"/>
          </a:p>
        </p:txBody>
      </p:sp>
      <p:sp>
        <p:nvSpPr>
          <p:cNvPr id="11" name="Text 8"/>
          <p:cNvSpPr/>
          <p:nvPr/>
        </p:nvSpPr>
        <p:spPr>
          <a:xfrm>
            <a:off x="6949440" y="3291840"/>
            <a:ext cx="219456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PENDING VALIDATION</a:t>
            </a:r>
            <a:endParaRPr lang="en-US" sz="1000" dirty="0"/>
          </a:p>
        </p:txBody>
      </p:sp>
      <p:sp>
        <p:nvSpPr>
          <p:cNvPr id="12" name="Text 9"/>
          <p:cNvSpPr/>
          <p:nvPr/>
        </p:nvSpPr>
        <p:spPr>
          <a:xfrm>
            <a:off x="9281160" y="3291840"/>
            <a:ext cx="237744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Evidence or QA outstanding</a:t>
            </a:r>
            <a:endParaRPr lang="en-US" sz="1300" dirty="0"/>
          </a:p>
        </p:txBody>
      </p:sp>
      <p:sp>
        <p:nvSpPr>
          <p:cNvPr id="13" name="Text 10"/>
          <p:cNvSpPr/>
          <p:nvPr/>
        </p:nvSpPr>
        <p:spPr>
          <a:xfrm>
            <a:off x="6949440" y="3840480"/>
            <a:ext cx="2194560" cy="274320"/>
          </a:xfrm>
          <a:prstGeom prst="rect">
            <a:avLst/>
          </a:prstGeom>
          <a:solidFill>
            <a:srgbClr val="FFFFFF"/>
          </a:solidFill>
          <a:ln w="25400">
            <a:solidFill>
              <a:srgbClr val="12171D"/>
            </a:solidFill>
            <a:prstDash val="sysDot"/>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REFERENCE</a:t>
            </a:r>
            <a:endParaRPr lang="en-US" sz="1000" dirty="0"/>
          </a:p>
        </p:txBody>
      </p:sp>
      <p:sp>
        <p:nvSpPr>
          <p:cNvPr id="14" name="Text 11"/>
          <p:cNvSpPr/>
          <p:nvPr/>
        </p:nvSpPr>
        <p:spPr>
          <a:xfrm>
            <a:off x="9281160" y="3840480"/>
            <a:ext cx="2377440" cy="274320"/>
          </a:xfrm>
          <a:prstGeom prst="rect">
            <a:avLst/>
          </a:prstGeom>
          <a:noFill/>
          <a:ln/>
        </p:spPr>
        <p:txBody>
          <a:bodyPr wrap="square" lIns="0" tIns="0" rIns="0" bIns="0" rtlCol="0" anchor="ctr"/>
          <a:lstStyle/>
          <a:p>
            <a:pPr indent="0" marL="0">
              <a:buNone/>
            </a:pPr>
            <a:r>
              <a:rPr lang="en-US" sz="1300" dirty="0">
                <a:solidFill>
                  <a:srgbClr val="12171D"/>
                </a:solidFill>
                <a:latin typeface="Inter" pitchFamily="34" charset="0"/>
                <a:ea typeface="Inter" pitchFamily="34" charset="-122"/>
                <a:cs typeface="Inter" pitchFamily="34" charset="-120"/>
              </a:rPr>
              <a:t>Study only; not a GEM standard</a:t>
            </a:r>
            <a:endParaRPr lang="en-US" sz="1300" dirty="0"/>
          </a:p>
        </p:txBody>
      </p:sp>
      <p:sp>
        <p:nvSpPr>
          <p:cNvPr id="15" name="Text 12"/>
          <p:cNvSpPr/>
          <p:nvPr/>
        </p:nvSpPr>
        <p:spPr>
          <a:xfrm>
            <a:off x="6949440" y="4480560"/>
            <a:ext cx="4690872" cy="91440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Administrative “N/A — NOT ADOPTED” items must not appear in approved-claim filters. An unapproved claim is unavailable for public use.</a:t>
            </a:r>
            <a:endParaRPr lang="en-US" sz="1400" dirty="0"/>
          </a:p>
        </p:txBody>
      </p:sp>
      <p:sp>
        <p:nvSpPr>
          <p:cNvPr id="16" name="Text 13"/>
          <p:cNvSpPr/>
          <p:nvPr/>
        </p:nvSpPr>
        <p:spPr>
          <a:xfrm>
            <a:off x="548640" y="5897880"/>
            <a:ext cx="20116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PE-08</a:t>
            </a:r>
            <a:endParaRPr lang="en-US" sz="1000" dirty="0"/>
          </a:p>
        </p:txBody>
      </p:sp>
      <p:sp>
        <p:nvSpPr>
          <p:cNvPr id="17" name="Shape 14"/>
          <p:cNvSpPr/>
          <p:nvPr/>
        </p:nvSpPr>
        <p:spPr>
          <a:xfrm>
            <a:off x="548640" y="6400800"/>
            <a:ext cx="11094415" cy="0"/>
          </a:xfrm>
          <a:prstGeom prst="line">
            <a:avLst/>
          </a:prstGeom>
          <a:noFill/>
          <a:ln w="12700">
            <a:solidFill>
              <a:srgbClr val="BCACA7"/>
            </a:solidFill>
            <a:prstDash val="solid"/>
          </a:ln>
        </p:spPr>
      </p:sp>
      <p:sp>
        <p:nvSpPr>
          <p:cNvPr id="18" name="Text 1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19" name="Text 1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20 / 24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05 · MESSAGING &amp; TONE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Website application and release boundary.</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TEMPLATES MAY</a:t>
            </a:r>
            <a:endParaRPr lang="en-US" sz="1050" dirty="0"/>
          </a:p>
        </p:txBody>
      </p:sp>
      <p:sp>
        <p:nvSpPr>
          <p:cNvPr id="6" name="Text 4"/>
          <p:cNvSpPr/>
          <p:nvPr/>
        </p:nvSpPr>
        <p:spPr>
          <a:xfrm>
            <a:off x="630936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THEY MUST NOT IMPLY</a:t>
            </a:r>
            <a:endParaRPr lang="en-US" sz="1050" dirty="0"/>
          </a:p>
        </p:txBody>
      </p:sp>
      <p:sp>
        <p:nvSpPr>
          <p:cNvPr id="7" name="Text 5"/>
          <p:cNvSpPr/>
          <p:nvPr/>
        </p:nvSpPr>
        <p:spPr>
          <a:xfrm>
            <a:off x="548640" y="2148840"/>
            <a:ext cx="539496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Explain the approach.</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Show disclosed concepts.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Distinguish package formats.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Support drafting an enquiry.</a:t>
            </a:r>
            <a:endParaRPr lang="en-US" sz="1400" dirty="0"/>
          </a:p>
        </p:txBody>
      </p:sp>
      <p:sp>
        <p:nvSpPr>
          <p:cNvPr id="8" name="Text 6"/>
          <p:cNvSpPr/>
          <p:nvPr/>
        </p:nvSpPr>
        <p:spPr>
          <a:xfrm>
            <a:off x="6309360" y="2148840"/>
            <a:ext cx="5330952"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Validated stock or production specifications.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Programme availability or delivery coverage.</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Successful submission or receipt.</a:t>
            </a:r>
            <a:endParaRPr lang="en-US" sz="1400" dirty="0"/>
          </a:p>
        </p:txBody>
      </p:sp>
      <p:sp>
        <p:nvSpPr>
          <p:cNvPr id="9" name="Text 7"/>
          <p:cNvSpPr/>
          <p:nvPr/>
        </p:nvSpPr>
        <p:spPr>
          <a:xfrm>
            <a:off x="548640" y="3840480"/>
            <a:ext cx="7315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FIVE SEPARATE DECISIONS: NONE GRANTED BY THIS EDITION</a:t>
            </a:r>
            <a:endParaRPr lang="en-US" sz="1050" dirty="0"/>
          </a:p>
        </p:txBody>
      </p:sp>
      <p:sp>
        <p:nvSpPr>
          <p:cNvPr id="10" name="Shape 8"/>
          <p:cNvSpPr/>
          <p:nvPr/>
        </p:nvSpPr>
        <p:spPr>
          <a:xfrm>
            <a:off x="548640" y="4206240"/>
            <a:ext cx="2103120" cy="1097280"/>
          </a:xfrm>
          <a:prstGeom prst="rect">
            <a:avLst/>
          </a:prstGeom>
          <a:solidFill>
            <a:srgbClr val="FFFFFF"/>
          </a:solidFill>
          <a:ln w="25400">
            <a:solidFill>
              <a:srgbClr val="12171D"/>
            </a:solidFill>
            <a:prstDash val="dash"/>
          </a:ln>
        </p:spPr>
      </p:sp>
      <p:sp>
        <p:nvSpPr>
          <p:cNvPr id="11" name="Text 9"/>
          <p:cNvSpPr/>
          <p:nvPr/>
        </p:nvSpPr>
        <p:spPr>
          <a:xfrm>
            <a:off x="640080" y="4206240"/>
            <a:ext cx="1920240" cy="1097280"/>
          </a:xfrm>
          <a:prstGeom prst="rect">
            <a:avLst/>
          </a:prstGeom>
          <a:noFill/>
          <a:ln/>
        </p:spPr>
        <p:txBody>
          <a:bodyPr wrap="square" lIns="0" tIns="0" rIns="0" bIns="0" rtlCol="0" anchor="ctr"/>
          <a:lstStyle/>
          <a:p>
            <a:pPr algn="ctr" indent="0" marL="0">
              <a:buNone/>
            </a:pPr>
            <a:r>
              <a:rPr lang="en-US" sz="1500" dirty="0">
                <a:solidFill>
                  <a:srgbClr val="12171D"/>
                </a:solidFill>
                <a:latin typeface="Jost" pitchFamily="34" charset="0"/>
                <a:ea typeface="Jost" pitchFamily="34" charset="-122"/>
                <a:cs typeface="Jost" pitchFamily="34" charset="-120"/>
              </a:rPr>
              <a:t>Document approval</a:t>
            </a:r>
            <a:endParaRPr lang="en-US" sz="1500" dirty="0"/>
          </a:p>
        </p:txBody>
      </p:sp>
      <p:sp>
        <p:nvSpPr>
          <p:cNvPr id="12" name="Shape 10"/>
          <p:cNvSpPr/>
          <p:nvPr/>
        </p:nvSpPr>
        <p:spPr>
          <a:xfrm>
            <a:off x="2788920" y="4206240"/>
            <a:ext cx="2103120" cy="1097280"/>
          </a:xfrm>
          <a:prstGeom prst="rect">
            <a:avLst/>
          </a:prstGeom>
          <a:solidFill>
            <a:srgbClr val="FFFFFF"/>
          </a:solidFill>
          <a:ln w="25400">
            <a:solidFill>
              <a:srgbClr val="12171D"/>
            </a:solidFill>
            <a:prstDash val="dash"/>
          </a:ln>
        </p:spPr>
      </p:sp>
      <p:sp>
        <p:nvSpPr>
          <p:cNvPr id="13" name="Text 11"/>
          <p:cNvSpPr/>
          <p:nvPr/>
        </p:nvSpPr>
        <p:spPr>
          <a:xfrm>
            <a:off x="2880360" y="4206240"/>
            <a:ext cx="1920240" cy="1097280"/>
          </a:xfrm>
          <a:prstGeom prst="rect">
            <a:avLst/>
          </a:prstGeom>
          <a:noFill/>
          <a:ln/>
        </p:spPr>
        <p:txBody>
          <a:bodyPr wrap="square" lIns="0" tIns="0" rIns="0" bIns="0" rtlCol="0" anchor="ctr"/>
          <a:lstStyle/>
          <a:p>
            <a:pPr algn="ctr" indent="0" marL="0">
              <a:buNone/>
            </a:pPr>
            <a:r>
              <a:rPr lang="en-US" sz="1500" dirty="0">
                <a:solidFill>
                  <a:srgbClr val="12171D"/>
                </a:solidFill>
                <a:latin typeface="Jost" pitchFamily="34" charset="0"/>
                <a:ea typeface="Jost" pitchFamily="34" charset="-122"/>
                <a:cs typeface="Jost" pitchFamily="34" charset="-120"/>
              </a:rPr>
              <a:t>SKU approval</a:t>
            </a:r>
            <a:endParaRPr lang="en-US" sz="1500" dirty="0"/>
          </a:p>
        </p:txBody>
      </p:sp>
      <p:sp>
        <p:nvSpPr>
          <p:cNvPr id="14" name="Shape 12"/>
          <p:cNvSpPr/>
          <p:nvPr/>
        </p:nvSpPr>
        <p:spPr>
          <a:xfrm>
            <a:off x="5029200" y="4206240"/>
            <a:ext cx="2103120" cy="1097280"/>
          </a:xfrm>
          <a:prstGeom prst="rect">
            <a:avLst/>
          </a:prstGeom>
          <a:solidFill>
            <a:srgbClr val="FFFFFF"/>
          </a:solidFill>
          <a:ln w="25400">
            <a:solidFill>
              <a:srgbClr val="12171D"/>
            </a:solidFill>
            <a:prstDash val="dash"/>
          </a:ln>
        </p:spPr>
      </p:sp>
      <p:sp>
        <p:nvSpPr>
          <p:cNvPr id="15" name="Text 13"/>
          <p:cNvSpPr/>
          <p:nvPr/>
        </p:nvSpPr>
        <p:spPr>
          <a:xfrm>
            <a:off x="5120640" y="4206240"/>
            <a:ext cx="1920240" cy="1097280"/>
          </a:xfrm>
          <a:prstGeom prst="rect">
            <a:avLst/>
          </a:prstGeom>
          <a:noFill/>
          <a:ln/>
        </p:spPr>
        <p:txBody>
          <a:bodyPr wrap="square" lIns="0" tIns="0" rIns="0" bIns="0" rtlCol="0" anchor="ctr"/>
          <a:lstStyle/>
          <a:p>
            <a:pPr algn="ctr" indent="0" marL="0">
              <a:buNone/>
            </a:pPr>
            <a:r>
              <a:rPr lang="en-US" sz="1500" dirty="0">
                <a:solidFill>
                  <a:srgbClr val="12171D"/>
                </a:solidFill>
                <a:latin typeface="Jost" pitchFamily="34" charset="0"/>
                <a:ea typeface="Jost" pitchFamily="34" charset="-122"/>
                <a:cs typeface="Jost" pitchFamily="34" charset="-120"/>
              </a:rPr>
              <a:t>Image-use approval</a:t>
            </a:r>
            <a:endParaRPr lang="en-US" sz="1500" dirty="0"/>
          </a:p>
        </p:txBody>
      </p:sp>
      <p:sp>
        <p:nvSpPr>
          <p:cNvPr id="16" name="Shape 14"/>
          <p:cNvSpPr/>
          <p:nvPr/>
        </p:nvSpPr>
        <p:spPr>
          <a:xfrm>
            <a:off x="7269480" y="4206240"/>
            <a:ext cx="2103120" cy="1097280"/>
          </a:xfrm>
          <a:prstGeom prst="rect">
            <a:avLst/>
          </a:prstGeom>
          <a:solidFill>
            <a:srgbClr val="FFFFFF"/>
          </a:solidFill>
          <a:ln w="25400">
            <a:solidFill>
              <a:srgbClr val="12171D"/>
            </a:solidFill>
            <a:prstDash val="dash"/>
          </a:ln>
        </p:spPr>
      </p:sp>
      <p:sp>
        <p:nvSpPr>
          <p:cNvPr id="17" name="Text 15"/>
          <p:cNvSpPr/>
          <p:nvPr/>
        </p:nvSpPr>
        <p:spPr>
          <a:xfrm>
            <a:off x="7360920" y="4206240"/>
            <a:ext cx="1920240" cy="1097280"/>
          </a:xfrm>
          <a:prstGeom prst="rect">
            <a:avLst/>
          </a:prstGeom>
          <a:noFill/>
          <a:ln/>
        </p:spPr>
        <p:txBody>
          <a:bodyPr wrap="square" lIns="0" tIns="0" rIns="0" bIns="0" rtlCol="0" anchor="ctr"/>
          <a:lstStyle/>
          <a:p>
            <a:pPr algn="ctr" indent="0" marL="0">
              <a:buNone/>
            </a:pPr>
            <a:r>
              <a:rPr lang="en-US" sz="1500" dirty="0">
                <a:solidFill>
                  <a:srgbClr val="12171D"/>
                </a:solidFill>
                <a:latin typeface="Jost" pitchFamily="34" charset="0"/>
                <a:ea typeface="Jost" pitchFamily="34" charset="-122"/>
                <a:cs typeface="Jost" pitchFamily="34" charset="-120"/>
              </a:rPr>
              <a:t>Localization acceptance</a:t>
            </a:r>
            <a:endParaRPr lang="en-US" sz="1500" dirty="0"/>
          </a:p>
        </p:txBody>
      </p:sp>
      <p:sp>
        <p:nvSpPr>
          <p:cNvPr id="18" name="Shape 16"/>
          <p:cNvSpPr/>
          <p:nvPr/>
        </p:nvSpPr>
        <p:spPr>
          <a:xfrm>
            <a:off x="9509760" y="4206240"/>
            <a:ext cx="2103120" cy="1097280"/>
          </a:xfrm>
          <a:prstGeom prst="rect">
            <a:avLst/>
          </a:prstGeom>
          <a:solidFill>
            <a:srgbClr val="FFFFFF"/>
          </a:solidFill>
          <a:ln w="25400">
            <a:solidFill>
              <a:srgbClr val="12171D"/>
            </a:solidFill>
            <a:prstDash val="dash"/>
          </a:ln>
        </p:spPr>
      </p:sp>
      <p:sp>
        <p:nvSpPr>
          <p:cNvPr id="19" name="Text 17"/>
          <p:cNvSpPr/>
          <p:nvPr/>
        </p:nvSpPr>
        <p:spPr>
          <a:xfrm>
            <a:off x="9601200" y="4206240"/>
            <a:ext cx="1920240" cy="1097280"/>
          </a:xfrm>
          <a:prstGeom prst="rect">
            <a:avLst/>
          </a:prstGeom>
          <a:noFill/>
          <a:ln/>
        </p:spPr>
        <p:txBody>
          <a:bodyPr wrap="square" lIns="0" tIns="0" rIns="0" bIns="0" rtlCol="0" anchor="ctr"/>
          <a:lstStyle/>
          <a:p>
            <a:pPr algn="ctr" indent="0" marL="0">
              <a:buNone/>
            </a:pPr>
            <a:r>
              <a:rPr lang="en-US" sz="1500" dirty="0">
                <a:solidFill>
                  <a:srgbClr val="12171D"/>
                </a:solidFill>
                <a:latin typeface="Jost" pitchFamily="34" charset="0"/>
                <a:ea typeface="Jost" pitchFamily="34" charset="-122"/>
                <a:cs typeface="Jost" pitchFamily="34" charset="-120"/>
              </a:rPr>
              <a:t>Publication authorization</a:t>
            </a:r>
            <a:endParaRPr lang="en-US" sz="1500" dirty="0"/>
          </a:p>
        </p:txBody>
      </p:sp>
      <p:sp>
        <p:nvSpPr>
          <p:cNvPr id="20" name="Text 18"/>
          <p:cNvSpPr/>
          <p:nvPr/>
        </p:nvSpPr>
        <p:spPr>
          <a:xfrm>
            <a:off x="548640" y="5394960"/>
            <a:ext cx="11094415" cy="54864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Acceptance evidence belongs to the artifact and revision tested. A related build or language layer receives no automatic transfer of QA, font, linguistic or accessibility acceptance.</a:t>
            </a:r>
            <a:endParaRPr lang="en-US" sz="1400" dirty="0"/>
          </a:p>
        </p:txBody>
      </p:sp>
      <p:sp>
        <p:nvSpPr>
          <p:cNvPr id="21" name="Text 19"/>
          <p:cNvSpPr/>
          <p:nvPr/>
        </p:nvSpPr>
        <p:spPr>
          <a:xfrm>
            <a:off x="548640" y="6016752"/>
            <a:ext cx="356616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PE-13, PE-14 (WEBSITE)</a:t>
            </a:r>
            <a:endParaRPr lang="en-US" sz="1000" dirty="0"/>
          </a:p>
        </p:txBody>
      </p:sp>
      <p:sp>
        <p:nvSpPr>
          <p:cNvPr id="22" name="Text 20"/>
          <p:cNvSpPr/>
          <p:nvPr/>
        </p:nvSpPr>
        <p:spPr>
          <a:xfrm>
            <a:off x="4297680" y="6016752"/>
            <a:ext cx="3840480" cy="274320"/>
          </a:xfrm>
          <a:prstGeom prst="rect">
            <a:avLst/>
          </a:prstGeom>
          <a:solidFill>
            <a:srgbClr val="FFFFFF"/>
          </a:solidFill>
          <a:ln w="25400">
            <a:solidFill>
              <a:srgbClr val="12171D"/>
            </a:solidFill>
            <a:prstDash val="dash"/>
          </a:ln>
        </p:spPr>
        <p:txBody>
          <a:bodyPr wrap="square" lIns="0" tIns="0" rIns="0" bIns="0" rtlCol="0" anchor="ctr"/>
          <a:lstStyle/>
          <a:p>
            <a:pPr algn="ctr" indent="0" marL="0">
              <a:buNone/>
            </a:pPr>
            <a:r>
              <a:rPr lang="en-US" sz="1000" spc="80" kern="0" dirty="0">
                <a:solidFill>
                  <a:srgbClr val="12171D"/>
                </a:solidFill>
                <a:latin typeface="Jost" pitchFamily="34" charset="0"/>
                <a:ea typeface="Jost" pitchFamily="34" charset="-122"/>
                <a:cs typeface="Jost" pitchFamily="34" charset="-120"/>
              </a:rPr>
              <a:t>PROPOSED · PE-16, PE-17 (DECISIONS)</a:t>
            </a:r>
            <a:endParaRPr lang="en-US" sz="1000" dirty="0"/>
          </a:p>
        </p:txBody>
      </p:sp>
      <p:sp>
        <p:nvSpPr>
          <p:cNvPr id="23" name="Shape 21"/>
          <p:cNvSpPr/>
          <p:nvPr/>
        </p:nvSpPr>
        <p:spPr>
          <a:xfrm>
            <a:off x="548640" y="6400800"/>
            <a:ext cx="11094415" cy="0"/>
          </a:xfrm>
          <a:prstGeom prst="line">
            <a:avLst/>
          </a:prstGeom>
          <a:noFill/>
          <a:ln w="12700">
            <a:solidFill>
              <a:srgbClr val="BCACA7"/>
            </a:solidFill>
            <a:prstDash val="solid"/>
          </a:ln>
        </p:spPr>
      </p:sp>
      <p:sp>
        <p:nvSpPr>
          <p:cNvPr id="24" name="Text 22"/>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25" name="Text 23"/>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21 / 24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APPROVAL</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Reviewers and final approvers.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560320"/>
                <a:gridCol w="3840480"/>
                <a:gridCol w="469087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REVIEW AREA</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REVIEWER</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FINAL APPROVER</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Identity, templates, assets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Design Custodian</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Within recorded asset responsibility; Brand Owner for release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Offer scope and claims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Commercial Lead; Legal / IP Counsel as applicable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Brand Owner for offer scope; Legal/IP clearance separate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Range and product data</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Product / Amenities Lead</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Route to be confirmed; not delegated here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Supplier evidence</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Procurement / Supplier QA</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Route to be confirmed; not delegated here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Digital implementation</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Digital Design Lead; Engineering Lead</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Design Custodian + Digital Design Lead sign-off; Brand Owner for release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Arabic and access</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Arabic / Localization Lead; Accessibility QA</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Native specialist acceptance; Brand Owner for release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300" dirty="0">
                          <a:solidFill>
                            <a:srgbClr val="12171D"/>
                          </a:solidFill>
                          <a:latin typeface="Jost" pitchFamily="34" charset="0"/>
                          <a:ea typeface="Jost" pitchFamily="34" charset="-122"/>
                          <a:cs typeface="Jost" pitchFamily="34" charset="-120"/>
                        </a:rPr>
                        <a:t>Deck and PDF integrity</a:t>
                      </a:r>
                      <a:endParaRPr lang="en-US" sz="130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Presentation / Document QA</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300" dirty="0">
                          <a:solidFill>
                            <a:srgbClr val="12171D"/>
                          </a:solidFill>
                          <a:latin typeface="Inter" pitchFamily="34" charset="0"/>
                          <a:ea typeface="Inter" pitchFamily="34" charset="-122"/>
                          <a:cs typeface="Inter" pitchFamily="34" charset="-120"/>
                        </a:rPr>
                        <a:t>Brand Owner for final issue</a:t>
                      </a:r>
                      <a:endParaRPr lang="en-US" sz="13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5486400"/>
            <a:ext cx="11094415" cy="731520"/>
          </a:xfrm>
          <a:prstGeom prst="rect">
            <a:avLst/>
          </a:prstGeom>
          <a:noFill/>
          <a:ln/>
        </p:spPr>
        <p:txBody>
          <a:bodyPr wrap="square" lIns="0" tIns="0" rIns="0" bIns="0" rtlCol="0" anchor="t"/>
          <a:lstStyle/>
          <a:p>
            <a:pPr indent="0" marL="0">
              <a:buNone/>
            </a:pPr>
            <a:r>
              <a:rPr lang="en-US" sz="1400" dirty="0">
                <a:solidFill>
                  <a:srgbClr val="12171D"/>
                </a:solidFill>
                <a:latin typeface="Inter" pitchFamily="34" charset="0"/>
                <a:ea typeface="Inter" pitchFamily="34" charset="-122"/>
                <a:cs typeface="Inter" pitchFamily="34" charset="-120"/>
              </a:rPr>
              <a:t>The Brand Owner authorises strategy, architecture and final release. Review responsibility does not imply delegated authority to amend master rules. Named role holders are not yet recorded.</a:t>
            </a:r>
            <a:endParaRPr lang="en-US" sz="1400" dirty="0"/>
          </a:p>
        </p:txBody>
      </p:sp>
      <p:sp>
        <p:nvSpPr>
          <p:cNvPr id="7" name="Shape 4"/>
          <p:cNvSpPr/>
          <p:nvPr/>
        </p:nvSpPr>
        <p:spPr>
          <a:xfrm>
            <a:off x="548640" y="6400800"/>
            <a:ext cx="11094415" cy="0"/>
          </a:xfrm>
          <a:prstGeom prst="line">
            <a:avLst/>
          </a:prstGeom>
          <a:noFill/>
          <a:ln w="12700">
            <a:solidFill>
              <a:srgbClr val="BCACA7"/>
            </a:solidFill>
            <a:prstDash val="solid"/>
          </a:ln>
        </p:spPr>
      </p:sp>
      <p:sp>
        <p:nvSpPr>
          <p:cNvPr id="8" name="Text 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9" name="Text 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22 / 24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RELEASE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Supporting records: exact revisions bound by SHA-256.</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200400"/>
                <a:gridCol w="2377440"/>
                <a:gridCol w="5513832"/>
              </a:tblGrid>
              <a:tr h="0">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RECORD</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ROLE</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c>
                  <a:txBody>
                    <a:bodyPr/>
                    <a:lstStyle/>
                    <a:p>
                      <a:pPr indent="0" marL="0">
                        <a:buNone/>
                      </a:pPr>
                      <a:r>
                        <a:rPr lang="en-US" sz="1050" spc="80" kern="0" dirty="0">
                          <a:solidFill>
                            <a:srgbClr val="FFFFFF"/>
                          </a:solidFill>
                          <a:latin typeface="Jost" pitchFamily="34" charset="0"/>
                          <a:ea typeface="Jost" pitchFamily="34" charset="-122"/>
                          <a:cs typeface="Jost" pitchFamily="34" charset="-120"/>
                        </a:rPr>
                        <a:t>SHA-256 (FULL), AS REVIEWED 18 OCT 2026</a:t>
                      </a:r>
                      <a:endParaRPr lang="en-US" sz="1050" dirty="0">
                        <a:latin typeface="Jost" charset="0"/>
                        <a:ea typeface="Jost" charset="0"/>
                        <a:cs typeface="Jost" charset="0"/>
                      </a:endParaRPr>
                    </a:p>
                  </a:txBody>
                  <a:tcPr marL="101600" marR="101600" marT="76200" marB="76200" anchor="t">
                    <a:lnL w="0" cap="flat" cmpd="sng" algn="ctr">
                      <a:noFill/>
                    </a:lnL>
                    <a:lnR w="0" cap="flat" cmpd="sng" algn="ctr">
                      <a:noFill/>
                    </a:lnR>
                    <a:lnT w="0" cap="flat" cmpd="sng" algn="ctr">
                      <a:noFill/>
                    </a:lnT>
                    <a:lnB w="0" cap="flat" cmpd="sng" algn="ctr">
                      <a:noFill/>
                    </a:lnB>
                    <a:solidFill>
                      <a:srgbClr val="12171D"/>
                    </a:solidFill>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claims-register.csv</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Claims register</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8f376d7b172f3ff2914679a8db468068954087ea58bace4fb951d5e9c3f12ff4</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imagery-provenance.csv</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Imagery audit register</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018c9e8d1af0dd312ee6cb3fa17b2f81c52d211b8fa9726e6f16d789c2bcef53</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authority-map.csv</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Authority map</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9261d52ccf973aa4a8ea35c0324aeac8a95670f02c86b63baefea87bd6d0b6d5</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sources.json</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Source index</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5411546fecd4cbc513e36b7250661756595097a56d74b609a1d15486d9244ae7</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unresolved-items.md</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Unresolved items</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1cbec49a2461c463e45e6780796830c2a8ce0d98db1221117adcaea4d82e27c1</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owner-instruction-2026-10-18.md</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Owner instruction</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3349053c07841551b7ed32e45eeebd8a12d838ad84cbf32e688595873ca0303d</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audit-annex.md</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Audit annex</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e361162831603e57f7e1f815cc49cb3e91fb820e2a14ee19db1fac7dd0b62a3f</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audited-site-manifest.sha256</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Audited-site manifest</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a2990eeddf3c14c6a01402a34ccd867da15ec5725a7563bb92ef25813312c272</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content-review.md</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Content review text</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ad2c0c8acb44a9fe6e9d7e49dba50f35b87274b8f49bcc882a7214e926c03358</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r h="0">
                <a:tc>
                  <a:txBody>
                    <a:bodyPr/>
                    <a:lstStyle/>
                    <a:p>
                      <a:pPr indent="0" marL="0">
                        <a:buNone/>
                      </a:pPr>
                      <a:r>
                        <a:rPr lang="en-US" sz="1050" dirty="0">
                          <a:solidFill>
                            <a:srgbClr val="12171D"/>
                          </a:solidFill>
                          <a:latin typeface="Inter" pitchFamily="34" charset="0"/>
                          <a:ea typeface="Inter" pitchFamily="34" charset="-122"/>
                          <a:cs typeface="Inter" pitchFamily="34" charset="-120"/>
                        </a:rPr>
                        <a:t>imagery-register-template.csv</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1050" dirty="0">
                          <a:solidFill>
                            <a:srgbClr val="12171D"/>
                          </a:solidFill>
                          <a:latin typeface="Inter" pitchFamily="34" charset="0"/>
                          <a:ea typeface="Inter" pitchFamily="34" charset="-122"/>
                          <a:cs typeface="Inter" pitchFamily="34" charset="-120"/>
                        </a:rPr>
                        <a:t>Imagery register template</a:t>
                      </a:r>
                      <a:endParaRPr lang="en-US" sz="105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c>
                  <a:txBody>
                    <a:bodyPr/>
                    <a:lstStyle/>
                    <a:p>
                      <a:pPr indent="0" marL="0">
                        <a:buNone/>
                      </a:pPr>
                      <a:r>
                        <a:rPr lang="en-US" sz="900" dirty="0">
                          <a:solidFill>
                            <a:srgbClr val="12171D"/>
                          </a:solidFill>
                          <a:latin typeface="Inter" pitchFamily="34" charset="0"/>
                          <a:ea typeface="Inter" pitchFamily="34" charset="-122"/>
                          <a:cs typeface="Inter" pitchFamily="34" charset="-120"/>
                        </a:rPr>
                        <a:t>d0a5ad54e416c270bdc15e5e0f07b1bef5ceda79e2220238e7f073e6dd4d8578</a:t>
                      </a:r>
                      <a:endParaRPr lang="en-US" sz="900" dirty="0">
                        <a:latin typeface="Inter" charset="0"/>
                        <a:ea typeface="Inter" charset="0"/>
                        <a:cs typeface="Inter" charset="0"/>
                      </a:endParaRPr>
                    </a:p>
                  </a:txBody>
                  <a:tcPr marL="101600" marR="101600" marT="76200" marB="76200" anchor="t">
                    <a:lnL w="0" cap="flat" cmpd="sng" algn="ctr">
                      <a:noFill/>
                    </a:lnL>
                    <a:lnR w="0" cap="flat" cmpd="sng" algn="ctr">
                      <a:noFill/>
                    </a:lnR>
                    <a:lnT w="0" cap="flat" cmpd="sng" algn="ctr">
                      <a:noFill/>
                    </a:lnT>
                    <a:lnB w="12700" cap="flat" cmpd="sng" algn="ctr">
                      <a:solidFill>
                        <a:srgbClr val="BCACA7"/>
                      </a:solidFill>
                      <a:prstDash val="solid"/>
                      <a:round/>
                      <a:headEnd type="none" w="med" len="med"/>
                      <a:tailEnd type="none" w="med" len="med"/>
                    </a:lnB>
                  </a:tcPr>
                </a:tc>
              </a:tr>
            </a:tbl>
          </a:graphicData>
        </a:graphic>
      </p:graphicFrame>
      <p:sp>
        <p:nvSpPr>
          <p:cNvPr id="6" name="Text 3"/>
          <p:cNvSpPr/>
          <p:nvPr/>
        </p:nvSpPr>
        <p:spPr>
          <a:xfrm>
            <a:off x="548640" y="5486400"/>
            <a:ext cx="11094415" cy="822960"/>
          </a:xfrm>
          <a:prstGeom prst="rect">
            <a:avLst/>
          </a:prstGeom>
          <a:noFill/>
          <a:ln/>
        </p:spPr>
        <p:txBody>
          <a:bodyPr wrap="square" lIns="0" tIns="0" rIns="0" bIns="0" rtlCol="0" anchor="t"/>
          <a:lstStyle/>
          <a:p>
            <a:pPr indent="0" marL="0">
              <a:buNone/>
            </a:pPr>
            <a:r>
              <a:rPr lang="en-US" sz="1300" dirty="0">
                <a:solidFill>
                  <a:srgbClr val="12171D"/>
                </a:solidFill>
                <a:latin typeface="Inter" pitchFamily="34" charset="0"/>
                <a:ea typeface="Inter" pitchFamily="34" charset="-122"/>
                <a:cs typeface="Inter" pitchFamily="34" charset="-120"/>
              </a:rPr>
              <a:t>Register check: PE-01 to PE-20 exist in the supporting records. PE-21 to PE-27 appear in this deck but are not yet registered. Register them, or revise the tags, before review. The records changed during review (14:00–14:04), so re-bind these hashes at release.</a:t>
            </a:r>
            <a:endParaRPr lang="en-US" sz="1300" dirty="0"/>
          </a:p>
        </p:txBody>
      </p:sp>
      <p:sp>
        <p:nvSpPr>
          <p:cNvPr id="7" name="Shape 4"/>
          <p:cNvSpPr/>
          <p:nvPr/>
        </p:nvSpPr>
        <p:spPr>
          <a:xfrm>
            <a:off x="548640" y="6400800"/>
            <a:ext cx="11094415" cy="0"/>
          </a:xfrm>
          <a:prstGeom prst="line">
            <a:avLst/>
          </a:prstGeom>
          <a:noFill/>
          <a:ln w="12700">
            <a:solidFill>
              <a:srgbClr val="BCACA7"/>
            </a:solidFill>
            <a:prstDash val="solid"/>
          </a:ln>
        </p:spPr>
      </p:sp>
      <p:sp>
        <p:nvSpPr>
          <p:cNvPr id="8" name="Text 5"/>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9" name="Text 6"/>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23 / 24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lIns="0" tIns="0" rIns="0" bIns="0" rtlCol="0" anchor="ctr"/>
          <a:lstStyle/>
          <a:p>
            <a:pPr indent="0" marL="0">
              <a:buNone/>
            </a:pPr>
            <a:r>
              <a:rPr lang="en-US" sz="1000" spc="160" kern="0" dirty="0">
                <a:solidFill>
                  <a:srgbClr val="12171D"/>
                </a:solidFill>
                <a:latin typeface="Jost" pitchFamily="34" charset="0"/>
                <a:ea typeface="Jost" pitchFamily="34" charset="-122"/>
                <a:cs typeface="Jost" pitchFamily="34" charset="-120"/>
              </a:rPr>
              <a:t>RELEASE</a:t>
            </a:r>
            <a:endParaRPr lang="en-US" sz="1000" dirty="0"/>
          </a:p>
        </p:txBody>
      </p:sp>
      <p:sp>
        <p:nvSpPr>
          <p:cNvPr id="3" name="Text 1"/>
          <p:cNvSpPr/>
          <p:nvPr/>
        </p:nvSpPr>
        <p:spPr>
          <a:xfrm>
            <a:off x="548640" y="694944"/>
            <a:ext cx="11094415" cy="868680"/>
          </a:xfrm>
          <a:prstGeom prst="rect">
            <a:avLst/>
          </a:prstGeom>
          <a:noFill/>
          <a:ln/>
        </p:spPr>
        <p:txBody>
          <a:bodyPr wrap="square" lIns="0" tIns="0" rIns="0" bIns="0" rtlCol="0" anchor="t"/>
          <a:lstStyle/>
          <a:p>
            <a:pPr indent="0" marL="0">
              <a:buNone/>
            </a:pPr>
            <a:r>
              <a:rPr lang="en-US" sz="2600" dirty="0">
                <a:solidFill>
                  <a:srgbClr val="12171D"/>
                </a:solidFill>
                <a:latin typeface="Jost" pitchFamily="34" charset="0"/>
                <a:ea typeface="Jost" pitchFamily="34" charset="-122"/>
                <a:cs typeface="Jost" pitchFamily="34" charset="-120"/>
              </a:rPr>
              <a:t>Release checklist and open items.</a:t>
            </a:r>
            <a:endParaRPr lang="en-US" sz="2600" dirty="0"/>
          </a:p>
        </p:txBody>
      </p:sp>
      <p:sp>
        <p:nvSpPr>
          <p:cNvPr id="4" name="Shape 2"/>
          <p:cNvSpPr/>
          <p:nvPr/>
        </p:nvSpPr>
        <p:spPr>
          <a:xfrm>
            <a:off x="548640" y="1627632"/>
            <a:ext cx="1097280" cy="0"/>
          </a:xfrm>
          <a:prstGeom prst="line">
            <a:avLst/>
          </a:prstGeom>
          <a:noFill/>
          <a:ln w="25400">
            <a:solidFill>
              <a:srgbClr val="12171D"/>
            </a:solidFill>
            <a:prstDash val="solid"/>
          </a:ln>
        </p:spPr>
      </p:sp>
      <p:sp>
        <p:nvSpPr>
          <p:cNvPr id="5" name="Text 3"/>
          <p:cNvSpPr/>
          <p:nvPr/>
        </p:nvSpPr>
        <p:spPr>
          <a:xfrm>
            <a:off x="548640" y="1828800"/>
            <a:ext cx="2743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BEFORE ANY RELEASE</a:t>
            </a:r>
            <a:endParaRPr lang="en-US" sz="1050" dirty="0"/>
          </a:p>
        </p:txBody>
      </p:sp>
      <p:sp>
        <p:nvSpPr>
          <p:cNvPr id="6" name="Text 4"/>
          <p:cNvSpPr/>
          <p:nvPr/>
        </p:nvSpPr>
        <p:spPr>
          <a:xfrm>
            <a:off x="548640" y="2148840"/>
            <a:ext cx="5394960" cy="3931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Record the content decision and the exact issue it applies to.</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Assign the document ID, issue version and named role holders.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Resolve or retain every affected evidence restriction.</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Confirm cross-document consistency (VAL-21).</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Approve the editable deck and matching PDF after full visual and font checks.</a:t>
            </a:r>
            <a:endParaRPr lang="en-US" sz="1400" dirty="0"/>
          </a:p>
          <a:p>
            <a:pPr marL="177800" indent="-177800">
              <a:spcAft>
                <a:spcPts val="500"/>
              </a:spcAft>
              <a:buSzPct val="100000"/>
              <a:buChar char="•"/>
            </a:pPr>
            <a:r>
              <a:rPr lang="en-US" sz="1400" dirty="0">
                <a:solidFill>
                  <a:srgbClr val="12171D"/>
                </a:solidFill>
                <a:latin typeface="Inter" pitchFamily="34" charset="0"/>
                <a:ea typeface="Inter" pitchFamily="34" charset="-122"/>
                <a:cs typeface="Inter" pitchFamily="34" charset="-120"/>
              </a:rPr>
              <a:t>Bind deliverables to a checksum manifest; obtain separate publication authorization.</a:t>
            </a:r>
            <a:endParaRPr lang="en-US" sz="1400" dirty="0"/>
          </a:p>
        </p:txBody>
      </p:sp>
      <p:sp>
        <p:nvSpPr>
          <p:cNvPr id="7" name="Shape 5"/>
          <p:cNvSpPr/>
          <p:nvPr/>
        </p:nvSpPr>
        <p:spPr>
          <a:xfrm>
            <a:off x="6309360" y="1828800"/>
            <a:ext cx="5330952" cy="4434840"/>
          </a:xfrm>
          <a:prstGeom prst="rect">
            <a:avLst/>
          </a:prstGeom>
          <a:solidFill>
            <a:srgbClr val="FFFFFF"/>
          </a:solidFill>
          <a:ln w="25400">
            <a:solidFill>
              <a:srgbClr val="12171D"/>
            </a:solidFill>
            <a:prstDash val="dash"/>
          </a:ln>
        </p:spPr>
      </p:sp>
      <p:sp>
        <p:nvSpPr>
          <p:cNvPr id="8" name="Text 6"/>
          <p:cNvSpPr/>
          <p:nvPr/>
        </p:nvSpPr>
        <p:spPr>
          <a:xfrm>
            <a:off x="6492240" y="1920240"/>
            <a:ext cx="50292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THREE SEPARATE DECISIONS ON COLOUR-CODED LABELS</a:t>
            </a:r>
            <a:endParaRPr lang="en-US" sz="1050" dirty="0"/>
          </a:p>
        </p:txBody>
      </p:sp>
      <p:sp>
        <p:nvSpPr>
          <p:cNvPr id="9" name="Shape 7"/>
          <p:cNvSpPr/>
          <p:nvPr/>
        </p:nvSpPr>
        <p:spPr>
          <a:xfrm>
            <a:off x="6492240" y="2286000"/>
            <a:ext cx="1554480" cy="1051560"/>
          </a:xfrm>
          <a:prstGeom prst="rect">
            <a:avLst/>
          </a:prstGeom>
          <a:solidFill>
            <a:srgbClr val="FFFFFF"/>
          </a:solidFill>
          <a:ln w="12700">
            <a:solidFill>
              <a:srgbClr val="BCACA7"/>
            </a:solidFill>
            <a:prstDash val="solid"/>
          </a:ln>
        </p:spPr>
      </p:sp>
      <p:sp>
        <p:nvSpPr>
          <p:cNvPr id="10" name="Text 8"/>
          <p:cNvSpPr/>
          <p:nvPr/>
        </p:nvSpPr>
        <p:spPr>
          <a:xfrm>
            <a:off x="6565392" y="2286000"/>
            <a:ext cx="1408176" cy="1051560"/>
          </a:xfrm>
          <a:prstGeom prst="rect">
            <a:avLst/>
          </a:prstGeom>
          <a:noFill/>
          <a:ln/>
        </p:spPr>
        <p:txBody>
          <a:bodyPr wrap="square" lIns="0" tIns="0" rIns="0" bIns="0" rtlCol="0" anchor="ctr"/>
          <a:lstStyle/>
          <a:p>
            <a:pPr algn="ctr" indent="0" marL="0">
              <a:buNone/>
            </a:pPr>
            <a:r>
              <a:rPr lang="en-US" sz="1150" dirty="0">
                <a:solidFill>
                  <a:srgbClr val="12171D"/>
                </a:solidFill>
                <a:latin typeface="Jost" pitchFamily="34" charset="0"/>
                <a:ea typeface="Jost" pitchFamily="34" charset="-122"/>
                <a:cs typeface="Jost" pitchFamily="34" charset="-120"/>
              </a:rPr>
              <a:t>Visual-direction approval</a:t>
            </a:r>
            <a:endParaRPr lang="en-US" sz="1150" dirty="0"/>
          </a:p>
        </p:txBody>
      </p:sp>
      <p:sp>
        <p:nvSpPr>
          <p:cNvPr id="11" name="Shape 9"/>
          <p:cNvSpPr/>
          <p:nvPr/>
        </p:nvSpPr>
        <p:spPr>
          <a:xfrm>
            <a:off x="8138160" y="2286000"/>
            <a:ext cx="1554480" cy="1051560"/>
          </a:xfrm>
          <a:prstGeom prst="rect">
            <a:avLst/>
          </a:prstGeom>
          <a:solidFill>
            <a:srgbClr val="FFFFFF"/>
          </a:solidFill>
          <a:ln w="12700">
            <a:solidFill>
              <a:srgbClr val="BCACA7"/>
            </a:solidFill>
            <a:prstDash val="solid"/>
          </a:ln>
        </p:spPr>
      </p:sp>
      <p:sp>
        <p:nvSpPr>
          <p:cNvPr id="12" name="Text 10"/>
          <p:cNvSpPr/>
          <p:nvPr/>
        </p:nvSpPr>
        <p:spPr>
          <a:xfrm>
            <a:off x="8211312" y="2286000"/>
            <a:ext cx="1408176" cy="1051560"/>
          </a:xfrm>
          <a:prstGeom prst="rect">
            <a:avLst/>
          </a:prstGeom>
          <a:noFill/>
          <a:ln/>
        </p:spPr>
        <p:txBody>
          <a:bodyPr wrap="square" lIns="0" tIns="0" rIns="0" bIns="0" rtlCol="0" anchor="ctr"/>
          <a:lstStyle/>
          <a:p>
            <a:pPr algn="ctr" indent="0" marL="0">
              <a:buNone/>
            </a:pPr>
            <a:r>
              <a:rPr lang="en-US" sz="1150" dirty="0">
                <a:solidFill>
                  <a:srgbClr val="12171D"/>
                </a:solidFill>
                <a:latin typeface="Jost" pitchFamily="34" charset="0"/>
                <a:ea typeface="Jost" pitchFamily="34" charset="-122"/>
                <a:cs typeface="Jost" pitchFamily="34" charset="-120"/>
              </a:rPr>
              <a:t>Master-guideline amendment (V3.1 route)</a:t>
            </a:r>
            <a:endParaRPr lang="en-US" sz="1150" dirty="0"/>
          </a:p>
        </p:txBody>
      </p:sp>
      <p:sp>
        <p:nvSpPr>
          <p:cNvPr id="13" name="Shape 11"/>
          <p:cNvSpPr/>
          <p:nvPr/>
        </p:nvSpPr>
        <p:spPr>
          <a:xfrm>
            <a:off x="9784080" y="2286000"/>
            <a:ext cx="1554480" cy="1051560"/>
          </a:xfrm>
          <a:prstGeom prst="rect">
            <a:avLst/>
          </a:prstGeom>
          <a:solidFill>
            <a:srgbClr val="FFFFFF"/>
          </a:solidFill>
          <a:ln w="12700">
            <a:solidFill>
              <a:srgbClr val="BCACA7"/>
            </a:solidFill>
            <a:prstDash val="solid"/>
          </a:ln>
        </p:spPr>
      </p:sp>
      <p:sp>
        <p:nvSpPr>
          <p:cNvPr id="14" name="Text 12"/>
          <p:cNvSpPr/>
          <p:nvPr/>
        </p:nvSpPr>
        <p:spPr>
          <a:xfrm>
            <a:off x="9857232" y="2286000"/>
            <a:ext cx="1408176" cy="1051560"/>
          </a:xfrm>
          <a:prstGeom prst="rect">
            <a:avLst/>
          </a:prstGeom>
          <a:noFill/>
          <a:ln/>
        </p:spPr>
        <p:txBody>
          <a:bodyPr wrap="square" lIns="0" tIns="0" rIns="0" bIns="0" rtlCol="0" anchor="ctr"/>
          <a:lstStyle/>
          <a:p>
            <a:pPr algn="ctr" indent="0" marL="0">
              <a:buNone/>
            </a:pPr>
            <a:r>
              <a:rPr lang="en-US" sz="1150" dirty="0">
                <a:solidFill>
                  <a:srgbClr val="12171D"/>
                </a:solidFill>
                <a:latin typeface="Jost" pitchFamily="34" charset="0"/>
                <a:ea typeface="Jost" pitchFamily="34" charset="-122"/>
                <a:cs typeface="Jost" pitchFamily="34" charset="-120"/>
              </a:rPr>
              <a:t>Production-artwork approval</a:t>
            </a:r>
            <a:endParaRPr lang="en-US" sz="1150" dirty="0"/>
          </a:p>
        </p:txBody>
      </p:sp>
      <p:sp>
        <p:nvSpPr>
          <p:cNvPr id="15" name="Text 13"/>
          <p:cNvSpPr/>
          <p:nvPr/>
        </p:nvSpPr>
        <p:spPr>
          <a:xfrm>
            <a:off x="6492240" y="3429000"/>
            <a:ext cx="4983480" cy="868680"/>
          </a:xfrm>
          <a:prstGeom prst="rect">
            <a:avLst/>
          </a:prstGeom>
          <a:noFill/>
          <a:ln/>
        </p:spPr>
        <p:txBody>
          <a:bodyPr wrap="square" lIns="0" tIns="0" rIns="0" bIns="0" rtlCol="0" anchor="t"/>
          <a:lstStyle/>
          <a:p>
            <a:pPr indent="0" marL="0">
              <a:buNone/>
            </a:pPr>
            <a:r>
              <a:rPr lang="en-US" sz="1250" dirty="0">
                <a:solidFill>
                  <a:srgbClr val="12171D"/>
                </a:solidFill>
                <a:latin typeface="Inter" pitchFamily="34" charset="0"/>
                <a:ea typeface="Inter" pitchFamily="34" charset="-122"/>
                <a:cs typeface="Inter" pitchFamily="34" charset="-120"/>
              </a:rPr>
              <a:t>Each is a separate decision. Approving one grants none of the others. The chat approval of the bright-label direction is visual-direction approval only.</a:t>
            </a:r>
            <a:endParaRPr lang="en-US" sz="1250" dirty="0"/>
          </a:p>
        </p:txBody>
      </p:sp>
      <p:sp>
        <p:nvSpPr>
          <p:cNvPr id="16" name="Text 14"/>
          <p:cNvSpPr/>
          <p:nvPr/>
        </p:nvSpPr>
        <p:spPr>
          <a:xfrm>
            <a:off x="6492240" y="4343400"/>
            <a:ext cx="3657600" cy="256032"/>
          </a:xfrm>
          <a:prstGeom prst="rect">
            <a:avLst/>
          </a:prstGeom>
          <a:noFill/>
          <a:ln/>
        </p:spPr>
        <p:txBody>
          <a:bodyPr wrap="square" lIns="0" tIns="0" rIns="0" bIns="0" rtlCol="0" anchor="ctr"/>
          <a:lstStyle/>
          <a:p>
            <a:pPr indent="0" marL="0">
              <a:buNone/>
            </a:pPr>
            <a:r>
              <a:rPr lang="en-US" sz="1050" spc="120" kern="0" dirty="0">
                <a:solidFill>
                  <a:srgbClr val="12171D"/>
                </a:solidFill>
                <a:latin typeface="Jost" pitchFamily="34" charset="0"/>
                <a:ea typeface="Jost" pitchFamily="34" charset="-122"/>
                <a:cs typeface="Jost" pitchFamily="34" charset="-120"/>
              </a:rPr>
              <a:t>OTHER OPEN ITEMS</a:t>
            </a:r>
            <a:endParaRPr lang="en-US" sz="1050" dirty="0"/>
          </a:p>
        </p:txBody>
      </p:sp>
      <p:sp>
        <p:nvSpPr>
          <p:cNvPr id="17" name="Text 15"/>
          <p:cNvSpPr/>
          <p:nvPr/>
        </p:nvSpPr>
        <p:spPr>
          <a:xfrm>
            <a:off x="6492240" y="4617720"/>
            <a:ext cx="4983480" cy="16002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Bar Soap: source for the title-case application.</a:t>
            </a:r>
            <a:endParaRPr lang="en-US" sz="1200" dirty="0"/>
          </a:p>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Supplier data: dimensions, resin, pump, label stock, fit proofs.</a:t>
            </a:r>
            <a:endParaRPr lang="en-US" sz="1200" dirty="0"/>
          </a:p>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Standards and Saudi label rules: reviewer verification.</a:t>
            </a:r>
            <a:endParaRPr lang="en-US" sz="1200" dirty="0"/>
          </a:p>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Arabic terminology and native review.</a:t>
            </a:r>
            <a:endParaRPr lang="en-US" sz="1200" dirty="0"/>
          </a:p>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Document ID, version, role holders.</a:t>
            </a:r>
            <a:endParaRPr lang="en-US" sz="1200" dirty="0"/>
          </a:p>
          <a:p>
            <a:pPr marL="177800" indent="-177800">
              <a:spcAft>
                <a:spcPts val="500"/>
              </a:spcAft>
              <a:buSzPct val="100000"/>
              <a:buChar char="•"/>
            </a:pPr>
            <a:r>
              <a:rPr lang="en-US" sz="1200" dirty="0">
                <a:solidFill>
                  <a:srgbClr val="12171D"/>
                </a:solidFill>
                <a:latin typeface="Inter" pitchFamily="34" charset="0"/>
                <a:ea typeface="Inter" pitchFamily="34" charset="-122"/>
                <a:cs typeface="Inter" pitchFamily="34" charset="-120"/>
              </a:rPr>
              <a:t>Register PE-21 to PE-27.</a:t>
            </a:r>
            <a:endParaRPr lang="en-US" sz="1200" dirty="0"/>
          </a:p>
        </p:txBody>
      </p:sp>
      <p:sp>
        <p:nvSpPr>
          <p:cNvPr id="18" name="Shape 16"/>
          <p:cNvSpPr/>
          <p:nvPr/>
        </p:nvSpPr>
        <p:spPr>
          <a:xfrm>
            <a:off x="548640" y="6400800"/>
            <a:ext cx="11094415" cy="0"/>
          </a:xfrm>
          <a:prstGeom prst="line">
            <a:avLst/>
          </a:prstGeom>
          <a:noFill/>
          <a:ln w="12700">
            <a:solidFill>
              <a:srgbClr val="BCACA7"/>
            </a:solidFill>
            <a:prstDash val="solid"/>
          </a:ln>
        </p:spPr>
      </p:sp>
      <p:sp>
        <p:nvSpPr>
          <p:cNvPr id="19" name="Text 17"/>
          <p:cNvSpPr/>
          <p:nvPr/>
        </p:nvSpPr>
        <p:spPr>
          <a:xfrm>
            <a:off x="548640" y="6446520"/>
            <a:ext cx="10241280" cy="274320"/>
          </a:xfrm>
          <a:prstGeom prst="rect">
            <a:avLst/>
          </a:prstGeom>
          <a:noFill/>
          <a:ln/>
        </p:spPr>
        <p:txBody>
          <a:bodyPr wrap="square" lIns="0" tIns="0" rIns="0" bIns="0" rtlCol="0" anchor="ctr"/>
          <a:lstStyle/>
          <a:p>
            <a:pPr indent="0" marL="0">
              <a:buNone/>
            </a:pPr>
            <a:r>
              <a:rPr lang="en-US" sz="1000" spc="80" kern="0" dirty="0">
                <a:solidFill>
                  <a:srgbClr val="12171D"/>
                </a:solidFill>
                <a:latin typeface="Jost" pitchFamily="34" charset="0"/>
                <a:ea typeface="Jost" pitchFamily="34" charset="-122"/>
                <a:cs typeface="Jost" pitchFamily="34" charset="-120"/>
              </a:rPr>
              <a:t>PART E · GEM™ AMENITIES &amp; PACKAGING · PRODUCT-LINE GUIDELINES · WORKING EDITION · RELEASE: NOT AUTHORIZED</a:t>
            </a:r>
            <a:endParaRPr lang="en-US" sz="1000" dirty="0"/>
          </a:p>
        </p:txBody>
      </p:sp>
      <p:sp>
        <p:nvSpPr>
          <p:cNvPr id="20" name="Text 18"/>
          <p:cNvSpPr/>
          <p:nvPr/>
        </p:nvSpPr>
        <p:spPr>
          <a:xfrm>
            <a:off x="10545775" y="6446520"/>
            <a:ext cx="1097280" cy="274320"/>
          </a:xfrm>
          <a:prstGeom prst="rect">
            <a:avLst/>
          </a:prstGeom>
          <a:noFill/>
          <a:ln/>
        </p:spPr>
        <p:txBody>
          <a:bodyPr wrap="square" lIns="0" tIns="0" rIns="0" bIns="0" rtlCol="0" anchor="ctr"/>
          <a:lstStyle/>
          <a:p>
            <a:pPr algn="r" indent="0" marL="0">
              <a:buNone/>
            </a:pPr>
            <a:r>
              <a:rPr lang="en-US" sz="1000" dirty="0">
                <a:solidFill>
                  <a:srgbClr val="12171D"/>
                </a:solidFill>
                <a:latin typeface="Inter" pitchFamily="34" charset="0"/>
                <a:ea typeface="Inter" pitchFamily="34" charset="-122"/>
                <a:cs typeface="Inter" pitchFamily="34" charset="-120"/>
              </a:rPr>
              <a:t>24 / 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Part E — Amenities &amp; Packaging Product-Line Guidelines (working edition)</dc:title>
  <dc:subject>PptxGenJS Presentation</dc:subject>
  <dc:creator>GEM working draft</dc:creator>
  <cp:lastModifiedBy>GEM working draft</cp:lastModifiedBy>
  <cp:revision>1</cp:revision>
  <dcterms:created xsi:type="dcterms:W3CDTF">2026-10-18T11:33:32Z</dcterms:created>
  <dcterms:modified xsi:type="dcterms:W3CDTF">2026-10-18T11:33:32Z</dcterms:modified>
</cp:coreProperties>
</file>