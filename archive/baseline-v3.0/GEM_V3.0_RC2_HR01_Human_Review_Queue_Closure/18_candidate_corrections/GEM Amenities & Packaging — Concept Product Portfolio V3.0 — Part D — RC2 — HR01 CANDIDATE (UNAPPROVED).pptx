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9.svg" ContentType="image/svg+xml"/>
  <Override PartName="/ppt/media/image2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</p:sldMasterIdLst>
  <p:notesMasterIdLst>
    <p:notesMasterId r:id="rId27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</p:sldIdLst>
  <p:sldSz cx="15240000" cy="8572500"/>
  <p:notesSz cx="6858000" cy="9144000"/>
  <p:defaultTextStyle>
    <a:defPPr>
      <a:defRPr lang="en-S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653"/>
  </p:normalViewPr>
  <p:slideViewPr>
    <p:cSldViewPr snapToGrid="0">
      <p:cViewPr varScale="1">
        <p:scale>
          <a:sx n="94" d="100"/>
          <a:sy n="94" d="100"/>
        </p:scale>
        <p:origin x="50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A pp.16, 23–30; Part C pp.3, 28–29. Chat cover composition retained. The fixed tagline is set on one line, correcting the chat line break. Original GEM artwork (supplied vector kit) replaces the proposed typed wordmark.</a:t>
            </a:r>
          </a:p>
          <a:p>
            <a:r>
              <a:t>Authority: V3 Final Brand Approval Register, then domain-owning RC2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A pp.12–17; Register T01, AC03, VAL-01. Amenities &amp; Packaging is the approved descriptive stream. Capability evidence remains conditional.</a:t>
            </a:r>
          </a:p>
          <a:p>
            <a:r>
              <a:t>Authority: V3 Final Brand Approval Register, then domain-owning RC2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A pp.6–11, 47; chat slide 03. Editorial phrase from the chat is concept copy, not a replacement tagline.</a:t>
            </a:r>
          </a:p>
          <a:p>
            <a:r>
              <a:t>Authority: V3 Final Brand Approval Register, then domain-owning RC2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C pp.28–29; Part A pp.61–62; chat slide 04. Identical generated body and cap are intentionally reused to hold family geometry constant. Physical dimensions are not specified.</a:t>
            </a:r>
          </a:p>
          <a:p>
            <a:r>
              <a:t>Authority: V3 Final Brand Approval Register, then domain-owning RC2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C pp.28–35; Part A pp.61–62; chat product direction. The enlarged label is editable and carries all six approved hierarchy levels. Environmental image is a blank form study.</a:t>
            </a:r>
          </a:p>
          <a:p>
            <a:r>
              <a:t>Authority: V3 Final Brand Approval Register, then domain-owning RC2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C pp.28–35; Part A pp.61–62; chat product direction. The enlarged label is editable and carries all six approved hierarchy levels. Environmental image is a blank form study.</a:t>
            </a:r>
          </a:p>
          <a:p>
            <a:r>
              <a:t>Authority: V3 Final Brand Approval Register, then domain-owning RC2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C pp.28, 32, 36; chat slide 07. Wall-mounted and refill formats are structural concepts only. Compatibility, hygiene, maintenance and mounting require supplier review.</a:t>
            </a:r>
          </a:p>
          <a:p>
            <a:r>
              <a:t>Authority: V3 Final Brand Approval Register, then domain-owning RC2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C pp.28–29, 32–36. Source-defined product. Visual bottle proposal carries no formulation, benefit, fragrance or ingredient claim.</a:t>
            </a:r>
          </a:p>
          <a:p>
            <a:r>
              <a:t>Authority: V3 Final Brand Approval Register, then domain-owning RC2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C pp.28–29, 32–36. A shared-cap guest-bottle concept. Dispensing format remains supplier-dependent and no efficacy claim is made.</a:t>
            </a:r>
          </a:p>
          <a:p>
            <a:r>
              <a:t>Authority: V3 Final Brand Approval Register, then domain-owning RC2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A pp.29, 40–44, 61; Part C pp.10, 20, 29, 32. Editable annotations describe the visual concept. No physical safe-area or dimensional value is asserted.</a:t>
            </a:r>
          </a:p>
          <a:p>
            <a:r>
              <a:t>Authority: V3 Final Brand Approval Register, then domain-owning RC2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A p.60; Part C p.27; Register E14, AC03, VAL-01. Core Collection name requires owner approval. Property Edition and Bespoke Programme scope remains conditional.</a:t>
            </a:r>
          </a:p>
          <a:p>
            <a:r>
              <a:t>Authority: V3 Final Brand Approval Register, then domain-owning RC2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A pp.31, 60; Part C p.27; Register E14. Illustrative property relationship only. No real property, partner or commercial agreement is implied.</a:t>
            </a:r>
          </a:p>
          <a:p>
            <a:r>
              <a:t>Authority: V3 Final Brand Approval Register, then domain-owning RC2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A p.60; Part C pp.27, 31–32, 36. Open-box image is an unprinted structural study. Insert, closure, dimensions and commercial scope remain pending.</a:t>
            </a:r>
          </a:p>
          <a:p>
            <a:r>
              <a:t>Authority: V3 Final Brand Approval Register, then domain-owning RC2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A pp.37–39, 61; Part C pp.17, 29–35; Register T05. Corrects the chat’s eight-step hierarchy. Collection/tier is retained. Concept status is a document annotation, not a seventh product-information level. Arabic copy is not invented.</a:t>
            </a:r>
          </a:p>
          <a:p>
            <a:r>
              <a:t>Authority: V3 Final Brand Approval Register, then domain-owning RC2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C pp.20, 30–36. No supplier dieline has been supplied. The framework depicts dependencies, not manufacturing geometry.</a:t>
            </a:r>
          </a:p>
          <a:p>
            <a:r>
              <a:t>Authority: V3 Final Brand Approval Register, then domain-owning RC2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A p.63; Part C pp.22–25, 32. Images show visual texture only. No resin, stock grade, GSM, recycled content, coating or manufacturer is specified.</a:t>
            </a:r>
          </a:p>
          <a:p>
            <a:r>
              <a:t>Authority: V3 Final Brand Approval Register, then domain-owning RC2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A p.63; Part C pp.24–25. Finish directions require process trials. Macro image is illustrative, not a tooling specification or approved logo reproduction.</a:t>
            </a:r>
          </a:p>
          <a:p>
            <a:r>
              <a:t>Authority: V3 Final Brand Approval Register, then domain-owning RC2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A pp.55–58. Touchpoints illustrate identity continuity. They do not expand or validate GEM’s commercial service scope.</a:t>
            </a:r>
          </a:p>
          <a:p>
            <a:r>
              <a:t>Authority: V3 Final Brand Approval Register, then domain-owning RC2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A pp.55–56; Part C pp.23, 44. Welcome-card, sleeve and key-card are unprinted form studies. Final copy, dimensions and property information require approval.</a:t>
            </a:r>
          </a:p>
          <a:p>
            <a:r>
              <a:t>Authority: V3 Final Brand Approval Register, then domain-owning RC2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A pp.55, 57, 62; Part C pp.28, 32, 36. Tray and room arrangement are editorial proposals. Dimensions, cleaning, durability and product compatibility require supplier and operations validation.</a:t>
            </a:r>
          </a:p>
          <a:p>
            <a:r>
              <a:t>Authority: V3 Final Brand Approval Register, then domain-owning RC2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C p.5. All fourteen source steps retained. Corrections at step 11 return to step 5. This is a workflow diagram, not evidence of approvals.</a:t>
            </a:r>
          </a:p>
          <a:p>
            <a:r>
              <a:t>Authority: V3 Final Brand Approval Register, then domain-owning RC2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C pp.75–76; Register AC19, AC20, VAL-01–21. All six release gates are open in the governing RC2 sources. This portfolio does not close them.</a:t>
            </a:r>
          </a:p>
          <a:p>
            <a:r>
              <a:t>Authority: V3 Final Brand Approval Register, then domain-owning RC2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C pp.30, 73–74; Register AC19, AC20. A mockup register is provided with this package; other registers are not part of it. IDs are internal portfolio references, not SKUs or approved master IDs.</a:t>
            </a:r>
          </a:p>
          <a:p>
            <a:r>
              <a:t>Authority: V3 Final Brand Approval Register, then domain-owning RC2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A pp.23–24; Part C pp.75–78. Secondary line appears alone at headline weight. No approval or capability claim is implied.</a:t>
            </a:r>
          </a:p>
          <a:p>
            <a:r>
              <a:t>Authority: V3 Final Brand Approval Register, then domain-owning RC2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GEM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GEM Editor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GEM Produ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GEM Sys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GEM Mater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GEM Regi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GEM 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GEM Concept Portfoli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8.png"/><Relationship Id="rId6" Type="http://schemas.openxmlformats.org/officeDocument/2006/relationships/image" Target="../media/image19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0.png"/><Relationship Id="rId5" Type="http://schemas.openxmlformats.org/officeDocument/2006/relationships/image" Target="../media/image21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9.png"/><Relationship Id="rId6" Type="http://schemas.openxmlformats.org/officeDocument/2006/relationships/image" Target="../media/image20.png"/><Relationship Id="rId7" Type="http://schemas.openxmlformats.org/officeDocument/2006/relationships/image" Target="../media/image21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10.png"/><Relationship Id="rId6" Type="http://schemas.openxmlformats.org/officeDocument/2006/relationships/image" Target="../media/image2.png"/><Relationship Id="rId7" Type="http://schemas.openxmlformats.org/officeDocument/2006/relationships/image" Target="../media/image20.png"/><Relationship Id="rId8" Type="http://schemas.openxmlformats.org/officeDocument/2006/relationships/image" Target="../media/image21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20.png"/><Relationship Id="rId5" Type="http://schemas.openxmlformats.org/officeDocument/2006/relationships/image" Target="../media/image21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18.png"/><Relationship Id="rId5" Type="http://schemas.openxmlformats.org/officeDocument/2006/relationships/image" Target="../media/image1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7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AC76A3DC-D744-17BF-DCC2-B8C6EA9DA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01150" y="3311525"/>
            <a:ext cx="6273800" cy="6273800"/>
          </a:xfrm>
          <a:prstGeom prst="roundRect">
            <a:avLst>
              <a:gd name="adj" fmla="val 25304"/>
            </a:avLst>
          </a:prstGeom>
          <a:noFill/>
          <a:ln w="76200">
            <a:solidFill>
              <a:srgbClr val="BCACA7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4CF72B1F-91F4-5CF2-8E70-ED3FB71017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195050" y="4543425"/>
            <a:ext cx="4064000" cy="4064000"/>
          </a:xfrm>
          <a:prstGeom prst="roundRect">
            <a:avLst>
              <a:gd name="adj" fmla="val 40000"/>
            </a:avLst>
          </a:prstGeom>
          <a:solidFill>
            <a:srgbClr val="BCACA7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13" name="gem-beige" descr="GEM logo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914400" y="838200"/>
            <a:ext cx="2333625" cy="738624"/>
          </a:xfrm>
          <a:prstGeom prst="rect">
            <a:avLst/>
          </a:prstGeom>
        </p:spPr>
      </p:pic>
      <p:sp>
        <p:nvSpPr>
          <p:cNvPr id="2" name="Amenities&#10;&amp; Packaging">
            <a:extLst>
              <a:ext uri="{FF2B5EF4-FFF2-40B4-BE49-F238E27FC236}">
                <a16:creationId xmlns:a16="http://schemas.microsoft.com/office/drawing/2014/main" id="{0BDC6E64-C8E2-484B-823B-F236E7AF2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819400"/>
            <a:ext cx="8286750" cy="1905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ct val="100000"/>
              </a:lnSpc>
              <a:defRPr sz="6150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6150" dirty="0">
                <a:solidFill>
                  <a:srgbClr val="FFFFFF"/>
                </a:solidFill>
                <a:latin typeface="Jost"/>
                <a:ea typeface="Jost"/>
                <a:cs typeface="Jost"/>
              </a:rPr>
              <a:t>Amenities</a:t>
            </a:r>
          </a:p>
          <a:p>
            <a:pPr>
              <a:lnSpc>
                <a:spcPct val="100000"/>
              </a:lnSpc>
              <a:defRPr sz="6150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6150" dirty="0">
                <a:solidFill>
                  <a:srgbClr val="FFFFFF"/>
                </a:solidFill>
                <a:latin typeface="Jost"/>
                <a:ea typeface="Jost"/>
                <a:cs typeface="Jost"/>
              </a:rPr>
              <a:t>&amp; Packaging</a:t>
            </a:r>
          </a:p>
        </p:txBody>
      </p:sp>
      <p:sp>
        <p:nvSpPr>
          <p:cNvPr id="3" name="Concept Product Portfolio">
            <a:extLst>
              <a:ext uri="{FF2B5EF4-FFF2-40B4-BE49-F238E27FC236}">
                <a16:creationId xmlns:a16="http://schemas.microsoft.com/office/drawing/2014/main" id="{16703AB1-C531-4E0D-9DAC-F5C627B5E4F9}"/>
              </a:ext>
            </a:extLst>
          </p:cNvPr>
          <p:cNvSpPr>
            <a:spLocks noGrp="1"/>
          </p:cNvSpPr>
          <p:nvPr/>
        </p:nvSpPr>
        <p:spPr>
          <a:xfrm>
            <a:off x="942975" y="5095875"/>
            <a:ext cx="73342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2325" dirty="0">
                <a:solidFill>
                  <a:srgbClr val="FFFFFF"/>
                </a:solidFill>
                <a:latin typeface="Inter"/>
                <a:ea typeface="Inter"/>
                <a:cs typeface="Inter"/>
              </a:rPr>
              <a:t>Concept Product Portfolio</a:t>
            </a:r>
          </a:p>
        </p:txBody>
      </p:sp>
      <p:sp>
        <p:nvSpPr>
          <p:cNvPr id="4" name="v1.0   /   06 OCTOBER 2026">
            <a:extLst>
              <a:ext uri="{FF2B5EF4-FFF2-40B4-BE49-F238E27FC236}">
                <a16:creationId xmlns:a16="http://schemas.microsoft.com/office/drawing/2014/main" id="{1A456162-4E63-4760-9375-6A4F293FF616}"/>
              </a:ext>
            </a:extLst>
          </p:cNvPr>
          <p:cNvSpPr>
            <a:spLocks noGrp="1"/>
          </p:cNvSpPr>
          <p:nvPr/>
        </p:nvSpPr>
        <p:spPr>
          <a:xfrm>
            <a:off x="942975" y="5772150"/>
            <a:ext cx="71437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350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350">
                <a:solidFill>
                  <a:srgbClr val="BCACA7"/>
                </a:solidFill>
                <a:latin typeface="Inter"/>
                <a:ea typeface="Inter"/>
                <a:cs typeface="Inter"/>
              </a:rPr>
              <a:t>v1.0   /   06 OCTOBER 2026</a:t>
            </a:r>
          </a:p>
        </p:txBody>
      </p:sp>
      <p:pic>
        <p:nvPicPr>
          <p:cNvPr id="17" name="bottle" descr="Concept image: GEM shampoo bottle with a black pump and a dark label showing the GEM wordmark and the product name in English and Arabic.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43" r="22943"/>
          <a:stretch/>
        </p:blipFill>
        <p:spPr>
          <a:xfrm>
            <a:off x="10979150" y="2571955"/>
            <a:ext cx="3419475" cy="6238875"/>
          </a:xfrm>
          <a:prstGeom prst="rect">
            <a:avLst/>
          </a:prstGeom>
        </p:spPr>
      </p:pic>
      <p:sp>
        <p:nvSpPr>
          <p:cNvPr id="11" name="Primary tagline">
            <a:extLst>
              <a:ext uri="{FF2B5EF4-FFF2-40B4-BE49-F238E27FC236}">
                <a16:creationId xmlns:a16="http://schemas.microsoft.com/office/drawing/2014/main" id="{6611CEAB-F1A8-4586-8C78-29C52E91CC7D}"/>
              </a:ext>
            </a:extLst>
          </p:cNvPr>
          <p:cNvSpPr>
            <a:spLocks noGrp="1"/>
          </p:cNvSpPr>
          <p:nvPr/>
        </p:nvSpPr>
        <p:spPr>
          <a:xfrm>
            <a:off x="942975" y="7591425"/>
            <a:ext cx="90487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75" spc="338">
                <a:solidFill>
                  <a:srgbClr val="BCACA7"/>
                </a:solidFill>
                <a:latin typeface="Jost"/>
                <a:ea typeface="Jost"/>
                <a:cs typeface="Jost"/>
              </a:defRPr>
            </a:pPr>
            <a:r>
              <a:rPr sz="1875" spc="338" dirty="0">
                <a:solidFill>
                  <a:srgbClr val="BCACA7"/>
                </a:solidFill>
                <a:latin typeface="Jost"/>
                <a:ea typeface="Jost"/>
                <a:cs typeface="Jost"/>
              </a:rPr>
              <a:t>HOSPITALITY, IN PERFECT PROPORTION</a:t>
            </a:r>
          </a:p>
        </p:txBody>
      </p:sp>
      <p:sp>
        <p:nvSpPr>
          <p:cNvPr id="12" name="CONCEPT / NOT PRODUCTION ARTWORK">
            <a:extLst>
              <a:ext uri="{FF2B5EF4-FFF2-40B4-BE49-F238E27FC236}">
                <a16:creationId xmlns:a16="http://schemas.microsoft.com/office/drawing/2014/main" id="{8EAFA1D7-D37C-4FC7-B478-7348763FED2C}"/>
              </a:ext>
            </a:extLst>
          </p:cNvPr>
          <p:cNvSpPr>
            <a:spLocks noGrp="1"/>
          </p:cNvSpPr>
          <p:nvPr/>
        </p:nvSpPr>
        <p:spPr>
          <a:xfrm>
            <a:off x="942975" y="8172450"/>
            <a:ext cx="10001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BCACA7"/>
                </a:solidFill>
                <a:latin typeface="Inter"/>
                <a:ea typeface="Inter"/>
                <a:cs typeface="Inter"/>
              </a:rPr>
              <a:t>CONCEPT / NOT PRODUCTION ARTWORK</a:t>
            </a:r>
          </a:p>
        </p:txBody>
      </p:sp>
    </p:spTree>
    <p:extLst>
      <p:ext uri="{BB962C8B-B14F-4D97-AF65-F5344CB8AC3E}">
        <p14:creationId xmlns:p14="http://schemas.microsoft.com/office/powerpoint/2010/main" val="1366778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DENTITY">
            <a:extLst>
              <a:ext uri="{FF2B5EF4-FFF2-40B4-BE49-F238E27FC236}">
                <a16:creationId xmlns:a16="http://schemas.microsoft.com/office/drawing/2014/main" id="{92B04B25-D3A7-40EA-A0A7-EA259A7D5C65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IDENTITY</a:t>
            </a:r>
          </a:p>
        </p:txBody>
      </p:sp>
      <p:sp>
        <p:nvSpPr>
          <p:cNvPr id="2" name="02">
            <a:extLst>
              <a:ext uri="{FF2B5EF4-FFF2-40B4-BE49-F238E27FC236}">
                <a16:creationId xmlns:a16="http://schemas.microsoft.com/office/drawing/2014/main" id="{471ABAF3-F989-4011-8D00-2DFC21D8A80F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3" name="One master brand">
            <a:extLst>
              <a:ext uri="{FF2B5EF4-FFF2-40B4-BE49-F238E27FC236}">
                <a16:creationId xmlns:a16="http://schemas.microsoft.com/office/drawing/2014/main" id="{D899F485-88A0-49F9-B423-28C7003D2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ct val="100000"/>
              </a:lnSpc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One master brand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990D308-4E2C-4951-9D3B-790A6E32F6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5755C357-0BCB-45E1-981F-CD89ACCC63FE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1.0   WORKING EDITION">
            <a:extLst>
              <a:ext uri="{FF2B5EF4-FFF2-40B4-BE49-F238E27FC236}">
                <a16:creationId xmlns:a16="http://schemas.microsoft.com/office/drawing/2014/main" id="{4A25F053-1853-4571-9612-9688ADB86DE7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v1.0   WORKING EDITION</a:t>
            </a:r>
          </a:p>
        </p:txBody>
      </p:sp>
      <p:pic>
        <p:nvPicPr>
          <p:cNvPr id="22" name="gem-black" descr="GEM logo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638300" y="2743200"/>
            <a:ext cx="2571750" cy="81399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C9C3D9F-FF9E-4F6D-B32B-4589965B80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2886075" y="3857625"/>
            <a:ext cx="9525" cy="495300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9" name="Amenities &amp; Packaging">
            <a:extLst>
              <a:ext uri="{FF2B5EF4-FFF2-40B4-BE49-F238E27FC236}">
                <a16:creationId xmlns:a16="http://schemas.microsoft.com/office/drawing/2014/main" id="{D77D0BB4-C9EC-4BBD-A5DE-18F692489E3C}"/>
              </a:ext>
            </a:extLst>
          </p:cNvPr>
          <p:cNvSpPr>
            <a:spLocks noGrp="1"/>
          </p:cNvSpPr>
          <p:nvPr/>
        </p:nvSpPr>
        <p:spPr>
          <a:xfrm>
            <a:off x="1047750" y="4562475"/>
            <a:ext cx="4810125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ctr">
              <a:defRPr sz="270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700">
                <a:solidFill>
                  <a:srgbClr val="12171D"/>
                </a:solidFill>
                <a:latin typeface="Jost"/>
                <a:ea typeface="Jost"/>
                <a:cs typeface="Jost"/>
              </a:rPr>
              <a:t>Amenities &amp; Packaging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720C58-61D6-4B0B-9A55-032656BFE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2886075" y="5248275"/>
            <a:ext cx="9525" cy="495300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1" name="Hospitality touchpoints">
            <a:extLst>
              <a:ext uri="{FF2B5EF4-FFF2-40B4-BE49-F238E27FC236}">
                <a16:creationId xmlns:a16="http://schemas.microsoft.com/office/drawing/2014/main" id="{392F5E40-37C5-4171-B002-6229450D7CCB}"/>
              </a:ext>
            </a:extLst>
          </p:cNvPr>
          <p:cNvSpPr>
            <a:spLocks noGrp="1"/>
          </p:cNvSpPr>
          <p:nvPr/>
        </p:nvSpPr>
        <p:spPr>
          <a:xfrm>
            <a:off x="1047750" y="5962650"/>
            <a:ext cx="481012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ctr">
              <a:defRPr sz="210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100">
                <a:solidFill>
                  <a:srgbClr val="12171D"/>
                </a:solidFill>
                <a:latin typeface="Jost"/>
                <a:ea typeface="Jost"/>
                <a:cs typeface="Jost"/>
              </a:rPr>
              <a:t>Hospitality touchpoints</a:t>
            </a:r>
          </a:p>
        </p:txBody>
      </p:sp>
      <p:sp>
        <p:nvSpPr>
          <p:cNvPr id="12" name="One identity across&#10;physical hospitality.">
            <a:extLst>
              <a:ext uri="{FF2B5EF4-FFF2-40B4-BE49-F238E27FC236}">
                <a16:creationId xmlns:a16="http://schemas.microsoft.com/office/drawing/2014/main" id="{75BC0C21-6FDB-427C-8B25-019EF75422E9}"/>
              </a:ext>
            </a:extLst>
          </p:cNvPr>
          <p:cNvSpPr>
            <a:spLocks noGrp="1"/>
          </p:cNvSpPr>
          <p:nvPr/>
        </p:nvSpPr>
        <p:spPr>
          <a:xfrm>
            <a:off x="7334250" y="2647950"/>
            <a:ext cx="657225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6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675">
                <a:solidFill>
                  <a:srgbClr val="12171D"/>
                </a:solidFill>
                <a:latin typeface="Jost"/>
                <a:ea typeface="Jost"/>
                <a:cs typeface="Jost"/>
              </a:rPr>
              <a:t>One identity across</a:t>
            </a:r>
          </a:p>
          <a:p>
            <a:pPr>
              <a:defRPr sz="36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675">
                <a:solidFill>
                  <a:srgbClr val="12171D"/>
                </a:solidFill>
                <a:latin typeface="Jost"/>
                <a:ea typeface="Jost"/>
                <a:cs typeface="Jost"/>
              </a:rPr>
              <a:t>physical hospitality.</a:t>
            </a:r>
          </a:p>
        </p:txBody>
      </p:sp>
      <p:sp>
        <p:nvSpPr>
          <p:cNvPr id="13" name="Amenities &amp; Packaging is the primary descriptive business stream under">
            <a:extLst>
              <a:ext uri="{FF2B5EF4-FFF2-40B4-BE49-F238E27FC236}">
                <a16:creationId xmlns:a16="http://schemas.microsoft.com/office/drawing/2014/main" id="{C67C050A-4A5F-437E-96B7-E82AC35CC10B}"/>
              </a:ext>
            </a:extLst>
          </p:cNvPr>
          <p:cNvSpPr>
            <a:spLocks noGrp="1"/>
          </p:cNvSpPr>
          <p:nvPr/>
        </p:nvSpPr>
        <p:spPr>
          <a:xfrm>
            <a:off x="7381875" y="4400550"/>
            <a:ext cx="6191250" cy="1266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950">
                <a:solidFill>
                  <a:srgbClr val="12171D"/>
                </a:solidFill>
                <a:latin typeface="Inter"/>
                <a:ea typeface="Inter"/>
                <a:cs typeface="Inter"/>
              </a:rPr>
              <a:t>Amenities &amp; Packaging is the primary descriptive business stream under GEM. It inherits the master logo, palette, typography and voice.</a:t>
            </a:r>
          </a:p>
        </p:txBody>
      </p:sp>
      <p:sp>
        <p:nvSpPr>
          <p:cNvPr id="14" name="Commercial scope and capability claims remain CONDITIONAL until VAL-01">
            <a:extLst>
              <a:ext uri="{FF2B5EF4-FFF2-40B4-BE49-F238E27FC236}">
                <a16:creationId xmlns:a16="http://schemas.microsoft.com/office/drawing/2014/main" id="{6F402DA8-5293-44B3-9D1F-22E341F60A6A}"/>
              </a:ext>
            </a:extLst>
          </p:cNvPr>
          <p:cNvSpPr>
            <a:spLocks noGrp="1"/>
          </p:cNvSpPr>
          <p:nvPr/>
        </p:nvSpPr>
        <p:spPr>
          <a:xfrm>
            <a:off x="7381875" y="6010275"/>
            <a:ext cx="61912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725">
                <a:solidFill>
                  <a:srgbClr val="12171D"/>
                </a:solidFill>
                <a:latin typeface="Inter"/>
                <a:ea typeface="Inter"/>
                <a:cs typeface="Inter"/>
              </a:rPr>
              <a:t>Commercial scope and capability claims remain CONDITIONAL until VAL-01 closes.</a:t>
            </a:r>
          </a:p>
        </p:txBody>
      </p:sp>
      <p:sp>
        <p:nvSpPr>
          <p:cNvPr id="15" name="DESCRIPTIVE BUSINESS STREAM   /   CAPABILITIES CONDITIONAL">
            <a:extLst>
              <a:ext uri="{FF2B5EF4-FFF2-40B4-BE49-F238E27FC236}">
                <a16:creationId xmlns:a16="http://schemas.microsoft.com/office/drawing/2014/main" id="{82A027EF-FF95-4997-A430-EA9FC77B77AD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DESCRIPTIVE BUSINESS STREAM   /   CAPABILITIES CONDITIONAL</a:t>
            </a:r>
          </a:p>
        </p:txBody>
      </p:sp>
    </p:spTree>
    <p:extLst>
      <p:ext uri="{BB962C8B-B14F-4D97-AF65-F5344CB8AC3E}">
        <p14:creationId xmlns:p14="http://schemas.microsoft.com/office/powerpoint/2010/main" val="12779223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7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HOSPITALITY PHILOSOPHY">
            <a:extLst>
              <a:ext uri="{FF2B5EF4-FFF2-40B4-BE49-F238E27FC236}">
                <a16:creationId xmlns:a16="http://schemas.microsoft.com/office/drawing/2014/main" id="{BF952A21-3DDD-4CC9-B292-2CAF556E238D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BCACA7"/>
                </a:solidFill>
                <a:latin typeface="Inter"/>
                <a:ea typeface="Inter"/>
                <a:cs typeface="Inter"/>
              </a:rPr>
              <a:t>HOSPITALITY PHILOSOPHY</a:t>
            </a:r>
          </a:p>
        </p:txBody>
      </p:sp>
      <p:sp>
        <p:nvSpPr>
          <p:cNvPr id="2" name="03">
            <a:extLst>
              <a:ext uri="{FF2B5EF4-FFF2-40B4-BE49-F238E27FC236}">
                <a16:creationId xmlns:a16="http://schemas.microsoft.com/office/drawing/2014/main" id="{3A3DAC05-221E-449A-8F6D-D4277DAA3987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BCACA7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B7E8F43-4DAD-40CD-8A5F-199B860E83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4" name="GEM™ — Amenities &amp; Packaging">
            <a:extLst>
              <a:ext uri="{FF2B5EF4-FFF2-40B4-BE49-F238E27FC236}">
                <a16:creationId xmlns:a16="http://schemas.microsoft.com/office/drawing/2014/main" id="{874B9C74-A178-4A48-BE36-F5AD2E5C289B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FFFFFF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5" name="v1.0   WORKING EDITION">
            <a:extLst>
              <a:ext uri="{FF2B5EF4-FFF2-40B4-BE49-F238E27FC236}">
                <a16:creationId xmlns:a16="http://schemas.microsoft.com/office/drawing/2014/main" id="{ED79438E-127E-4176-9F50-A3183E4E7D44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BCACA7"/>
                </a:solidFill>
                <a:latin typeface="Inter"/>
                <a:ea typeface="Inter"/>
                <a:cs typeface="Inter"/>
              </a:rPr>
              <a:t>v1.0   WORKING EDITION</a:t>
            </a:r>
          </a:p>
        </p:txBody>
      </p:sp>
      <p:sp>
        <p:nvSpPr>
          <p:cNvPr id="6" name="Every arrival&#10;begins with&#10;an object.">
            <a:extLst>
              <a:ext uri="{FF2B5EF4-FFF2-40B4-BE49-F238E27FC236}">
                <a16:creationId xmlns:a16="http://schemas.microsoft.com/office/drawing/2014/main" id="{1DF0E9E3-84BF-40E3-B597-8601FD087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657350"/>
            <a:ext cx="8477250" cy="3143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ct val="100000"/>
              </a:lnSpc>
              <a:defRPr sz="622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6225">
                <a:solidFill>
                  <a:srgbClr val="FFFFFF"/>
                </a:solidFill>
                <a:latin typeface="Jost"/>
                <a:ea typeface="Jost"/>
                <a:cs typeface="Jost"/>
              </a:rPr>
              <a:t>Every arrival</a:t>
            </a:r>
          </a:p>
          <a:p>
            <a:pPr>
              <a:lnSpc>
                <a:spcPct val="100000"/>
              </a:lnSpc>
              <a:defRPr sz="622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6225">
                <a:solidFill>
                  <a:srgbClr val="FFFFFF"/>
                </a:solidFill>
                <a:latin typeface="Jost"/>
                <a:ea typeface="Jost"/>
                <a:cs typeface="Jost"/>
              </a:rPr>
              <a:t>begins with</a:t>
            </a:r>
          </a:p>
          <a:p>
            <a:pPr>
              <a:lnSpc>
                <a:spcPct val="100000"/>
              </a:lnSpc>
              <a:defRPr sz="622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6225">
                <a:solidFill>
                  <a:srgbClr val="FFFFFF"/>
                </a:solidFill>
                <a:latin typeface="Jost"/>
                <a:ea typeface="Jost"/>
                <a:cs typeface="Jost"/>
              </a:rPr>
              <a:t>an object.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97297F-2C3E-41C2-BD09-102B7C40E7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14400" y="5972175"/>
            <a:ext cx="285750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9" name="Precision">
            <a:extLst>
              <a:ext uri="{FF2B5EF4-FFF2-40B4-BE49-F238E27FC236}">
                <a16:creationId xmlns:a16="http://schemas.microsoft.com/office/drawing/2014/main" id="{654E86A6-5D47-4A34-91AC-D5AD4DB4C6B3}"/>
              </a:ext>
            </a:extLst>
          </p:cNvPr>
          <p:cNvSpPr>
            <a:spLocks noGrp="1"/>
          </p:cNvSpPr>
          <p:nvPr/>
        </p:nvSpPr>
        <p:spPr>
          <a:xfrm>
            <a:off x="914400" y="6191250"/>
            <a:ext cx="2952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7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2475">
                <a:solidFill>
                  <a:srgbClr val="FFFFFF"/>
                </a:solidFill>
                <a:latin typeface="Jost"/>
                <a:ea typeface="Jost"/>
                <a:cs typeface="Jost"/>
              </a:rPr>
              <a:t>Precision</a:t>
            </a:r>
          </a:p>
        </p:txBody>
      </p:sp>
      <p:sp>
        <p:nvSpPr>
          <p:cNvPr id="10" name="A verified detail.">
            <a:extLst>
              <a:ext uri="{FF2B5EF4-FFF2-40B4-BE49-F238E27FC236}">
                <a16:creationId xmlns:a16="http://schemas.microsoft.com/office/drawing/2014/main" id="{9BBFD301-0932-4684-9E05-69F79BE08A00}"/>
              </a:ext>
            </a:extLst>
          </p:cNvPr>
          <p:cNvSpPr>
            <a:spLocks noGrp="1"/>
          </p:cNvSpPr>
          <p:nvPr/>
        </p:nvSpPr>
        <p:spPr>
          <a:xfrm>
            <a:off x="914400" y="6772275"/>
            <a:ext cx="2857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FFFFFF"/>
                </a:solidFill>
                <a:latin typeface="Inter"/>
                <a:ea typeface="Inter"/>
                <a:cs typeface="Inter"/>
              </a:rPr>
              <a:t>A verified detail.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6F8973E-8CE8-42C1-9FBC-571626B4D4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314825" y="5972175"/>
            <a:ext cx="285750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2" name="Restraint">
            <a:extLst>
              <a:ext uri="{FF2B5EF4-FFF2-40B4-BE49-F238E27FC236}">
                <a16:creationId xmlns:a16="http://schemas.microsoft.com/office/drawing/2014/main" id="{698E9532-8B09-4351-994B-5D79052211A2}"/>
              </a:ext>
            </a:extLst>
          </p:cNvPr>
          <p:cNvSpPr>
            <a:spLocks noGrp="1"/>
          </p:cNvSpPr>
          <p:nvPr/>
        </p:nvSpPr>
        <p:spPr>
          <a:xfrm>
            <a:off x="4314825" y="6191250"/>
            <a:ext cx="2952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7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2475">
                <a:solidFill>
                  <a:srgbClr val="FFFFFF"/>
                </a:solidFill>
                <a:latin typeface="Jost"/>
                <a:ea typeface="Jost"/>
                <a:cs typeface="Jost"/>
              </a:rPr>
              <a:t>Restraint</a:t>
            </a:r>
          </a:p>
        </p:txBody>
      </p:sp>
      <p:sp>
        <p:nvSpPr>
          <p:cNvPr id="13" name="Nothing without purpose.">
            <a:extLst>
              <a:ext uri="{FF2B5EF4-FFF2-40B4-BE49-F238E27FC236}">
                <a16:creationId xmlns:a16="http://schemas.microsoft.com/office/drawing/2014/main" id="{9A00C5C2-32E8-492C-BC2F-32C8D42D3373}"/>
              </a:ext>
            </a:extLst>
          </p:cNvPr>
          <p:cNvSpPr>
            <a:spLocks noGrp="1"/>
          </p:cNvSpPr>
          <p:nvPr/>
        </p:nvSpPr>
        <p:spPr>
          <a:xfrm>
            <a:off x="4314825" y="6772275"/>
            <a:ext cx="2857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FFFFFF"/>
                </a:solidFill>
                <a:latin typeface="Inter"/>
                <a:ea typeface="Inter"/>
                <a:cs typeface="Inter"/>
              </a:rPr>
              <a:t>Nothing without purpose.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621533-FA39-4F83-BF4F-D4958A4A3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715250" y="5972175"/>
            <a:ext cx="285750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5" name="Geometry">
            <a:extLst>
              <a:ext uri="{FF2B5EF4-FFF2-40B4-BE49-F238E27FC236}">
                <a16:creationId xmlns:a16="http://schemas.microsoft.com/office/drawing/2014/main" id="{C8F184D9-8EDB-462B-9B04-679830D1A470}"/>
              </a:ext>
            </a:extLst>
          </p:cNvPr>
          <p:cNvSpPr>
            <a:spLocks noGrp="1"/>
          </p:cNvSpPr>
          <p:nvPr/>
        </p:nvSpPr>
        <p:spPr>
          <a:xfrm>
            <a:off x="7715250" y="6191250"/>
            <a:ext cx="2952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7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2475">
                <a:solidFill>
                  <a:srgbClr val="FFFFFF"/>
                </a:solidFill>
                <a:latin typeface="Jost"/>
                <a:ea typeface="Jost"/>
                <a:cs typeface="Jost"/>
              </a:rPr>
              <a:t>Geometry</a:t>
            </a:r>
          </a:p>
        </p:txBody>
      </p:sp>
      <p:sp>
        <p:nvSpPr>
          <p:cNvPr id="16" name="A shared visual language.">
            <a:extLst>
              <a:ext uri="{FF2B5EF4-FFF2-40B4-BE49-F238E27FC236}">
                <a16:creationId xmlns:a16="http://schemas.microsoft.com/office/drawing/2014/main" id="{CCAF8BAA-F47D-46E3-80C6-D03EA25B91FF}"/>
              </a:ext>
            </a:extLst>
          </p:cNvPr>
          <p:cNvSpPr>
            <a:spLocks noGrp="1"/>
          </p:cNvSpPr>
          <p:nvPr/>
        </p:nvSpPr>
        <p:spPr>
          <a:xfrm>
            <a:off x="7715250" y="6772275"/>
            <a:ext cx="2857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FFFFFF"/>
                </a:solidFill>
                <a:latin typeface="Inter"/>
                <a:ea typeface="Inter"/>
                <a:cs typeface="Inter"/>
              </a:rPr>
              <a:t>A shared visual language.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171E898-F2CC-4BD7-AD79-018F3050A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1115675" y="5972175"/>
            <a:ext cx="285750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8" name="Space">
            <a:extLst>
              <a:ext uri="{FF2B5EF4-FFF2-40B4-BE49-F238E27FC236}">
                <a16:creationId xmlns:a16="http://schemas.microsoft.com/office/drawing/2014/main" id="{BC918DDF-DA46-4AD3-836C-4C9B2F329D7A}"/>
              </a:ext>
            </a:extLst>
          </p:cNvPr>
          <p:cNvSpPr>
            <a:spLocks noGrp="1"/>
          </p:cNvSpPr>
          <p:nvPr/>
        </p:nvSpPr>
        <p:spPr>
          <a:xfrm>
            <a:off x="11115675" y="6191250"/>
            <a:ext cx="2952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7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2475">
                <a:solidFill>
                  <a:srgbClr val="FFFFFF"/>
                </a:solidFill>
                <a:latin typeface="Jost"/>
                <a:ea typeface="Jost"/>
                <a:cs typeface="Jost"/>
              </a:rPr>
              <a:t>Space</a:t>
            </a:r>
          </a:p>
        </p:txBody>
      </p:sp>
      <p:sp>
        <p:nvSpPr>
          <p:cNvPr id="19" name="Room to notice.">
            <a:extLst>
              <a:ext uri="{FF2B5EF4-FFF2-40B4-BE49-F238E27FC236}">
                <a16:creationId xmlns:a16="http://schemas.microsoft.com/office/drawing/2014/main" id="{9CFFD8E2-6E2E-4D66-916A-1E88818CA12E}"/>
              </a:ext>
            </a:extLst>
          </p:cNvPr>
          <p:cNvSpPr>
            <a:spLocks noGrp="1"/>
          </p:cNvSpPr>
          <p:nvPr/>
        </p:nvSpPr>
        <p:spPr>
          <a:xfrm>
            <a:off x="11115675" y="6772275"/>
            <a:ext cx="2857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FFFFFF"/>
                </a:solidFill>
                <a:latin typeface="Inter"/>
                <a:ea typeface="Inter"/>
                <a:cs typeface="Inter"/>
              </a:rPr>
              <a:t>Room to notice.</a:t>
            </a:r>
          </a:p>
        </p:txBody>
      </p:sp>
      <p:sp>
        <p:nvSpPr>
          <p:cNvPr id="20" name="CONCEPT / NOT PRODUCTION PHOTOGRAPHY">
            <a:extLst>
              <a:ext uri="{FF2B5EF4-FFF2-40B4-BE49-F238E27FC236}">
                <a16:creationId xmlns:a16="http://schemas.microsoft.com/office/drawing/2014/main" id="{88B070E2-306E-480F-930A-1F00089C082D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BCACA7"/>
                </a:solidFill>
                <a:latin typeface="Inter"/>
                <a:ea typeface="Inter"/>
                <a:cs typeface="Inter"/>
              </a:rPr>
              <a:t>CONCEPT / NOT PRODUCTION PHOTOGRAPHY</a:t>
            </a:r>
          </a:p>
        </p:txBody>
      </p:sp>
      <p:pic>
        <p:nvPicPr>
          <p:cNvPr id="23" name="Picture 22" descr="Concept image: four GEM amenity bottles (shampoo, conditioner, body wash, body lotion) on a stone bathroom counter beside a folded towel, a plant and a soap dish.">
            <a:extLst>
              <a:ext uri="{FF2B5EF4-FFF2-40B4-BE49-F238E27FC236}">
                <a16:creationId xmlns:a16="http://schemas.microsoft.com/office/drawing/2014/main" id="{D1F76B2E-9053-D511-8EB1-DBF088CCBE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2325" y="1657350"/>
            <a:ext cx="6896100" cy="3876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648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LOT COLLECTION">
            <a:extLst>
              <a:ext uri="{FF2B5EF4-FFF2-40B4-BE49-F238E27FC236}">
                <a16:creationId xmlns:a16="http://schemas.microsoft.com/office/drawing/2014/main" id="{08C01EB7-7768-461A-82D1-44031EFF827C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PILOT COLLECTION</a:t>
            </a:r>
          </a:p>
        </p:txBody>
      </p:sp>
      <p:sp>
        <p:nvSpPr>
          <p:cNvPr id="2" name="04">
            <a:extLst>
              <a:ext uri="{FF2B5EF4-FFF2-40B4-BE49-F238E27FC236}">
                <a16:creationId xmlns:a16="http://schemas.microsoft.com/office/drawing/2014/main" id="{3EC1A854-B7E2-411C-923A-2F2A0FD30E02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04</a:t>
            </a:r>
          </a:p>
        </p:txBody>
      </p:sp>
      <p:sp>
        <p:nvSpPr>
          <p:cNvPr id="3" name="One system. Many touchpoints.">
            <a:extLst>
              <a:ext uri="{FF2B5EF4-FFF2-40B4-BE49-F238E27FC236}">
                <a16:creationId xmlns:a16="http://schemas.microsoft.com/office/drawing/2014/main" id="{186AB745-6FEE-448E-BD72-E1A23AE9E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ct val="100000"/>
              </a:lnSpc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One system. Many touchpoints.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5ED04A-3930-4337-8164-99698C1185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D35C3448-2215-45FD-8622-7B8236871B6F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1.0   WORKING EDITION">
            <a:extLst>
              <a:ext uri="{FF2B5EF4-FFF2-40B4-BE49-F238E27FC236}">
                <a16:creationId xmlns:a16="http://schemas.microsoft.com/office/drawing/2014/main" id="{8F0CF349-0CB3-4824-BABA-6D3C73A15ABE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v1.0   WORKING EDITION</a:t>
            </a:r>
          </a:p>
        </p:txBody>
      </p:sp>
      <p:pic>
        <p:nvPicPr>
          <p:cNvPr id="39" name="bottle" descr="Concept image: GEM shampoo bottle, dark label.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51" r="19296"/>
          <a:stretch>
            <a:fillRect/>
          </a:stretch>
        </p:blipFill>
        <p:spPr>
          <a:xfrm>
            <a:off x="1039145" y="2476500"/>
            <a:ext cx="2667052" cy="4429125"/>
          </a:xfrm>
          <a:prstGeom prst="rect">
            <a:avLst/>
          </a:prstGeom>
        </p:spPr>
      </p:pic>
      <p:pic>
        <p:nvPicPr>
          <p:cNvPr id="44" name="bottle" descr="Concept image: GEM conditioner bottle, dark label.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70" r="9153"/>
          <a:stretch>
            <a:fillRect/>
          </a:stretch>
        </p:blipFill>
        <p:spPr>
          <a:xfrm>
            <a:off x="3989987" y="2476500"/>
            <a:ext cx="2154803" cy="4429125"/>
          </a:xfrm>
          <a:prstGeom prst="rect">
            <a:avLst/>
          </a:prstGeom>
        </p:spPr>
      </p:pic>
      <p:pic>
        <p:nvPicPr>
          <p:cNvPr id="49" name="bottle" descr="Concept image: GEM body wash bottle, dark label.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15" r="9496"/>
          <a:stretch>
            <a:fillRect/>
          </a:stretch>
        </p:blipFill>
        <p:spPr>
          <a:xfrm>
            <a:off x="6589385" y="2476500"/>
            <a:ext cx="2155164" cy="4429125"/>
          </a:xfrm>
          <a:prstGeom prst="rect">
            <a:avLst/>
          </a:prstGeom>
        </p:spPr>
      </p:pic>
      <p:pic>
        <p:nvPicPr>
          <p:cNvPr id="54" name="bottle" descr="Concept image: GEM body lotion bottle, cream label.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07" r="9252"/>
          <a:stretch>
            <a:fillRect/>
          </a:stretch>
        </p:blipFill>
        <p:spPr>
          <a:xfrm>
            <a:off x="9255103" y="2476500"/>
            <a:ext cx="2106504" cy="4429125"/>
          </a:xfrm>
          <a:prstGeom prst="rect">
            <a:avLst/>
          </a:prstGeom>
        </p:spPr>
      </p:pic>
      <p:pic>
        <p:nvPicPr>
          <p:cNvPr id="59" name="bottle" descr="Concept image: GEM hand wash bottle, cream label.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20" r="13694"/>
          <a:stretch>
            <a:fillRect/>
          </a:stretch>
        </p:blipFill>
        <p:spPr>
          <a:xfrm>
            <a:off x="11942087" y="2476500"/>
            <a:ext cx="1898170" cy="4429125"/>
          </a:xfrm>
          <a:prstGeom prst="rect">
            <a:avLst/>
          </a:prstGeom>
        </p:spPr>
      </p:pic>
      <p:sp>
        <p:nvSpPr>
          <p:cNvPr id="32" name="PILOT COLLECTION   /   CONCEPT / NOT PRODUCTION ARTWORK">
            <a:extLst>
              <a:ext uri="{FF2B5EF4-FFF2-40B4-BE49-F238E27FC236}">
                <a16:creationId xmlns:a16="http://schemas.microsoft.com/office/drawing/2014/main" id="{E24B303C-A03F-4BD5-B104-41287C8A2508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PILOT COLLECTION   /   CONCEPT / NOT PRODUCTION ARTWORK</a:t>
            </a:r>
          </a:p>
        </p:txBody>
      </p:sp>
    </p:spTree>
    <p:extLst>
      <p:ext uri="{BB962C8B-B14F-4D97-AF65-F5344CB8AC3E}">
        <p14:creationId xmlns:p14="http://schemas.microsoft.com/office/powerpoint/2010/main" val="18884604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ILOT COLLECTION">
            <a:extLst>
              <a:ext uri="{FF2B5EF4-FFF2-40B4-BE49-F238E27FC236}">
                <a16:creationId xmlns:a16="http://schemas.microsoft.com/office/drawing/2014/main" id="{EF6C7A3B-D0B7-48F3-BE33-D832CD927872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PILOT COLLECTION</a:t>
            </a:r>
          </a:p>
        </p:txBody>
      </p:sp>
      <p:sp>
        <p:nvSpPr>
          <p:cNvPr id="2" name="05">
            <a:extLst>
              <a:ext uri="{FF2B5EF4-FFF2-40B4-BE49-F238E27FC236}">
                <a16:creationId xmlns:a16="http://schemas.microsoft.com/office/drawing/2014/main" id="{EAE617DB-E2F1-420A-9EF0-64747B9CA68F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05</a:t>
            </a:r>
          </a:p>
        </p:txBody>
      </p:sp>
      <p:sp>
        <p:nvSpPr>
          <p:cNvPr id="3" name="Shampoo">
            <a:extLst>
              <a:ext uri="{FF2B5EF4-FFF2-40B4-BE49-F238E27FC236}">
                <a16:creationId xmlns:a16="http://schemas.microsoft.com/office/drawing/2014/main" id="{A13C6DC0-07B8-4234-A75B-C7C0D81BC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ct val="100000"/>
              </a:lnSpc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Shampoo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1C543B-BC00-49C5-84CF-40510CF44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8841391B-77CB-431D-9B1E-C40C029BF9AB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1.0   WORKING EDITION">
            <a:extLst>
              <a:ext uri="{FF2B5EF4-FFF2-40B4-BE49-F238E27FC236}">
                <a16:creationId xmlns:a16="http://schemas.microsoft.com/office/drawing/2014/main" id="{9E67B70E-F2FB-463B-B1C9-884D97C56482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v1.0   WORKING EDITION</a:t>
            </a:r>
          </a:p>
        </p:txBody>
      </p:sp>
      <p:pic>
        <p:nvPicPr>
          <p:cNvPr id="34" name="bottle" descr="Concept image: GEM shampoo bottle, dark label.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35" r="23512"/>
          <a:stretch>
            <a:fillRect/>
          </a:stretch>
        </p:blipFill>
        <p:spPr>
          <a:xfrm>
            <a:off x="1694669" y="2099981"/>
            <a:ext cx="2827153" cy="4997678"/>
          </a:xfrm>
          <a:prstGeom prst="rect">
            <a:avLst/>
          </a:prstGeom>
        </p:spPr>
      </p:pic>
      <p:sp>
        <p:nvSpPr>
          <p:cNvPr id="16" name="Shared cap and shoulder">
            <a:extLst>
              <a:ext uri="{FF2B5EF4-FFF2-40B4-BE49-F238E27FC236}">
                <a16:creationId xmlns:a16="http://schemas.microsoft.com/office/drawing/2014/main" id="{78BFF027-13DD-4F92-946B-95FC45D9A42F}"/>
              </a:ext>
            </a:extLst>
          </p:cNvPr>
          <p:cNvSpPr>
            <a:spLocks noGrp="1"/>
          </p:cNvSpPr>
          <p:nvPr/>
        </p:nvSpPr>
        <p:spPr>
          <a:xfrm>
            <a:off x="8743950" y="2590800"/>
            <a:ext cx="5143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1725">
                <a:solidFill>
                  <a:srgbClr val="12171D"/>
                </a:solidFill>
                <a:latin typeface="Jost"/>
                <a:ea typeface="Jost"/>
                <a:cs typeface="Jost"/>
              </a:rPr>
              <a:t>Shared cap and shoulder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CE288AD-3B2B-41C2-8B8B-C27F8EF8B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6505575" y="3829050"/>
            <a:ext cx="76200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pic>
        <p:nvPicPr>
          <p:cNvPr id="45" name="gem-black" descr="GEM logo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6657975" y="4181475"/>
            <a:ext cx="1037273" cy="328311"/>
          </a:xfrm>
          <a:prstGeom prst="rect">
            <a:avLst/>
          </a:prstGeom>
        </p:spPr>
      </p:pic>
      <p:sp>
        <p:nvSpPr>
          <p:cNvPr id="19" name="[COLLECTION / TIER PENDING]">
            <a:extLst>
              <a:ext uri="{FF2B5EF4-FFF2-40B4-BE49-F238E27FC236}">
                <a16:creationId xmlns:a16="http://schemas.microsoft.com/office/drawing/2014/main" id="{08EC33EB-9A73-4B06-B5B6-67AE4B5D3D1D}"/>
              </a:ext>
            </a:extLst>
          </p:cNvPr>
          <p:cNvSpPr>
            <a:spLocks noGrp="1"/>
          </p:cNvSpPr>
          <p:nvPr/>
        </p:nvSpPr>
        <p:spPr>
          <a:xfrm>
            <a:off x="6657975" y="4665536"/>
            <a:ext cx="4257675" cy="15087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743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743">
                <a:solidFill>
                  <a:srgbClr val="12171D"/>
                </a:solidFill>
                <a:latin typeface="Inter"/>
                <a:ea typeface="Inter"/>
                <a:cs typeface="Inter"/>
              </a:rPr>
              <a:t>[COLLECTION / TIER PENDING]</a:t>
            </a:r>
          </a:p>
        </p:txBody>
      </p:sp>
      <p:sp>
        <p:nvSpPr>
          <p:cNvPr id="20" name="Shampoo">
            <a:extLst>
              <a:ext uri="{FF2B5EF4-FFF2-40B4-BE49-F238E27FC236}">
                <a16:creationId xmlns:a16="http://schemas.microsoft.com/office/drawing/2014/main" id="{65DBE15E-FF08-4AD9-865A-06E060480FD1}"/>
              </a:ext>
            </a:extLst>
          </p:cNvPr>
          <p:cNvSpPr>
            <a:spLocks noGrp="1"/>
          </p:cNvSpPr>
          <p:nvPr/>
        </p:nvSpPr>
        <p:spPr>
          <a:xfrm>
            <a:off x="6657975" y="4898136"/>
            <a:ext cx="4257675" cy="28917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84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1584">
                <a:solidFill>
                  <a:srgbClr val="12171D"/>
                </a:solidFill>
                <a:latin typeface="Jost"/>
                <a:ea typeface="Jost"/>
                <a:cs typeface="Jost"/>
              </a:rPr>
              <a:t>Shampoo</a:t>
            </a:r>
          </a:p>
        </p:txBody>
      </p:sp>
      <p:sp>
        <p:nvSpPr>
          <p:cNvPr id="21" name="[FUNCTION PENDING]">
            <a:extLst>
              <a:ext uri="{FF2B5EF4-FFF2-40B4-BE49-F238E27FC236}">
                <a16:creationId xmlns:a16="http://schemas.microsoft.com/office/drawing/2014/main" id="{4FCB2964-E91C-499A-BDDB-69A28041D44C}"/>
              </a:ext>
            </a:extLst>
          </p:cNvPr>
          <p:cNvSpPr>
            <a:spLocks noGrp="1"/>
          </p:cNvSpPr>
          <p:nvPr/>
        </p:nvSpPr>
        <p:spPr>
          <a:xfrm>
            <a:off x="6657975" y="5187315"/>
            <a:ext cx="4257675" cy="15087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743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743">
                <a:solidFill>
                  <a:srgbClr val="12171D"/>
                </a:solidFill>
                <a:latin typeface="Inter"/>
                <a:ea typeface="Inter"/>
                <a:cs typeface="Inter"/>
              </a:rPr>
              <a:t>[FUNCTION PENDING]</a:t>
            </a:r>
          </a:p>
        </p:txBody>
      </p:sp>
      <p:sp>
        <p:nvSpPr>
          <p:cNvPr id="22" name="[QUANTITY / SIZE PENDING]">
            <a:extLst>
              <a:ext uri="{FF2B5EF4-FFF2-40B4-BE49-F238E27FC236}">
                <a16:creationId xmlns:a16="http://schemas.microsoft.com/office/drawing/2014/main" id="{BB2D3EA9-9FF3-4893-9538-EBA3F49F0809}"/>
              </a:ext>
            </a:extLst>
          </p:cNvPr>
          <p:cNvSpPr>
            <a:spLocks noGrp="1"/>
          </p:cNvSpPr>
          <p:nvPr/>
        </p:nvSpPr>
        <p:spPr>
          <a:xfrm>
            <a:off x="6657975" y="5419916"/>
            <a:ext cx="4257675" cy="15087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743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743">
                <a:solidFill>
                  <a:srgbClr val="12171D"/>
                </a:solidFill>
                <a:latin typeface="Inter"/>
                <a:ea typeface="Inter"/>
                <a:cs typeface="Inter"/>
              </a:rPr>
              <a:t>[QUANTITY / SIZE PENDING]</a:t>
            </a:r>
          </a:p>
        </p:txBody>
      </p:sp>
      <p:sp>
        <p:nvSpPr>
          <p:cNvPr id="23" name="[INSTRUCTIONS / MARKET INFORMATION PENDING]">
            <a:extLst>
              <a:ext uri="{FF2B5EF4-FFF2-40B4-BE49-F238E27FC236}">
                <a16:creationId xmlns:a16="http://schemas.microsoft.com/office/drawing/2014/main" id="{D989117A-0A91-48F9-B866-5B81648C96C3}"/>
              </a:ext>
            </a:extLst>
          </p:cNvPr>
          <p:cNvSpPr>
            <a:spLocks noGrp="1"/>
          </p:cNvSpPr>
          <p:nvPr/>
        </p:nvSpPr>
        <p:spPr>
          <a:xfrm>
            <a:off x="6657975" y="5652516"/>
            <a:ext cx="4257675" cy="28289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693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693">
                <a:solidFill>
                  <a:srgbClr val="12171D"/>
                </a:solidFill>
                <a:latin typeface="Inter"/>
                <a:ea typeface="Inter"/>
                <a:cs typeface="Inter"/>
              </a:rPr>
              <a:t>[INSTRUCTIONS / MARKET INFORMATION PENDING]</a:t>
            </a:r>
          </a:p>
        </p:txBody>
      </p:sp>
      <p:sp>
        <p:nvSpPr>
          <p:cNvPr id="24" name="[SKU / ARTWORK VERSION PENDING]">
            <a:extLst>
              <a:ext uri="{FF2B5EF4-FFF2-40B4-BE49-F238E27FC236}">
                <a16:creationId xmlns:a16="http://schemas.microsoft.com/office/drawing/2014/main" id="{CA5C50CF-42EB-4ABE-BEB0-60E75BE6A60F}"/>
              </a:ext>
            </a:extLst>
          </p:cNvPr>
          <p:cNvSpPr>
            <a:spLocks noGrp="1"/>
          </p:cNvSpPr>
          <p:nvPr/>
        </p:nvSpPr>
        <p:spPr>
          <a:xfrm>
            <a:off x="6657975" y="6029706"/>
            <a:ext cx="4257675" cy="18859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693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693">
                <a:solidFill>
                  <a:srgbClr val="12171D"/>
                </a:solidFill>
                <a:latin typeface="Inter"/>
                <a:ea typeface="Inter"/>
                <a:cs typeface="Inter"/>
              </a:rPr>
              <a:t>[SKU / ARTWORK VERSION PENDING]</a:t>
            </a:r>
          </a:p>
        </p:txBody>
      </p:sp>
      <p:pic>
        <p:nvPicPr>
          <p:cNvPr id="52" name="bath" descr="Concept image: GEM shampoo bottle on a sunlit stone ledge beside a folded white towel.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41881" y="4286250"/>
            <a:ext cx="2986087" cy="1990725"/>
          </a:xfrm>
          <a:prstGeom prst="rect">
            <a:avLst/>
          </a:prstGeom>
        </p:spPr>
      </p:pic>
      <p:sp>
        <p:nvSpPr>
          <p:cNvPr id="26" name="The first object establishes the proportions of the family.">
            <a:extLst>
              <a:ext uri="{FF2B5EF4-FFF2-40B4-BE49-F238E27FC236}">
                <a16:creationId xmlns:a16="http://schemas.microsoft.com/office/drawing/2014/main" id="{D6838077-AE22-45CB-A17B-A1990AC66D98}"/>
              </a:ext>
            </a:extLst>
          </p:cNvPr>
          <p:cNvSpPr>
            <a:spLocks noGrp="1"/>
          </p:cNvSpPr>
          <p:nvPr/>
        </p:nvSpPr>
        <p:spPr>
          <a:xfrm>
            <a:off x="11229975" y="6610350"/>
            <a:ext cx="2952750" cy="771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3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350">
                <a:solidFill>
                  <a:srgbClr val="12171D"/>
                </a:solidFill>
                <a:latin typeface="Inter"/>
                <a:ea typeface="Inter"/>
                <a:cs typeface="Inter"/>
              </a:rPr>
              <a:t>The first object establishes the proportions of the family.</a:t>
            </a:r>
          </a:p>
        </p:txBody>
      </p:sp>
      <p:sp>
        <p:nvSpPr>
          <p:cNvPr id="27" name="CONCEPT / NOT PRODUCTION ARTWORK   /   PRODUCT DATA PENDING">
            <a:extLst>
              <a:ext uri="{FF2B5EF4-FFF2-40B4-BE49-F238E27FC236}">
                <a16:creationId xmlns:a16="http://schemas.microsoft.com/office/drawing/2014/main" id="{12B5FEC7-C0C4-4D26-94E8-E3C7F1DC577D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CONCEPT / NOT PRODUCTION ARTWORK   /   PRODUCT DATA PENDING</a:t>
            </a:r>
          </a:p>
        </p:txBody>
      </p:sp>
      <p:pic>
        <p:nvPicPr>
          <p:cNvPr id="7" name="bottle" descr="Close-up of the shared pump cap and bottle shoulder.">
            <a:extLst>
              <a:ext uri="{FF2B5EF4-FFF2-40B4-BE49-F238E27FC236}">
                <a16:creationId xmlns:a16="http://schemas.microsoft.com/office/drawing/2014/main" id="{2F2BD3D5-5F7A-6976-BCBD-856A4B2224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40" r="36040" b="65085"/>
          <a:stretch>
            <a:fillRect/>
          </a:stretch>
        </p:blipFill>
        <p:spPr>
          <a:xfrm>
            <a:off x="6524676" y="1912327"/>
            <a:ext cx="1476047" cy="1822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7197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ILOT COLLECTION">
            <a:extLst>
              <a:ext uri="{FF2B5EF4-FFF2-40B4-BE49-F238E27FC236}">
                <a16:creationId xmlns:a16="http://schemas.microsoft.com/office/drawing/2014/main" id="{BCC7A90F-D9F0-4162-AD9C-773D5960D583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PILOT COLLECTION</a:t>
            </a:r>
          </a:p>
        </p:txBody>
      </p:sp>
      <p:sp>
        <p:nvSpPr>
          <p:cNvPr id="2" name="06">
            <a:extLst>
              <a:ext uri="{FF2B5EF4-FFF2-40B4-BE49-F238E27FC236}">
                <a16:creationId xmlns:a16="http://schemas.microsoft.com/office/drawing/2014/main" id="{3DC414C3-D8BD-4E8C-AF01-9CC1E5FA9997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06</a:t>
            </a:r>
          </a:p>
        </p:txBody>
      </p:sp>
      <p:sp>
        <p:nvSpPr>
          <p:cNvPr id="3" name="Conditioner">
            <a:extLst>
              <a:ext uri="{FF2B5EF4-FFF2-40B4-BE49-F238E27FC236}">
                <a16:creationId xmlns:a16="http://schemas.microsoft.com/office/drawing/2014/main" id="{FC03C974-CB6C-412E-A5B9-294E148FD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ct val="100000"/>
              </a:lnSpc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Conditioner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675732-AB07-4858-A6B2-460ACF60E8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98497842-3440-443E-AA2C-F34BB9BB0C91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1.0   WORKING EDITION">
            <a:extLst>
              <a:ext uri="{FF2B5EF4-FFF2-40B4-BE49-F238E27FC236}">
                <a16:creationId xmlns:a16="http://schemas.microsoft.com/office/drawing/2014/main" id="{7F99EC3E-2CCD-4C65-9C98-3B47FF019562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v1.0   WORKING EDITION</a:t>
            </a:r>
          </a:p>
        </p:txBody>
      </p:sp>
      <p:pic>
        <p:nvPicPr>
          <p:cNvPr id="34" name="bottle" descr="Concept image: GEM conditioner bottle, dark label.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10" r="13726"/>
          <a:stretch>
            <a:fillRect/>
          </a:stretch>
        </p:blipFill>
        <p:spPr>
          <a:xfrm>
            <a:off x="1931049" y="2152650"/>
            <a:ext cx="2295640" cy="4725923"/>
          </a:xfrm>
          <a:prstGeom prst="rect">
            <a:avLst/>
          </a:prstGeom>
        </p:spPr>
      </p:pic>
      <p:sp>
        <p:nvSpPr>
          <p:cNvPr id="16" name="Shared cap and shoulder">
            <a:extLst>
              <a:ext uri="{FF2B5EF4-FFF2-40B4-BE49-F238E27FC236}">
                <a16:creationId xmlns:a16="http://schemas.microsoft.com/office/drawing/2014/main" id="{E7311258-2637-4D2D-9F05-1A4AE0118D47}"/>
              </a:ext>
            </a:extLst>
          </p:cNvPr>
          <p:cNvSpPr>
            <a:spLocks noGrp="1"/>
          </p:cNvSpPr>
          <p:nvPr/>
        </p:nvSpPr>
        <p:spPr>
          <a:xfrm>
            <a:off x="8743950" y="2590800"/>
            <a:ext cx="5143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1725">
                <a:solidFill>
                  <a:srgbClr val="12171D"/>
                </a:solidFill>
                <a:latin typeface="Jost"/>
                <a:ea typeface="Jost"/>
                <a:cs typeface="Jost"/>
              </a:rPr>
              <a:t>Shared cap and shoulder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25F1937-EF3B-4528-8473-728AC71693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6505575" y="3829050"/>
            <a:ext cx="76200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pic>
        <p:nvPicPr>
          <p:cNvPr id="45" name="gem-black" descr="GEM logo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6657975" y="4181475"/>
            <a:ext cx="1037273" cy="328311"/>
          </a:xfrm>
          <a:prstGeom prst="rect">
            <a:avLst/>
          </a:prstGeom>
        </p:spPr>
      </p:pic>
      <p:sp>
        <p:nvSpPr>
          <p:cNvPr id="19" name="[COLLECTION / TIER PENDING]">
            <a:extLst>
              <a:ext uri="{FF2B5EF4-FFF2-40B4-BE49-F238E27FC236}">
                <a16:creationId xmlns:a16="http://schemas.microsoft.com/office/drawing/2014/main" id="{A59CF59E-1754-4A82-9662-09819C8BF1E3}"/>
              </a:ext>
            </a:extLst>
          </p:cNvPr>
          <p:cNvSpPr>
            <a:spLocks noGrp="1"/>
          </p:cNvSpPr>
          <p:nvPr/>
        </p:nvSpPr>
        <p:spPr>
          <a:xfrm>
            <a:off x="6657975" y="4665536"/>
            <a:ext cx="4257675" cy="15087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743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743">
                <a:solidFill>
                  <a:srgbClr val="12171D"/>
                </a:solidFill>
                <a:latin typeface="Inter"/>
                <a:ea typeface="Inter"/>
                <a:cs typeface="Inter"/>
              </a:rPr>
              <a:t>[COLLECTION / TIER PENDING]</a:t>
            </a:r>
          </a:p>
        </p:txBody>
      </p:sp>
      <p:sp>
        <p:nvSpPr>
          <p:cNvPr id="20" name="Conditioner">
            <a:extLst>
              <a:ext uri="{FF2B5EF4-FFF2-40B4-BE49-F238E27FC236}">
                <a16:creationId xmlns:a16="http://schemas.microsoft.com/office/drawing/2014/main" id="{615ACC2D-39E7-42E0-965B-6571A043F14F}"/>
              </a:ext>
            </a:extLst>
          </p:cNvPr>
          <p:cNvSpPr>
            <a:spLocks noGrp="1"/>
          </p:cNvSpPr>
          <p:nvPr/>
        </p:nvSpPr>
        <p:spPr>
          <a:xfrm>
            <a:off x="6657975" y="4898136"/>
            <a:ext cx="4257675" cy="28917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84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1584">
                <a:solidFill>
                  <a:srgbClr val="12171D"/>
                </a:solidFill>
                <a:latin typeface="Jost"/>
                <a:ea typeface="Jost"/>
                <a:cs typeface="Jost"/>
              </a:rPr>
              <a:t>Conditioner</a:t>
            </a:r>
          </a:p>
        </p:txBody>
      </p:sp>
      <p:sp>
        <p:nvSpPr>
          <p:cNvPr id="21" name="[FUNCTION PENDING]">
            <a:extLst>
              <a:ext uri="{FF2B5EF4-FFF2-40B4-BE49-F238E27FC236}">
                <a16:creationId xmlns:a16="http://schemas.microsoft.com/office/drawing/2014/main" id="{239B48EE-23AB-447D-9EA0-C347F0C4D890}"/>
              </a:ext>
            </a:extLst>
          </p:cNvPr>
          <p:cNvSpPr>
            <a:spLocks noGrp="1"/>
          </p:cNvSpPr>
          <p:nvPr/>
        </p:nvSpPr>
        <p:spPr>
          <a:xfrm>
            <a:off x="6657975" y="5187315"/>
            <a:ext cx="4257675" cy="15087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743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743">
                <a:solidFill>
                  <a:srgbClr val="12171D"/>
                </a:solidFill>
                <a:latin typeface="Inter"/>
                <a:ea typeface="Inter"/>
                <a:cs typeface="Inter"/>
              </a:rPr>
              <a:t>[FUNCTION PENDING]</a:t>
            </a:r>
          </a:p>
        </p:txBody>
      </p:sp>
      <p:sp>
        <p:nvSpPr>
          <p:cNvPr id="22" name="[QUANTITY / SIZE PENDING]">
            <a:extLst>
              <a:ext uri="{FF2B5EF4-FFF2-40B4-BE49-F238E27FC236}">
                <a16:creationId xmlns:a16="http://schemas.microsoft.com/office/drawing/2014/main" id="{6F7D69E3-8032-46BC-B0F4-3A0526CF59D2}"/>
              </a:ext>
            </a:extLst>
          </p:cNvPr>
          <p:cNvSpPr>
            <a:spLocks noGrp="1"/>
          </p:cNvSpPr>
          <p:nvPr/>
        </p:nvSpPr>
        <p:spPr>
          <a:xfrm>
            <a:off x="6657975" y="5419916"/>
            <a:ext cx="4257675" cy="15087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743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743">
                <a:solidFill>
                  <a:srgbClr val="12171D"/>
                </a:solidFill>
                <a:latin typeface="Inter"/>
                <a:ea typeface="Inter"/>
                <a:cs typeface="Inter"/>
              </a:rPr>
              <a:t>[QUANTITY / SIZE PENDING]</a:t>
            </a:r>
          </a:p>
        </p:txBody>
      </p:sp>
      <p:sp>
        <p:nvSpPr>
          <p:cNvPr id="23" name="[INSTRUCTIONS / MARKET INFORMATION PENDING]">
            <a:extLst>
              <a:ext uri="{FF2B5EF4-FFF2-40B4-BE49-F238E27FC236}">
                <a16:creationId xmlns:a16="http://schemas.microsoft.com/office/drawing/2014/main" id="{3F5C0DD7-8DF8-46D6-950D-D0D38E797F07}"/>
              </a:ext>
            </a:extLst>
          </p:cNvPr>
          <p:cNvSpPr>
            <a:spLocks noGrp="1"/>
          </p:cNvSpPr>
          <p:nvPr/>
        </p:nvSpPr>
        <p:spPr>
          <a:xfrm>
            <a:off x="6657975" y="5652516"/>
            <a:ext cx="4257675" cy="28289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693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693">
                <a:solidFill>
                  <a:srgbClr val="12171D"/>
                </a:solidFill>
                <a:latin typeface="Inter"/>
                <a:ea typeface="Inter"/>
                <a:cs typeface="Inter"/>
              </a:rPr>
              <a:t>[INSTRUCTIONS / MARKET INFORMATION PENDING]</a:t>
            </a:r>
          </a:p>
        </p:txBody>
      </p:sp>
      <p:sp>
        <p:nvSpPr>
          <p:cNvPr id="24" name="[SKU / ARTWORK VERSION PENDING]">
            <a:extLst>
              <a:ext uri="{FF2B5EF4-FFF2-40B4-BE49-F238E27FC236}">
                <a16:creationId xmlns:a16="http://schemas.microsoft.com/office/drawing/2014/main" id="{752DFE12-FD01-4DF8-A6F5-5999D5F9468F}"/>
              </a:ext>
            </a:extLst>
          </p:cNvPr>
          <p:cNvSpPr>
            <a:spLocks noGrp="1"/>
          </p:cNvSpPr>
          <p:nvPr/>
        </p:nvSpPr>
        <p:spPr>
          <a:xfrm>
            <a:off x="6657975" y="6029706"/>
            <a:ext cx="4257675" cy="18859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693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693">
                <a:solidFill>
                  <a:srgbClr val="12171D"/>
                </a:solidFill>
                <a:latin typeface="Inter"/>
                <a:ea typeface="Inter"/>
                <a:cs typeface="Inter"/>
              </a:rPr>
              <a:t>[SKU / ARTWORK VERSION PENDING]</a:t>
            </a:r>
          </a:p>
        </p:txBody>
      </p:sp>
      <p:pic>
        <p:nvPicPr>
          <p:cNvPr id="52" name="conditioner" descr="Concept image: GEM conditioner bottle on a sunlit stone ledge beside a folded white towel.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41881" y="4286250"/>
            <a:ext cx="2986087" cy="1990725"/>
          </a:xfrm>
          <a:prstGeom prst="rect">
            <a:avLst/>
          </a:prstGeom>
        </p:spPr>
      </p:pic>
      <p:sp>
        <p:nvSpPr>
          <p:cNvPr id="26" name="The product name changes. The packaging language holds.">
            <a:extLst>
              <a:ext uri="{FF2B5EF4-FFF2-40B4-BE49-F238E27FC236}">
                <a16:creationId xmlns:a16="http://schemas.microsoft.com/office/drawing/2014/main" id="{7D6F1D08-450E-4DC7-96B4-90D798ACCC02}"/>
              </a:ext>
            </a:extLst>
          </p:cNvPr>
          <p:cNvSpPr>
            <a:spLocks noGrp="1"/>
          </p:cNvSpPr>
          <p:nvPr/>
        </p:nvSpPr>
        <p:spPr>
          <a:xfrm>
            <a:off x="11229975" y="6610350"/>
            <a:ext cx="2952750" cy="771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3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350">
                <a:solidFill>
                  <a:srgbClr val="12171D"/>
                </a:solidFill>
                <a:latin typeface="Inter"/>
                <a:ea typeface="Inter"/>
                <a:cs typeface="Inter"/>
              </a:rPr>
              <a:t>The product name changes. The packaging language holds.</a:t>
            </a:r>
          </a:p>
        </p:txBody>
      </p:sp>
      <p:sp>
        <p:nvSpPr>
          <p:cNvPr id="27" name="CONCEPT / NOT PRODUCTION ARTWORK   /   PRODUCT DATA PENDING">
            <a:extLst>
              <a:ext uri="{FF2B5EF4-FFF2-40B4-BE49-F238E27FC236}">
                <a16:creationId xmlns:a16="http://schemas.microsoft.com/office/drawing/2014/main" id="{78E1451B-1CD3-4395-85C9-2A89CD411A57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CONCEPT / NOT PRODUCTION ARTWORK   /   PRODUCT DATA PENDING</a:t>
            </a:r>
          </a:p>
        </p:txBody>
      </p:sp>
      <p:pic>
        <p:nvPicPr>
          <p:cNvPr id="7" name="bottle" descr="Close-up of the shared pump cap and bottle shoulder.">
            <a:extLst>
              <a:ext uri="{FF2B5EF4-FFF2-40B4-BE49-F238E27FC236}">
                <a16:creationId xmlns:a16="http://schemas.microsoft.com/office/drawing/2014/main" id="{9DE81BD2-114A-5EB1-42D9-A8FD86DE7EE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40" r="36040" b="65085"/>
          <a:stretch>
            <a:fillRect/>
          </a:stretch>
        </p:blipFill>
        <p:spPr>
          <a:xfrm>
            <a:off x="6524676" y="1912327"/>
            <a:ext cx="1476047" cy="1822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3109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ISPENSING FORMATS">
            <a:extLst>
              <a:ext uri="{FF2B5EF4-FFF2-40B4-BE49-F238E27FC236}">
                <a16:creationId xmlns:a16="http://schemas.microsoft.com/office/drawing/2014/main" id="{C3A5BD85-E08E-479A-AA07-471A2D9638C5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DISPENSING FORMATS</a:t>
            </a:r>
          </a:p>
        </p:txBody>
      </p:sp>
      <p:sp>
        <p:nvSpPr>
          <p:cNvPr id="2" name="07">
            <a:extLst>
              <a:ext uri="{FF2B5EF4-FFF2-40B4-BE49-F238E27FC236}">
                <a16:creationId xmlns:a16="http://schemas.microsoft.com/office/drawing/2014/main" id="{B4F4D6A6-19E8-4D30-94EA-3E86493E6A4D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07</a:t>
            </a:r>
          </a:p>
        </p:txBody>
      </p:sp>
      <p:sp>
        <p:nvSpPr>
          <p:cNvPr id="3" name="Body Wash">
            <a:extLst>
              <a:ext uri="{FF2B5EF4-FFF2-40B4-BE49-F238E27FC236}">
                <a16:creationId xmlns:a16="http://schemas.microsoft.com/office/drawing/2014/main" id="{435302C0-2147-4E56-A9D6-EC874BD5F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ct val="100000"/>
              </a:lnSpc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 dirty="0">
                <a:solidFill>
                  <a:srgbClr val="12171D"/>
                </a:solidFill>
                <a:latin typeface="Jost"/>
                <a:ea typeface="Jost"/>
                <a:cs typeface="Jost"/>
              </a:rPr>
              <a:t>Body Wash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9BB15E-9E5C-4F28-A7C3-C3E5F74BEF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AB2FCB78-6519-41D6-93A0-17AD3E9427A8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1.0   WORKING EDITION">
            <a:extLst>
              <a:ext uri="{FF2B5EF4-FFF2-40B4-BE49-F238E27FC236}">
                <a16:creationId xmlns:a16="http://schemas.microsoft.com/office/drawing/2014/main" id="{573F9ABB-71C1-431B-84C4-E26BBBDF2AD1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v1.0   WORKING EDITION</a:t>
            </a:r>
          </a:p>
        </p:txBody>
      </p:sp>
      <p:pic>
        <p:nvPicPr>
          <p:cNvPr id="26" name="bottle" descr="Concept image: GEM body wash bottle, dark label.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21" r="14504"/>
          <a:stretch>
            <a:fillRect/>
          </a:stretch>
        </p:blipFill>
        <p:spPr>
          <a:xfrm>
            <a:off x="1924051" y="2428875"/>
            <a:ext cx="1809750" cy="3924300"/>
          </a:xfrm>
          <a:prstGeom prst="rect">
            <a:avLst/>
          </a:prstGeom>
        </p:spPr>
      </p:pic>
      <p:pic>
        <p:nvPicPr>
          <p:cNvPr id="30" name="dispenser" descr="Concept image: GEM body wash bottle held in a black wall-mounted bracket on a stone wall.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62675" y="2562225"/>
            <a:ext cx="2362200" cy="3543300"/>
          </a:xfrm>
          <a:prstGeom prst="rect">
            <a:avLst/>
          </a:prstGeom>
        </p:spPr>
      </p:pic>
      <p:pic>
        <p:nvPicPr>
          <p:cNvPr id="31" name="refill" descr="Concept image: GEM body wash refill container, white with a black cap and a dark label marked REFILL.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72650" y="2628593"/>
            <a:ext cx="3880477" cy="3543300"/>
          </a:xfrm>
          <a:prstGeom prst="rect">
            <a:avLst/>
          </a:prstGeom>
        </p:spPr>
      </p:pic>
      <p:sp>
        <p:nvSpPr>
          <p:cNvPr id="13" name="Guest bottle">
            <a:extLst>
              <a:ext uri="{FF2B5EF4-FFF2-40B4-BE49-F238E27FC236}">
                <a16:creationId xmlns:a16="http://schemas.microsoft.com/office/drawing/2014/main" id="{F7409C16-92BC-44D8-8215-35C798DA84D8}"/>
              </a:ext>
            </a:extLst>
          </p:cNvPr>
          <p:cNvSpPr>
            <a:spLocks noGrp="1"/>
          </p:cNvSpPr>
          <p:nvPr/>
        </p:nvSpPr>
        <p:spPr>
          <a:xfrm>
            <a:off x="914400" y="6572250"/>
            <a:ext cx="38100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250">
                <a:solidFill>
                  <a:srgbClr val="12171D"/>
                </a:solidFill>
                <a:latin typeface="Jost"/>
                <a:ea typeface="Jost"/>
                <a:cs typeface="Jost"/>
              </a:rPr>
              <a:t>Guest bottle</a:t>
            </a:r>
          </a:p>
        </p:txBody>
      </p:sp>
      <p:sp>
        <p:nvSpPr>
          <p:cNvPr id="14" name="CONCEPT">
            <a:extLst>
              <a:ext uri="{FF2B5EF4-FFF2-40B4-BE49-F238E27FC236}">
                <a16:creationId xmlns:a16="http://schemas.microsoft.com/office/drawing/2014/main" id="{88971D92-7C17-4D94-A504-3903185961D6}"/>
              </a:ext>
            </a:extLst>
          </p:cNvPr>
          <p:cNvSpPr>
            <a:spLocks noGrp="1"/>
          </p:cNvSpPr>
          <p:nvPr/>
        </p:nvSpPr>
        <p:spPr>
          <a:xfrm>
            <a:off x="914400" y="7143750"/>
            <a:ext cx="3810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CONCEPT</a:t>
            </a:r>
          </a:p>
        </p:txBody>
      </p:sp>
      <p:sp>
        <p:nvSpPr>
          <p:cNvPr id="15" name="Wall-mounted concept">
            <a:extLst>
              <a:ext uri="{FF2B5EF4-FFF2-40B4-BE49-F238E27FC236}">
                <a16:creationId xmlns:a16="http://schemas.microsoft.com/office/drawing/2014/main" id="{EB00CC0A-D701-404D-BB2B-CD20881BBFED}"/>
              </a:ext>
            </a:extLst>
          </p:cNvPr>
          <p:cNvSpPr>
            <a:spLocks noGrp="1"/>
          </p:cNvSpPr>
          <p:nvPr/>
        </p:nvSpPr>
        <p:spPr>
          <a:xfrm>
            <a:off x="5705475" y="6572250"/>
            <a:ext cx="38100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250">
                <a:solidFill>
                  <a:srgbClr val="12171D"/>
                </a:solidFill>
                <a:latin typeface="Jost"/>
                <a:ea typeface="Jost"/>
                <a:cs typeface="Jost"/>
              </a:rPr>
              <a:t>Wall-mounted concept</a:t>
            </a:r>
          </a:p>
        </p:txBody>
      </p:sp>
      <p:sp>
        <p:nvSpPr>
          <p:cNvPr id="16" name="SUPPLIER PROOF REQUIRED">
            <a:extLst>
              <a:ext uri="{FF2B5EF4-FFF2-40B4-BE49-F238E27FC236}">
                <a16:creationId xmlns:a16="http://schemas.microsoft.com/office/drawing/2014/main" id="{A2F81C41-AF70-4030-BBDF-0E62A7CF7C48}"/>
              </a:ext>
            </a:extLst>
          </p:cNvPr>
          <p:cNvSpPr>
            <a:spLocks noGrp="1"/>
          </p:cNvSpPr>
          <p:nvPr/>
        </p:nvSpPr>
        <p:spPr>
          <a:xfrm>
            <a:off x="5705475" y="7143750"/>
            <a:ext cx="3810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SUPPLIER PROOF REQUIRED</a:t>
            </a:r>
          </a:p>
        </p:txBody>
      </p:sp>
      <p:sp>
        <p:nvSpPr>
          <p:cNvPr id="17" name="Refill concept">
            <a:extLst>
              <a:ext uri="{FF2B5EF4-FFF2-40B4-BE49-F238E27FC236}">
                <a16:creationId xmlns:a16="http://schemas.microsoft.com/office/drawing/2014/main" id="{49EF9C8F-F141-45ED-A435-0E7FB9DEC9E4}"/>
              </a:ext>
            </a:extLst>
          </p:cNvPr>
          <p:cNvSpPr>
            <a:spLocks noGrp="1"/>
          </p:cNvSpPr>
          <p:nvPr/>
        </p:nvSpPr>
        <p:spPr>
          <a:xfrm>
            <a:off x="10477500" y="6572250"/>
            <a:ext cx="38100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250">
                <a:solidFill>
                  <a:srgbClr val="12171D"/>
                </a:solidFill>
                <a:latin typeface="Jost"/>
                <a:ea typeface="Jost"/>
                <a:cs typeface="Jost"/>
              </a:rPr>
              <a:t>Refill concept</a:t>
            </a:r>
          </a:p>
        </p:txBody>
      </p:sp>
      <p:sp>
        <p:nvSpPr>
          <p:cNvPr id="18" name="SUPPLIER PROOF REQUIRED">
            <a:extLst>
              <a:ext uri="{FF2B5EF4-FFF2-40B4-BE49-F238E27FC236}">
                <a16:creationId xmlns:a16="http://schemas.microsoft.com/office/drawing/2014/main" id="{C8B14A1D-7B49-47EE-AD5D-EC4888E12AD8}"/>
              </a:ext>
            </a:extLst>
          </p:cNvPr>
          <p:cNvSpPr>
            <a:spLocks noGrp="1"/>
          </p:cNvSpPr>
          <p:nvPr/>
        </p:nvSpPr>
        <p:spPr>
          <a:xfrm>
            <a:off x="10477500" y="7143750"/>
            <a:ext cx="3810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SUPPLIER PROOF REQUIRED</a:t>
            </a:r>
          </a:p>
        </p:txBody>
      </p:sp>
      <p:sp>
        <p:nvSpPr>
          <p:cNvPr id="19" name="CONCEPT / NOT PRODUCTION ARTWORK   /   FORMAT AND COMPATIBILITY PENDIN">
            <a:extLst>
              <a:ext uri="{FF2B5EF4-FFF2-40B4-BE49-F238E27FC236}">
                <a16:creationId xmlns:a16="http://schemas.microsoft.com/office/drawing/2014/main" id="{D7602EA8-22A1-4D68-9474-842E891D6ECE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CONCEPT / NOT PRODUCTION ARTWORK   /   FORMAT AND COMPATIBILITY PENDING</a:t>
            </a:r>
          </a:p>
        </p:txBody>
      </p:sp>
    </p:spTree>
    <p:extLst>
      <p:ext uri="{BB962C8B-B14F-4D97-AF65-F5344CB8AC3E}">
        <p14:creationId xmlns:p14="http://schemas.microsoft.com/office/powerpoint/2010/main" val="6448697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LOT COLLECTION">
            <a:extLst>
              <a:ext uri="{FF2B5EF4-FFF2-40B4-BE49-F238E27FC236}">
                <a16:creationId xmlns:a16="http://schemas.microsoft.com/office/drawing/2014/main" id="{F0B166F5-6202-443B-A820-58B737015C2B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PILOT COLLECTION</a:t>
            </a:r>
          </a:p>
        </p:txBody>
      </p:sp>
      <p:sp>
        <p:nvSpPr>
          <p:cNvPr id="2" name="08">
            <a:extLst>
              <a:ext uri="{FF2B5EF4-FFF2-40B4-BE49-F238E27FC236}">
                <a16:creationId xmlns:a16="http://schemas.microsoft.com/office/drawing/2014/main" id="{552D813B-D7D4-4C9E-A03F-8EFA0A50F647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08</a:t>
            </a:r>
          </a:p>
        </p:txBody>
      </p:sp>
      <p:sp>
        <p:nvSpPr>
          <p:cNvPr id="3" name="Body Lotion">
            <a:extLst>
              <a:ext uri="{FF2B5EF4-FFF2-40B4-BE49-F238E27FC236}">
                <a16:creationId xmlns:a16="http://schemas.microsoft.com/office/drawing/2014/main" id="{1982539F-3224-4B66-8677-D3F5CB8D7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ct val="100000"/>
              </a:lnSpc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Body Lotion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7819A7-193E-4C8B-ADF5-778BD4388C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7E914188-4363-42AB-9698-F3BB4E8D9FBB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1.0   WORKING EDITION">
            <a:extLst>
              <a:ext uri="{FF2B5EF4-FFF2-40B4-BE49-F238E27FC236}">
                <a16:creationId xmlns:a16="http://schemas.microsoft.com/office/drawing/2014/main" id="{B68D2F6F-6C2E-4A39-965A-89A4947C8EC4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v1.0   WORKING EDITION</a:t>
            </a:r>
          </a:p>
        </p:txBody>
      </p:sp>
      <p:sp>
        <p:nvSpPr>
          <p:cNvPr id="15" name="A consistent place&#10;in the family.">
            <a:extLst>
              <a:ext uri="{FF2B5EF4-FFF2-40B4-BE49-F238E27FC236}">
                <a16:creationId xmlns:a16="http://schemas.microsoft.com/office/drawing/2014/main" id="{7344F6EE-F8FF-498D-9899-D16C5A7056B3}"/>
              </a:ext>
            </a:extLst>
          </p:cNvPr>
          <p:cNvSpPr>
            <a:spLocks noGrp="1"/>
          </p:cNvSpPr>
          <p:nvPr/>
        </p:nvSpPr>
        <p:spPr>
          <a:xfrm>
            <a:off x="7172325" y="2400300"/>
            <a:ext cx="6810375" cy="1476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A consistent place</a:t>
            </a:r>
          </a:p>
          <a:p>
            <a:pPr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in the family.</a:t>
            </a:r>
          </a:p>
        </p:txBody>
      </p:sp>
      <p:sp>
        <p:nvSpPr>
          <p:cNvPr id="16" name="The same body, closure direction and information order support recogni">
            <a:extLst>
              <a:ext uri="{FF2B5EF4-FFF2-40B4-BE49-F238E27FC236}">
                <a16:creationId xmlns:a16="http://schemas.microsoft.com/office/drawing/2014/main" id="{E9AD5064-A6A1-4523-9FB3-3FDA0BA4859F}"/>
              </a:ext>
            </a:extLst>
          </p:cNvPr>
          <p:cNvSpPr>
            <a:spLocks noGrp="1"/>
          </p:cNvSpPr>
          <p:nvPr/>
        </p:nvSpPr>
        <p:spPr>
          <a:xfrm>
            <a:off x="7210425" y="4286250"/>
            <a:ext cx="62484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2025">
                <a:solidFill>
                  <a:srgbClr val="12171D"/>
                </a:solidFill>
                <a:latin typeface="Inter"/>
                <a:ea typeface="Inter"/>
                <a:cs typeface="Inter"/>
              </a:rPr>
              <a:t>The same body, closure direction and information order support recognition across the pilot.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C2F3036-9D77-4DAF-84FB-D52CECA3F5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210425" y="5734050"/>
            <a:ext cx="619125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8" name="Formula and dispensing compatibility">
            <a:extLst>
              <a:ext uri="{FF2B5EF4-FFF2-40B4-BE49-F238E27FC236}">
                <a16:creationId xmlns:a16="http://schemas.microsoft.com/office/drawing/2014/main" id="{6F08C495-6867-442B-917F-811FB015D854}"/>
              </a:ext>
            </a:extLst>
          </p:cNvPr>
          <p:cNvSpPr>
            <a:spLocks noGrp="1"/>
          </p:cNvSpPr>
          <p:nvPr/>
        </p:nvSpPr>
        <p:spPr>
          <a:xfrm>
            <a:off x="7210425" y="5991225"/>
            <a:ext cx="6381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1875">
                <a:solidFill>
                  <a:srgbClr val="12171D"/>
                </a:solidFill>
                <a:latin typeface="Jost"/>
                <a:ea typeface="Jost"/>
                <a:cs typeface="Jost"/>
              </a:rPr>
              <a:t>Formula and dispensing compatibility</a:t>
            </a:r>
          </a:p>
        </p:txBody>
      </p:sp>
      <p:sp>
        <p:nvSpPr>
          <p:cNvPr id="19" name="[PENDING]   Supplier testing and product-owner review.">
            <a:extLst>
              <a:ext uri="{FF2B5EF4-FFF2-40B4-BE49-F238E27FC236}">
                <a16:creationId xmlns:a16="http://schemas.microsoft.com/office/drawing/2014/main" id="{17576757-EA01-438A-8681-C5E6F4B08160}"/>
              </a:ext>
            </a:extLst>
          </p:cNvPr>
          <p:cNvSpPr>
            <a:spLocks noGrp="1"/>
          </p:cNvSpPr>
          <p:nvPr/>
        </p:nvSpPr>
        <p:spPr>
          <a:xfrm>
            <a:off x="7210425" y="6572250"/>
            <a:ext cx="62865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575">
                <a:solidFill>
                  <a:srgbClr val="12171D"/>
                </a:solidFill>
                <a:latin typeface="Inter"/>
                <a:ea typeface="Inter"/>
                <a:cs typeface="Inter"/>
              </a:rPr>
              <a:t>[PENDING]   Supplier testing and product-owner review.</a:t>
            </a:r>
          </a:p>
        </p:txBody>
      </p:sp>
      <p:sp>
        <p:nvSpPr>
          <p:cNvPr id="20" name="CONCEPT / NOT PRODUCTION ARTWORK   /   PRODUCT DATA PENDING">
            <a:extLst>
              <a:ext uri="{FF2B5EF4-FFF2-40B4-BE49-F238E27FC236}">
                <a16:creationId xmlns:a16="http://schemas.microsoft.com/office/drawing/2014/main" id="{D6D2C117-2685-4B1D-B893-A4BF09A974EF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CONCEPT / NOT PRODUCTION ARTWORK   /   PRODUCT DATA PENDING</a:t>
            </a:r>
          </a:p>
        </p:txBody>
      </p:sp>
      <p:pic>
        <p:nvPicPr>
          <p:cNvPr id="7" name="bottle" descr="Concept image: GEM body lotion bottle, cream label.">
            <a:extLst>
              <a:ext uri="{FF2B5EF4-FFF2-40B4-BE49-F238E27FC236}">
                <a16:creationId xmlns:a16="http://schemas.microsoft.com/office/drawing/2014/main" id="{829EBC44-477D-93BC-E5B8-0D43EEE363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13" r="15413"/>
          <a:stretch/>
        </p:blipFill>
        <p:spPr>
          <a:xfrm>
            <a:off x="1924051" y="2428875"/>
            <a:ext cx="1809750" cy="392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0602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7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LOT COLLECTION">
            <a:extLst>
              <a:ext uri="{FF2B5EF4-FFF2-40B4-BE49-F238E27FC236}">
                <a16:creationId xmlns:a16="http://schemas.microsoft.com/office/drawing/2014/main" id="{B247A328-795B-456D-ADED-82AFF452E76A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BCACA7"/>
                </a:solidFill>
                <a:latin typeface="Inter"/>
                <a:ea typeface="Inter"/>
                <a:cs typeface="Inter"/>
              </a:rPr>
              <a:t>PILOT COLLECTION</a:t>
            </a:r>
          </a:p>
        </p:txBody>
      </p:sp>
      <p:sp>
        <p:nvSpPr>
          <p:cNvPr id="2" name="09">
            <a:extLst>
              <a:ext uri="{FF2B5EF4-FFF2-40B4-BE49-F238E27FC236}">
                <a16:creationId xmlns:a16="http://schemas.microsoft.com/office/drawing/2014/main" id="{4FD479F5-AE72-40D8-91EC-9ECDFB397E86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BCACA7"/>
                </a:solidFill>
                <a:latin typeface="Inter"/>
                <a:ea typeface="Inter"/>
                <a:cs typeface="Inter"/>
              </a:rPr>
              <a:t>09</a:t>
            </a:r>
          </a:p>
        </p:txBody>
      </p:sp>
      <p:sp>
        <p:nvSpPr>
          <p:cNvPr id="3" name="Hand Wash">
            <a:extLst>
              <a:ext uri="{FF2B5EF4-FFF2-40B4-BE49-F238E27FC236}">
                <a16:creationId xmlns:a16="http://schemas.microsoft.com/office/drawing/2014/main" id="{40942760-5C0A-480D-9525-C28C5E83F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ct val="100000"/>
              </a:lnSpc>
              <a:defRPr sz="4350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FFFFFF"/>
                </a:solidFill>
                <a:latin typeface="Jost"/>
                <a:ea typeface="Jost"/>
                <a:cs typeface="Jost"/>
              </a:rPr>
              <a:t>Hand Wash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9BA6650-3A1B-4AE6-BD23-D79AC99A13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B2AAACB5-95E6-44F7-815F-F7B063F5F47A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FFFFFF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1.0   WORKING EDITION">
            <a:extLst>
              <a:ext uri="{FF2B5EF4-FFF2-40B4-BE49-F238E27FC236}">
                <a16:creationId xmlns:a16="http://schemas.microsoft.com/office/drawing/2014/main" id="{F494199D-9FC1-46FF-9040-E484A969B587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BCACA7"/>
                </a:solidFill>
                <a:latin typeface="Inter"/>
                <a:ea typeface="Inter"/>
                <a:cs typeface="Inter"/>
              </a:rPr>
              <a:t>v1.0   WORKING EDITION</a:t>
            </a:r>
          </a:p>
        </p:txBody>
      </p:sp>
      <p:pic>
        <p:nvPicPr>
          <p:cNvPr id="24" name="bottle" descr="Concept image: GEM hand wash bottle, cream label.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20" r="13694"/>
          <a:stretch>
            <a:fillRect/>
          </a:stretch>
        </p:blipFill>
        <p:spPr>
          <a:xfrm>
            <a:off x="10277800" y="2143125"/>
            <a:ext cx="2253312" cy="5257800"/>
          </a:xfrm>
          <a:prstGeom prst="rect">
            <a:avLst/>
          </a:prstGeom>
        </p:spPr>
      </p:pic>
      <p:sp>
        <p:nvSpPr>
          <p:cNvPr id="15" name="One family,&#10;throughout&#10;the stay.">
            <a:extLst>
              <a:ext uri="{FF2B5EF4-FFF2-40B4-BE49-F238E27FC236}">
                <a16:creationId xmlns:a16="http://schemas.microsoft.com/office/drawing/2014/main" id="{8713A27E-3C80-4283-B64E-AD645A8BAD15}"/>
              </a:ext>
            </a:extLst>
          </p:cNvPr>
          <p:cNvSpPr>
            <a:spLocks noGrp="1"/>
          </p:cNvSpPr>
          <p:nvPr/>
        </p:nvSpPr>
        <p:spPr>
          <a:xfrm>
            <a:off x="914400" y="2181225"/>
            <a:ext cx="8343900" cy="2543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592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5925" dirty="0">
                <a:solidFill>
                  <a:srgbClr val="FFFFFF"/>
                </a:solidFill>
                <a:latin typeface="Jost"/>
                <a:ea typeface="Jost"/>
                <a:cs typeface="Jost"/>
              </a:rPr>
              <a:t>One family,</a:t>
            </a:r>
          </a:p>
          <a:p>
            <a:pPr>
              <a:defRPr sz="592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5925" dirty="0">
                <a:solidFill>
                  <a:srgbClr val="FFFFFF"/>
                </a:solidFill>
                <a:latin typeface="Jost"/>
                <a:ea typeface="Jost"/>
                <a:cs typeface="Jost"/>
              </a:rPr>
              <a:t>throughout</a:t>
            </a:r>
          </a:p>
          <a:p>
            <a:pPr>
              <a:defRPr sz="592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5925" dirty="0">
                <a:solidFill>
                  <a:srgbClr val="FFFFFF"/>
                </a:solidFill>
                <a:latin typeface="Jost"/>
                <a:ea typeface="Jost"/>
                <a:cs typeface="Jost"/>
              </a:rPr>
              <a:t>the stay.</a:t>
            </a:r>
          </a:p>
        </p:txBody>
      </p:sp>
      <p:sp>
        <p:nvSpPr>
          <p:cNvPr id="16" name="Product names carry the distinction.&#10;The master identity stays constan">
            <a:extLst>
              <a:ext uri="{FF2B5EF4-FFF2-40B4-BE49-F238E27FC236}">
                <a16:creationId xmlns:a16="http://schemas.microsoft.com/office/drawing/2014/main" id="{D7BC63CB-4859-48D1-BBAB-56CD1CDF6B66}"/>
              </a:ext>
            </a:extLst>
          </p:cNvPr>
          <p:cNvSpPr>
            <a:spLocks noGrp="1"/>
          </p:cNvSpPr>
          <p:nvPr/>
        </p:nvSpPr>
        <p:spPr>
          <a:xfrm>
            <a:off x="962025" y="5629275"/>
            <a:ext cx="7810500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2100" dirty="0">
                <a:solidFill>
                  <a:srgbClr val="FFFFFF"/>
                </a:solidFill>
                <a:latin typeface="Inter"/>
                <a:ea typeface="Inter"/>
                <a:cs typeface="Inter"/>
              </a:rPr>
              <a:t>Product names carry the distinction.</a:t>
            </a:r>
          </a:p>
          <a:p>
            <a:pPr>
              <a:defRPr sz="210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2100" dirty="0">
                <a:solidFill>
                  <a:srgbClr val="FFFFFF"/>
                </a:solidFill>
                <a:latin typeface="Inter"/>
                <a:ea typeface="Inter"/>
                <a:cs typeface="Inter"/>
              </a:rPr>
              <a:t>The master identity stays constant.</a:t>
            </a:r>
          </a:p>
        </p:txBody>
      </p:sp>
      <p:sp>
        <p:nvSpPr>
          <p:cNvPr id="17" name="CONCEPT / NOT PRODUCTION ARTWORK   /   DISPENSING FORMAT PENDING">
            <a:extLst>
              <a:ext uri="{FF2B5EF4-FFF2-40B4-BE49-F238E27FC236}">
                <a16:creationId xmlns:a16="http://schemas.microsoft.com/office/drawing/2014/main" id="{5F019AE1-FF5F-42CC-90FB-A7B413124D5B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BCACA7"/>
                </a:solidFill>
                <a:latin typeface="Inter"/>
                <a:ea typeface="Inter"/>
                <a:cs typeface="Inter"/>
              </a:rPr>
              <a:t>CONCEPT / NOT PRODUCTION ARTWORK   /   DISPENSING FORMAT PENDING</a:t>
            </a:r>
          </a:p>
        </p:txBody>
      </p:sp>
    </p:spTree>
    <p:extLst>
      <p:ext uri="{BB962C8B-B14F-4D97-AF65-F5344CB8AC3E}">
        <p14:creationId xmlns:p14="http://schemas.microsoft.com/office/powerpoint/2010/main" val="18485359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ACKAGING ARCHITECTURE">
            <a:extLst>
              <a:ext uri="{FF2B5EF4-FFF2-40B4-BE49-F238E27FC236}">
                <a16:creationId xmlns:a16="http://schemas.microsoft.com/office/drawing/2014/main" id="{244A642A-F6CE-4591-98BA-37B014DDB40F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PACKAGING ARCHITECTURE</a:t>
            </a:r>
          </a:p>
        </p:txBody>
      </p:sp>
      <p:sp>
        <p:nvSpPr>
          <p:cNvPr id="2" name="10">
            <a:extLst>
              <a:ext uri="{FF2B5EF4-FFF2-40B4-BE49-F238E27FC236}">
                <a16:creationId xmlns:a16="http://schemas.microsoft.com/office/drawing/2014/main" id="{3B21B54A-D1C3-4A2B-96A5-4C38712F152F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10</a:t>
            </a:r>
          </a:p>
        </p:txBody>
      </p:sp>
      <p:sp>
        <p:nvSpPr>
          <p:cNvPr id="3" name="Packaging DNA">
            <a:extLst>
              <a:ext uri="{FF2B5EF4-FFF2-40B4-BE49-F238E27FC236}">
                <a16:creationId xmlns:a16="http://schemas.microsoft.com/office/drawing/2014/main" id="{5E518F87-5755-454C-952E-8A64AB115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ct val="100000"/>
              </a:lnSpc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Packaging DNA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86548F-3513-42EF-AD1A-33E9EC269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21702277-A4FA-4453-A653-FE71981CFA36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1.0   WORKING EDITION">
            <a:extLst>
              <a:ext uri="{FF2B5EF4-FFF2-40B4-BE49-F238E27FC236}">
                <a16:creationId xmlns:a16="http://schemas.microsoft.com/office/drawing/2014/main" id="{9CA13F9D-6BF0-4478-9566-B31D03810636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v1.0   WORKING EDITION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1CE75F-902E-46E5-9FF8-CD8CA6EDB5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695825" y="2895600"/>
            <a:ext cx="180022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6" name="Shared silhouette">
            <a:extLst>
              <a:ext uri="{FF2B5EF4-FFF2-40B4-BE49-F238E27FC236}">
                <a16:creationId xmlns:a16="http://schemas.microsoft.com/office/drawing/2014/main" id="{1B98CEB8-2A65-49B1-BACD-DE82600FF8A2}"/>
              </a:ext>
            </a:extLst>
          </p:cNvPr>
          <p:cNvSpPr>
            <a:spLocks noGrp="1"/>
          </p:cNvSpPr>
          <p:nvPr/>
        </p:nvSpPr>
        <p:spPr>
          <a:xfrm>
            <a:off x="6943725" y="2667000"/>
            <a:ext cx="692467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475">
                <a:solidFill>
                  <a:srgbClr val="12171D"/>
                </a:solidFill>
                <a:latin typeface="Jost"/>
                <a:ea typeface="Jost"/>
                <a:cs typeface="Jost"/>
              </a:rPr>
              <a:t>Shared silhouette</a:t>
            </a:r>
          </a:p>
        </p:txBody>
      </p:sp>
      <p:sp>
        <p:nvSpPr>
          <p:cNvPr id="17" name="Bottle and closure remain supplier-dependent.">
            <a:extLst>
              <a:ext uri="{FF2B5EF4-FFF2-40B4-BE49-F238E27FC236}">
                <a16:creationId xmlns:a16="http://schemas.microsoft.com/office/drawing/2014/main" id="{CBD7DF70-E6CF-4BD2-B4C8-577D790BBBDE}"/>
              </a:ext>
            </a:extLst>
          </p:cNvPr>
          <p:cNvSpPr>
            <a:spLocks noGrp="1"/>
          </p:cNvSpPr>
          <p:nvPr/>
        </p:nvSpPr>
        <p:spPr>
          <a:xfrm>
            <a:off x="6953250" y="3276600"/>
            <a:ext cx="68199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Bottle and closure remain supplier-dependent.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7A57E2D-125E-4AA2-B09C-40B2794B61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695825" y="4371975"/>
            <a:ext cx="180022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9" name="Original GEM artwork">
            <a:extLst>
              <a:ext uri="{FF2B5EF4-FFF2-40B4-BE49-F238E27FC236}">
                <a16:creationId xmlns:a16="http://schemas.microsoft.com/office/drawing/2014/main" id="{A4E60357-5614-475F-BBA1-8897B7698FA1}"/>
              </a:ext>
            </a:extLst>
          </p:cNvPr>
          <p:cNvSpPr>
            <a:spLocks noGrp="1"/>
          </p:cNvSpPr>
          <p:nvPr/>
        </p:nvSpPr>
        <p:spPr>
          <a:xfrm>
            <a:off x="6943725" y="4143375"/>
            <a:ext cx="692467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475">
                <a:solidFill>
                  <a:srgbClr val="12171D"/>
                </a:solidFill>
                <a:latin typeface="Jost"/>
                <a:ea typeface="Jost"/>
                <a:cs typeface="Jost"/>
              </a:rPr>
              <a:t>Original GEM artwork</a:t>
            </a:r>
          </a:p>
        </p:txBody>
      </p:sp>
      <p:sp>
        <p:nvSpPr>
          <p:cNvPr id="20" name="One supplied raster; production master pending.">
            <a:extLst>
              <a:ext uri="{FF2B5EF4-FFF2-40B4-BE49-F238E27FC236}">
                <a16:creationId xmlns:a16="http://schemas.microsoft.com/office/drawing/2014/main" id="{A527606D-F619-4145-8616-09A476CFBDA9}"/>
              </a:ext>
            </a:extLst>
          </p:cNvPr>
          <p:cNvSpPr>
            <a:spLocks noGrp="1"/>
          </p:cNvSpPr>
          <p:nvPr/>
        </p:nvSpPr>
        <p:spPr>
          <a:xfrm>
            <a:off x="6953250" y="4752975"/>
            <a:ext cx="68199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Supplied vector kit; production master acceptance pending.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87A647F-D694-4930-BCF4-882256878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695825" y="5848350"/>
            <a:ext cx="180022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22" name="Fixed hierarchy">
            <a:extLst>
              <a:ext uri="{FF2B5EF4-FFF2-40B4-BE49-F238E27FC236}">
                <a16:creationId xmlns:a16="http://schemas.microsoft.com/office/drawing/2014/main" id="{054F5B72-73D1-4F71-A3C3-3727883EB244}"/>
              </a:ext>
            </a:extLst>
          </p:cNvPr>
          <p:cNvSpPr>
            <a:spLocks noGrp="1"/>
          </p:cNvSpPr>
          <p:nvPr/>
        </p:nvSpPr>
        <p:spPr>
          <a:xfrm>
            <a:off x="6943725" y="5619750"/>
            <a:ext cx="692467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475">
                <a:solidFill>
                  <a:srgbClr val="12171D"/>
                </a:solidFill>
                <a:latin typeface="Jost"/>
                <a:ea typeface="Jost"/>
                <a:cs typeface="Jost"/>
              </a:rPr>
              <a:t>Fixed hierarchy</a:t>
            </a:r>
          </a:p>
        </p:txBody>
      </p:sp>
      <p:sp>
        <p:nvSpPr>
          <p:cNvPr id="23" name="Six levels, in the register’s approved order.">
            <a:extLst>
              <a:ext uri="{FF2B5EF4-FFF2-40B4-BE49-F238E27FC236}">
                <a16:creationId xmlns:a16="http://schemas.microsoft.com/office/drawing/2014/main" id="{417A328B-4CF9-45F0-BF06-7B8A8DAE9114}"/>
              </a:ext>
            </a:extLst>
          </p:cNvPr>
          <p:cNvSpPr>
            <a:spLocks noGrp="1"/>
          </p:cNvSpPr>
          <p:nvPr/>
        </p:nvSpPr>
        <p:spPr>
          <a:xfrm>
            <a:off x="6953250" y="6229350"/>
            <a:ext cx="68199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Six levels, in the register’s approved order.</a:t>
            </a:r>
          </a:p>
        </p:txBody>
      </p:sp>
      <p:sp>
        <p:nvSpPr>
          <p:cNvPr id="24" name="CONCEPT / NOT PRODUCTION ARTWORK   /   NO DIMENSIONAL SPECIFICATION">
            <a:extLst>
              <a:ext uri="{FF2B5EF4-FFF2-40B4-BE49-F238E27FC236}">
                <a16:creationId xmlns:a16="http://schemas.microsoft.com/office/drawing/2014/main" id="{6C30675D-74CB-4EC7-8C7B-2CAA6907B361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CONCEPT / NOT PRODUCTION ARTWORK   /   NO DIMENSIONAL SPECIFICATION</a:t>
            </a:r>
          </a:p>
        </p:txBody>
      </p:sp>
      <p:pic>
        <p:nvPicPr>
          <p:cNvPr id="7" name="bottle" descr="Concept image: GEM hand wash bottle, cream label.">
            <a:extLst>
              <a:ext uri="{FF2B5EF4-FFF2-40B4-BE49-F238E27FC236}">
                <a16:creationId xmlns:a16="http://schemas.microsoft.com/office/drawing/2014/main" id="{AAC89DD9-BFAF-DB11-03FC-1968CC81982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20" r="13694"/>
          <a:stretch>
            <a:fillRect/>
          </a:stretch>
        </p:blipFill>
        <p:spPr>
          <a:xfrm>
            <a:off x="1868481" y="2662238"/>
            <a:ext cx="1453223" cy="3390900"/>
          </a:xfrm>
          <a:prstGeom prst="rect">
            <a:avLst/>
          </a:prstGeom>
        </p:spPr>
      </p:pic>
      <p:pic>
        <p:nvPicPr>
          <p:cNvPr id="8" name="bottle" descr="Concept image: GEM body wash bottle, dark label.">
            <a:extLst>
              <a:ext uri="{FF2B5EF4-FFF2-40B4-BE49-F238E27FC236}">
                <a16:creationId xmlns:a16="http://schemas.microsoft.com/office/drawing/2014/main" id="{20C19D6E-81D3-D520-922B-FE378E8B4C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21" r="14504"/>
          <a:stretch>
            <a:fillRect/>
          </a:stretch>
        </p:blipFill>
        <p:spPr>
          <a:xfrm>
            <a:off x="2595092" y="2428875"/>
            <a:ext cx="1809750" cy="392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7927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ACKAGING ARCHITECTURE">
            <a:extLst>
              <a:ext uri="{FF2B5EF4-FFF2-40B4-BE49-F238E27FC236}">
                <a16:creationId xmlns:a16="http://schemas.microsoft.com/office/drawing/2014/main" id="{876547E4-4A9C-417F-A3B6-658BE8D1E411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PACKAGING ARCHITECTURE</a:t>
            </a:r>
          </a:p>
        </p:txBody>
      </p:sp>
      <p:sp>
        <p:nvSpPr>
          <p:cNvPr id="2" name="11">
            <a:extLst>
              <a:ext uri="{FF2B5EF4-FFF2-40B4-BE49-F238E27FC236}">
                <a16:creationId xmlns:a16="http://schemas.microsoft.com/office/drawing/2014/main" id="{38EA70DD-74D6-4A77-8CD9-24A4F95B264A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11</a:t>
            </a:r>
          </a:p>
        </p:txBody>
      </p:sp>
      <p:sp>
        <p:nvSpPr>
          <p:cNvPr id="3" name="Three tiers, one identity">
            <a:extLst>
              <a:ext uri="{FF2B5EF4-FFF2-40B4-BE49-F238E27FC236}">
                <a16:creationId xmlns:a16="http://schemas.microsoft.com/office/drawing/2014/main" id="{442F9B4A-16BA-4CE9-B236-E1A44D968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ct val="100000"/>
              </a:lnSpc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Three tiers, one identity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EFED68-117B-4381-A0D7-4EBBA113D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570130DB-5ECC-4D9B-AC4C-5F684C29ECDE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1.0   WORKING EDITION">
            <a:extLst>
              <a:ext uri="{FF2B5EF4-FFF2-40B4-BE49-F238E27FC236}">
                <a16:creationId xmlns:a16="http://schemas.microsoft.com/office/drawing/2014/main" id="{1DBD5A3C-E736-4B41-8DC4-0C12742AB2F0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v1.0   WORKING EDITION</a:t>
            </a:r>
          </a:p>
        </p:txBody>
      </p:sp>
      <p:sp>
        <p:nvSpPr>
          <p:cNvPr id="7" name="01">
            <a:extLst>
              <a:ext uri="{FF2B5EF4-FFF2-40B4-BE49-F238E27FC236}">
                <a16:creationId xmlns:a16="http://schemas.microsoft.com/office/drawing/2014/main" id="{FD6C2278-D8BD-4B79-9B39-459CFCA85670}"/>
              </a:ext>
            </a:extLst>
          </p:cNvPr>
          <p:cNvSpPr>
            <a:spLocks noGrp="1"/>
          </p:cNvSpPr>
          <p:nvPr/>
        </p:nvSpPr>
        <p:spPr>
          <a:xfrm>
            <a:off x="914400" y="2771775"/>
            <a:ext cx="35242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52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5250">
                <a:solidFill>
                  <a:srgbClr val="12171D"/>
                </a:solidFill>
                <a:latin typeface="Jost"/>
                <a:ea typeface="Jost"/>
                <a:cs typeface="Jost"/>
              </a:rPr>
              <a:t>01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191B91-C76E-4567-8BDB-6B640B12CE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14400" y="4019550"/>
            <a:ext cx="401002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9" name="Core Collection">
            <a:extLst>
              <a:ext uri="{FF2B5EF4-FFF2-40B4-BE49-F238E27FC236}">
                <a16:creationId xmlns:a16="http://schemas.microsoft.com/office/drawing/2014/main" id="{4DA5764B-D0BA-4831-9F92-63B76C79539F}"/>
              </a:ext>
            </a:extLst>
          </p:cNvPr>
          <p:cNvSpPr>
            <a:spLocks noGrp="1"/>
          </p:cNvSpPr>
          <p:nvPr/>
        </p:nvSpPr>
        <p:spPr>
          <a:xfrm>
            <a:off x="914400" y="4419600"/>
            <a:ext cx="40005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70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700">
                <a:solidFill>
                  <a:srgbClr val="12171D"/>
                </a:solidFill>
                <a:latin typeface="Jost"/>
                <a:ea typeface="Jost"/>
                <a:cs typeface="Jost"/>
              </a:rPr>
              <a:t>Core Collection</a:t>
            </a:r>
          </a:p>
        </p:txBody>
      </p:sp>
      <p:sp>
        <p:nvSpPr>
          <p:cNvPr id="10" name="Name [REQUIRES OWNER]&#10;Scope [PENDING]">
            <a:extLst>
              <a:ext uri="{FF2B5EF4-FFF2-40B4-BE49-F238E27FC236}">
                <a16:creationId xmlns:a16="http://schemas.microsoft.com/office/drawing/2014/main" id="{8A67E51F-F97D-43D7-9F44-05EDD68FFD1B}"/>
              </a:ext>
            </a:extLst>
          </p:cNvPr>
          <p:cNvSpPr>
            <a:spLocks noGrp="1"/>
          </p:cNvSpPr>
          <p:nvPr/>
        </p:nvSpPr>
        <p:spPr>
          <a:xfrm>
            <a:off x="914400" y="5486400"/>
            <a:ext cx="400050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12171D"/>
                </a:solidFill>
                <a:latin typeface="Inter"/>
                <a:ea typeface="Inter"/>
                <a:cs typeface="Inter"/>
              </a:rPr>
              <a:t>Name [REQUIRES OWNER]</a:t>
            </a:r>
          </a:p>
          <a:p>
            <a:pPr>
              <a:defRPr sz="18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12171D"/>
                </a:solidFill>
                <a:latin typeface="Inter"/>
                <a:ea typeface="Inter"/>
                <a:cs typeface="Inter"/>
              </a:rPr>
              <a:t>Scope [PENDING]</a:t>
            </a:r>
          </a:p>
        </p:txBody>
      </p:sp>
      <p:sp>
        <p:nvSpPr>
          <p:cNvPr id="11" name="CONDITIONAL">
            <a:extLst>
              <a:ext uri="{FF2B5EF4-FFF2-40B4-BE49-F238E27FC236}">
                <a16:creationId xmlns:a16="http://schemas.microsoft.com/office/drawing/2014/main" id="{BB4CE447-E873-4A7A-969A-460387267DA4}"/>
              </a:ext>
            </a:extLst>
          </p:cNvPr>
          <p:cNvSpPr>
            <a:spLocks noGrp="1"/>
          </p:cNvSpPr>
          <p:nvPr/>
        </p:nvSpPr>
        <p:spPr>
          <a:xfrm>
            <a:off x="914400" y="7000875"/>
            <a:ext cx="4000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CONDITIONAL</a:t>
            </a:r>
          </a:p>
        </p:txBody>
      </p:sp>
      <p:sp>
        <p:nvSpPr>
          <p:cNvPr id="12" name="02">
            <a:extLst>
              <a:ext uri="{FF2B5EF4-FFF2-40B4-BE49-F238E27FC236}">
                <a16:creationId xmlns:a16="http://schemas.microsoft.com/office/drawing/2014/main" id="{24F2B458-9F7A-4CAE-B8CE-594693A27BA5}"/>
              </a:ext>
            </a:extLst>
          </p:cNvPr>
          <p:cNvSpPr>
            <a:spLocks noGrp="1"/>
          </p:cNvSpPr>
          <p:nvPr/>
        </p:nvSpPr>
        <p:spPr>
          <a:xfrm>
            <a:off x="5591175" y="2771775"/>
            <a:ext cx="35242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52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5250">
                <a:solidFill>
                  <a:srgbClr val="12171D"/>
                </a:solidFill>
                <a:latin typeface="Jost"/>
                <a:ea typeface="Jost"/>
                <a:cs typeface="Jost"/>
              </a:rPr>
              <a:t>02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98C8D8-AFEB-4B59-9E17-CD2B8B6718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591175" y="4019550"/>
            <a:ext cx="401002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4" name="Property Edition">
            <a:extLst>
              <a:ext uri="{FF2B5EF4-FFF2-40B4-BE49-F238E27FC236}">
                <a16:creationId xmlns:a16="http://schemas.microsoft.com/office/drawing/2014/main" id="{AEB2C59D-B9C2-4FAA-9586-AFF6FCB67A92}"/>
              </a:ext>
            </a:extLst>
          </p:cNvPr>
          <p:cNvSpPr>
            <a:spLocks noGrp="1"/>
          </p:cNvSpPr>
          <p:nvPr/>
        </p:nvSpPr>
        <p:spPr>
          <a:xfrm>
            <a:off x="5591175" y="4419600"/>
            <a:ext cx="40005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70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700">
                <a:solidFill>
                  <a:srgbClr val="12171D"/>
                </a:solidFill>
                <a:latin typeface="Jost"/>
                <a:ea typeface="Jost"/>
                <a:cs typeface="Jost"/>
              </a:rPr>
              <a:t>Property Edition</a:t>
            </a:r>
          </a:p>
        </p:txBody>
      </p:sp>
      <p:sp>
        <p:nvSpPr>
          <p:cNvPr id="15" name="Property adaptation&#10;Scope [PENDING]">
            <a:extLst>
              <a:ext uri="{FF2B5EF4-FFF2-40B4-BE49-F238E27FC236}">
                <a16:creationId xmlns:a16="http://schemas.microsoft.com/office/drawing/2014/main" id="{7F48D58B-A6E4-44DF-A8E6-6C55E1E59D14}"/>
              </a:ext>
            </a:extLst>
          </p:cNvPr>
          <p:cNvSpPr>
            <a:spLocks noGrp="1"/>
          </p:cNvSpPr>
          <p:nvPr/>
        </p:nvSpPr>
        <p:spPr>
          <a:xfrm>
            <a:off x="5591175" y="5486400"/>
            <a:ext cx="400050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12171D"/>
                </a:solidFill>
                <a:latin typeface="Inter"/>
                <a:ea typeface="Inter"/>
                <a:cs typeface="Inter"/>
              </a:rPr>
              <a:t>Property adaptation</a:t>
            </a:r>
          </a:p>
          <a:p>
            <a:pPr>
              <a:defRPr sz="18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12171D"/>
                </a:solidFill>
                <a:latin typeface="Inter"/>
                <a:ea typeface="Inter"/>
                <a:cs typeface="Inter"/>
              </a:rPr>
              <a:t>Scope [PENDING]</a:t>
            </a:r>
          </a:p>
        </p:txBody>
      </p:sp>
      <p:sp>
        <p:nvSpPr>
          <p:cNvPr id="16" name="CONDITIONAL">
            <a:extLst>
              <a:ext uri="{FF2B5EF4-FFF2-40B4-BE49-F238E27FC236}">
                <a16:creationId xmlns:a16="http://schemas.microsoft.com/office/drawing/2014/main" id="{CCA7D4B2-CFDD-4E92-850E-3360094D864E}"/>
              </a:ext>
            </a:extLst>
          </p:cNvPr>
          <p:cNvSpPr>
            <a:spLocks noGrp="1"/>
          </p:cNvSpPr>
          <p:nvPr/>
        </p:nvSpPr>
        <p:spPr>
          <a:xfrm>
            <a:off x="5591175" y="7000875"/>
            <a:ext cx="4000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CONDITIONAL</a:t>
            </a:r>
          </a:p>
        </p:txBody>
      </p:sp>
      <p:sp>
        <p:nvSpPr>
          <p:cNvPr id="17" name="03">
            <a:extLst>
              <a:ext uri="{FF2B5EF4-FFF2-40B4-BE49-F238E27FC236}">
                <a16:creationId xmlns:a16="http://schemas.microsoft.com/office/drawing/2014/main" id="{7C25B96F-0189-4167-A6DB-52CCCF6B3A96}"/>
              </a:ext>
            </a:extLst>
          </p:cNvPr>
          <p:cNvSpPr>
            <a:spLocks noGrp="1"/>
          </p:cNvSpPr>
          <p:nvPr/>
        </p:nvSpPr>
        <p:spPr>
          <a:xfrm>
            <a:off x="10267950" y="2771775"/>
            <a:ext cx="35242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52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5250">
                <a:solidFill>
                  <a:srgbClr val="12171D"/>
                </a:solidFill>
                <a:latin typeface="Jost"/>
                <a:ea typeface="Jost"/>
                <a:cs typeface="Jost"/>
              </a:rPr>
              <a:t>03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842A41C-DA44-42C4-A088-F62C456E78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267950" y="4019550"/>
            <a:ext cx="401002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9" name="Bespoke Programme">
            <a:extLst>
              <a:ext uri="{FF2B5EF4-FFF2-40B4-BE49-F238E27FC236}">
                <a16:creationId xmlns:a16="http://schemas.microsoft.com/office/drawing/2014/main" id="{B2377F1F-774C-4776-822D-1AF2A07911E3}"/>
              </a:ext>
            </a:extLst>
          </p:cNvPr>
          <p:cNvSpPr>
            <a:spLocks noGrp="1"/>
          </p:cNvSpPr>
          <p:nvPr/>
        </p:nvSpPr>
        <p:spPr>
          <a:xfrm>
            <a:off x="10267950" y="4419600"/>
            <a:ext cx="40005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70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700">
                <a:solidFill>
                  <a:srgbClr val="12171D"/>
                </a:solidFill>
                <a:latin typeface="Jost"/>
                <a:ea typeface="Jost"/>
                <a:cs typeface="Jost"/>
              </a:rPr>
              <a:t>Bespoke Programme</a:t>
            </a:r>
          </a:p>
        </p:txBody>
      </p:sp>
      <p:sp>
        <p:nvSpPr>
          <p:cNvPr id="20" name="Partner programme&#10;Scope [PENDING]">
            <a:extLst>
              <a:ext uri="{FF2B5EF4-FFF2-40B4-BE49-F238E27FC236}">
                <a16:creationId xmlns:a16="http://schemas.microsoft.com/office/drawing/2014/main" id="{BBB609B9-AE5F-4229-9723-34665A98BC04}"/>
              </a:ext>
            </a:extLst>
          </p:cNvPr>
          <p:cNvSpPr>
            <a:spLocks noGrp="1"/>
          </p:cNvSpPr>
          <p:nvPr/>
        </p:nvSpPr>
        <p:spPr>
          <a:xfrm>
            <a:off x="10267950" y="5486400"/>
            <a:ext cx="400050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12171D"/>
                </a:solidFill>
                <a:latin typeface="Inter"/>
                <a:ea typeface="Inter"/>
                <a:cs typeface="Inter"/>
              </a:rPr>
              <a:t>Partner programme</a:t>
            </a:r>
          </a:p>
          <a:p>
            <a:pPr>
              <a:defRPr sz="18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12171D"/>
                </a:solidFill>
                <a:latin typeface="Inter"/>
                <a:ea typeface="Inter"/>
                <a:cs typeface="Inter"/>
              </a:rPr>
              <a:t>Scope [PENDING]</a:t>
            </a:r>
          </a:p>
        </p:txBody>
      </p:sp>
      <p:sp>
        <p:nvSpPr>
          <p:cNvPr id="21" name="CONDITIONAL">
            <a:extLst>
              <a:ext uri="{FF2B5EF4-FFF2-40B4-BE49-F238E27FC236}">
                <a16:creationId xmlns:a16="http://schemas.microsoft.com/office/drawing/2014/main" id="{E3F44A5C-70D0-4DD0-A5B6-20A419F3A5A2}"/>
              </a:ext>
            </a:extLst>
          </p:cNvPr>
          <p:cNvSpPr>
            <a:spLocks noGrp="1"/>
          </p:cNvSpPr>
          <p:nvPr/>
        </p:nvSpPr>
        <p:spPr>
          <a:xfrm>
            <a:off x="10267950" y="7000875"/>
            <a:ext cx="4000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CONDITIONAL</a:t>
            </a:r>
          </a:p>
        </p:txBody>
      </p:sp>
      <p:sp>
        <p:nvSpPr>
          <p:cNvPr id="22" name="ALL TIERS: AC03 / VAL-01   /   NO NEW LOGO, PALETTE OR SUB-BRAND">
            <a:extLst>
              <a:ext uri="{FF2B5EF4-FFF2-40B4-BE49-F238E27FC236}">
                <a16:creationId xmlns:a16="http://schemas.microsoft.com/office/drawing/2014/main" id="{3875E069-2715-4911-B269-DE89025E5AA2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ALL TIERS: AC03 / VAL-01   /   NO NEW LOGO, PALETTE OR SUB-BRAND</a:t>
            </a:r>
          </a:p>
        </p:txBody>
      </p:sp>
    </p:spTree>
    <p:extLst>
      <p:ext uri="{BB962C8B-B14F-4D97-AF65-F5344CB8AC3E}">
        <p14:creationId xmlns:p14="http://schemas.microsoft.com/office/powerpoint/2010/main" val="6396635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ACKAGING ARCHITECTURE">
            <a:extLst>
              <a:ext uri="{FF2B5EF4-FFF2-40B4-BE49-F238E27FC236}">
                <a16:creationId xmlns:a16="http://schemas.microsoft.com/office/drawing/2014/main" id="{D76E32D8-FBD5-4266-A487-3FCDF1895641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PACKAGING ARCHITECTURE</a:t>
            </a:r>
          </a:p>
        </p:txBody>
      </p:sp>
      <p:sp>
        <p:nvSpPr>
          <p:cNvPr id="2" name="12">
            <a:extLst>
              <a:ext uri="{FF2B5EF4-FFF2-40B4-BE49-F238E27FC236}">
                <a16:creationId xmlns:a16="http://schemas.microsoft.com/office/drawing/2014/main" id="{8742FF1D-33F9-4B0C-8746-706B7B730113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12</a:t>
            </a:r>
          </a:p>
        </p:txBody>
      </p:sp>
      <p:sp>
        <p:nvSpPr>
          <p:cNvPr id="3" name="Property Edition">
            <a:extLst>
              <a:ext uri="{FF2B5EF4-FFF2-40B4-BE49-F238E27FC236}">
                <a16:creationId xmlns:a16="http://schemas.microsoft.com/office/drawing/2014/main" id="{5143FF48-0A11-4AF3-BC73-5F2D783FC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ct val="100000"/>
              </a:lnSpc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Property Edition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640EF2-CCED-4E04-930F-8FB79DE2D9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851FA069-FE45-4D1C-B256-1E11ACDF95B1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1.0   WORKING EDITION">
            <a:extLst>
              <a:ext uri="{FF2B5EF4-FFF2-40B4-BE49-F238E27FC236}">
                <a16:creationId xmlns:a16="http://schemas.microsoft.com/office/drawing/2014/main" id="{327F0434-561F-406D-9B65-2D210AC62747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v1.0   WORKING EDITION</a:t>
            </a:r>
          </a:p>
        </p:txBody>
      </p:sp>
      <p:pic>
        <p:nvPicPr>
          <p:cNvPr id="21" name="gem-black" descr="GEM logo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390650" y="2847975"/>
            <a:ext cx="2476500" cy="78384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A3F811F-F157-4D24-89B1-B1FC078E35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390650" y="4324350"/>
            <a:ext cx="36195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9" name="[PROPERTY NAME]">
            <a:extLst>
              <a:ext uri="{FF2B5EF4-FFF2-40B4-BE49-F238E27FC236}">
                <a16:creationId xmlns:a16="http://schemas.microsoft.com/office/drawing/2014/main" id="{EA4848F2-C99E-48E5-ACB0-5A8373C49461}"/>
              </a:ext>
            </a:extLst>
          </p:cNvPr>
          <p:cNvSpPr>
            <a:spLocks noGrp="1"/>
          </p:cNvSpPr>
          <p:nvPr/>
        </p:nvSpPr>
        <p:spPr>
          <a:xfrm>
            <a:off x="1390650" y="4686300"/>
            <a:ext cx="42862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7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775" dirty="0">
                <a:solidFill>
                  <a:srgbClr val="12171D"/>
                </a:solidFill>
                <a:latin typeface="Jost"/>
                <a:ea typeface="Jost"/>
                <a:cs typeface="Jost"/>
              </a:rPr>
              <a:t>[PROPERTY NAME]</a:t>
            </a:r>
          </a:p>
        </p:txBody>
      </p:sp>
      <p:sp>
        <p:nvSpPr>
          <p:cNvPr id="10" name="[RELATIONSHIP PENDING]">
            <a:extLst>
              <a:ext uri="{FF2B5EF4-FFF2-40B4-BE49-F238E27FC236}">
                <a16:creationId xmlns:a16="http://schemas.microsoft.com/office/drawing/2014/main" id="{2D6A4F4C-81EC-4C62-AFE7-E8413DA1DA21}"/>
              </a:ext>
            </a:extLst>
          </p:cNvPr>
          <p:cNvSpPr>
            <a:spLocks noGrp="1"/>
          </p:cNvSpPr>
          <p:nvPr/>
        </p:nvSpPr>
        <p:spPr>
          <a:xfrm>
            <a:off x="1390650" y="5553075"/>
            <a:ext cx="4286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42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425">
                <a:solidFill>
                  <a:srgbClr val="12171D"/>
                </a:solidFill>
                <a:latin typeface="Inter"/>
                <a:ea typeface="Inter"/>
                <a:cs typeface="Inter"/>
              </a:rPr>
              <a:t>[RELATIONSHIP PENDING]</a:t>
            </a:r>
          </a:p>
        </p:txBody>
      </p:sp>
      <p:sp>
        <p:nvSpPr>
          <p:cNvPr id="11" name="A property layer&#10;within the GEM system.">
            <a:extLst>
              <a:ext uri="{FF2B5EF4-FFF2-40B4-BE49-F238E27FC236}">
                <a16:creationId xmlns:a16="http://schemas.microsoft.com/office/drawing/2014/main" id="{F20A887E-7A66-4E1B-9F0D-B83B5B236873}"/>
              </a:ext>
            </a:extLst>
          </p:cNvPr>
          <p:cNvSpPr>
            <a:spLocks noGrp="1"/>
          </p:cNvSpPr>
          <p:nvPr/>
        </p:nvSpPr>
        <p:spPr>
          <a:xfrm>
            <a:off x="7200900" y="2628900"/>
            <a:ext cx="6667500" cy="1438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A property layer</a:t>
            </a:r>
          </a:p>
          <a:p>
            <a:pPr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within the GEM system.</a:t>
            </a:r>
          </a:p>
        </p:txBody>
      </p:sp>
      <p:sp>
        <p:nvSpPr>
          <p:cNvPr id="12" name="Property information follows the agreed relationship. GEM retains its ">
            <a:extLst>
              <a:ext uri="{FF2B5EF4-FFF2-40B4-BE49-F238E27FC236}">
                <a16:creationId xmlns:a16="http://schemas.microsoft.com/office/drawing/2014/main" id="{529819A2-CEA2-4808-A7D4-BF860060ED9D}"/>
              </a:ext>
            </a:extLst>
          </p:cNvPr>
          <p:cNvSpPr>
            <a:spLocks noGrp="1"/>
          </p:cNvSpPr>
          <p:nvPr/>
        </p:nvSpPr>
        <p:spPr>
          <a:xfrm>
            <a:off x="7239000" y="4610100"/>
            <a:ext cx="6286500" cy="1381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875" dirty="0">
                <a:solidFill>
                  <a:srgbClr val="12171D"/>
                </a:solidFill>
                <a:latin typeface="Inter"/>
                <a:ea typeface="Inter"/>
                <a:cs typeface="Inter"/>
              </a:rPr>
              <a:t>Property information follows the agreed relationship. GEM retains its own artwork and </a:t>
            </a:r>
            <a:r>
              <a:rPr sz="1875" dirty="0" err="1">
                <a:solidFill>
                  <a:srgbClr val="12171D"/>
                </a:solidFill>
                <a:latin typeface="Inter"/>
                <a:ea typeface="Inter"/>
                <a:cs typeface="Inter"/>
              </a:rPr>
              <a:t>clearspace</a:t>
            </a:r>
            <a:r>
              <a:rPr sz="1875" dirty="0">
                <a:solidFill>
                  <a:srgbClr val="12171D"/>
                </a:solidFill>
                <a:latin typeface="Inter"/>
                <a:ea typeface="Inter"/>
                <a:cs typeface="Inter"/>
              </a:rPr>
              <a:t>. Each partner’s mark remains independent.</a:t>
            </a:r>
          </a:p>
        </p:txBody>
      </p:sp>
      <p:sp>
        <p:nvSpPr>
          <p:cNvPr id="13" name="Partner artwork and precedence: [REQUIRES OWNER]">
            <a:extLst>
              <a:ext uri="{FF2B5EF4-FFF2-40B4-BE49-F238E27FC236}">
                <a16:creationId xmlns:a16="http://schemas.microsoft.com/office/drawing/2014/main" id="{10D78B08-5989-4E6C-B26A-AAD5F63A2BDB}"/>
              </a:ext>
            </a:extLst>
          </p:cNvPr>
          <p:cNvSpPr>
            <a:spLocks noGrp="1"/>
          </p:cNvSpPr>
          <p:nvPr/>
        </p:nvSpPr>
        <p:spPr>
          <a:xfrm>
            <a:off x="7239000" y="6610350"/>
            <a:ext cx="619125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 dirty="0">
                <a:solidFill>
                  <a:srgbClr val="12171D"/>
                </a:solidFill>
                <a:latin typeface="Inter"/>
                <a:ea typeface="Inter"/>
                <a:cs typeface="Inter"/>
              </a:rPr>
              <a:t>Partner artwork and precedence: [REQUIRES OWNER]</a:t>
            </a:r>
          </a:p>
        </p:txBody>
      </p:sp>
      <p:sp>
        <p:nvSpPr>
          <p:cNvPr id="14" name="CONDITIONAL   /   CONCEPT / NOT PRODUCTION ARTWORK">
            <a:extLst>
              <a:ext uri="{FF2B5EF4-FFF2-40B4-BE49-F238E27FC236}">
                <a16:creationId xmlns:a16="http://schemas.microsoft.com/office/drawing/2014/main" id="{6F7C6684-F1FE-46A9-B80E-355C997062A4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CONDITIONAL   /   CONCEPT / NOT PRODUCTION ARTWORK</a:t>
            </a:r>
          </a:p>
        </p:txBody>
      </p:sp>
    </p:spTree>
    <p:extLst>
      <p:ext uri="{BB962C8B-B14F-4D97-AF65-F5344CB8AC3E}">
        <p14:creationId xmlns:p14="http://schemas.microsoft.com/office/powerpoint/2010/main" val="6442903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ACKAGING ARCHITECTURE">
            <a:extLst>
              <a:ext uri="{FF2B5EF4-FFF2-40B4-BE49-F238E27FC236}">
                <a16:creationId xmlns:a16="http://schemas.microsoft.com/office/drawing/2014/main" id="{57596BE8-C804-4522-A9EC-83565E46B8A5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PACKAGING ARCHITECTURE</a:t>
            </a:r>
          </a:p>
        </p:txBody>
      </p:sp>
      <p:sp>
        <p:nvSpPr>
          <p:cNvPr id="2" name="13">
            <a:extLst>
              <a:ext uri="{FF2B5EF4-FFF2-40B4-BE49-F238E27FC236}">
                <a16:creationId xmlns:a16="http://schemas.microsoft.com/office/drawing/2014/main" id="{AC9CE7E0-51B7-4940-B1DC-A74964EA8EBB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13</a:t>
            </a:r>
          </a:p>
        </p:txBody>
      </p:sp>
      <p:sp>
        <p:nvSpPr>
          <p:cNvPr id="3" name="Bespoke Programme">
            <a:extLst>
              <a:ext uri="{FF2B5EF4-FFF2-40B4-BE49-F238E27FC236}">
                <a16:creationId xmlns:a16="http://schemas.microsoft.com/office/drawing/2014/main" id="{6B738F97-A7A6-421C-B037-A980267F6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ct val="100000"/>
              </a:lnSpc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Bespoke Programme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E893BE-6EA8-4A57-BD2B-2721D3DC0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7EA60365-6736-4D68-B28A-CA83A9CA5779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1.0   WORKING EDITION">
            <a:extLst>
              <a:ext uri="{FF2B5EF4-FFF2-40B4-BE49-F238E27FC236}">
                <a16:creationId xmlns:a16="http://schemas.microsoft.com/office/drawing/2014/main" id="{F56DC1BE-0179-43DD-ADAD-AD4B01ECAE57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v1.0   WORKING EDITION</a:t>
            </a:r>
          </a:p>
        </p:txBody>
      </p:sp>
      <p:pic>
        <p:nvPicPr>
          <p:cNvPr id="17" name="box" descr="Concept image: open GEM amenities gift box holding five bottles (shampoo, conditioner, body wash, body lotion, hand wash), its lid showing the GEM wordmark and an Arabic collection name.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05525" y="2171700"/>
            <a:ext cx="7829550" cy="5219700"/>
          </a:xfrm>
          <a:prstGeom prst="rect">
            <a:avLst/>
          </a:prstGeom>
        </p:spPr>
      </p:pic>
      <p:sp>
        <p:nvSpPr>
          <p:cNvPr id="8" name="A considered&#10;unboxing.">
            <a:extLst>
              <a:ext uri="{FF2B5EF4-FFF2-40B4-BE49-F238E27FC236}">
                <a16:creationId xmlns:a16="http://schemas.microsoft.com/office/drawing/2014/main" id="{78BCE256-5B06-406F-93C6-354EA88F9876}"/>
              </a:ext>
            </a:extLst>
          </p:cNvPr>
          <p:cNvSpPr>
            <a:spLocks noGrp="1"/>
          </p:cNvSpPr>
          <p:nvPr/>
        </p:nvSpPr>
        <p:spPr>
          <a:xfrm>
            <a:off x="914400" y="2686050"/>
            <a:ext cx="4552950" cy="1695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450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500">
                <a:solidFill>
                  <a:srgbClr val="12171D"/>
                </a:solidFill>
                <a:latin typeface="Jost"/>
                <a:ea typeface="Jost"/>
                <a:cs typeface="Jost"/>
              </a:rPr>
              <a:t>A considered</a:t>
            </a:r>
          </a:p>
          <a:p>
            <a:pPr>
              <a:defRPr sz="450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500">
                <a:solidFill>
                  <a:srgbClr val="12171D"/>
                </a:solidFill>
                <a:latin typeface="Jost"/>
                <a:ea typeface="Jost"/>
                <a:cs typeface="Jost"/>
              </a:rPr>
              <a:t>unboxing.</a:t>
            </a:r>
          </a:p>
        </p:txBody>
      </p:sp>
      <p:sp>
        <p:nvSpPr>
          <p:cNvPr id="9" name="The identity remains fixed.&#10;Structure is developed against&#10;a confirmed">
            <a:extLst>
              <a:ext uri="{FF2B5EF4-FFF2-40B4-BE49-F238E27FC236}">
                <a16:creationId xmlns:a16="http://schemas.microsoft.com/office/drawing/2014/main" id="{C112EFFB-67A6-47F2-A79B-CC531C43526E}"/>
              </a:ext>
            </a:extLst>
          </p:cNvPr>
          <p:cNvSpPr>
            <a:spLocks noGrp="1"/>
          </p:cNvSpPr>
          <p:nvPr/>
        </p:nvSpPr>
        <p:spPr>
          <a:xfrm>
            <a:off x="952500" y="4819650"/>
            <a:ext cx="4324350" cy="1428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950">
                <a:solidFill>
                  <a:srgbClr val="12171D"/>
                </a:solidFill>
                <a:latin typeface="Inter"/>
                <a:ea typeface="Inter"/>
                <a:cs typeface="Inter"/>
              </a:rPr>
              <a:t>The identity remains fixed.</a:t>
            </a:r>
          </a:p>
          <a:p>
            <a:pPr>
              <a:defRPr sz="19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950">
                <a:solidFill>
                  <a:srgbClr val="12171D"/>
                </a:solidFill>
                <a:latin typeface="Inter"/>
                <a:ea typeface="Inter"/>
                <a:cs typeface="Inter"/>
              </a:rPr>
              <a:t>Structure is developed against</a:t>
            </a:r>
          </a:p>
          <a:p>
            <a:pPr>
              <a:defRPr sz="19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950">
                <a:solidFill>
                  <a:srgbClr val="12171D"/>
                </a:solidFill>
                <a:latin typeface="Inter"/>
                <a:ea typeface="Inter"/>
                <a:cs typeface="Inter"/>
              </a:rPr>
              <a:t>a confirmed brief.</a:t>
            </a:r>
          </a:p>
        </p:txBody>
      </p:sp>
      <p:sp>
        <p:nvSpPr>
          <p:cNvPr id="10" name="CONDITIONAL   /   STRUCTURAL CONCEPT   /   SUPPLIER PROOF REQUIRED">
            <a:extLst>
              <a:ext uri="{FF2B5EF4-FFF2-40B4-BE49-F238E27FC236}">
                <a16:creationId xmlns:a16="http://schemas.microsoft.com/office/drawing/2014/main" id="{5F8E90A6-50DB-464D-9B6F-85C444AEF3CF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CONDITIONAL   /   STRUCTURAL CONCEPT   /   SUPPLIER PROOF REQUIRED</a:t>
            </a:r>
          </a:p>
        </p:txBody>
      </p:sp>
    </p:spTree>
    <p:extLst>
      <p:ext uri="{BB962C8B-B14F-4D97-AF65-F5344CB8AC3E}">
        <p14:creationId xmlns:p14="http://schemas.microsoft.com/office/powerpoint/2010/main" val="15003890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LABEL ARCHITECTURE">
            <a:extLst>
              <a:ext uri="{FF2B5EF4-FFF2-40B4-BE49-F238E27FC236}">
                <a16:creationId xmlns:a16="http://schemas.microsoft.com/office/drawing/2014/main" id="{18157745-E63F-4B33-88C9-163BA31CAF61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LABEL ARCHITECTURE</a:t>
            </a:r>
          </a:p>
        </p:txBody>
      </p:sp>
      <p:sp>
        <p:nvSpPr>
          <p:cNvPr id="2" name="14">
            <a:extLst>
              <a:ext uri="{FF2B5EF4-FFF2-40B4-BE49-F238E27FC236}">
                <a16:creationId xmlns:a16="http://schemas.microsoft.com/office/drawing/2014/main" id="{12A0CA81-DD24-42D5-A4DF-C84AC9CB7AC9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14</a:t>
            </a:r>
          </a:p>
        </p:txBody>
      </p:sp>
      <p:sp>
        <p:nvSpPr>
          <p:cNvPr id="3" name="Six levels of information">
            <a:extLst>
              <a:ext uri="{FF2B5EF4-FFF2-40B4-BE49-F238E27FC236}">
                <a16:creationId xmlns:a16="http://schemas.microsoft.com/office/drawing/2014/main" id="{6C8C82CF-A1D1-42A6-84B3-14488E7E9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ct val="100000"/>
              </a:lnSpc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Six levels of information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01A938-4087-467F-8BBD-E3D698E61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9B5ABA3D-82EA-4FDC-ABC4-102AAFFFFC53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1.0   WORKING EDITION">
            <a:extLst>
              <a:ext uri="{FF2B5EF4-FFF2-40B4-BE49-F238E27FC236}">
                <a16:creationId xmlns:a16="http://schemas.microsoft.com/office/drawing/2014/main" id="{AD5FD83B-E926-4DB5-A291-E5C0F5D513F3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v1.0   WORKING EDITION</a:t>
            </a:r>
          </a:p>
        </p:txBody>
      </p:sp>
      <p:sp>
        <p:nvSpPr>
          <p:cNvPr id="7" name="01">
            <a:extLst>
              <a:ext uri="{FF2B5EF4-FFF2-40B4-BE49-F238E27FC236}">
                <a16:creationId xmlns:a16="http://schemas.microsoft.com/office/drawing/2014/main" id="{8891BE0B-4309-45DF-83A9-0A52F8EA0A90}"/>
              </a:ext>
            </a:extLst>
          </p:cNvPr>
          <p:cNvSpPr>
            <a:spLocks noGrp="1"/>
          </p:cNvSpPr>
          <p:nvPr/>
        </p:nvSpPr>
        <p:spPr>
          <a:xfrm>
            <a:off x="914400" y="2381250"/>
            <a:ext cx="7334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025">
                <a:solidFill>
                  <a:srgbClr val="12171D"/>
                </a:solidFill>
                <a:latin typeface="Jost"/>
                <a:ea typeface="Jost"/>
                <a:cs typeface="Jost"/>
              </a:rPr>
              <a:t>01</a:t>
            </a:r>
          </a:p>
        </p:txBody>
      </p:sp>
      <p:sp>
        <p:nvSpPr>
          <p:cNvPr id="8" name="GEM master artwork">
            <a:extLst>
              <a:ext uri="{FF2B5EF4-FFF2-40B4-BE49-F238E27FC236}">
                <a16:creationId xmlns:a16="http://schemas.microsoft.com/office/drawing/2014/main" id="{0BC10A90-2C35-4E88-89CA-3BD3410FEE32}"/>
              </a:ext>
            </a:extLst>
          </p:cNvPr>
          <p:cNvSpPr>
            <a:spLocks noGrp="1"/>
          </p:cNvSpPr>
          <p:nvPr/>
        </p:nvSpPr>
        <p:spPr>
          <a:xfrm>
            <a:off x="1857375" y="2381250"/>
            <a:ext cx="6286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475">
                <a:solidFill>
                  <a:srgbClr val="12171D"/>
                </a:solidFill>
                <a:latin typeface="Jost"/>
                <a:ea typeface="Jost"/>
                <a:cs typeface="Jost"/>
              </a:rPr>
              <a:t>GEM master artwork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4636D9-8854-4667-B0CF-2D78D4DFB3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857375" y="2990850"/>
            <a:ext cx="619125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0" name="02">
            <a:extLst>
              <a:ext uri="{FF2B5EF4-FFF2-40B4-BE49-F238E27FC236}">
                <a16:creationId xmlns:a16="http://schemas.microsoft.com/office/drawing/2014/main" id="{0A6EE3AC-9AEA-4B55-9DF7-46464AA2B53B}"/>
              </a:ext>
            </a:extLst>
          </p:cNvPr>
          <p:cNvSpPr>
            <a:spLocks noGrp="1"/>
          </p:cNvSpPr>
          <p:nvPr/>
        </p:nvSpPr>
        <p:spPr>
          <a:xfrm>
            <a:off x="914400" y="3143250"/>
            <a:ext cx="7334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025">
                <a:solidFill>
                  <a:srgbClr val="12171D"/>
                </a:solidFill>
                <a:latin typeface="Jost"/>
                <a:ea typeface="Jost"/>
                <a:cs typeface="Jost"/>
              </a:rPr>
              <a:t>02</a:t>
            </a:r>
          </a:p>
        </p:txBody>
      </p:sp>
      <p:sp>
        <p:nvSpPr>
          <p:cNvPr id="11" name="Collection / tier">
            <a:extLst>
              <a:ext uri="{FF2B5EF4-FFF2-40B4-BE49-F238E27FC236}">
                <a16:creationId xmlns:a16="http://schemas.microsoft.com/office/drawing/2014/main" id="{D4694F02-57B7-4ECC-9998-469F22E9A6DB}"/>
              </a:ext>
            </a:extLst>
          </p:cNvPr>
          <p:cNvSpPr>
            <a:spLocks noGrp="1"/>
          </p:cNvSpPr>
          <p:nvPr/>
        </p:nvSpPr>
        <p:spPr>
          <a:xfrm>
            <a:off x="1857375" y="3143250"/>
            <a:ext cx="6286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2025">
                <a:solidFill>
                  <a:srgbClr val="12171D"/>
                </a:solidFill>
                <a:latin typeface="Inter"/>
                <a:ea typeface="Inter"/>
                <a:cs typeface="Inter"/>
              </a:rPr>
              <a:t>Collection / tier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91BB8A-340D-4548-848D-9CCEA4346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857375" y="3752850"/>
            <a:ext cx="619125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3" name="03">
            <a:extLst>
              <a:ext uri="{FF2B5EF4-FFF2-40B4-BE49-F238E27FC236}">
                <a16:creationId xmlns:a16="http://schemas.microsoft.com/office/drawing/2014/main" id="{57D2F8F9-9A52-498B-9CBE-A7FA2BC2B2E7}"/>
              </a:ext>
            </a:extLst>
          </p:cNvPr>
          <p:cNvSpPr>
            <a:spLocks noGrp="1"/>
          </p:cNvSpPr>
          <p:nvPr/>
        </p:nvSpPr>
        <p:spPr>
          <a:xfrm>
            <a:off x="914400" y="3905250"/>
            <a:ext cx="7334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025">
                <a:solidFill>
                  <a:srgbClr val="12171D"/>
                </a:solidFill>
                <a:latin typeface="Jost"/>
                <a:ea typeface="Jost"/>
                <a:cs typeface="Jost"/>
              </a:rPr>
              <a:t>03</a:t>
            </a:r>
          </a:p>
        </p:txBody>
      </p:sp>
      <p:sp>
        <p:nvSpPr>
          <p:cNvPr id="14" name="Product / function">
            <a:extLst>
              <a:ext uri="{FF2B5EF4-FFF2-40B4-BE49-F238E27FC236}">
                <a16:creationId xmlns:a16="http://schemas.microsoft.com/office/drawing/2014/main" id="{E9308852-3180-4813-8286-DC4072A35E80}"/>
              </a:ext>
            </a:extLst>
          </p:cNvPr>
          <p:cNvSpPr>
            <a:spLocks noGrp="1"/>
          </p:cNvSpPr>
          <p:nvPr/>
        </p:nvSpPr>
        <p:spPr>
          <a:xfrm>
            <a:off x="1857375" y="3905250"/>
            <a:ext cx="6286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2025">
                <a:solidFill>
                  <a:srgbClr val="12171D"/>
                </a:solidFill>
                <a:latin typeface="Inter"/>
                <a:ea typeface="Inter"/>
                <a:cs typeface="Inter"/>
              </a:rPr>
              <a:t>Product / function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870D5CA-2CA0-45BF-BCDB-91BA9D857F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857375" y="4514850"/>
            <a:ext cx="619125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6" name="04">
            <a:extLst>
              <a:ext uri="{FF2B5EF4-FFF2-40B4-BE49-F238E27FC236}">
                <a16:creationId xmlns:a16="http://schemas.microsoft.com/office/drawing/2014/main" id="{40E05483-C68C-4591-9F90-DB5B1D7D27F5}"/>
              </a:ext>
            </a:extLst>
          </p:cNvPr>
          <p:cNvSpPr>
            <a:spLocks noGrp="1"/>
          </p:cNvSpPr>
          <p:nvPr/>
        </p:nvSpPr>
        <p:spPr>
          <a:xfrm>
            <a:off x="914400" y="4667250"/>
            <a:ext cx="7334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025">
                <a:solidFill>
                  <a:srgbClr val="12171D"/>
                </a:solidFill>
                <a:latin typeface="Jost"/>
                <a:ea typeface="Jost"/>
                <a:cs typeface="Jost"/>
              </a:rPr>
              <a:t>04</a:t>
            </a:r>
          </a:p>
        </p:txBody>
      </p:sp>
      <p:sp>
        <p:nvSpPr>
          <p:cNvPr id="17" name="Quantity / size">
            <a:extLst>
              <a:ext uri="{FF2B5EF4-FFF2-40B4-BE49-F238E27FC236}">
                <a16:creationId xmlns:a16="http://schemas.microsoft.com/office/drawing/2014/main" id="{8386560A-6E4C-4985-B2EC-2DA3D7323333}"/>
              </a:ext>
            </a:extLst>
          </p:cNvPr>
          <p:cNvSpPr>
            <a:spLocks noGrp="1"/>
          </p:cNvSpPr>
          <p:nvPr/>
        </p:nvSpPr>
        <p:spPr>
          <a:xfrm>
            <a:off x="1857375" y="4667250"/>
            <a:ext cx="6286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2025">
                <a:solidFill>
                  <a:srgbClr val="12171D"/>
                </a:solidFill>
                <a:latin typeface="Inter"/>
                <a:ea typeface="Inter"/>
                <a:cs typeface="Inter"/>
              </a:rPr>
              <a:t>Quantity / size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A6C263-2DD6-403B-975D-AC1BA6E4F6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857375" y="5276850"/>
            <a:ext cx="619125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9" name="05">
            <a:extLst>
              <a:ext uri="{FF2B5EF4-FFF2-40B4-BE49-F238E27FC236}">
                <a16:creationId xmlns:a16="http://schemas.microsoft.com/office/drawing/2014/main" id="{D2AB1813-CF91-44C7-8ED1-F85DC052C106}"/>
              </a:ext>
            </a:extLst>
          </p:cNvPr>
          <p:cNvSpPr>
            <a:spLocks noGrp="1"/>
          </p:cNvSpPr>
          <p:nvPr/>
        </p:nvSpPr>
        <p:spPr>
          <a:xfrm>
            <a:off x="914400" y="5429250"/>
            <a:ext cx="7334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025">
                <a:solidFill>
                  <a:srgbClr val="12171D"/>
                </a:solidFill>
                <a:latin typeface="Jost"/>
                <a:ea typeface="Jost"/>
                <a:cs typeface="Jost"/>
              </a:rPr>
              <a:t>05</a:t>
            </a:r>
          </a:p>
        </p:txBody>
      </p:sp>
      <p:sp>
        <p:nvSpPr>
          <p:cNvPr id="20" name="Instructions / market information">
            <a:extLst>
              <a:ext uri="{FF2B5EF4-FFF2-40B4-BE49-F238E27FC236}">
                <a16:creationId xmlns:a16="http://schemas.microsoft.com/office/drawing/2014/main" id="{6D27766B-5503-4E5A-8C87-49AECF962C60}"/>
              </a:ext>
            </a:extLst>
          </p:cNvPr>
          <p:cNvSpPr>
            <a:spLocks noGrp="1"/>
          </p:cNvSpPr>
          <p:nvPr/>
        </p:nvSpPr>
        <p:spPr>
          <a:xfrm>
            <a:off x="1857375" y="5429250"/>
            <a:ext cx="6286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2025">
                <a:solidFill>
                  <a:srgbClr val="12171D"/>
                </a:solidFill>
                <a:latin typeface="Inter"/>
                <a:ea typeface="Inter"/>
                <a:cs typeface="Inter"/>
              </a:rPr>
              <a:t>Instructions / market information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39E29BF-AC78-47AB-B615-F6AF14A4F4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857375" y="6038850"/>
            <a:ext cx="619125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22" name="06">
            <a:extLst>
              <a:ext uri="{FF2B5EF4-FFF2-40B4-BE49-F238E27FC236}">
                <a16:creationId xmlns:a16="http://schemas.microsoft.com/office/drawing/2014/main" id="{1B29535F-E8AF-4E0C-AEE7-8FF639EC9E10}"/>
              </a:ext>
            </a:extLst>
          </p:cNvPr>
          <p:cNvSpPr>
            <a:spLocks noGrp="1"/>
          </p:cNvSpPr>
          <p:nvPr/>
        </p:nvSpPr>
        <p:spPr>
          <a:xfrm>
            <a:off x="914400" y="6191250"/>
            <a:ext cx="7334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025">
                <a:solidFill>
                  <a:srgbClr val="12171D"/>
                </a:solidFill>
                <a:latin typeface="Jost"/>
                <a:ea typeface="Jost"/>
                <a:cs typeface="Jost"/>
              </a:rPr>
              <a:t>06</a:t>
            </a:r>
          </a:p>
        </p:txBody>
      </p:sp>
      <p:sp>
        <p:nvSpPr>
          <p:cNvPr id="23" name="SKU / artwork version">
            <a:extLst>
              <a:ext uri="{FF2B5EF4-FFF2-40B4-BE49-F238E27FC236}">
                <a16:creationId xmlns:a16="http://schemas.microsoft.com/office/drawing/2014/main" id="{3349173E-ACC6-44BE-9B04-D36A76C7F5FC}"/>
              </a:ext>
            </a:extLst>
          </p:cNvPr>
          <p:cNvSpPr>
            <a:spLocks noGrp="1"/>
          </p:cNvSpPr>
          <p:nvPr/>
        </p:nvSpPr>
        <p:spPr>
          <a:xfrm>
            <a:off x="1857375" y="6191250"/>
            <a:ext cx="6286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2025">
                <a:solidFill>
                  <a:srgbClr val="12171D"/>
                </a:solidFill>
                <a:latin typeface="Inter"/>
                <a:ea typeface="Inter"/>
                <a:cs typeface="Inter"/>
              </a:rPr>
              <a:t>SKU / artwork version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D7C2B96-A4F9-4D34-8B4D-E68DA03372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857375" y="6800850"/>
            <a:ext cx="619125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D53F110-7A8F-49A7-9D4B-7F3A07FB88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8915400" y="2381250"/>
            <a:ext cx="9525" cy="452437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26" name="Localization space">
            <a:extLst>
              <a:ext uri="{FF2B5EF4-FFF2-40B4-BE49-F238E27FC236}">
                <a16:creationId xmlns:a16="http://schemas.microsoft.com/office/drawing/2014/main" id="{507F9A58-14AA-4EB6-86F6-7B6FF77C284E}"/>
              </a:ext>
            </a:extLst>
          </p:cNvPr>
          <p:cNvSpPr>
            <a:spLocks noGrp="1"/>
          </p:cNvSpPr>
          <p:nvPr/>
        </p:nvSpPr>
        <p:spPr>
          <a:xfrm>
            <a:off x="9620250" y="2447925"/>
            <a:ext cx="461962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5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550">
                <a:solidFill>
                  <a:srgbClr val="12171D"/>
                </a:solidFill>
                <a:latin typeface="Jost"/>
                <a:ea typeface="Jost"/>
                <a:cs typeface="Jost"/>
              </a:rPr>
              <a:t>Localization space</a:t>
            </a:r>
          </a:p>
        </p:txBody>
      </p:sp>
      <p:sp>
        <p:nvSpPr>
          <p:cNvPr id="27" name="Arabic copy [PENDING]&#10;&#10;Native RTL composition.&#10;No letterspacing.&#10;Logo ">
            <a:extLst>
              <a:ext uri="{FF2B5EF4-FFF2-40B4-BE49-F238E27FC236}">
                <a16:creationId xmlns:a16="http://schemas.microsoft.com/office/drawing/2014/main" id="{4C0A4A95-067E-47B3-A808-83611F30B909}"/>
              </a:ext>
            </a:extLst>
          </p:cNvPr>
          <p:cNvSpPr>
            <a:spLocks noGrp="1"/>
          </p:cNvSpPr>
          <p:nvPr/>
        </p:nvSpPr>
        <p:spPr>
          <a:xfrm>
            <a:off x="9648825" y="3333750"/>
            <a:ext cx="4476750" cy="2762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12171D"/>
                </a:solidFill>
                <a:latin typeface="Inter"/>
                <a:ea typeface="Inter"/>
                <a:cs typeface="Inter"/>
              </a:rPr>
              <a:t>Arabic copy [PENDING]</a:t>
            </a:r>
          </a:p>
          <a:p>
            <a:endParaRPr sz="1800">
              <a:solidFill>
                <a:srgbClr val="12171D"/>
              </a:solidFill>
              <a:latin typeface="Inter"/>
              <a:ea typeface="Inter"/>
              <a:cs typeface="Inter"/>
            </a:endParaRPr>
          </a:p>
          <a:p>
            <a:pPr>
              <a:defRPr sz="18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12171D"/>
                </a:solidFill>
                <a:latin typeface="Inter"/>
                <a:ea typeface="Inter"/>
                <a:cs typeface="Inter"/>
              </a:rPr>
              <a:t>Native RTL composition.</a:t>
            </a:r>
          </a:p>
          <a:p>
            <a:pPr>
              <a:defRPr sz="18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12171D"/>
                </a:solidFill>
                <a:latin typeface="Inter"/>
                <a:ea typeface="Inter"/>
                <a:cs typeface="Inter"/>
              </a:rPr>
              <a:t>No letterspacing.</a:t>
            </a:r>
          </a:p>
          <a:p>
            <a:pPr>
              <a:defRPr sz="18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12171D"/>
                </a:solidFill>
                <a:latin typeface="Inter"/>
                <a:ea typeface="Inter"/>
                <a:cs typeface="Inter"/>
              </a:rPr>
              <a:t>Logo orientation unchanged.</a:t>
            </a:r>
          </a:p>
          <a:p>
            <a:pPr>
              <a:defRPr sz="18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12171D"/>
                </a:solidFill>
                <a:latin typeface="Inter"/>
                <a:ea typeface="Inter"/>
                <a:cs typeface="Inter"/>
              </a:rPr>
              <a:t>Technical identifiers remain LTR.</a:t>
            </a:r>
          </a:p>
        </p:txBody>
      </p:sp>
      <p:sp>
        <p:nvSpPr>
          <p:cNvPr id="28" name="PENDING LOCALIZATION APPROVAL">
            <a:extLst>
              <a:ext uri="{FF2B5EF4-FFF2-40B4-BE49-F238E27FC236}">
                <a16:creationId xmlns:a16="http://schemas.microsoft.com/office/drawing/2014/main" id="{62600094-5E77-45A7-8220-BDE6F928C20E}"/>
              </a:ext>
            </a:extLst>
          </p:cNvPr>
          <p:cNvSpPr>
            <a:spLocks noGrp="1"/>
          </p:cNvSpPr>
          <p:nvPr/>
        </p:nvSpPr>
        <p:spPr>
          <a:xfrm>
            <a:off x="9648825" y="6610350"/>
            <a:ext cx="44767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3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350">
                <a:solidFill>
                  <a:srgbClr val="12171D"/>
                </a:solidFill>
                <a:latin typeface="Inter"/>
                <a:ea typeface="Inter"/>
                <a:cs typeface="Inter"/>
              </a:rPr>
              <a:t>PENDING LOCALIZATION APPROVAL</a:t>
            </a:r>
          </a:p>
        </p:txBody>
      </p:sp>
      <p:sp>
        <p:nvSpPr>
          <p:cNvPr id="29" name="CONCEPT / NOT PRODUCTION ARTWORK   /   LABEL DATA REMAINS PENDING">
            <a:extLst>
              <a:ext uri="{FF2B5EF4-FFF2-40B4-BE49-F238E27FC236}">
                <a16:creationId xmlns:a16="http://schemas.microsoft.com/office/drawing/2014/main" id="{1461F495-D2EE-455C-AF00-836C85C464E9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CONCEPT / NOT PRODUCTION ARTWORK   /   LABEL DATA REMAINS PENDING</a:t>
            </a:r>
          </a:p>
        </p:txBody>
      </p:sp>
    </p:spTree>
    <p:extLst>
      <p:ext uri="{BB962C8B-B14F-4D97-AF65-F5344CB8AC3E}">
        <p14:creationId xmlns:p14="http://schemas.microsoft.com/office/powerpoint/2010/main" val="15779651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7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TRUCTURAL FRAMEWORK">
            <a:extLst>
              <a:ext uri="{FF2B5EF4-FFF2-40B4-BE49-F238E27FC236}">
                <a16:creationId xmlns:a16="http://schemas.microsoft.com/office/drawing/2014/main" id="{4B4018CF-C46E-4CE6-A6EF-E8D5D4C488BF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BCACA7"/>
                </a:solidFill>
                <a:latin typeface="Inter"/>
                <a:ea typeface="Inter"/>
                <a:cs typeface="Inter"/>
              </a:rPr>
              <a:t>STRUCTURAL FRAMEWORK</a:t>
            </a:r>
          </a:p>
        </p:txBody>
      </p:sp>
      <p:sp>
        <p:nvSpPr>
          <p:cNvPr id="2" name="15">
            <a:extLst>
              <a:ext uri="{FF2B5EF4-FFF2-40B4-BE49-F238E27FC236}">
                <a16:creationId xmlns:a16="http://schemas.microsoft.com/office/drawing/2014/main" id="{28F09969-5E30-4E6C-A90B-8EF0E6B3CB16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BCACA7"/>
                </a:solidFill>
                <a:latin typeface="Inter"/>
                <a:ea typeface="Inter"/>
                <a:cs typeface="Inter"/>
              </a:rPr>
              <a:t>15</a:t>
            </a:r>
          </a:p>
        </p:txBody>
      </p:sp>
      <p:sp>
        <p:nvSpPr>
          <p:cNvPr id="3" name="Structure follows the supplier brief">
            <a:extLst>
              <a:ext uri="{FF2B5EF4-FFF2-40B4-BE49-F238E27FC236}">
                <a16:creationId xmlns:a16="http://schemas.microsoft.com/office/drawing/2014/main" id="{40206772-8D15-4C68-A6FF-19569E733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ct val="100000"/>
              </a:lnSpc>
              <a:defRPr sz="4350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FFFFFF"/>
                </a:solidFill>
                <a:latin typeface="Jost"/>
                <a:ea typeface="Jost"/>
                <a:cs typeface="Jost"/>
              </a:rPr>
              <a:t>Structure follows the supplier brief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9C6013-7974-4F31-9C0C-73D5A751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89947CD4-FCF7-4846-AB5A-2377508CE23D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FFFFFF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1.0   WORKING EDITION">
            <a:extLst>
              <a:ext uri="{FF2B5EF4-FFF2-40B4-BE49-F238E27FC236}">
                <a16:creationId xmlns:a16="http://schemas.microsoft.com/office/drawing/2014/main" id="{F0F204AD-F61E-4FC3-A274-BD28574FF88D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BCACA7"/>
                </a:solidFill>
                <a:latin typeface="Inter"/>
                <a:ea typeface="Inter"/>
                <a:cs typeface="Inter"/>
              </a:rPr>
              <a:t>v1.0   WORKING EDITION</a:t>
            </a:r>
          </a:p>
        </p:txBody>
      </p:sp>
      <p:sp>
        <p:nvSpPr>
          <p:cNvPr id="7" name="Primary pack">
            <a:extLst>
              <a:ext uri="{FF2B5EF4-FFF2-40B4-BE49-F238E27FC236}">
                <a16:creationId xmlns:a16="http://schemas.microsoft.com/office/drawing/2014/main" id="{6C93539D-5051-4473-ACE4-732CB8EFACE0}"/>
              </a:ext>
            </a:extLst>
          </p:cNvPr>
          <p:cNvSpPr>
            <a:spLocks noGrp="1"/>
          </p:cNvSpPr>
          <p:nvPr/>
        </p:nvSpPr>
        <p:spPr>
          <a:xfrm>
            <a:off x="914400" y="3209925"/>
            <a:ext cx="39052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22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3225">
                <a:solidFill>
                  <a:srgbClr val="FFFFFF"/>
                </a:solidFill>
                <a:latin typeface="Jost"/>
                <a:ea typeface="Jost"/>
                <a:cs typeface="Jost"/>
              </a:rPr>
              <a:t>Primary pack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927F86-5653-43AC-B93B-09927E955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14400" y="4457700"/>
            <a:ext cx="390525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9" name="Format, resin and closure&#10;[REQUIRES SUPPLIER]">
            <a:extLst>
              <a:ext uri="{FF2B5EF4-FFF2-40B4-BE49-F238E27FC236}">
                <a16:creationId xmlns:a16="http://schemas.microsoft.com/office/drawing/2014/main" id="{70AA6F12-100D-448A-87E8-B82D910A093F}"/>
              </a:ext>
            </a:extLst>
          </p:cNvPr>
          <p:cNvSpPr>
            <a:spLocks noGrp="1"/>
          </p:cNvSpPr>
          <p:nvPr/>
        </p:nvSpPr>
        <p:spPr>
          <a:xfrm>
            <a:off x="914400" y="4933950"/>
            <a:ext cx="3990975" cy="1304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950">
                <a:solidFill>
                  <a:srgbClr val="FFFFFF"/>
                </a:solidFill>
                <a:latin typeface="Inter"/>
                <a:ea typeface="Inter"/>
                <a:cs typeface="Inter"/>
              </a:rPr>
              <a:t>Format, resin and closure</a:t>
            </a:r>
          </a:p>
          <a:p>
            <a:pPr>
              <a:defRPr sz="195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950">
                <a:solidFill>
                  <a:srgbClr val="FFFFFF"/>
                </a:solidFill>
                <a:latin typeface="Inter"/>
                <a:ea typeface="Inter"/>
                <a:cs typeface="Inter"/>
              </a:rPr>
              <a:t>[REQUIRES SUPPLIER]</a:t>
            </a:r>
          </a:p>
        </p:txBody>
      </p:sp>
      <p:sp>
        <p:nvSpPr>
          <p:cNvPr id="10" name="Secondary pack">
            <a:extLst>
              <a:ext uri="{FF2B5EF4-FFF2-40B4-BE49-F238E27FC236}">
                <a16:creationId xmlns:a16="http://schemas.microsoft.com/office/drawing/2014/main" id="{FDCB2B14-6807-4DD1-BBE2-BB791A345783}"/>
              </a:ext>
            </a:extLst>
          </p:cNvPr>
          <p:cNvSpPr>
            <a:spLocks noGrp="1"/>
          </p:cNvSpPr>
          <p:nvPr/>
        </p:nvSpPr>
        <p:spPr>
          <a:xfrm>
            <a:off x="5600700" y="3209925"/>
            <a:ext cx="39052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22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3225">
                <a:solidFill>
                  <a:srgbClr val="FFFFFF"/>
                </a:solidFill>
                <a:latin typeface="Jost"/>
                <a:ea typeface="Jost"/>
                <a:cs typeface="Jost"/>
              </a:rPr>
              <a:t>Secondary pack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0444055-DA99-4BD9-887C-376D672F0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600700" y="4457700"/>
            <a:ext cx="390525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2" name="Carton, insert and dieline&#10;[REQUIRES SUPPLIER]">
            <a:extLst>
              <a:ext uri="{FF2B5EF4-FFF2-40B4-BE49-F238E27FC236}">
                <a16:creationId xmlns:a16="http://schemas.microsoft.com/office/drawing/2014/main" id="{A74D96CA-B3DF-4C6B-8FC4-8280FE04409F}"/>
              </a:ext>
            </a:extLst>
          </p:cNvPr>
          <p:cNvSpPr>
            <a:spLocks noGrp="1"/>
          </p:cNvSpPr>
          <p:nvPr/>
        </p:nvSpPr>
        <p:spPr>
          <a:xfrm>
            <a:off x="5600700" y="4933950"/>
            <a:ext cx="3990975" cy="1304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950">
                <a:solidFill>
                  <a:srgbClr val="FFFFFF"/>
                </a:solidFill>
                <a:latin typeface="Inter"/>
                <a:ea typeface="Inter"/>
                <a:cs typeface="Inter"/>
              </a:rPr>
              <a:t>Carton, insert and dieline</a:t>
            </a:r>
          </a:p>
          <a:p>
            <a:pPr>
              <a:defRPr sz="195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950">
                <a:solidFill>
                  <a:srgbClr val="FFFFFF"/>
                </a:solidFill>
                <a:latin typeface="Inter"/>
                <a:ea typeface="Inter"/>
                <a:cs typeface="Inter"/>
              </a:rPr>
              <a:t>[REQUIRES SUPPLIER]</a:t>
            </a:r>
          </a:p>
        </p:txBody>
      </p:sp>
      <p:sp>
        <p:nvSpPr>
          <p:cNvPr id="13" name="Physical proof">
            <a:extLst>
              <a:ext uri="{FF2B5EF4-FFF2-40B4-BE49-F238E27FC236}">
                <a16:creationId xmlns:a16="http://schemas.microsoft.com/office/drawing/2014/main" id="{9EBD39DD-1667-416A-9EFE-D724650ADF44}"/>
              </a:ext>
            </a:extLst>
          </p:cNvPr>
          <p:cNvSpPr>
            <a:spLocks noGrp="1"/>
          </p:cNvSpPr>
          <p:nvPr/>
        </p:nvSpPr>
        <p:spPr>
          <a:xfrm>
            <a:off x="10287000" y="3209925"/>
            <a:ext cx="39052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22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3225">
                <a:solidFill>
                  <a:srgbClr val="FFFFFF"/>
                </a:solidFill>
                <a:latin typeface="Jost"/>
                <a:ea typeface="Jost"/>
                <a:cs typeface="Jost"/>
              </a:rPr>
              <a:t>Physical proof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B2B855E-7404-4C42-95BF-B7A6DD463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287000" y="4457700"/>
            <a:ext cx="390525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5" name="Fit, durability and compatibility&#10;[PENDING PHYSICAL PROOF]">
            <a:extLst>
              <a:ext uri="{FF2B5EF4-FFF2-40B4-BE49-F238E27FC236}">
                <a16:creationId xmlns:a16="http://schemas.microsoft.com/office/drawing/2014/main" id="{A74B4D97-D115-41E0-B0A7-57F8AFFC5A14}"/>
              </a:ext>
            </a:extLst>
          </p:cNvPr>
          <p:cNvSpPr>
            <a:spLocks noGrp="1"/>
          </p:cNvSpPr>
          <p:nvPr/>
        </p:nvSpPr>
        <p:spPr>
          <a:xfrm>
            <a:off x="10287000" y="4933950"/>
            <a:ext cx="3990975" cy="1304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950">
                <a:solidFill>
                  <a:srgbClr val="FFFFFF"/>
                </a:solidFill>
                <a:latin typeface="Inter"/>
                <a:ea typeface="Inter"/>
                <a:cs typeface="Inter"/>
              </a:rPr>
              <a:t>Fit, durability and compatibility</a:t>
            </a:r>
          </a:p>
          <a:p>
            <a:pPr>
              <a:defRPr sz="195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950">
                <a:solidFill>
                  <a:srgbClr val="FFFFFF"/>
                </a:solidFill>
                <a:latin typeface="Inter"/>
                <a:ea typeface="Inter"/>
                <a:cs typeface="Inter"/>
              </a:rPr>
              <a:t>[PENDING PHYSICAL PROOF]</a:t>
            </a:r>
          </a:p>
        </p:txBody>
      </p:sp>
      <p:sp>
        <p:nvSpPr>
          <p:cNvPr id="16" name="Bleed, safe area and tolerances come from the approved supplier dielin">
            <a:extLst>
              <a:ext uri="{FF2B5EF4-FFF2-40B4-BE49-F238E27FC236}">
                <a16:creationId xmlns:a16="http://schemas.microsoft.com/office/drawing/2014/main" id="{F6B5BCDD-024A-403B-9E0A-6E205854EE1F}"/>
              </a:ext>
            </a:extLst>
          </p:cNvPr>
          <p:cNvSpPr>
            <a:spLocks noGrp="1"/>
          </p:cNvSpPr>
          <p:nvPr/>
        </p:nvSpPr>
        <p:spPr>
          <a:xfrm>
            <a:off x="914400" y="6886575"/>
            <a:ext cx="133350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75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875">
                <a:solidFill>
                  <a:srgbClr val="FFFFFF"/>
                </a:solidFill>
                <a:latin typeface="Inter"/>
                <a:ea typeface="Inter"/>
                <a:cs typeface="Inter"/>
              </a:rPr>
              <a:t>Bleed, safe area and tolerances come from the supplier dieline, once supplied and approved.</a:t>
            </a:r>
          </a:p>
        </p:txBody>
      </p:sp>
      <p:sp>
        <p:nvSpPr>
          <p:cNvPr id="17" name="STRUCTURAL CONCEPT   /   SUPPLIER PROOF REQUIRED">
            <a:extLst>
              <a:ext uri="{FF2B5EF4-FFF2-40B4-BE49-F238E27FC236}">
                <a16:creationId xmlns:a16="http://schemas.microsoft.com/office/drawing/2014/main" id="{24A5DE06-73A0-44F3-9524-77D43263705D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BCACA7"/>
                </a:solidFill>
                <a:latin typeface="Inter"/>
                <a:ea typeface="Inter"/>
                <a:cs typeface="Inter"/>
              </a:rPr>
              <a:t>STRUCTURAL CONCEPT   /   SUPPLIER PROOF REQUIRED</a:t>
            </a:r>
          </a:p>
        </p:txBody>
      </p:sp>
    </p:spTree>
    <p:extLst>
      <p:ext uri="{BB962C8B-B14F-4D97-AF65-F5344CB8AC3E}">
        <p14:creationId xmlns:p14="http://schemas.microsoft.com/office/powerpoint/2010/main" val="5553398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MATERIALS">
            <a:extLst>
              <a:ext uri="{FF2B5EF4-FFF2-40B4-BE49-F238E27FC236}">
                <a16:creationId xmlns:a16="http://schemas.microsoft.com/office/drawing/2014/main" id="{11F64934-D251-44EE-BB0C-30BD1C84F686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MATERIALS</a:t>
            </a:r>
          </a:p>
        </p:txBody>
      </p:sp>
      <p:sp>
        <p:nvSpPr>
          <p:cNvPr id="2" name="16">
            <a:extLst>
              <a:ext uri="{FF2B5EF4-FFF2-40B4-BE49-F238E27FC236}">
                <a16:creationId xmlns:a16="http://schemas.microsoft.com/office/drawing/2014/main" id="{416C35B8-BFBC-4ED9-B8CD-9F909C7337B5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16</a:t>
            </a:r>
          </a:p>
        </p:txBody>
      </p:sp>
      <p:sp>
        <p:nvSpPr>
          <p:cNvPr id="3" name="Material direction">
            <a:extLst>
              <a:ext uri="{FF2B5EF4-FFF2-40B4-BE49-F238E27FC236}">
                <a16:creationId xmlns:a16="http://schemas.microsoft.com/office/drawing/2014/main" id="{F356A3DB-3641-4C5F-86A4-A8D582149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ct val="100000"/>
              </a:lnSpc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Material direction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BA7B1E-42B5-4E77-B4CD-B44DF5136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289BB025-231D-4CFC-8297-CD957DA0F4F8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1.0   WORKING EDITION">
            <a:extLst>
              <a:ext uri="{FF2B5EF4-FFF2-40B4-BE49-F238E27FC236}">
                <a16:creationId xmlns:a16="http://schemas.microsoft.com/office/drawing/2014/main" id="{F7110D08-3762-49D0-9E24-D64CD6CE6EB9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v1.0   WORKING EDITION</a:t>
            </a:r>
          </a:p>
        </p:txBody>
      </p:sp>
      <p:pic>
        <p:nvPicPr>
          <p:cNvPr id="17" name="materials" descr="Concept image: stacked cream, black and tan card stocks with a blind-embossed ring on the cream sheet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02594" y="2295525"/>
            <a:ext cx="7472363" cy="4981575"/>
          </a:xfrm>
          <a:prstGeom prst="rect">
            <a:avLst/>
          </a:prstGeom>
        </p:spPr>
      </p:pic>
      <p:sp>
        <p:nvSpPr>
          <p:cNvPr id="8" name="Warm uncoated stock&#10;Ink board&#10;Matte surfaces">
            <a:extLst>
              <a:ext uri="{FF2B5EF4-FFF2-40B4-BE49-F238E27FC236}">
                <a16:creationId xmlns:a16="http://schemas.microsoft.com/office/drawing/2014/main" id="{9BCFE289-66C2-4428-AFD2-B6FF1ECE0DC7}"/>
              </a:ext>
            </a:extLst>
          </p:cNvPr>
          <p:cNvSpPr>
            <a:spLocks noGrp="1"/>
          </p:cNvSpPr>
          <p:nvPr/>
        </p:nvSpPr>
        <p:spPr>
          <a:xfrm>
            <a:off x="10687050" y="3038475"/>
            <a:ext cx="3619500" cy="2286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7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775">
                <a:solidFill>
                  <a:srgbClr val="12171D"/>
                </a:solidFill>
                <a:latin typeface="Jost"/>
                <a:ea typeface="Jost"/>
                <a:cs typeface="Jost"/>
              </a:rPr>
              <a:t>Warm uncoated stock</a:t>
            </a:r>
          </a:p>
          <a:p>
            <a:pPr>
              <a:defRPr sz="27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775">
                <a:solidFill>
                  <a:srgbClr val="12171D"/>
                </a:solidFill>
                <a:latin typeface="Jost"/>
                <a:ea typeface="Jost"/>
                <a:cs typeface="Jost"/>
              </a:rPr>
              <a:t>Ink board</a:t>
            </a:r>
          </a:p>
          <a:p>
            <a:pPr>
              <a:defRPr sz="27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775">
                <a:solidFill>
                  <a:srgbClr val="12171D"/>
                </a:solidFill>
                <a:latin typeface="Jost"/>
                <a:ea typeface="Jost"/>
                <a:cs typeface="Jost"/>
              </a:rPr>
              <a:t>Matte surfaces</a:t>
            </a:r>
          </a:p>
        </p:txBody>
      </p:sp>
      <p:sp>
        <p:nvSpPr>
          <p:cNvPr id="9" name="Material specification&#10;[REQUIRES SUPPLIER / OWNER]">
            <a:extLst>
              <a:ext uri="{FF2B5EF4-FFF2-40B4-BE49-F238E27FC236}">
                <a16:creationId xmlns:a16="http://schemas.microsoft.com/office/drawing/2014/main" id="{C58FCBD0-EB5E-4661-996F-6F0111C66BFF}"/>
              </a:ext>
            </a:extLst>
          </p:cNvPr>
          <p:cNvSpPr>
            <a:spLocks noGrp="1"/>
          </p:cNvSpPr>
          <p:nvPr/>
        </p:nvSpPr>
        <p:spPr>
          <a:xfrm>
            <a:off x="10696575" y="6134100"/>
            <a:ext cx="36195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575">
                <a:solidFill>
                  <a:srgbClr val="12171D"/>
                </a:solidFill>
                <a:latin typeface="Inter"/>
                <a:ea typeface="Inter"/>
                <a:cs typeface="Inter"/>
              </a:rPr>
              <a:t>Material specification</a:t>
            </a:r>
          </a:p>
          <a:p>
            <a:pPr>
              <a:defRPr sz="15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575">
                <a:solidFill>
                  <a:srgbClr val="12171D"/>
                </a:solidFill>
                <a:latin typeface="Inter"/>
                <a:ea typeface="Inter"/>
                <a:cs typeface="Inter"/>
              </a:rPr>
              <a:t>[REQUIRES SUPPLIER / OWNER]</a:t>
            </a:r>
          </a:p>
        </p:txBody>
      </p:sp>
      <p:sp>
        <p:nvSpPr>
          <p:cNvPr id="10" name="CONCEPT / NOT PRODUCTION PHOTOGRAPHY   /   PENDING PHYSICAL PROOF">
            <a:extLst>
              <a:ext uri="{FF2B5EF4-FFF2-40B4-BE49-F238E27FC236}">
                <a16:creationId xmlns:a16="http://schemas.microsoft.com/office/drawing/2014/main" id="{A000A493-49F1-4002-B439-BACA3C66C4AE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CONCEPT / NOT PRODUCTION PHOTOGRAPHY   /   PENDING PHYSICAL PROOF</a:t>
            </a:r>
          </a:p>
        </p:txBody>
      </p:sp>
    </p:spTree>
    <p:extLst>
      <p:ext uri="{BB962C8B-B14F-4D97-AF65-F5344CB8AC3E}">
        <p14:creationId xmlns:p14="http://schemas.microsoft.com/office/powerpoint/2010/main" val="14730241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MATERIALS">
            <a:extLst>
              <a:ext uri="{FF2B5EF4-FFF2-40B4-BE49-F238E27FC236}">
                <a16:creationId xmlns:a16="http://schemas.microsoft.com/office/drawing/2014/main" id="{5853E816-6382-4EF1-A589-291F8E5EE2E7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MATERIALS</a:t>
            </a:r>
          </a:p>
        </p:txBody>
      </p:sp>
      <p:sp>
        <p:nvSpPr>
          <p:cNvPr id="2" name="17">
            <a:extLst>
              <a:ext uri="{FF2B5EF4-FFF2-40B4-BE49-F238E27FC236}">
                <a16:creationId xmlns:a16="http://schemas.microsoft.com/office/drawing/2014/main" id="{7880FEFA-1BC8-46A7-AA27-0A2D7555AE21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17</a:t>
            </a:r>
          </a:p>
        </p:txBody>
      </p:sp>
      <p:sp>
        <p:nvSpPr>
          <p:cNvPr id="3" name="Finish direction">
            <a:extLst>
              <a:ext uri="{FF2B5EF4-FFF2-40B4-BE49-F238E27FC236}">
                <a16:creationId xmlns:a16="http://schemas.microsoft.com/office/drawing/2014/main" id="{E05714A2-E327-4B72-8B41-E89454372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ct val="100000"/>
              </a:lnSpc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Finish direction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4B104F-3A9A-413A-8984-7050525E9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8AD8206A-E760-4980-AF90-659B9A4E7F15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1.0   WORKING EDITION">
            <a:extLst>
              <a:ext uri="{FF2B5EF4-FFF2-40B4-BE49-F238E27FC236}">
                <a16:creationId xmlns:a16="http://schemas.microsoft.com/office/drawing/2014/main" id="{26D5FB91-60E7-4F23-9083-C55299A6979F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v1.0   WORKING EDITION</a:t>
            </a:r>
          </a:p>
        </p:txBody>
      </p:sp>
      <p:pic>
        <p:nvPicPr>
          <p:cNvPr id="17" name="finish" descr="Concept image: corner of a pale box with a debossed double ring on its lid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591300" y="2324100"/>
            <a:ext cx="7429500" cy="4953000"/>
          </a:xfrm>
          <a:prstGeom prst="rect">
            <a:avLst/>
          </a:prstGeom>
        </p:spPr>
      </p:pic>
      <p:sp>
        <p:nvSpPr>
          <p:cNvPr id="8" name="Deboss&#10;Blind emboss&#10;Soft-touch&#10;Precision die-cut">
            <a:extLst>
              <a:ext uri="{FF2B5EF4-FFF2-40B4-BE49-F238E27FC236}">
                <a16:creationId xmlns:a16="http://schemas.microsoft.com/office/drawing/2014/main" id="{527326B4-4FE6-4195-96AE-45B75E0B7125}"/>
              </a:ext>
            </a:extLst>
          </p:cNvPr>
          <p:cNvSpPr>
            <a:spLocks noGrp="1"/>
          </p:cNvSpPr>
          <p:nvPr/>
        </p:nvSpPr>
        <p:spPr>
          <a:xfrm>
            <a:off x="914400" y="2733675"/>
            <a:ext cx="4953000" cy="2762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300">
                <a:solidFill>
                  <a:srgbClr val="12171D"/>
                </a:solidFill>
                <a:latin typeface="Jost"/>
                <a:ea typeface="Jost"/>
                <a:cs typeface="Jost"/>
              </a:rPr>
              <a:t>Deboss</a:t>
            </a:r>
          </a:p>
          <a:p>
            <a:pPr>
              <a:defRPr sz="330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300">
                <a:solidFill>
                  <a:srgbClr val="12171D"/>
                </a:solidFill>
                <a:latin typeface="Jost"/>
                <a:ea typeface="Jost"/>
                <a:cs typeface="Jost"/>
              </a:rPr>
              <a:t>Blind emboss</a:t>
            </a:r>
          </a:p>
          <a:p>
            <a:pPr>
              <a:defRPr sz="330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300">
                <a:solidFill>
                  <a:srgbClr val="12171D"/>
                </a:solidFill>
                <a:latin typeface="Jost"/>
                <a:ea typeface="Jost"/>
                <a:cs typeface="Jost"/>
              </a:rPr>
              <a:t>Soft-touch</a:t>
            </a:r>
          </a:p>
          <a:p>
            <a:pPr>
              <a:defRPr sz="330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300">
                <a:solidFill>
                  <a:srgbClr val="12171D"/>
                </a:solidFill>
                <a:latin typeface="Jost"/>
                <a:ea typeface="Jost"/>
                <a:cs typeface="Jost"/>
              </a:rPr>
              <a:t>Precision die-cut</a:t>
            </a:r>
          </a:p>
        </p:txBody>
      </p:sp>
      <p:sp>
        <p:nvSpPr>
          <p:cNvPr id="9" name="Depth, pressure and registration&#10;[TO BE VERIFIED BY PROCESS TEST]">
            <a:extLst>
              <a:ext uri="{FF2B5EF4-FFF2-40B4-BE49-F238E27FC236}">
                <a16:creationId xmlns:a16="http://schemas.microsoft.com/office/drawing/2014/main" id="{8ECF3F65-AA87-43CA-9B47-E8B666322F2C}"/>
              </a:ext>
            </a:extLst>
          </p:cNvPr>
          <p:cNvSpPr>
            <a:spLocks noGrp="1"/>
          </p:cNvSpPr>
          <p:nvPr/>
        </p:nvSpPr>
        <p:spPr>
          <a:xfrm>
            <a:off x="952500" y="6362700"/>
            <a:ext cx="4953000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Depth, pressure and registration</a:t>
            </a:r>
          </a:p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[TO BE VERIFIED BY PROCESS TEST]</a:t>
            </a:r>
          </a:p>
        </p:txBody>
      </p:sp>
      <p:sp>
        <p:nvSpPr>
          <p:cNvPr id="10" name="CONCEPT / NOT PRODUCTION PHOTOGRAPHY   /   PENDING PHYSICAL PROOF">
            <a:extLst>
              <a:ext uri="{FF2B5EF4-FFF2-40B4-BE49-F238E27FC236}">
                <a16:creationId xmlns:a16="http://schemas.microsoft.com/office/drawing/2014/main" id="{C598EEFA-1266-425D-AA21-B9BDBE760767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CONCEPT / NOT PRODUCTION PHOTOGRAPHY   /   PENDING PHYSICAL PROOF</a:t>
            </a:r>
          </a:p>
        </p:txBody>
      </p:sp>
    </p:spTree>
    <p:extLst>
      <p:ext uri="{BB962C8B-B14F-4D97-AF65-F5344CB8AC3E}">
        <p14:creationId xmlns:p14="http://schemas.microsoft.com/office/powerpoint/2010/main" val="4372088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7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UEST EXPERIENCE">
            <a:extLst>
              <a:ext uri="{FF2B5EF4-FFF2-40B4-BE49-F238E27FC236}">
                <a16:creationId xmlns:a16="http://schemas.microsoft.com/office/drawing/2014/main" id="{2F76C7F9-AA97-4C1E-9174-BF6FA727E6A6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BCACA7"/>
                </a:solidFill>
                <a:latin typeface="Inter"/>
                <a:ea typeface="Inter"/>
                <a:cs typeface="Inter"/>
              </a:rPr>
              <a:t>GUEST EXPERIENCE</a:t>
            </a:r>
          </a:p>
        </p:txBody>
      </p:sp>
      <p:sp>
        <p:nvSpPr>
          <p:cNvPr id="2" name="18">
            <a:extLst>
              <a:ext uri="{FF2B5EF4-FFF2-40B4-BE49-F238E27FC236}">
                <a16:creationId xmlns:a16="http://schemas.microsoft.com/office/drawing/2014/main" id="{36155EBD-E508-4BC2-B0D4-3EF5832A1695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BCACA7"/>
                </a:solidFill>
                <a:latin typeface="Inter"/>
                <a:ea typeface="Inter"/>
                <a:cs typeface="Inter"/>
              </a:rPr>
              <a:t>18</a:t>
            </a:r>
          </a:p>
        </p:txBody>
      </p:sp>
      <p:sp>
        <p:nvSpPr>
          <p:cNvPr id="3" name="One hospitality ecosystem">
            <a:extLst>
              <a:ext uri="{FF2B5EF4-FFF2-40B4-BE49-F238E27FC236}">
                <a16:creationId xmlns:a16="http://schemas.microsoft.com/office/drawing/2014/main" id="{1DC69E7C-E0D7-4697-957A-7228120D1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ct val="100000"/>
              </a:lnSpc>
              <a:defRPr sz="4350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FFFFFF"/>
                </a:solidFill>
                <a:latin typeface="Jost"/>
                <a:ea typeface="Jost"/>
                <a:cs typeface="Jost"/>
              </a:rPr>
              <a:t>One hospitality ecosystem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B4421B-3F19-4604-9331-58073EE3E0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1C504F78-873F-4E90-935F-388202F5D86C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FFFFFF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1.0   WORKING EDITION">
            <a:extLst>
              <a:ext uri="{FF2B5EF4-FFF2-40B4-BE49-F238E27FC236}">
                <a16:creationId xmlns:a16="http://schemas.microsoft.com/office/drawing/2014/main" id="{019DBF98-D08F-4798-B9AF-F83C3072E122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BCACA7"/>
                </a:solidFill>
                <a:latin typeface="Inter"/>
                <a:ea typeface="Inter"/>
                <a:cs typeface="Inter"/>
              </a:rPr>
              <a:t>v1.0   WORKING EDITION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C33DBF-28DD-4F86-931D-4AD2839251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14400" y="3657600"/>
            <a:ext cx="1341120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3B2737-7A3B-4BAF-8241-C042294B0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14400" y="3333750"/>
            <a:ext cx="9525" cy="666750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9" name="01">
            <a:extLst>
              <a:ext uri="{FF2B5EF4-FFF2-40B4-BE49-F238E27FC236}">
                <a16:creationId xmlns:a16="http://schemas.microsoft.com/office/drawing/2014/main" id="{5BBE2BF9-5A2E-4D3A-9ABB-E5C289AA3B36}"/>
              </a:ext>
            </a:extLst>
          </p:cNvPr>
          <p:cNvSpPr>
            <a:spLocks noGrp="1"/>
          </p:cNvSpPr>
          <p:nvPr/>
        </p:nvSpPr>
        <p:spPr>
          <a:xfrm>
            <a:off x="914400" y="2714625"/>
            <a:ext cx="1714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>
                <a:solidFill>
                  <a:srgbClr val="BCACA7"/>
                </a:solidFill>
                <a:latin typeface="Jost"/>
                <a:ea typeface="Jost"/>
                <a:cs typeface="Jost"/>
              </a:defRPr>
            </a:pPr>
            <a:r>
              <a:rPr sz="2325">
                <a:solidFill>
                  <a:srgbClr val="BCACA7"/>
                </a:solidFill>
                <a:latin typeface="Jost"/>
                <a:ea typeface="Jost"/>
                <a:cs typeface="Jost"/>
              </a:rPr>
              <a:t>01</a:t>
            </a:r>
          </a:p>
        </p:txBody>
      </p:sp>
      <p:sp>
        <p:nvSpPr>
          <p:cNvPr id="10" name="Arrival">
            <a:extLst>
              <a:ext uri="{FF2B5EF4-FFF2-40B4-BE49-F238E27FC236}">
                <a16:creationId xmlns:a16="http://schemas.microsoft.com/office/drawing/2014/main" id="{C0AB3F32-C7A5-432B-B850-E6F69EAA173F}"/>
              </a:ext>
            </a:extLst>
          </p:cNvPr>
          <p:cNvSpPr>
            <a:spLocks noGrp="1"/>
          </p:cNvSpPr>
          <p:nvPr/>
        </p:nvSpPr>
        <p:spPr>
          <a:xfrm>
            <a:off x="914400" y="4362450"/>
            <a:ext cx="20574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7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2475">
                <a:solidFill>
                  <a:srgbClr val="FFFFFF"/>
                </a:solidFill>
                <a:latin typeface="Jost"/>
                <a:ea typeface="Jost"/>
                <a:cs typeface="Jost"/>
              </a:rPr>
              <a:t>Arrival</a:t>
            </a:r>
          </a:p>
        </p:txBody>
      </p:sp>
      <p:sp>
        <p:nvSpPr>
          <p:cNvPr id="11" name="Key card&#10;Welcome">
            <a:extLst>
              <a:ext uri="{FF2B5EF4-FFF2-40B4-BE49-F238E27FC236}">
                <a16:creationId xmlns:a16="http://schemas.microsoft.com/office/drawing/2014/main" id="{2AD515E8-73B5-45E2-8013-76F0C75FBE66}"/>
              </a:ext>
            </a:extLst>
          </p:cNvPr>
          <p:cNvSpPr>
            <a:spLocks noGrp="1"/>
          </p:cNvSpPr>
          <p:nvPr/>
        </p:nvSpPr>
        <p:spPr>
          <a:xfrm>
            <a:off x="914400" y="5238750"/>
            <a:ext cx="2047875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725">
                <a:solidFill>
                  <a:srgbClr val="FFFFFF"/>
                </a:solidFill>
                <a:latin typeface="Inter"/>
                <a:ea typeface="Inter"/>
                <a:cs typeface="Inter"/>
              </a:rPr>
              <a:t>Key card</a:t>
            </a:r>
          </a:p>
          <a:p>
            <a:pPr>
              <a:defRPr sz="1725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725">
                <a:solidFill>
                  <a:srgbClr val="FFFFFF"/>
                </a:solidFill>
                <a:latin typeface="Inter"/>
                <a:ea typeface="Inter"/>
                <a:cs typeface="Inter"/>
              </a:rPr>
              <a:t>Welcome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7A8FBF4-6194-4678-820E-D53B45A4D9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3200400" y="3333750"/>
            <a:ext cx="9525" cy="666750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3" name="02">
            <a:extLst>
              <a:ext uri="{FF2B5EF4-FFF2-40B4-BE49-F238E27FC236}">
                <a16:creationId xmlns:a16="http://schemas.microsoft.com/office/drawing/2014/main" id="{C106B5B1-C75B-4E58-890D-8B90C9A4172B}"/>
              </a:ext>
            </a:extLst>
          </p:cNvPr>
          <p:cNvSpPr>
            <a:spLocks noGrp="1"/>
          </p:cNvSpPr>
          <p:nvPr/>
        </p:nvSpPr>
        <p:spPr>
          <a:xfrm>
            <a:off x="3200400" y="2714625"/>
            <a:ext cx="1714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>
                <a:solidFill>
                  <a:srgbClr val="BCACA7"/>
                </a:solidFill>
                <a:latin typeface="Jost"/>
                <a:ea typeface="Jost"/>
                <a:cs typeface="Jost"/>
              </a:defRPr>
            </a:pPr>
            <a:r>
              <a:rPr sz="2325">
                <a:solidFill>
                  <a:srgbClr val="BCACA7"/>
                </a:solidFill>
                <a:latin typeface="Jost"/>
                <a:ea typeface="Jost"/>
                <a:cs typeface="Jost"/>
              </a:rPr>
              <a:t>02</a:t>
            </a:r>
          </a:p>
        </p:txBody>
      </p:sp>
      <p:sp>
        <p:nvSpPr>
          <p:cNvPr id="14" name="Stay">
            <a:extLst>
              <a:ext uri="{FF2B5EF4-FFF2-40B4-BE49-F238E27FC236}">
                <a16:creationId xmlns:a16="http://schemas.microsoft.com/office/drawing/2014/main" id="{B4639AA4-2B7A-4006-AFFB-F888640FAB47}"/>
              </a:ext>
            </a:extLst>
          </p:cNvPr>
          <p:cNvSpPr>
            <a:spLocks noGrp="1"/>
          </p:cNvSpPr>
          <p:nvPr/>
        </p:nvSpPr>
        <p:spPr>
          <a:xfrm>
            <a:off x="3200400" y="4362450"/>
            <a:ext cx="20574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7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2475">
                <a:solidFill>
                  <a:srgbClr val="FFFFFF"/>
                </a:solidFill>
                <a:latin typeface="Jost"/>
                <a:ea typeface="Jost"/>
                <a:cs typeface="Jost"/>
              </a:rPr>
              <a:t>Stay</a:t>
            </a:r>
          </a:p>
        </p:txBody>
      </p:sp>
      <p:sp>
        <p:nvSpPr>
          <p:cNvPr id="15" name="Amenities&#10;Room card">
            <a:extLst>
              <a:ext uri="{FF2B5EF4-FFF2-40B4-BE49-F238E27FC236}">
                <a16:creationId xmlns:a16="http://schemas.microsoft.com/office/drawing/2014/main" id="{A0A2BAAF-6E45-4B9A-9824-DED12D93346F}"/>
              </a:ext>
            </a:extLst>
          </p:cNvPr>
          <p:cNvSpPr>
            <a:spLocks noGrp="1"/>
          </p:cNvSpPr>
          <p:nvPr/>
        </p:nvSpPr>
        <p:spPr>
          <a:xfrm>
            <a:off x="3200400" y="5238750"/>
            <a:ext cx="2047875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725">
                <a:solidFill>
                  <a:srgbClr val="FFFFFF"/>
                </a:solidFill>
                <a:latin typeface="Inter"/>
                <a:ea typeface="Inter"/>
                <a:cs typeface="Inter"/>
              </a:rPr>
              <a:t>Amenities</a:t>
            </a:r>
          </a:p>
          <a:p>
            <a:pPr>
              <a:defRPr sz="1725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725">
                <a:solidFill>
                  <a:srgbClr val="FFFFFF"/>
                </a:solidFill>
                <a:latin typeface="Inter"/>
                <a:ea typeface="Inter"/>
                <a:cs typeface="Inter"/>
              </a:rPr>
              <a:t>Room card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80DF369-C757-42DC-A0F6-EC095E7379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486400" y="3333750"/>
            <a:ext cx="9525" cy="666750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7" name="03">
            <a:extLst>
              <a:ext uri="{FF2B5EF4-FFF2-40B4-BE49-F238E27FC236}">
                <a16:creationId xmlns:a16="http://schemas.microsoft.com/office/drawing/2014/main" id="{C31CE040-7FC1-4B09-9034-6DED4993E393}"/>
              </a:ext>
            </a:extLst>
          </p:cNvPr>
          <p:cNvSpPr>
            <a:spLocks noGrp="1"/>
          </p:cNvSpPr>
          <p:nvPr/>
        </p:nvSpPr>
        <p:spPr>
          <a:xfrm>
            <a:off x="5486400" y="2714625"/>
            <a:ext cx="1714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>
                <a:solidFill>
                  <a:srgbClr val="BCACA7"/>
                </a:solidFill>
                <a:latin typeface="Jost"/>
                <a:ea typeface="Jost"/>
                <a:cs typeface="Jost"/>
              </a:defRPr>
            </a:pPr>
            <a:r>
              <a:rPr sz="2325">
                <a:solidFill>
                  <a:srgbClr val="BCACA7"/>
                </a:solidFill>
                <a:latin typeface="Jost"/>
                <a:ea typeface="Jost"/>
                <a:cs typeface="Jost"/>
              </a:rPr>
              <a:t>03</a:t>
            </a:r>
          </a:p>
        </p:txBody>
      </p:sp>
      <p:sp>
        <p:nvSpPr>
          <p:cNvPr id="18" name="Dining">
            <a:extLst>
              <a:ext uri="{FF2B5EF4-FFF2-40B4-BE49-F238E27FC236}">
                <a16:creationId xmlns:a16="http://schemas.microsoft.com/office/drawing/2014/main" id="{70E10085-86AA-401A-ABEA-4D1702A2590A}"/>
              </a:ext>
            </a:extLst>
          </p:cNvPr>
          <p:cNvSpPr>
            <a:spLocks noGrp="1"/>
          </p:cNvSpPr>
          <p:nvPr/>
        </p:nvSpPr>
        <p:spPr>
          <a:xfrm>
            <a:off x="5486400" y="4362450"/>
            <a:ext cx="20574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7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2475">
                <a:solidFill>
                  <a:srgbClr val="FFFFFF"/>
                </a:solidFill>
                <a:latin typeface="Jost"/>
                <a:ea typeface="Jost"/>
                <a:cs typeface="Jost"/>
              </a:rPr>
              <a:t>Dining</a:t>
            </a:r>
          </a:p>
        </p:txBody>
      </p:sp>
      <p:sp>
        <p:nvSpPr>
          <p:cNvPr id="19" name="Menu&#10;Reservation">
            <a:extLst>
              <a:ext uri="{FF2B5EF4-FFF2-40B4-BE49-F238E27FC236}">
                <a16:creationId xmlns:a16="http://schemas.microsoft.com/office/drawing/2014/main" id="{781F9CB9-0984-45D3-B289-6A5D41D03E32}"/>
              </a:ext>
            </a:extLst>
          </p:cNvPr>
          <p:cNvSpPr>
            <a:spLocks noGrp="1"/>
          </p:cNvSpPr>
          <p:nvPr/>
        </p:nvSpPr>
        <p:spPr>
          <a:xfrm>
            <a:off x="5486400" y="5238750"/>
            <a:ext cx="2047875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725">
                <a:solidFill>
                  <a:srgbClr val="FFFFFF"/>
                </a:solidFill>
                <a:latin typeface="Inter"/>
                <a:ea typeface="Inter"/>
                <a:cs typeface="Inter"/>
              </a:rPr>
              <a:t>Menu</a:t>
            </a:r>
          </a:p>
          <a:p>
            <a:pPr>
              <a:defRPr sz="1725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725">
                <a:solidFill>
                  <a:srgbClr val="FFFFFF"/>
                </a:solidFill>
                <a:latin typeface="Inter"/>
                <a:ea typeface="Inter"/>
                <a:cs typeface="Inter"/>
              </a:rPr>
              <a:t>Reservation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51C01A1-7C10-4D85-843B-E98BCFE39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772400" y="3333750"/>
            <a:ext cx="9525" cy="666750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21" name="04">
            <a:extLst>
              <a:ext uri="{FF2B5EF4-FFF2-40B4-BE49-F238E27FC236}">
                <a16:creationId xmlns:a16="http://schemas.microsoft.com/office/drawing/2014/main" id="{AD7928C1-1D76-40EE-8881-DDDFC0C893E3}"/>
              </a:ext>
            </a:extLst>
          </p:cNvPr>
          <p:cNvSpPr>
            <a:spLocks noGrp="1"/>
          </p:cNvSpPr>
          <p:nvPr/>
        </p:nvSpPr>
        <p:spPr>
          <a:xfrm>
            <a:off x="7772400" y="2714625"/>
            <a:ext cx="1714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>
                <a:solidFill>
                  <a:srgbClr val="BCACA7"/>
                </a:solidFill>
                <a:latin typeface="Jost"/>
                <a:ea typeface="Jost"/>
                <a:cs typeface="Jost"/>
              </a:defRPr>
            </a:pPr>
            <a:r>
              <a:rPr sz="2325">
                <a:solidFill>
                  <a:srgbClr val="BCACA7"/>
                </a:solidFill>
                <a:latin typeface="Jost"/>
                <a:ea typeface="Jost"/>
                <a:cs typeface="Jost"/>
              </a:rPr>
              <a:t>04</a:t>
            </a:r>
          </a:p>
        </p:txBody>
      </p:sp>
      <p:sp>
        <p:nvSpPr>
          <p:cNvPr id="22" name="Service">
            <a:extLst>
              <a:ext uri="{FF2B5EF4-FFF2-40B4-BE49-F238E27FC236}">
                <a16:creationId xmlns:a16="http://schemas.microsoft.com/office/drawing/2014/main" id="{72B934D1-F572-43AD-84FD-04DD6A3A498F}"/>
              </a:ext>
            </a:extLst>
          </p:cNvPr>
          <p:cNvSpPr>
            <a:spLocks noGrp="1"/>
          </p:cNvSpPr>
          <p:nvPr/>
        </p:nvSpPr>
        <p:spPr>
          <a:xfrm>
            <a:off x="7772400" y="4362450"/>
            <a:ext cx="20574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7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2475">
                <a:solidFill>
                  <a:srgbClr val="FFFFFF"/>
                </a:solidFill>
                <a:latin typeface="Jost"/>
                <a:ea typeface="Jost"/>
                <a:cs typeface="Jost"/>
              </a:rPr>
              <a:t>Service</a:t>
            </a:r>
          </a:p>
        </p:txBody>
      </p:sp>
      <p:sp>
        <p:nvSpPr>
          <p:cNvPr id="23" name="Request&#10;Recovery">
            <a:extLst>
              <a:ext uri="{FF2B5EF4-FFF2-40B4-BE49-F238E27FC236}">
                <a16:creationId xmlns:a16="http://schemas.microsoft.com/office/drawing/2014/main" id="{B4EDEDC9-2E48-419A-AEE2-9A43985DF000}"/>
              </a:ext>
            </a:extLst>
          </p:cNvPr>
          <p:cNvSpPr>
            <a:spLocks noGrp="1"/>
          </p:cNvSpPr>
          <p:nvPr/>
        </p:nvSpPr>
        <p:spPr>
          <a:xfrm>
            <a:off x="7772400" y="5238750"/>
            <a:ext cx="2047875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725">
                <a:solidFill>
                  <a:srgbClr val="FFFFFF"/>
                </a:solidFill>
                <a:latin typeface="Inter"/>
                <a:ea typeface="Inter"/>
                <a:cs typeface="Inter"/>
              </a:rPr>
              <a:t>Request</a:t>
            </a:r>
          </a:p>
          <a:p>
            <a:pPr>
              <a:defRPr sz="1725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725">
                <a:solidFill>
                  <a:srgbClr val="FFFFFF"/>
                </a:solidFill>
                <a:latin typeface="Inter"/>
                <a:ea typeface="Inter"/>
                <a:cs typeface="Inter"/>
              </a:rPr>
              <a:t>Recovery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33784CA-697E-4071-AD1A-9E83B767FD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058400" y="3333750"/>
            <a:ext cx="9525" cy="666750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25" name="05">
            <a:extLst>
              <a:ext uri="{FF2B5EF4-FFF2-40B4-BE49-F238E27FC236}">
                <a16:creationId xmlns:a16="http://schemas.microsoft.com/office/drawing/2014/main" id="{2E14E51A-CB24-4DFB-BD39-B0C4AB7AE561}"/>
              </a:ext>
            </a:extLst>
          </p:cNvPr>
          <p:cNvSpPr>
            <a:spLocks noGrp="1"/>
          </p:cNvSpPr>
          <p:nvPr/>
        </p:nvSpPr>
        <p:spPr>
          <a:xfrm>
            <a:off x="10058400" y="2714625"/>
            <a:ext cx="1714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>
                <a:solidFill>
                  <a:srgbClr val="BCACA7"/>
                </a:solidFill>
                <a:latin typeface="Jost"/>
                <a:ea typeface="Jost"/>
                <a:cs typeface="Jost"/>
              </a:defRPr>
            </a:pPr>
            <a:r>
              <a:rPr sz="2325">
                <a:solidFill>
                  <a:srgbClr val="BCACA7"/>
                </a:solidFill>
                <a:latin typeface="Jost"/>
                <a:ea typeface="Jost"/>
                <a:cs typeface="Jost"/>
              </a:rPr>
              <a:t>05</a:t>
            </a:r>
          </a:p>
        </p:txBody>
      </p:sp>
      <p:sp>
        <p:nvSpPr>
          <p:cNvPr id="26" name="Departure">
            <a:extLst>
              <a:ext uri="{FF2B5EF4-FFF2-40B4-BE49-F238E27FC236}">
                <a16:creationId xmlns:a16="http://schemas.microsoft.com/office/drawing/2014/main" id="{6134E352-A323-426C-B1EB-E3AB39183245}"/>
              </a:ext>
            </a:extLst>
          </p:cNvPr>
          <p:cNvSpPr>
            <a:spLocks noGrp="1"/>
          </p:cNvSpPr>
          <p:nvPr/>
        </p:nvSpPr>
        <p:spPr>
          <a:xfrm>
            <a:off x="10058400" y="4362450"/>
            <a:ext cx="20574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7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2475">
                <a:solidFill>
                  <a:srgbClr val="FFFFFF"/>
                </a:solidFill>
                <a:latin typeface="Jost"/>
                <a:ea typeface="Jost"/>
                <a:cs typeface="Jost"/>
              </a:rPr>
              <a:t>Departure</a:t>
            </a:r>
          </a:p>
        </p:txBody>
      </p:sp>
      <p:sp>
        <p:nvSpPr>
          <p:cNvPr id="27" name="Folio&#10;Farewell">
            <a:extLst>
              <a:ext uri="{FF2B5EF4-FFF2-40B4-BE49-F238E27FC236}">
                <a16:creationId xmlns:a16="http://schemas.microsoft.com/office/drawing/2014/main" id="{BAFE9A8C-B62F-4509-ABF6-BD9F8F3B1129}"/>
              </a:ext>
            </a:extLst>
          </p:cNvPr>
          <p:cNvSpPr>
            <a:spLocks noGrp="1"/>
          </p:cNvSpPr>
          <p:nvPr/>
        </p:nvSpPr>
        <p:spPr>
          <a:xfrm>
            <a:off x="10058400" y="5238750"/>
            <a:ext cx="2047875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725">
                <a:solidFill>
                  <a:srgbClr val="FFFFFF"/>
                </a:solidFill>
                <a:latin typeface="Inter"/>
                <a:ea typeface="Inter"/>
                <a:cs typeface="Inter"/>
              </a:rPr>
              <a:t>Folio</a:t>
            </a:r>
          </a:p>
          <a:p>
            <a:pPr>
              <a:defRPr sz="1725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725">
                <a:solidFill>
                  <a:srgbClr val="FFFFFF"/>
                </a:solidFill>
                <a:latin typeface="Inter"/>
                <a:ea typeface="Inter"/>
                <a:cs typeface="Inter"/>
              </a:rPr>
              <a:t>Farewell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4CA9571-F2A6-4927-AD31-F565321CEB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344400" y="3333750"/>
            <a:ext cx="9525" cy="666750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29" name="06">
            <a:extLst>
              <a:ext uri="{FF2B5EF4-FFF2-40B4-BE49-F238E27FC236}">
                <a16:creationId xmlns:a16="http://schemas.microsoft.com/office/drawing/2014/main" id="{6588BCB9-0967-429E-991F-222FDC2C213B}"/>
              </a:ext>
            </a:extLst>
          </p:cNvPr>
          <p:cNvSpPr>
            <a:spLocks noGrp="1"/>
          </p:cNvSpPr>
          <p:nvPr/>
        </p:nvSpPr>
        <p:spPr>
          <a:xfrm>
            <a:off x="12344400" y="2714625"/>
            <a:ext cx="1714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>
                <a:solidFill>
                  <a:srgbClr val="BCACA7"/>
                </a:solidFill>
                <a:latin typeface="Jost"/>
                <a:ea typeface="Jost"/>
                <a:cs typeface="Jost"/>
              </a:defRPr>
            </a:pPr>
            <a:r>
              <a:rPr sz="2325">
                <a:solidFill>
                  <a:srgbClr val="BCACA7"/>
                </a:solidFill>
                <a:latin typeface="Jost"/>
                <a:ea typeface="Jost"/>
                <a:cs typeface="Jost"/>
              </a:rPr>
              <a:t>06</a:t>
            </a:r>
          </a:p>
        </p:txBody>
      </p:sp>
      <p:sp>
        <p:nvSpPr>
          <p:cNvPr id="30" name="Return">
            <a:extLst>
              <a:ext uri="{FF2B5EF4-FFF2-40B4-BE49-F238E27FC236}">
                <a16:creationId xmlns:a16="http://schemas.microsoft.com/office/drawing/2014/main" id="{0FA5599B-9A95-46F1-B253-42D56A8EA429}"/>
              </a:ext>
            </a:extLst>
          </p:cNvPr>
          <p:cNvSpPr>
            <a:spLocks noGrp="1"/>
          </p:cNvSpPr>
          <p:nvPr/>
        </p:nvSpPr>
        <p:spPr>
          <a:xfrm>
            <a:off x="12344400" y="4362450"/>
            <a:ext cx="20574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7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2475">
                <a:solidFill>
                  <a:srgbClr val="FFFFFF"/>
                </a:solidFill>
                <a:latin typeface="Jost"/>
                <a:ea typeface="Jost"/>
                <a:cs typeface="Jost"/>
              </a:rPr>
              <a:t>Return</a:t>
            </a:r>
          </a:p>
        </p:txBody>
      </p:sp>
      <p:sp>
        <p:nvSpPr>
          <p:cNvPr id="31" name="Follow-up&#10;Invitation">
            <a:extLst>
              <a:ext uri="{FF2B5EF4-FFF2-40B4-BE49-F238E27FC236}">
                <a16:creationId xmlns:a16="http://schemas.microsoft.com/office/drawing/2014/main" id="{22C3E1A0-BC34-4FF2-A177-34A81D9EB05A}"/>
              </a:ext>
            </a:extLst>
          </p:cNvPr>
          <p:cNvSpPr>
            <a:spLocks noGrp="1"/>
          </p:cNvSpPr>
          <p:nvPr/>
        </p:nvSpPr>
        <p:spPr>
          <a:xfrm>
            <a:off x="12344400" y="5238750"/>
            <a:ext cx="2047875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725">
                <a:solidFill>
                  <a:srgbClr val="FFFFFF"/>
                </a:solidFill>
                <a:latin typeface="Inter"/>
                <a:ea typeface="Inter"/>
                <a:cs typeface="Inter"/>
              </a:rPr>
              <a:t>Follow-up</a:t>
            </a:r>
          </a:p>
          <a:p>
            <a:pPr>
              <a:defRPr sz="1725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725">
                <a:solidFill>
                  <a:srgbClr val="FFFFFF"/>
                </a:solidFill>
                <a:latin typeface="Inter"/>
                <a:ea typeface="Inter"/>
                <a:cs typeface="Inter"/>
              </a:rPr>
              <a:t>Invitation</a:t>
            </a:r>
          </a:p>
        </p:txBody>
      </p:sp>
      <p:sp>
        <p:nvSpPr>
          <p:cNvPr id="32" name="CONCEPT / NOT PRODUCTION ARTWORK   /   TOUCHPOINT SCOPE CONDITIONAL">
            <a:extLst>
              <a:ext uri="{FF2B5EF4-FFF2-40B4-BE49-F238E27FC236}">
                <a16:creationId xmlns:a16="http://schemas.microsoft.com/office/drawing/2014/main" id="{16119084-D038-4238-8471-9A0D3344925D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BCACA7"/>
                </a:solidFill>
                <a:latin typeface="Inter"/>
                <a:ea typeface="Inter"/>
                <a:cs typeface="Inter"/>
              </a:rPr>
              <a:t>CONCEPT / NOT PRODUCTION ARTWORK   /   TOUCHPOINT SCOPE CONDITIONAL</a:t>
            </a:r>
          </a:p>
        </p:txBody>
      </p:sp>
    </p:spTree>
    <p:extLst>
      <p:ext uri="{BB962C8B-B14F-4D97-AF65-F5344CB8AC3E}">
        <p14:creationId xmlns:p14="http://schemas.microsoft.com/office/powerpoint/2010/main" val="6807287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UEST EXPERIENCE">
            <a:extLst>
              <a:ext uri="{FF2B5EF4-FFF2-40B4-BE49-F238E27FC236}">
                <a16:creationId xmlns:a16="http://schemas.microsoft.com/office/drawing/2014/main" id="{7E3165CD-ADED-4F7C-B5D4-3AF133EA6F59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GUEST EXPERIENCE</a:t>
            </a:r>
          </a:p>
        </p:txBody>
      </p:sp>
      <p:sp>
        <p:nvSpPr>
          <p:cNvPr id="2" name="19">
            <a:extLst>
              <a:ext uri="{FF2B5EF4-FFF2-40B4-BE49-F238E27FC236}">
                <a16:creationId xmlns:a16="http://schemas.microsoft.com/office/drawing/2014/main" id="{9AC80EA9-BF4C-4956-AE36-2336343F5283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19</a:t>
            </a:r>
          </a:p>
        </p:txBody>
      </p:sp>
      <p:sp>
        <p:nvSpPr>
          <p:cNvPr id="3" name="Arrival, precisely composed">
            <a:extLst>
              <a:ext uri="{FF2B5EF4-FFF2-40B4-BE49-F238E27FC236}">
                <a16:creationId xmlns:a16="http://schemas.microsoft.com/office/drawing/2014/main" id="{FA0F6F35-AFB3-456B-A086-5FF9AA97A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ct val="100000"/>
              </a:lnSpc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 dirty="0">
                <a:solidFill>
                  <a:srgbClr val="12171D"/>
                </a:solidFill>
                <a:latin typeface="Jost"/>
                <a:ea typeface="Jost"/>
                <a:cs typeface="Jost"/>
              </a:rPr>
              <a:t>Arrival, precisely composed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914B4C-21B7-4DBE-99E5-8500AB867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23380D4B-F7DC-4B92-80D6-79D811ECFB13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1.0   WORKING EDITION">
            <a:extLst>
              <a:ext uri="{FF2B5EF4-FFF2-40B4-BE49-F238E27FC236}">
                <a16:creationId xmlns:a16="http://schemas.microsoft.com/office/drawing/2014/main" id="{F63C3CF8-EDDF-4252-8F38-58BCD60F1855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v1.0   WORKING EDITION</a:t>
            </a:r>
          </a:p>
        </p:txBody>
      </p:sp>
      <p:pic>
        <p:nvPicPr>
          <p:cNvPr id="17" name="arrival" descr="Concept image: a cream GEM welcome card, a dark key sleeve and a key card on a stone surface.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17469" y="2352675"/>
            <a:ext cx="7415212" cy="4943475"/>
          </a:xfrm>
          <a:prstGeom prst="rect">
            <a:avLst/>
          </a:prstGeom>
        </p:spPr>
      </p:pic>
      <p:sp>
        <p:nvSpPr>
          <p:cNvPr id="8" name="A welcome card.&#10;A key sleeve.&#10;Space between.">
            <a:extLst>
              <a:ext uri="{FF2B5EF4-FFF2-40B4-BE49-F238E27FC236}">
                <a16:creationId xmlns:a16="http://schemas.microsoft.com/office/drawing/2014/main" id="{2275B2F9-F1EC-485F-84D6-8BC9902250BB}"/>
              </a:ext>
            </a:extLst>
          </p:cNvPr>
          <p:cNvSpPr>
            <a:spLocks noGrp="1"/>
          </p:cNvSpPr>
          <p:nvPr/>
        </p:nvSpPr>
        <p:spPr>
          <a:xfrm>
            <a:off x="914400" y="2705100"/>
            <a:ext cx="4495800" cy="2286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52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525" dirty="0">
                <a:solidFill>
                  <a:srgbClr val="12171D"/>
                </a:solidFill>
                <a:latin typeface="Jost"/>
                <a:ea typeface="Jost"/>
                <a:cs typeface="Jost"/>
              </a:rPr>
              <a:t>A welcome card.</a:t>
            </a:r>
          </a:p>
          <a:p>
            <a:pPr>
              <a:defRPr sz="352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525" dirty="0">
                <a:solidFill>
                  <a:srgbClr val="12171D"/>
                </a:solidFill>
                <a:latin typeface="Jost"/>
                <a:ea typeface="Jost"/>
                <a:cs typeface="Jost"/>
              </a:rPr>
              <a:t>A key sleeve.</a:t>
            </a:r>
          </a:p>
          <a:p>
            <a:pPr>
              <a:defRPr sz="352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525" dirty="0">
                <a:solidFill>
                  <a:srgbClr val="12171D"/>
                </a:solidFill>
                <a:latin typeface="Jost"/>
                <a:ea typeface="Jost"/>
                <a:cs typeface="Jost"/>
              </a:rPr>
              <a:t>Space between.</a:t>
            </a:r>
          </a:p>
        </p:txBody>
      </p:sp>
      <p:sp>
        <p:nvSpPr>
          <p:cNvPr id="9" name="One identity gives each&#10;object its place.">
            <a:extLst>
              <a:ext uri="{FF2B5EF4-FFF2-40B4-BE49-F238E27FC236}">
                <a16:creationId xmlns:a16="http://schemas.microsoft.com/office/drawing/2014/main" id="{F62DBF6D-AD89-4AE7-8E66-619942ECB4EF}"/>
              </a:ext>
            </a:extLst>
          </p:cNvPr>
          <p:cNvSpPr>
            <a:spLocks noGrp="1"/>
          </p:cNvSpPr>
          <p:nvPr/>
        </p:nvSpPr>
        <p:spPr>
          <a:xfrm>
            <a:off x="952500" y="5810250"/>
            <a:ext cx="40957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2025" dirty="0">
                <a:solidFill>
                  <a:srgbClr val="12171D"/>
                </a:solidFill>
                <a:latin typeface="Inter"/>
                <a:ea typeface="Inter"/>
                <a:cs typeface="Inter"/>
              </a:rPr>
              <a:t>One identity gives each</a:t>
            </a:r>
          </a:p>
          <a:p>
            <a:pPr>
              <a:defRPr sz="202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2025" dirty="0">
                <a:solidFill>
                  <a:srgbClr val="12171D"/>
                </a:solidFill>
                <a:latin typeface="Inter"/>
                <a:ea typeface="Inter"/>
                <a:cs typeface="Inter"/>
              </a:rPr>
              <a:t>object its place.</a:t>
            </a:r>
          </a:p>
        </p:txBody>
      </p:sp>
      <p:sp>
        <p:nvSpPr>
          <p:cNvPr id="10" name="CONCEPT / NOT PRODUCTION PHOTOGRAPHY   /   COPY AND PRODUCTION DATA PE">
            <a:extLst>
              <a:ext uri="{FF2B5EF4-FFF2-40B4-BE49-F238E27FC236}">
                <a16:creationId xmlns:a16="http://schemas.microsoft.com/office/drawing/2014/main" id="{A0DD5F5D-41DA-4E62-B152-CEC717470C8F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CONCEPT / NOT PRODUCTION PHOTOGRAPHY   /   COPY AND PRODUCTION DATA PENDING</a:t>
            </a:r>
          </a:p>
        </p:txBody>
      </p:sp>
    </p:spTree>
    <p:extLst>
      <p:ext uri="{BB962C8B-B14F-4D97-AF65-F5344CB8AC3E}">
        <p14:creationId xmlns:p14="http://schemas.microsoft.com/office/powerpoint/2010/main" val="17073601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UEST EXPERIENCE">
            <a:extLst>
              <a:ext uri="{FF2B5EF4-FFF2-40B4-BE49-F238E27FC236}">
                <a16:creationId xmlns:a16="http://schemas.microsoft.com/office/drawing/2014/main" id="{7C041E2F-618A-4B21-8CA1-D23AD0828327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GUEST EXPERIENCE</a:t>
            </a:r>
          </a:p>
        </p:txBody>
      </p:sp>
      <p:sp>
        <p:nvSpPr>
          <p:cNvPr id="2" name="20">
            <a:extLst>
              <a:ext uri="{FF2B5EF4-FFF2-40B4-BE49-F238E27FC236}">
                <a16:creationId xmlns:a16="http://schemas.microsoft.com/office/drawing/2014/main" id="{CD2B5E82-0018-4017-8290-2089282EAAC0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20</a:t>
            </a:r>
          </a:p>
        </p:txBody>
      </p:sp>
      <p:sp>
        <p:nvSpPr>
          <p:cNvPr id="3" name="The room as a composed set">
            <a:extLst>
              <a:ext uri="{FF2B5EF4-FFF2-40B4-BE49-F238E27FC236}">
                <a16:creationId xmlns:a16="http://schemas.microsoft.com/office/drawing/2014/main" id="{61C3A032-4DBC-4B72-A456-3E3452CAF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ct val="100000"/>
              </a:lnSpc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The room as a composed set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D78581-24D2-4D15-8796-0993B10DD5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D3A76352-8A37-4BFD-A88C-346D117EF0BA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1.0   WORKING EDITION">
            <a:extLst>
              <a:ext uri="{FF2B5EF4-FFF2-40B4-BE49-F238E27FC236}">
                <a16:creationId xmlns:a16="http://schemas.microsoft.com/office/drawing/2014/main" id="{3F0928D0-AB18-4876-A40B-F795F3D6EE3A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v1.0   WORKING EDITION</a:t>
            </a:r>
          </a:p>
        </p:txBody>
      </p:sp>
      <p:pic>
        <p:nvPicPr>
          <p:cNvPr id="17" name="room" descr="Concept image: five GEM bottles (shampoo, conditioner, body wash, body lotion, hand wash) in a tray on a stone shelf beside a folded towel and a cream card.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52613" y="2343150"/>
            <a:ext cx="7458075" cy="4972050"/>
          </a:xfrm>
          <a:prstGeom prst="rect">
            <a:avLst/>
          </a:prstGeom>
        </p:spPr>
      </p:pic>
      <p:sp>
        <p:nvSpPr>
          <p:cNvPr id="8" name="The objects share&#10;a visual rhythm.">
            <a:extLst>
              <a:ext uri="{FF2B5EF4-FFF2-40B4-BE49-F238E27FC236}">
                <a16:creationId xmlns:a16="http://schemas.microsoft.com/office/drawing/2014/main" id="{CC03FC3D-0E0C-4EDF-8A03-782D7A443006}"/>
              </a:ext>
            </a:extLst>
          </p:cNvPr>
          <p:cNvSpPr>
            <a:spLocks noGrp="1"/>
          </p:cNvSpPr>
          <p:nvPr/>
        </p:nvSpPr>
        <p:spPr>
          <a:xfrm>
            <a:off x="10868025" y="3019425"/>
            <a:ext cx="3476625" cy="1485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00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000" dirty="0">
                <a:solidFill>
                  <a:srgbClr val="12171D"/>
                </a:solidFill>
                <a:latin typeface="Jost"/>
                <a:ea typeface="Jost"/>
                <a:cs typeface="Jost"/>
              </a:rPr>
              <a:t>The objects share</a:t>
            </a:r>
          </a:p>
          <a:p>
            <a:pPr>
              <a:defRPr sz="300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000" dirty="0">
                <a:solidFill>
                  <a:srgbClr val="12171D"/>
                </a:solidFill>
                <a:latin typeface="Jost"/>
                <a:ea typeface="Jost"/>
                <a:cs typeface="Jost"/>
              </a:rPr>
              <a:t>a visual rhythm.</a:t>
            </a:r>
          </a:p>
        </p:txBody>
      </p:sp>
      <p:sp>
        <p:nvSpPr>
          <p:cNvPr id="9" name="Placement and replenishment&#10;remain property-specific.&#10;&#10;[REQUIRES OWNER">
            <a:extLst>
              <a:ext uri="{FF2B5EF4-FFF2-40B4-BE49-F238E27FC236}">
                <a16:creationId xmlns:a16="http://schemas.microsoft.com/office/drawing/2014/main" id="{E9F0A723-F868-49DD-8553-477B1EF5DE18}"/>
              </a:ext>
            </a:extLst>
          </p:cNvPr>
          <p:cNvSpPr>
            <a:spLocks noGrp="1"/>
          </p:cNvSpPr>
          <p:nvPr/>
        </p:nvSpPr>
        <p:spPr>
          <a:xfrm>
            <a:off x="10906125" y="5181600"/>
            <a:ext cx="3419475" cy="1628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 dirty="0">
                <a:solidFill>
                  <a:srgbClr val="12171D"/>
                </a:solidFill>
                <a:latin typeface="Inter"/>
                <a:ea typeface="Inter"/>
                <a:cs typeface="Inter"/>
              </a:rPr>
              <a:t>Placement and replenishment</a:t>
            </a:r>
          </a:p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 dirty="0">
                <a:solidFill>
                  <a:srgbClr val="12171D"/>
                </a:solidFill>
                <a:latin typeface="Inter"/>
                <a:ea typeface="Inter"/>
                <a:cs typeface="Inter"/>
              </a:rPr>
              <a:t>remain property-specific.</a:t>
            </a:r>
          </a:p>
          <a:p>
            <a:endParaRPr sz="1650" dirty="0">
              <a:solidFill>
                <a:srgbClr val="12171D"/>
              </a:solidFill>
              <a:latin typeface="Inter"/>
              <a:ea typeface="Inter"/>
              <a:cs typeface="Inter"/>
            </a:endParaRPr>
          </a:p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 dirty="0">
                <a:solidFill>
                  <a:srgbClr val="12171D"/>
                </a:solidFill>
                <a:latin typeface="Inter"/>
                <a:ea typeface="Inter"/>
                <a:cs typeface="Inter"/>
              </a:rPr>
              <a:t>[REQUIRES OWNER]</a:t>
            </a:r>
          </a:p>
        </p:txBody>
      </p:sp>
      <p:sp>
        <p:nvSpPr>
          <p:cNvPr id="10" name="CONCEPT / NOT PRODUCTION PHOTOGRAPHY   /   OPERATIONAL VALIDATION PEND">
            <a:extLst>
              <a:ext uri="{FF2B5EF4-FFF2-40B4-BE49-F238E27FC236}">
                <a16:creationId xmlns:a16="http://schemas.microsoft.com/office/drawing/2014/main" id="{F2093F1B-C78E-4982-8147-76752B0B9F0A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CONCEPT / NOT PRODUCTION PHOTOGRAPHY   /   OPERATIONAL VALIDATION PENDING</a:t>
            </a:r>
          </a:p>
        </p:txBody>
      </p:sp>
    </p:spTree>
    <p:extLst>
      <p:ext uri="{BB962C8B-B14F-4D97-AF65-F5344CB8AC3E}">
        <p14:creationId xmlns:p14="http://schemas.microsoft.com/office/powerpoint/2010/main" val="16939671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RODUCTION">
            <a:extLst>
              <a:ext uri="{FF2B5EF4-FFF2-40B4-BE49-F238E27FC236}">
                <a16:creationId xmlns:a16="http://schemas.microsoft.com/office/drawing/2014/main" id="{16AD893F-FC8D-4C2F-B148-40CD0C812F76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PRODUCTION</a:t>
            </a:r>
          </a:p>
        </p:txBody>
      </p:sp>
      <p:sp>
        <p:nvSpPr>
          <p:cNvPr id="2" name="21">
            <a:extLst>
              <a:ext uri="{FF2B5EF4-FFF2-40B4-BE49-F238E27FC236}">
                <a16:creationId xmlns:a16="http://schemas.microsoft.com/office/drawing/2014/main" id="{E75A2FC7-CEDF-4B11-A76B-6B8FA9F94BB7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21</a:t>
            </a:r>
          </a:p>
        </p:txBody>
      </p:sp>
      <p:sp>
        <p:nvSpPr>
          <p:cNvPr id="3" name="Production release sequence">
            <a:extLst>
              <a:ext uri="{FF2B5EF4-FFF2-40B4-BE49-F238E27FC236}">
                <a16:creationId xmlns:a16="http://schemas.microsoft.com/office/drawing/2014/main" id="{78E7D2C7-9872-4C3D-B534-7B34704FE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ct val="100000"/>
              </a:lnSpc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Production release sequence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AAD222-C67D-4B93-9678-20233CEFCC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EB2BCAE3-59AB-42A5-8548-22B441D4361B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1.0   WORKING EDITION">
            <a:extLst>
              <a:ext uri="{FF2B5EF4-FFF2-40B4-BE49-F238E27FC236}">
                <a16:creationId xmlns:a16="http://schemas.microsoft.com/office/drawing/2014/main" id="{532E0EC8-4228-4EE3-AA98-59D35A2F23A8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v1.0   WORKING EDITION</a:t>
            </a:r>
          </a:p>
        </p:txBody>
      </p:sp>
      <p:sp>
        <p:nvSpPr>
          <p:cNvPr id="7" name="01">
            <a:extLst>
              <a:ext uri="{FF2B5EF4-FFF2-40B4-BE49-F238E27FC236}">
                <a16:creationId xmlns:a16="http://schemas.microsoft.com/office/drawing/2014/main" id="{32D9293E-4956-4687-9F9F-EB085C2F4701}"/>
              </a:ext>
            </a:extLst>
          </p:cNvPr>
          <p:cNvSpPr>
            <a:spLocks noGrp="1"/>
          </p:cNvSpPr>
          <p:nvPr/>
        </p:nvSpPr>
        <p:spPr>
          <a:xfrm>
            <a:off x="914400" y="2667000"/>
            <a:ext cx="1714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375">
                <a:solidFill>
                  <a:srgbClr val="12171D"/>
                </a:solidFill>
                <a:latin typeface="Jost"/>
                <a:ea typeface="Jost"/>
                <a:cs typeface="Jost"/>
              </a:rPr>
              <a:t>01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B24564-6B53-495A-A78C-DA204F1248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14400" y="3448050"/>
            <a:ext cx="159067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9" name="Brief received">
            <a:extLst>
              <a:ext uri="{FF2B5EF4-FFF2-40B4-BE49-F238E27FC236}">
                <a16:creationId xmlns:a16="http://schemas.microsoft.com/office/drawing/2014/main" id="{587D7D11-4D6D-4869-BC2D-69049BEF8BD5}"/>
              </a:ext>
            </a:extLst>
          </p:cNvPr>
          <p:cNvSpPr>
            <a:spLocks noGrp="1"/>
          </p:cNvSpPr>
          <p:nvPr/>
        </p:nvSpPr>
        <p:spPr>
          <a:xfrm>
            <a:off x="914400" y="3657600"/>
            <a:ext cx="1714500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Brief received</a:t>
            </a:r>
          </a:p>
        </p:txBody>
      </p:sp>
      <p:sp>
        <p:nvSpPr>
          <p:cNvPr id="10" name="02">
            <a:extLst>
              <a:ext uri="{FF2B5EF4-FFF2-40B4-BE49-F238E27FC236}">
                <a16:creationId xmlns:a16="http://schemas.microsoft.com/office/drawing/2014/main" id="{08C7BB3F-06AC-4F37-BB7A-37D302E3507E}"/>
              </a:ext>
            </a:extLst>
          </p:cNvPr>
          <p:cNvSpPr>
            <a:spLocks noGrp="1"/>
          </p:cNvSpPr>
          <p:nvPr/>
        </p:nvSpPr>
        <p:spPr>
          <a:xfrm>
            <a:off x="2857500" y="2667000"/>
            <a:ext cx="1714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375">
                <a:solidFill>
                  <a:srgbClr val="12171D"/>
                </a:solidFill>
                <a:latin typeface="Jost"/>
                <a:ea typeface="Jost"/>
                <a:cs typeface="Jost"/>
              </a:rPr>
              <a:t>02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CD3289-91D9-4A5F-A964-D38268CCA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2857500" y="3448050"/>
            <a:ext cx="159067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2" name="Correct master&#10;identified">
            <a:extLst>
              <a:ext uri="{FF2B5EF4-FFF2-40B4-BE49-F238E27FC236}">
                <a16:creationId xmlns:a16="http://schemas.microsoft.com/office/drawing/2014/main" id="{ED2E0D12-0616-481A-A798-3CCF0A753774}"/>
              </a:ext>
            </a:extLst>
          </p:cNvPr>
          <p:cNvSpPr>
            <a:spLocks noGrp="1"/>
          </p:cNvSpPr>
          <p:nvPr/>
        </p:nvSpPr>
        <p:spPr>
          <a:xfrm>
            <a:off x="2857500" y="3657600"/>
            <a:ext cx="1714500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Correct master</a:t>
            </a:r>
          </a:p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identified</a:t>
            </a:r>
          </a:p>
        </p:txBody>
      </p:sp>
      <p:sp>
        <p:nvSpPr>
          <p:cNvPr id="13" name="03">
            <a:extLst>
              <a:ext uri="{FF2B5EF4-FFF2-40B4-BE49-F238E27FC236}">
                <a16:creationId xmlns:a16="http://schemas.microsoft.com/office/drawing/2014/main" id="{9651880F-6A4A-4ECE-9EBB-053274404947}"/>
              </a:ext>
            </a:extLst>
          </p:cNvPr>
          <p:cNvSpPr>
            <a:spLocks noGrp="1"/>
          </p:cNvSpPr>
          <p:nvPr/>
        </p:nvSpPr>
        <p:spPr>
          <a:xfrm>
            <a:off x="4800600" y="2667000"/>
            <a:ext cx="1714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375">
                <a:solidFill>
                  <a:srgbClr val="12171D"/>
                </a:solidFill>
                <a:latin typeface="Jost"/>
                <a:ea typeface="Jost"/>
                <a:cs typeface="Jost"/>
              </a:rPr>
              <a:t>03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9CE0630-5F30-4BE9-99FE-CC58CA315F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800600" y="3448050"/>
            <a:ext cx="159067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5" name="Technical spec&#10;confirmed">
            <a:extLst>
              <a:ext uri="{FF2B5EF4-FFF2-40B4-BE49-F238E27FC236}">
                <a16:creationId xmlns:a16="http://schemas.microsoft.com/office/drawing/2014/main" id="{120E2EA0-8918-4FD1-B596-5650648D9E7A}"/>
              </a:ext>
            </a:extLst>
          </p:cNvPr>
          <p:cNvSpPr>
            <a:spLocks noGrp="1"/>
          </p:cNvSpPr>
          <p:nvPr/>
        </p:nvSpPr>
        <p:spPr>
          <a:xfrm>
            <a:off x="4800600" y="3657600"/>
            <a:ext cx="1714500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Technical spec</a:t>
            </a:r>
          </a:p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confirmed</a:t>
            </a:r>
          </a:p>
        </p:txBody>
      </p:sp>
      <p:sp>
        <p:nvSpPr>
          <p:cNvPr id="16" name="04">
            <a:extLst>
              <a:ext uri="{FF2B5EF4-FFF2-40B4-BE49-F238E27FC236}">
                <a16:creationId xmlns:a16="http://schemas.microsoft.com/office/drawing/2014/main" id="{44CB1916-147B-4EE0-81F5-C26EE0C40A17}"/>
              </a:ext>
            </a:extLst>
          </p:cNvPr>
          <p:cNvSpPr>
            <a:spLocks noGrp="1"/>
          </p:cNvSpPr>
          <p:nvPr/>
        </p:nvSpPr>
        <p:spPr>
          <a:xfrm>
            <a:off x="6743700" y="2667000"/>
            <a:ext cx="1714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375">
                <a:solidFill>
                  <a:srgbClr val="12171D"/>
                </a:solidFill>
                <a:latin typeface="Jost"/>
                <a:ea typeface="Jost"/>
                <a:cs typeface="Jost"/>
              </a:rPr>
              <a:t>04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F88290A-4091-454A-80C7-DA984E4E1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6743700" y="3448050"/>
            <a:ext cx="159067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8" name="Supplier template&#10;or dieline">
            <a:extLst>
              <a:ext uri="{FF2B5EF4-FFF2-40B4-BE49-F238E27FC236}">
                <a16:creationId xmlns:a16="http://schemas.microsoft.com/office/drawing/2014/main" id="{56F7C212-7AD2-4518-BFAE-091EE283B7B8}"/>
              </a:ext>
            </a:extLst>
          </p:cNvPr>
          <p:cNvSpPr>
            <a:spLocks noGrp="1"/>
          </p:cNvSpPr>
          <p:nvPr/>
        </p:nvSpPr>
        <p:spPr>
          <a:xfrm>
            <a:off x="6743700" y="3657600"/>
            <a:ext cx="1714500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Supplier template</a:t>
            </a:r>
          </a:p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or dieline</a:t>
            </a:r>
          </a:p>
        </p:txBody>
      </p:sp>
      <p:sp>
        <p:nvSpPr>
          <p:cNvPr id="19" name="05">
            <a:extLst>
              <a:ext uri="{FF2B5EF4-FFF2-40B4-BE49-F238E27FC236}">
                <a16:creationId xmlns:a16="http://schemas.microsoft.com/office/drawing/2014/main" id="{BBE03008-8134-4432-A7CA-36AC77B069BB}"/>
              </a:ext>
            </a:extLst>
          </p:cNvPr>
          <p:cNvSpPr>
            <a:spLocks noGrp="1"/>
          </p:cNvSpPr>
          <p:nvPr/>
        </p:nvSpPr>
        <p:spPr>
          <a:xfrm>
            <a:off x="8686800" y="2667000"/>
            <a:ext cx="1714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375">
                <a:solidFill>
                  <a:srgbClr val="12171D"/>
                </a:solidFill>
                <a:latin typeface="Jost"/>
                <a:ea typeface="Jost"/>
                <a:cs typeface="Jost"/>
              </a:rPr>
              <a:t>05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AD54D28-7E20-4B87-9CEB-3A86A902BA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8686800" y="3448050"/>
            <a:ext cx="159067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21" name="Artwork&#10;prepared">
            <a:extLst>
              <a:ext uri="{FF2B5EF4-FFF2-40B4-BE49-F238E27FC236}">
                <a16:creationId xmlns:a16="http://schemas.microsoft.com/office/drawing/2014/main" id="{9EBE891A-5378-410F-8911-7A1B1BB80B7C}"/>
              </a:ext>
            </a:extLst>
          </p:cNvPr>
          <p:cNvSpPr>
            <a:spLocks noGrp="1"/>
          </p:cNvSpPr>
          <p:nvPr/>
        </p:nvSpPr>
        <p:spPr>
          <a:xfrm>
            <a:off x="8686800" y="3657600"/>
            <a:ext cx="1714500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Artwork</a:t>
            </a:r>
          </a:p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prepared</a:t>
            </a:r>
          </a:p>
        </p:txBody>
      </p:sp>
      <p:sp>
        <p:nvSpPr>
          <p:cNvPr id="22" name="06">
            <a:extLst>
              <a:ext uri="{FF2B5EF4-FFF2-40B4-BE49-F238E27FC236}">
                <a16:creationId xmlns:a16="http://schemas.microsoft.com/office/drawing/2014/main" id="{1B9FD83F-1F2A-460A-94F0-3C21D4FE95BD}"/>
              </a:ext>
            </a:extLst>
          </p:cNvPr>
          <p:cNvSpPr>
            <a:spLocks noGrp="1"/>
          </p:cNvSpPr>
          <p:nvPr/>
        </p:nvSpPr>
        <p:spPr>
          <a:xfrm>
            <a:off x="10629900" y="2667000"/>
            <a:ext cx="1714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375">
                <a:solidFill>
                  <a:srgbClr val="12171D"/>
                </a:solidFill>
                <a:latin typeface="Jost"/>
                <a:ea typeface="Jost"/>
                <a:cs typeface="Jost"/>
              </a:rPr>
              <a:t>06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20C28DE-B91A-42B1-AF80-657422162D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629900" y="3448050"/>
            <a:ext cx="159067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24" name="Internal&#10;preflight">
            <a:extLst>
              <a:ext uri="{FF2B5EF4-FFF2-40B4-BE49-F238E27FC236}">
                <a16:creationId xmlns:a16="http://schemas.microsoft.com/office/drawing/2014/main" id="{1378CA33-7571-4C10-9C73-55937DE8AF72}"/>
              </a:ext>
            </a:extLst>
          </p:cNvPr>
          <p:cNvSpPr>
            <a:spLocks noGrp="1"/>
          </p:cNvSpPr>
          <p:nvPr/>
        </p:nvSpPr>
        <p:spPr>
          <a:xfrm>
            <a:off x="10629900" y="3657600"/>
            <a:ext cx="1714500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Internal</a:t>
            </a:r>
          </a:p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preflight</a:t>
            </a:r>
          </a:p>
        </p:txBody>
      </p:sp>
      <p:sp>
        <p:nvSpPr>
          <p:cNvPr id="25" name="07">
            <a:extLst>
              <a:ext uri="{FF2B5EF4-FFF2-40B4-BE49-F238E27FC236}">
                <a16:creationId xmlns:a16="http://schemas.microsoft.com/office/drawing/2014/main" id="{E727FECE-CFDE-4E76-9F08-A8C39C5E7092}"/>
              </a:ext>
            </a:extLst>
          </p:cNvPr>
          <p:cNvSpPr>
            <a:spLocks noGrp="1"/>
          </p:cNvSpPr>
          <p:nvPr/>
        </p:nvSpPr>
        <p:spPr>
          <a:xfrm>
            <a:off x="12573000" y="2667000"/>
            <a:ext cx="1714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375">
                <a:solidFill>
                  <a:srgbClr val="12171D"/>
                </a:solidFill>
                <a:latin typeface="Jost"/>
                <a:ea typeface="Jost"/>
                <a:cs typeface="Jost"/>
              </a:rPr>
              <a:t>07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C424188-676B-4AF0-9559-FE46E32F6A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573000" y="3448050"/>
            <a:ext cx="159067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27" name="Supplier&#10;proof">
            <a:extLst>
              <a:ext uri="{FF2B5EF4-FFF2-40B4-BE49-F238E27FC236}">
                <a16:creationId xmlns:a16="http://schemas.microsoft.com/office/drawing/2014/main" id="{513A4452-9211-45EB-BA06-92901F7C2140}"/>
              </a:ext>
            </a:extLst>
          </p:cNvPr>
          <p:cNvSpPr>
            <a:spLocks noGrp="1"/>
          </p:cNvSpPr>
          <p:nvPr/>
        </p:nvSpPr>
        <p:spPr>
          <a:xfrm>
            <a:off x="12573000" y="3657600"/>
            <a:ext cx="1714500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Supplier</a:t>
            </a:r>
          </a:p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proof</a:t>
            </a:r>
          </a:p>
        </p:txBody>
      </p:sp>
      <p:sp>
        <p:nvSpPr>
          <p:cNvPr id="28" name="08">
            <a:extLst>
              <a:ext uri="{FF2B5EF4-FFF2-40B4-BE49-F238E27FC236}">
                <a16:creationId xmlns:a16="http://schemas.microsoft.com/office/drawing/2014/main" id="{D9AADC7B-B711-42FF-8D68-4355DE03272D}"/>
              </a:ext>
            </a:extLst>
          </p:cNvPr>
          <p:cNvSpPr>
            <a:spLocks noGrp="1"/>
          </p:cNvSpPr>
          <p:nvPr/>
        </p:nvSpPr>
        <p:spPr>
          <a:xfrm>
            <a:off x="914400" y="5029200"/>
            <a:ext cx="1714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375">
                <a:solidFill>
                  <a:srgbClr val="12171D"/>
                </a:solidFill>
                <a:latin typeface="Jost"/>
                <a:ea typeface="Jost"/>
                <a:cs typeface="Jost"/>
              </a:rPr>
              <a:t>08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7EB38C9-55D1-4B41-AD18-02B06C656A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14400" y="5810250"/>
            <a:ext cx="159067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30" name="Brand review">
            <a:extLst>
              <a:ext uri="{FF2B5EF4-FFF2-40B4-BE49-F238E27FC236}">
                <a16:creationId xmlns:a16="http://schemas.microsoft.com/office/drawing/2014/main" id="{E92863F4-C6EB-43FB-B714-510518FA56AD}"/>
              </a:ext>
            </a:extLst>
          </p:cNvPr>
          <p:cNvSpPr>
            <a:spLocks noGrp="1"/>
          </p:cNvSpPr>
          <p:nvPr/>
        </p:nvSpPr>
        <p:spPr>
          <a:xfrm>
            <a:off x="914400" y="6019800"/>
            <a:ext cx="1714500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Brand review</a:t>
            </a:r>
          </a:p>
        </p:txBody>
      </p:sp>
      <p:sp>
        <p:nvSpPr>
          <p:cNvPr id="31" name="09">
            <a:extLst>
              <a:ext uri="{FF2B5EF4-FFF2-40B4-BE49-F238E27FC236}">
                <a16:creationId xmlns:a16="http://schemas.microsoft.com/office/drawing/2014/main" id="{DF0EA7CC-25C8-4EBC-AEBB-7078DB83ADDC}"/>
              </a:ext>
            </a:extLst>
          </p:cNvPr>
          <p:cNvSpPr>
            <a:spLocks noGrp="1"/>
          </p:cNvSpPr>
          <p:nvPr/>
        </p:nvSpPr>
        <p:spPr>
          <a:xfrm>
            <a:off x="2857500" y="5029200"/>
            <a:ext cx="1714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375">
                <a:solidFill>
                  <a:srgbClr val="12171D"/>
                </a:solidFill>
                <a:latin typeface="Jost"/>
                <a:ea typeface="Jost"/>
                <a:cs typeface="Jost"/>
              </a:rPr>
              <a:t>09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44DC180-7F49-41C8-9E15-66C2404B5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2857500" y="5810250"/>
            <a:ext cx="159067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33" name="Technical and&#10;regulatory review">
            <a:extLst>
              <a:ext uri="{FF2B5EF4-FFF2-40B4-BE49-F238E27FC236}">
                <a16:creationId xmlns:a16="http://schemas.microsoft.com/office/drawing/2014/main" id="{145773E0-1FF7-44B0-8FE0-2E0872CF44F6}"/>
              </a:ext>
            </a:extLst>
          </p:cNvPr>
          <p:cNvSpPr>
            <a:spLocks noGrp="1"/>
          </p:cNvSpPr>
          <p:nvPr/>
        </p:nvSpPr>
        <p:spPr>
          <a:xfrm>
            <a:off x="2857500" y="6019800"/>
            <a:ext cx="1714500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Technical and</a:t>
            </a:r>
          </a:p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regulatory review</a:t>
            </a:r>
          </a:p>
        </p:txBody>
      </p:sp>
      <p:sp>
        <p:nvSpPr>
          <p:cNvPr id="34" name="10">
            <a:extLst>
              <a:ext uri="{FF2B5EF4-FFF2-40B4-BE49-F238E27FC236}">
                <a16:creationId xmlns:a16="http://schemas.microsoft.com/office/drawing/2014/main" id="{6BCCE686-23C9-4483-AE77-FB1C19DE659E}"/>
              </a:ext>
            </a:extLst>
          </p:cNvPr>
          <p:cNvSpPr>
            <a:spLocks noGrp="1"/>
          </p:cNvSpPr>
          <p:nvPr/>
        </p:nvSpPr>
        <p:spPr>
          <a:xfrm>
            <a:off x="4800600" y="5029200"/>
            <a:ext cx="1714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375">
                <a:solidFill>
                  <a:srgbClr val="12171D"/>
                </a:solidFill>
                <a:latin typeface="Jost"/>
                <a:ea typeface="Jost"/>
                <a:cs typeface="Jost"/>
              </a:rPr>
              <a:t>10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FB0E4BE-AA21-4812-922E-4F36653CB6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800600" y="5810250"/>
            <a:ext cx="159067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36" name="Physical proof&#10;or sample">
            <a:extLst>
              <a:ext uri="{FF2B5EF4-FFF2-40B4-BE49-F238E27FC236}">
                <a16:creationId xmlns:a16="http://schemas.microsoft.com/office/drawing/2014/main" id="{285748E8-208A-4F95-91EB-2FD1DD306E05}"/>
              </a:ext>
            </a:extLst>
          </p:cNvPr>
          <p:cNvSpPr>
            <a:spLocks noGrp="1"/>
          </p:cNvSpPr>
          <p:nvPr/>
        </p:nvSpPr>
        <p:spPr>
          <a:xfrm>
            <a:off x="4800600" y="6019800"/>
            <a:ext cx="1714500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Physical proof</a:t>
            </a:r>
          </a:p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or sample</a:t>
            </a:r>
          </a:p>
        </p:txBody>
      </p:sp>
      <p:sp>
        <p:nvSpPr>
          <p:cNvPr id="37" name="11">
            <a:extLst>
              <a:ext uri="{FF2B5EF4-FFF2-40B4-BE49-F238E27FC236}">
                <a16:creationId xmlns:a16="http://schemas.microsoft.com/office/drawing/2014/main" id="{9185094B-2090-4736-8335-80A75F54FAD0}"/>
              </a:ext>
            </a:extLst>
          </p:cNvPr>
          <p:cNvSpPr>
            <a:spLocks noGrp="1"/>
          </p:cNvSpPr>
          <p:nvPr/>
        </p:nvSpPr>
        <p:spPr>
          <a:xfrm>
            <a:off x="6743700" y="5029200"/>
            <a:ext cx="1714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375">
                <a:solidFill>
                  <a:srgbClr val="12171D"/>
                </a:solidFill>
                <a:latin typeface="Jost"/>
                <a:ea typeface="Jost"/>
                <a:cs typeface="Jost"/>
              </a:rPr>
              <a:t>11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E1EADB8-DF10-4218-BAE6-F5E763F753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6743700" y="5810250"/>
            <a:ext cx="159067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39" name="Corrections">
            <a:extLst>
              <a:ext uri="{FF2B5EF4-FFF2-40B4-BE49-F238E27FC236}">
                <a16:creationId xmlns:a16="http://schemas.microsoft.com/office/drawing/2014/main" id="{F673EB38-4267-48C0-B6F8-D4CCEB129436}"/>
              </a:ext>
            </a:extLst>
          </p:cNvPr>
          <p:cNvSpPr>
            <a:spLocks noGrp="1"/>
          </p:cNvSpPr>
          <p:nvPr/>
        </p:nvSpPr>
        <p:spPr>
          <a:xfrm>
            <a:off x="6743700" y="6019800"/>
            <a:ext cx="1714500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Corrections</a:t>
            </a:r>
          </a:p>
        </p:txBody>
      </p:sp>
      <p:sp>
        <p:nvSpPr>
          <p:cNvPr id="40" name="12">
            <a:extLst>
              <a:ext uri="{FF2B5EF4-FFF2-40B4-BE49-F238E27FC236}">
                <a16:creationId xmlns:a16="http://schemas.microsoft.com/office/drawing/2014/main" id="{C1AB02D6-9C11-4E0A-AC6C-12450B9367E0}"/>
              </a:ext>
            </a:extLst>
          </p:cNvPr>
          <p:cNvSpPr>
            <a:spLocks noGrp="1"/>
          </p:cNvSpPr>
          <p:nvPr/>
        </p:nvSpPr>
        <p:spPr>
          <a:xfrm>
            <a:off x="8686800" y="5029200"/>
            <a:ext cx="1714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375">
                <a:solidFill>
                  <a:srgbClr val="12171D"/>
                </a:solidFill>
                <a:latin typeface="Jost"/>
                <a:ea typeface="Jost"/>
                <a:cs typeface="Jost"/>
              </a:rPr>
              <a:t>12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36A3FE3-C9F6-4F12-BA46-A07F6A0BFC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8686800" y="5810250"/>
            <a:ext cx="159067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42" name="Final approval">
            <a:extLst>
              <a:ext uri="{FF2B5EF4-FFF2-40B4-BE49-F238E27FC236}">
                <a16:creationId xmlns:a16="http://schemas.microsoft.com/office/drawing/2014/main" id="{E908DE8D-3EDB-4817-B51F-07E7512760D7}"/>
              </a:ext>
            </a:extLst>
          </p:cNvPr>
          <p:cNvSpPr>
            <a:spLocks noGrp="1"/>
          </p:cNvSpPr>
          <p:nvPr/>
        </p:nvSpPr>
        <p:spPr>
          <a:xfrm>
            <a:off x="8686800" y="6019800"/>
            <a:ext cx="1714500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Final approval</a:t>
            </a:r>
          </a:p>
        </p:txBody>
      </p:sp>
      <p:sp>
        <p:nvSpPr>
          <p:cNvPr id="43" name="13">
            <a:extLst>
              <a:ext uri="{FF2B5EF4-FFF2-40B4-BE49-F238E27FC236}">
                <a16:creationId xmlns:a16="http://schemas.microsoft.com/office/drawing/2014/main" id="{B226AD95-58EF-4273-9040-C4BB4E036909}"/>
              </a:ext>
            </a:extLst>
          </p:cNvPr>
          <p:cNvSpPr>
            <a:spLocks noGrp="1"/>
          </p:cNvSpPr>
          <p:nvPr/>
        </p:nvSpPr>
        <p:spPr>
          <a:xfrm>
            <a:off x="10629900" y="5029200"/>
            <a:ext cx="1714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375">
                <a:solidFill>
                  <a:srgbClr val="12171D"/>
                </a:solidFill>
                <a:latin typeface="Jost"/>
                <a:ea typeface="Jost"/>
                <a:cs typeface="Jost"/>
              </a:rPr>
              <a:t>13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FECC7EE-F758-47D2-98CE-D298057FAF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629900" y="5810250"/>
            <a:ext cx="159067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45" name="Production&#10;release">
            <a:extLst>
              <a:ext uri="{FF2B5EF4-FFF2-40B4-BE49-F238E27FC236}">
                <a16:creationId xmlns:a16="http://schemas.microsoft.com/office/drawing/2014/main" id="{CDB01BD4-4A37-4633-8B62-AC3DE6799AE0}"/>
              </a:ext>
            </a:extLst>
          </p:cNvPr>
          <p:cNvSpPr>
            <a:spLocks noGrp="1"/>
          </p:cNvSpPr>
          <p:nvPr/>
        </p:nvSpPr>
        <p:spPr>
          <a:xfrm>
            <a:off x="10629900" y="6019800"/>
            <a:ext cx="1714500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Production</a:t>
            </a:r>
          </a:p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release</a:t>
            </a:r>
          </a:p>
        </p:txBody>
      </p:sp>
      <p:sp>
        <p:nvSpPr>
          <p:cNvPr id="46" name="14">
            <a:extLst>
              <a:ext uri="{FF2B5EF4-FFF2-40B4-BE49-F238E27FC236}">
                <a16:creationId xmlns:a16="http://schemas.microsoft.com/office/drawing/2014/main" id="{78D8FF3F-DA2A-458D-9A64-85F748D38DF9}"/>
              </a:ext>
            </a:extLst>
          </p:cNvPr>
          <p:cNvSpPr>
            <a:spLocks noGrp="1"/>
          </p:cNvSpPr>
          <p:nvPr/>
        </p:nvSpPr>
        <p:spPr>
          <a:xfrm>
            <a:off x="12573000" y="5029200"/>
            <a:ext cx="1714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375">
                <a:solidFill>
                  <a:srgbClr val="12171D"/>
                </a:solidFill>
                <a:latin typeface="Jost"/>
                <a:ea typeface="Jost"/>
                <a:cs typeface="Jost"/>
              </a:rPr>
              <a:t>14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68FF0CD-16D5-454A-B35F-91C81F694C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573000" y="5810250"/>
            <a:ext cx="159067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48" name="Job record&#10;archived">
            <a:extLst>
              <a:ext uri="{FF2B5EF4-FFF2-40B4-BE49-F238E27FC236}">
                <a16:creationId xmlns:a16="http://schemas.microsoft.com/office/drawing/2014/main" id="{FD2EB699-4A4F-462A-9BF3-5F4DD529BDAD}"/>
              </a:ext>
            </a:extLst>
          </p:cNvPr>
          <p:cNvSpPr>
            <a:spLocks noGrp="1"/>
          </p:cNvSpPr>
          <p:nvPr/>
        </p:nvSpPr>
        <p:spPr>
          <a:xfrm>
            <a:off x="12573000" y="6019800"/>
            <a:ext cx="1714500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Job record</a:t>
            </a:r>
          </a:p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archived</a:t>
            </a:r>
          </a:p>
        </p:txBody>
      </p:sp>
      <p:sp>
        <p:nvSpPr>
          <p:cNvPr id="49" name="Step 11 corrections return to step 5. No step is bypassed without writ">
            <a:extLst>
              <a:ext uri="{FF2B5EF4-FFF2-40B4-BE49-F238E27FC236}">
                <a16:creationId xmlns:a16="http://schemas.microsoft.com/office/drawing/2014/main" id="{2D9757F0-A37E-4E6F-B8D8-CC7B980CA75C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Step 11 corrections return to step 5. No step is bypassed without written approval.</a:t>
            </a:r>
          </a:p>
        </p:txBody>
      </p:sp>
    </p:spTree>
    <p:extLst>
      <p:ext uri="{BB962C8B-B14F-4D97-AF65-F5344CB8AC3E}">
        <p14:creationId xmlns:p14="http://schemas.microsoft.com/office/powerpoint/2010/main" val="20322971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7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VERNANCE">
            <a:extLst>
              <a:ext uri="{FF2B5EF4-FFF2-40B4-BE49-F238E27FC236}">
                <a16:creationId xmlns:a16="http://schemas.microsoft.com/office/drawing/2014/main" id="{B1BA5228-204F-4D36-9993-EF3C80D3589B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BCACA7"/>
                </a:solidFill>
                <a:latin typeface="Inter"/>
                <a:ea typeface="Inter"/>
                <a:cs typeface="Inter"/>
              </a:rPr>
              <a:t>GOVERNANCE</a:t>
            </a:r>
          </a:p>
        </p:txBody>
      </p:sp>
      <p:sp>
        <p:nvSpPr>
          <p:cNvPr id="2" name="22">
            <a:extLst>
              <a:ext uri="{FF2B5EF4-FFF2-40B4-BE49-F238E27FC236}">
                <a16:creationId xmlns:a16="http://schemas.microsoft.com/office/drawing/2014/main" id="{8E53DD44-110C-4016-995D-46B65F88EB33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BCACA7"/>
                </a:solidFill>
                <a:latin typeface="Inter"/>
                <a:ea typeface="Inter"/>
                <a:cs typeface="Inter"/>
              </a:rPr>
              <a:t>22</a:t>
            </a:r>
          </a:p>
        </p:txBody>
      </p:sp>
      <p:sp>
        <p:nvSpPr>
          <p:cNvPr id="3" name="Six gates before release">
            <a:extLst>
              <a:ext uri="{FF2B5EF4-FFF2-40B4-BE49-F238E27FC236}">
                <a16:creationId xmlns:a16="http://schemas.microsoft.com/office/drawing/2014/main" id="{D0086FFA-B484-4284-89F6-7E45B095F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ct val="100000"/>
              </a:lnSpc>
              <a:defRPr sz="4350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FFFFFF"/>
                </a:solidFill>
                <a:latin typeface="Jost"/>
                <a:ea typeface="Jost"/>
                <a:cs typeface="Jost"/>
              </a:rPr>
              <a:t>Six gates before release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C9C79F-AA3B-4DFA-A6C4-4B42D8B878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BA0D7FB5-423E-4C3F-8681-904415FEE05C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FFFFFF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1.0   WORKING EDITION">
            <a:extLst>
              <a:ext uri="{FF2B5EF4-FFF2-40B4-BE49-F238E27FC236}">
                <a16:creationId xmlns:a16="http://schemas.microsoft.com/office/drawing/2014/main" id="{448F247C-B0AB-4D56-8697-082B5FC745EC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BCACA7"/>
                </a:solidFill>
                <a:latin typeface="Inter"/>
                <a:ea typeface="Inter"/>
                <a:cs typeface="Inter"/>
              </a:rPr>
              <a:t>v1.0   WORKING EDITION</a:t>
            </a:r>
          </a:p>
        </p:txBody>
      </p:sp>
      <p:sp>
        <p:nvSpPr>
          <p:cNvPr id="7" name="01">
            <a:extLst>
              <a:ext uri="{FF2B5EF4-FFF2-40B4-BE49-F238E27FC236}">
                <a16:creationId xmlns:a16="http://schemas.microsoft.com/office/drawing/2014/main" id="{2986DA52-C26E-49A7-8514-656224A2EC79}"/>
              </a:ext>
            </a:extLst>
          </p:cNvPr>
          <p:cNvSpPr>
            <a:spLocks noGrp="1"/>
          </p:cNvSpPr>
          <p:nvPr/>
        </p:nvSpPr>
        <p:spPr>
          <a:xfrm>
            <a:off x="914400" y="2457450"/>
            <a:ext cx="6667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625">
                <a:solidFill>
                  <a:srgbClr val="BCACA7"/>
                </a:solidFill>
                <a:latin typeface="Jost"/>
                <a:ea typeface="Jost"/>
                <a:cs typeface="Jost"/>
              </a:defRPr>
            </a:pPr>
            <a:r>
              <a:rPr sz="2625">
                <a:solidFill>
                  <a:srgbClr val="BCACA7"/>
                </a:solidFill>
                <a:latin typeface="Jost"/>
                <a:ea typeface="Jost"/>
                <a:cs typeface="Jost"/>
              </a:rPr>
              <a:t>01</a:t>
            </a:r>
          </a:p>
        </p:txBody>
      </p:sp>
      <p:sp>
        <p:nvSpPr>
          <p:cNvPr id="8" name="Master assets">
            <a:extLst>
              <a:ext uri="{FF2B5EF4-FFF2-40B4-BE49-F238E27FC236}">
                <a16:creationId xmlns:a16="http://schemas.microsoft.com/office/drawing/2014/main" id="{64374E89-92E2-43AC-B712-61471EA14796}"/>
              </a:ext>
            </a:extLst>
          </p:cNvPr>
          <p:cNvSpPr>
            <a:spLocks noGrp="1"/>
          </p:cNvSpPr>
          <p:nvPr/>
        </p:nvSpPr>
        <p:spPr>
          <a:xfrm>
            <a:off x="1828800" y="2457450"/>
            <a:ext cx="554355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2400">
                <a:solidFill>
                  <a:srgbClr val="FFFFFF"/>
                </a:solidFill>
                <a:latin typeface="Jost"/>
                <a:ea typeface="Jost"/>
                <a:cs typeface="Jost"/>
              </a:rPr>
              <a:t>Master assets</a:t>
            </a:r>
          </a:p>
        </p:txBody>
      </p:sp>
      <p:sp>
        <p:nvSpPr>
          <p:cNvPr id="9" name="VAL-02 / 03 / 04   /   OPEN">
            <a:extLst>
              <a:ext uri="{FF2B5EF4-FFF2-40B4-BE49-F238E27FC236}">
                <a16:creationId xmlns:a16="http://schemas.microsoft.com/office/drawing/2014/main" id="{C19C6EE7-22AB-408B-B6B0-0352EB2A5B0C}"/>
              </a:ext>
            </a:extLst>
          </p:cNvPr>
          <p:cNvSpPr>
            <a:spLocks noGrp="1"/>
          </p:cNvSpPr>
          <p:nvPr/>
        </p:nvSpPr>
        <p:spPr>
          <a:xfrm>
            <a:off x="1847850" y="3133725"/>
            <a:ext cx="5524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00">
                <a:solidFill>
                  <a:srgbClr val="FFFFFF"/>
                </a:solidFill>
                <a:latin typeface="Inter"/>
                <a:ea typeface="Inter"/>
                <a:cs typeface="Inter"/>
              </a:rPr>
              <a:t>VAL-02 / 03 / 04   /   OPEN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5B43159-D06F-471B-A389-632847966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14400" y="3676650"/>
            <a:ext cx="630555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1" name="02">
            <a:extLst>
              <a:ext uri="{FF2B5EF4-FFF2-40B4-BE49-F238E27FC236}">
                <a16:creationId xmlns:a16="http://schemas.microsoft.com/office/drawing/2014/main" id="{B4438B98-598B-4611-9E62-90E79D1F21E0}"/>
              </a:ext>
            </a:extLst>
          </p:cNvPr>
          <p:cNvSpPr>
            <a:spLocks noGrp="1"/>
          </p:cNvSpPr>
          <p:nvPr/>
        </p:nvSpPr>
        <p:spPr>
          <a:xfrm>
            <a:off x="8058150" y="2457450"/>
            <a:ext cx="6667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625">
                <a:solidFill>
                  <a:srgbClr val="BCACA7"/>
                </a:solidFill>
                <a:latin typeface="Jost"/>
                <a:ea typeface="Jost"/>
                <a:cs typeface="Jost"/>
              </a:defRPr>
            </a:pPr>
            <a:r>
              <a:rPr sz="2625">
                <a:solidFill>
                  <a:srgbClr val="BCACA7"/>
                </a:solidFill>
                <a:latin typeface="Jost"/>
                <a:ea typeface="Jost"/>
                <a:cs typeface="Jost"/>
              </a:rPr>
              <a:t>02</a:t>
            </a:r>
          </a:p>
        </p:txBody>
      </p:sp>
      <p:sp>
        <p:nvSpPr>
          <p:cNvPr id="12" name="Production specification">
            <a:extLst>
              <a:ext uri="{FF2B5EF4-FFF2-40B4-BE49-F238E27FC236}">
                <a16:creationId xmlns:a16="http://schemas.microsoft.com/office/drawing/2014/main" id="{AD47EF37-206D-45FB-A3E6-014EE2E3AC53}"/>
              </a:ext>
            </a:extLst>
          </p:cNvPr>
          <p:cNvSpPr>
            <a:spLocks noGrp="1"/>
          </p:cNvSpPr>
          <p:nvPr/>
        </p:nvSpPr>
        <p:spPr>
          <a:xfrm>
            <a:off x="8972550" y="2457450"/>
            <a:ext cx="554355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2400">
                <a:solidFill>
                  <a:srgbClr val="FFFFFF"/>
                </a:solidFill>
                <a:latin typeface="Jost"/>
                <a:ea typeface="Jost"/>
                <a:cs typeface="Jost"/>
              </a:rPr>
              <a:t>Production specification</a:t>
            </a:r>
          </a:p>
        </p:txBody>
      </p:sp>
      <p:sp>
        <p:nvSpPr>
          <p:cNvPr id="13" name="AC17 / VAL-05 / 10   /   OPEN">
            <a:extLst>
              <a:ext uri="{FF2B5EF4-FFF2-40B4-BE49-F238E27FC236}">
                <a16:creationId xmlns:a16="http://schemas.microsoft.com/office/drawing/2014/main" id="{78D3B682-A60D-47C7-BA8F-F08A184D175C}"/>
              </a:ext>
            </a:extLst>
          </p:cNvPr>
          <p:cNvSpPr>
            <a:spLocks noGrp="1"/>
          </p:cNvSpPr>
          <p:nvPr/>
        </p:nvSpPr>
        <p:spPr>
          <a:xfrm>
            <a:off x="8991600" y="3133725"/>
            <a:ext cx="5524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00">
                <a:solidFill>
                  <a:srgbClr val="FFFFFF"/>
                </a:solidFill>
                <a:latin typeface="Inter"/>
                <a:ea typeface="Inter"/>
                <a:cs typeface="Inter"/>
              </a:rPr>
              <a:t>AC17 / VAL-05 / 10   /   OPEN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24B9101-2F45-4637-8672-920BF412BC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8058150" y="3676650"/>
            <a:ext cx="630555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5" name="03">
            <a:extLst>
              <a:ext uri="{FF2B5EF4-FFF2-40B4-BE49-F238E27FC236}">
                <a16:creationId xmlns:a16="http://schemas.microsoft.com/office/drawing/2014/main" id="{AB2C6727-ED49-440B-A707-4D8EAD4D165A}"/>
              </a:ext>
            </a:extLst>
          </p:cNvPr>
          <p:cNvSpPr>
            <a:spLocks noGrp="1"/>
          </p:cNvSpPr>
          <p:nvPr/>
        </p:nvSpPr>
        <p:spPr>
          <a:xfrm>
            <a:off x="914400" y="4029075"/>
            <a:ext cx="6667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625">
                <a:solidFill>
                  <a:srgbClr val="BCACA7"/>
                </a:solidFill>
                <a:latin typeface="Jost"/>
                <a:ea typeface="Jost"/>
                <a:cs typeface="Jost"/>
              </a:defRPr>
            </a:pPr>
            <a:r>
              <a:rPr sz="2625">
                <a:solidFill>
                  <a:srgbClr val="BCACA7"/>
                </a:solidFill>
                <a:latin typeface="Jost"/>
                <a:ea typeface="Jost"/>
                <a:cs typeface="Jost"/>
              </a:rPr>
              <a:t>03</a:t>
            </a:r>
          </a:p>
        </p:txBody>
      </p:sp>
      <p:sp>
        <p:nvSpPr>
          <p:cNvPr id="16" name="Supplier proof">
            <a:extLst>
              <a:ext uri="{FF2B5EF4-FFF2-40B4-BE49-F238E27FC236}">
                <a16:creationId xmlns:a16="http://schemas.microsoft.com/office/drawing/2014/main" id="{8F7F5691-F4EF-4A24-A596-35CA55F6D07B}"/>
              </a:ext>
            </a:extLst>
          </p:cNvPr>
          <p:cNvSpPr>
            <a:spLocks noGrp="1"/>
          </p:cNvSpPr>
          <p:nvPr/>
        </p:nvSpPr>
        <p:spPr>
          <a:xfrm>
            <a:off x="1828800" y="4029075"/>
            <a:ext cx="554355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2400">
                <a:solidFill>
                  <a:srgbClr val="FFFFFF"/>
                </a:solidFill>
                <a:latin typeface="Jost"/>
                <a:ea typeface="Jost"/>
                <a:cs typeface="Jost"/>
              </a:rPr>
              <a:t>Supplier proof</a:t>
            </a:r>
          </a:p>
        </p:txBody>
      </p:sp>
      <p:sp>
        <p:nvSpPr>
          <p:cNvPr id="17" name="VAL-09 / 11   /   OPEN">
            <a:extLst>
              <a:ext uri="{FF2B5EF4-FFF2-40B4-BE49-F238E27FC236}">
                <a16:creationId xmlns:a16="http://schemas.microsoft.com/office/drawing/2014/main" id="{F6D5B8D7-69E3-4586-BEC1-9D818242AA78}"/>
              </a:ext>
            </a:extLst>
          </p:cNvPr>
          <p:cNvSpPr>
            <a:spLocks noGrp="1"/>
          </p:cNvSpPr>
          <p:nvPr/>
        </p:nvSpPr>
        <p:spPr>
          <a:xfrm>
            <a:off x="1847850" y="4705350"/>
            <a:ext cx="5524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00">
                <a:solidFill>
                  <a:srgbClr val="FFFFFF"/>
                </a:solidFill>
                <a:latin typeface="Inter"/>
                <a:ea typeface="Inter"/>
                <a:cs typeface="Inter"/>
              </a:rPr>
              <a:t>VAL-09 / 11   /   OPEN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59409F5-06F0-49C8-987D-1AAE53904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14400" y="5248275"/>
            <a:ext cx="630555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9" name="04">
            <a:extLst>
              <a:ext uri="{FF2B5EF4-FFF2-40B4-BE49-F238E27FC236}">
                <a16:creationId xmlns:a16="http://schemas.microsoft.com/office/drawing/2014/main" id="{E1A53912-14FD-489C-BFDD-7A480CDA602C}"/>
              </a:ext>
            </a:extLst>
          </p:cNvPr>
          <p:cNvSpPr>
            <a:spLocks noGrp="1"/>
          </p:cNvSpPr>
          <p:nvPr/>
        </p:nvSpPr>
        <p:spPr>
          <a:xfrm>
            <a:off x="8058150" y="4029075"/>
            <a:ext cx="6667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625">
                <a:solidFill>
                  <a:srgbClr val="BCACA7"/>
                </a:solidFill>
                <a:latin typeface="Jost"/>
                <a:ea typeface="Jost"/>
                <a:cs typeface="Jost"/>
              </a:defRPr>
            </a:pPr>
            <a:r>
              <a:rPr sz="2625">
                <a:solidFill>
                  <a:srgbClr val="BCACA7"/>
                </a:solidFill>
                <a:latin typeface="Jost"/>
                <a:ea typeface="Jost"/>
                <a:cs typeface="Jost"/>
              </a:rPr>
              <a:t>04</a:t>
            </a:r>
          </a:p>
        </p:txBody>
      </p:sp>
      <p:sp>
        <p:nvSpPr>
          <p:cNvPr id="20" name="Physical validation">
            <a:extLst>
              <a:ext uri="{FF2B5EF4-FFF2-40B4-BE49-F238E27FC236}">
                <a16:creationId xmlns:a16="http://schemas.microsoft.com/office/drawing/2014/main" id="{464F0929-68A0-4865-A0C9-DC509D028DC5}"/>
              </a:ext>
            </a:extLst>
          </p:cNvPr>
          <p:cNvSpPr>
            <a:spLocks noGrp="1"/>
          </p:cNvSpPr>
          <p:nvPr/>
        </p:nvSpPr>
        <p:spPr>
          <a:xfrm>
            <a:off x="8972550" y="4029075"/>
            <a:ext cx="554355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2400">
                <a:solidFill>
                  <a:srgbClr val="FFFFFF"/>
                </a:solidFill>
                <a:latin typeface="Jost"/>
                <a:ea typeface="Jost"/>
                <a:cs typeface="Jost"/>
              </a:rPr>
              <a:t>Physical validation</a:t>
            </a:r>
          </a:p>
        </p:txBody>
      </p:sp>
      <p:sp>
        <p:nvSpPr>
          <p:cNvPr id="21" name="VAL-09 / 15; VAL-12 deferred   /   OPEN">
            <a:extLst>
              <a:ext uri="{FF2B5EF4-FFF2-40B4-BE49-F238E27FC236}">
                <a16:creationId xmlns:a16="http://schemas.microsoft.com/office/drawing/2014/main" id="{5BF9055C-BB6F-42AD-87E1-0D3F864A7508}"/>
              </a:ext>
            </a:extLst>
          </p:cNvPr>
          <p:cNvSpPr>
            <a:spLocks noGrp="1"/>
          </p:cNvSpPr>
          <p:nvPr/>
        </p:nvSpPr>
        <p:spPr>
          <a:xfrm>
            <a:off x="8991600" y="4705350"/>
            <a:ext cx="5524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00">
                <a:solidFill>
                  <a:srgbClr val="FFFFFF"/>
                </a:solidFill>
                <a:latin typeface="Inter"/>
                <a:ea typeface="Inter"/>
                <a:cs typeface="Inter"/>
              </a:rPr>
              <a:t>VAL-09 / 15; VAL-12 deferred   /   OPEN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1F40B12-E25F-4525-BF3F-FD132466C3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8058150" y="5248275"/>
            <a:ext cx="630555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23" name="05">
            <a:extLst>
              <a:ext uri="{FF2B5EF4-FFF2-40B4-BE49-F238E27FC236}">
                <a16:creationId xmlns:a16="http://schemas.microsoft.com/office/drawing/2014/main" id="{7315B5F6-CE51-43BB-AB3F-7728A861BE91}"/>
              </a:ext>
            </a:extLst>
          </p:cNvPr>
          <p:cNvSpPr>
            <a:spLocks noGrp="1"/>
          </p:cNvSpPr>
          <p:nvPr/>
        </p:nvSpPr>
        <p:spPr>
          <a:xfrm>
            <a:off x="914400" y="5600700"/>
            <a:ext cx="6667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625">
                <a:solidFill>
                  <a:srgbClr val="BCACA7"/>
                </a:solidFill>
                <a:latin typeface="Jost"/>
                <a:ea typeface="Jost"/>
                <a:cs typeface="Jost"/>
              </a:defRPr>
            </a:pPr>
            <a:r>
              <a:rPr sz="2625">
                <a:solidFill>
                  <a:srgbClr val="BCACA7"/>
                </a:solidFill>
                <a:latin typeface="Jost"/>
                <a:ea typeface="Jost"/>
                <a:cs typeface="Jost"/>
              </a:rPr>
              <a:t>05</a:t>
            </a:r>
          </a:p>
        </p:txBody>
      </p:sp>
      <p:sp>
        <p:nvSpPr>
          <p:cNvPr id="24" name="Governance">
            <a:extLst>
              <a:ext uri="{FF2B5EF4-FFF2-40B4-BE49-F238E27FC236}">
                <a16:creationId xmlns:a16="http://schemas.microsoft.com/office/drawing/2014/main" id="{668D2830-409E-40E2-BB6F-4A778F294B4E}"/>
              </a:ext>
            </a:extLst>
          </p:cNvPr>
          <p:cNvSpPr>
            <a:spLocks noGrp="1"/>
          </p:cNvSpPr>
          <p:nvPr/>
        </p:nvSpPr>
        <p:spPr>
          <a:xfrm>
            <a:off x="1828800" y="5600700"/>
            <a:ext cx="554355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2400">
                <a:solidFill>
                  <a:srgbClr val="FFFFFF"/>
                </a:solidFill>
                <a:latin typeface="Jost"/>
                <a:ea typeface="Jost"/>
                <a:cs typeface="Jost"/>
              </a:rPr>
              <a:t>Governance</a:t>
            </a:r>
          </a:p>
        </p:txBody>
      </p:sp>
      <p:sp>
        <p:nvSpPr>
          <p:cNvPr id="25" name="AC19 / VAL-16 / 21   /   OPEN">
            <a:extLst>
              <a:ext uri="{FF2B5EF4-FFF2-40B4-BE49-F238E27FC236}">
                <a16:creationId xmlns:a16="http://schemas.microsoft.com/office/drawing/2014/main" id="{2E7D6921-216B-40BF-B70E-99E993035691}"/>
              </a:ext>
            </a:extLst>
          </p:cNvPr>
          <p:cNvSpPr>
            <a:spLocks noGrp="1"/>
          </p:cNvSpPr>
          <p:nvPr/>
        </p:nvSpPr>
        <p:spPr>
          <a:xfrm>
            <a:off x="1847850" y="6276975"/>
            <a:ext cx="5524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00">
                <a:solidFill>
                  <a:srgbClr val="FFFFFF"/>
                </a:solidFill>
                <a:latin typeface="Inter"/>
                <a:ea typeface="Inter"/>
                <a:cs typeface="Inter"/>
              </a:rPr>
              <a:t>AC19 / VAL-16 / 21   /   OPEN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18B21A7-FCD4-4A39-9490-B3BC5C378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14400" y="6819900"/>
            <a:ext cx="630555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27" name="06">
            <a:extLst>
              <a:ext uri="{FF2B5EF4-FFF2-40B4-BE49-F238E27FC236}">
                <a16:creationId xmlns:a16="http://schemas.microsoft.com/office/drawing/2014/main" id="{8F16DCF6-F4C5-4E04-B0DE-57AF498FA6C5}"/>
              </a:ext>
            </a:extLst>
          </p:cNvPr>
          <p:cNvSpPr>
            <a:spLocks noGrp="1"/>
          </p:cNvSpPr>
          <p:nvPr/>
        </p:nvSpPr>
        <p:spPr>
          <a:xfrm>
            <a:off x="8058150" y="5600700"/>
            <a:ext cx="6667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625">
                <a:solidFill>
                  <a:srgbClr val="BCACA7"/>
                </a:solidFill>
                <a:latin typeface="Jost"/>
                <a:ea typeface="Jost"/>
                <a:cs typeface="Jost"/>
              </a:defRPr>
            </a:pPr>
            <a:r>
              <a:rPr sz="2625">
                <a:solidFill>
                  <a:srgbClr val="BCACA7"/>
                </a:solidFill>
                <a:latin typeface="Jost"/>
                <a:ea typeface="Jost"/>
                <a:cs typeface="Jost"/>
              </a:rPr>
              <a:t>06</a:t>
            </a:r>
          </a:p>
        </p:txBody>
      </p:sp>
      <p:sp>
        <p:nvSpPr>
          <p:cNvPr id="28" name="Release authorization">
            <a:extLst>
              <a:ext uri="{FF2B5EF4-FFF2-40B4-BE49-F238E27FC236}">
                <a16:creationId xmlns:a16="http://schemas.microsoft.com/office/drawing/2014/main" id="{A50F0BC5-849C-4B42-9661-DCA6735BCFF5}"/>
              </a:ext>
            </a:extLst>
          </p:cNvPr>
          <p:cNvSpPr>
            <a:spLocks noGrp="1"/>
          </p:cNvSpPr>
          <p:nvPr/>
        </p:nvSpPr>
        <p:spPr>
          <a:xfrm>
            <a:off x="8972550" y="5600700"/>
            <a:ext cx="554355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2400">
                <a:solidFill>
                  <a:srgbClr val="FFFFFF"/>
                </a:solidFill>
                <a:latin typeface="Jost"/>
                <a:ea typeface="Jost"/>
                <a:cs typeface="Jost"/>
              </a:rPr>
              <a:t>Release authorization</a:t>
            </a:r>
          </a:p>
        </p:txBody>
      </p:sp>
      <p:sp>
        <p:nvSpPr>
          <p:cNvPr id="29" name="AC20   /   OPEN">
            <a:extLst>
              <a:ext uri="{FF2B5EF4-FFF2-40B4-BE49-F238E27FC236}">
                <a16:creationId xmlns:a16="http://schemas.microsoft.com/office/drawing/2014/main" id="{5A72D7CA-6306-4E55-98C5-02799B829FBD}"/>
              </a:ext>
            </a:extLst>
          </p:cNvPr>
          <p:cNvSpPr>
            <a:spLocks noGrp="1"/>
          </p:cNvSpPr>
          <p:nvPr/>
        </p:nvSpPr>
        <p:spPr>
          <a:xfrm>
            <a:off x="8991600" y="6276975"/>
            <a:ext cx="5524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00">
                <a:solidFill>
                  <a:srgbClr val="FFFFFF"/>
                </a:solidFill>
                <a:latin typeface="Inter"/>
                <a:ea typeface="Inter"/>
                <a:cs typeface="Inter"/>
              </a:rPr>
              <a:t>AC20   /   OPEN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671412E-FC4D-40DB-9300-9415EA9593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8058150" y="6819900"/>
            <a:ext cx="630555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31" name="WORKING EDITION   /   PENDING PRODUCTION VALIDATION">
            <a:extLst>
              <a:ext uri="{FF2B5EF4-FFF2-40B4-BE49-F238E27FC236}">
                <a16:creationId xmlns:a16="http://schemas.microsoft.com/office/drawing/2014/main" id="{00E5DFC6-F529-43C1-9E1F-B8865B73E80B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BCACA7"/>
                </a:solidFill>
                <a:latin typeface="Inter"/>
                <a:ea typeface="Inter"/>
                <a:cs typeface="Inter"/>
              </a:rPr>
              <a:t>WORKING EDITION   /   PENDING PRODUCTION VALIDATION</a:t>
            </a:r>
          </a:p>
        </p:txBody>
      </p:sp>
    </p:spTree>
    <p:extLst>
      <p:ext uri="{BB962C8B-B14F-4D97-AF65-F5344CB8AC3E}">
        <p14:creationId xmlns:p14="http://schemas.microsoft.com/office/powerpoint/2010/main" val="105129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UPPORTING REGISTERS">
            <a:extLst>
              <a:ext uri="{FF2B5EF4-FFF2-40B4-BE49-F238E27FC236}">
                <a16:creationId xmlns:a16="http://schemas.microsoft.com/office/drawing/2014/main" id="{5C93DDBD-A70C-436E-9358-EE0538029473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SUPPORTING REGISTERS</a:t>
            </a:r>
          </a:p>
        </p:txBody>
      </p:sp>
      <p:sp>
        <p:nvSpPr>
          <p:cNvPr id="2" name="23">
            <a:extLst>
              <a:ext uri="{FF2B5EF4-FFF2-40B4-BE49-F238E27FC236}">
                <a16:creationId xmlns:a16="http://schemas.microsoft.com/office/drawing/2014/main" id="{47611BCD-6074-4211-AD99-120F393F085F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23</a:t>
            </a:r>
          </a:p>
        </p:txBody>
      </p:sp>
      <p:sp>
        <p:nvSpPr>
          <p:cNvPr id="3" name="Concept and asset control">
            <a:extLst>
              <a:ext uri="{FF2B5EF4-FFF2-40B4-BE49-F238E27FC236}">
                <a16:creationId xmlns:a16="http://schemas.microsoft.com/office/drawing/2014/main" id="{BEB1F1D9-1FE2-4928-82C4-FFE55552D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ct val="100000"/>
              </a:lnSpc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Concept and asset control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15C83A-074B-447F-B8C6-8D6F317FA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847C7920-494E-48C3-9FC5-98613C0AAC89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1.0   WORKING EDITION">
            <a:extLst>
              <a:ext uri="{FF2B5EF4-FFF2-40B4-BE49-F238E27FC236}">
                <a16:creationId xmlns:a16="http://schemas.microsoft.com/office/drawing/2014/main" id="{8F5FAB2A-D7A8-4B2C-82A2-714905A2446F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v1.0   WORKING EDITION</a:t>
            </a:r>
          </a:p>
        </p:txBody>
      </p:sp>
      <p:graphicFrame>
        <p:nvGraphicFramePr>
          <p:cNvPr id="16" name="Table 15"/>
          <p:cNvGraphicFramePr/>
          <p:nvPr/>
        </p:nvGraphicFramePr>
        <p:xfrm>
          <a:off x="914400" y="2524125"/>
          <a:ext cx="13411200" cy="3571875"/>
        </p:xfrm>
        <a:graphic>
          <a:graphicData uri="http://schemas.openxmlformats.org/drawingml/2006/table">
            <a:tbl>
              <a:tblPr firstRow="1"/>
              <a:tblGrid>
                <a:gridCol w="295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6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90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43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REGISTER</a:t>
                      </a:r>
                    </a:p>
                  </a:txBody>
                  <a:tcPr>
                    <a:solidFill>
                      <a:srgbClr val="1217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CONTROLS</a:t>
                      </a:r>
                    </a:p>
                  </a:txBody>
                  <a:tcPr>
                    <a:solidFill>
                      <a:srgbClr val="1217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CURRENT STATE</a:t>
                      </a:r>
                    </a:p>
                  </a:txBody>
                  <a:tcPr>
                    <a:solidFill>
                      <a:srgbClr val="1217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2171D"/>
                          </a:solidFill>
                          <a:latin typeface="Inter"/>
                          <a:ea typeface="Inter"/>
                          <a:cs typeface="Inter"/>
                        </a:rPr>
                        <a:t>Concept register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2171D"/>
                          </a:solidFill>
                          <a:latin typeface="Inter"/>
                          <a:ea typeface="Inter"/>
                          <a:cs typeface="Inter"/>
                        </a:rPr>
                        <a:t>Scope, source and validation dependency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2171D"/>
                          </a:solidFill>
                          <a:latin typeface="Inter"/>
                          <a:ea typeface="Inter"/>
                          <a:cs typeface="Inter"/>
                        </a:rPr>
                        <a:t>CONCEPT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2171D"/>
                          </a:solidFill>
                          <a:latin typeface="Inter"/>
                          <a:ea typeface="Inter"/>
                          <a:cs typeface="Inter"/>
                        </a:rPr>
                        <a:t>Asset register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2171D"/>
                          </a:solidFill>
                          <a:latin typeface="Inter"/>
                          <a:ea typeface="Inter"/>
                          <a:cs typeface="Inter"/>
                        </a:rPr>
                        <a:t>Origin, use, rights and file checksum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2171D"/>
                          </a:solidFill>
                          <a:latin typeface="Inter"/>
                          <a:ea typeface="Inter"/>
                          <a:cs typeface="Inter"/>
                        </a:rPr>
                        <a:t>PENDING VALIDATION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2171D"/>
                          </a:solidFill>
                          <a:latin typeface="Inter"/>
                          <a:ea typeface="Inter"/>
                          <a:cs typeface="Inter"/>
                        </a:rPr>
                        <a:t>Source / change log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2171D"/>
                          </a:solidFill>
                          <a:latin typeface="Inter"/>
                          <a:ea typeface="Inter"/>
                          <a:cs typeface="Inter"/>
                        </a:rPr>
                        <a:t>RC2 rules and departures from chat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2171D"/>
                          </a:solidFill>
                          <a:latin typeface="Inter"/>
                          <a:ea typeface="Inter"/>
                          <a:cs typeface="Inter"/>
                        </a:rPr>
                        <a:t>WORKING EDITION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2171D"/>
                          </a:solidFill>
                          <a:latin typeface="Inter"/>
                          <a:ea typeface="Inter"/>
                          <a:cs typeface="Inter"/>
                        </a:rPr>
                        <a:t>Open decisions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2171D"/>
                          </a:solidFill>
                          <a:latin typeface="Inter"/>
                          <a:ea typeface="Inter"/>
                          <a:cs typeface="Inter"/>
                        </a:rPr>
                        <a:t>Accountable role and closure evidence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2171D"/>
                          </a:solidFill>
                          <a:latin typeface="Inter"/>
                          <a:ea typeface="Inter"/>
                          <a:cs typeface="Inter"/>
                        </a:rPr>
                        <a:t>[REQUIRES OWNER]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No item in this portfolio is an approved production asset.">
            <a:extLst>
              <a:ext uri="{FF2B5EF4-FFF2-40B4-BE49-F238E27FC236}">
                <a16:creationId xmlns:a16="http://schemas.microsoft.com/office/drawing/2014/main" id="{D9A5919F-6CC8-46EA-A8FA-2F471075DA34}"/>
              </a:ext>
            </a:extLst>
          </p:cNvPr>
          <p:cNvSpPr>
            <a:spLocks noGrp="1"/>
          </p:cNvSpPr>
          <p:nvPr/>
        </p:nvSpPr>
        <p:spPr>
          <a:xfrm>
            <a:off x="914400" y="6581775"/>
            <a:ext cx="134112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400">
                <a:solidFill>
                  <a:srgbClr val="12171D"/>
                </a:solidFill>
                <a:latin typeface="Jost"/>
                <a:ea typeface="Jost"/>
                <a:cs typeface="Jost"/>
              </a:rPr>
              <a:t>No item in this portfolio is an approved production asset.</a:t>
            </a:r>
          </a:p>
        </p:txBody>
      </p:sp>
      <p:sp>
        <p:nvSpPr>
          <p:cNvPr id="9" name="REVIEW PACKAGE   /   OWNER APPROVAL AND PRODUCTION RELEASE REMAIN OPEN">
            <a:extLst>
              <a:ext uri="{FF2B5EF4-FFF2-40B4-BE49-F238E27FC236}">
                <a16:creationId xmlns:a16="http://schemas.microsoft.com/office/drawing/2014/main" id="{2A442FDE-A053-47F2-A206-D2D42B1B1B34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REVIEW PACKAGE   /   OWNER APPROVAL AND PRODUCTION RELEASE REMAIN OPEN</a:t>
            </a:r>
          </a:p>
        </p:txBody>
      </p:sp>
    </p:spTree>
    <p:extLst>
      <p:ext uri="{BB962C8B-B14F-4D97-AF65-F5344CB8AC3E}">
        <p14:creationId xmlns:p14="http://schemas.microsoft.com/office/powerpoint/2010/main" val="13573259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7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em-beige" descr="GEM logo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914400" y="923925"/>
            <a:ext cx="2400300" cy="759728"/>
          </a:xfrm>
          <a:prstGeom prst="rect">
            <a:avLst/>
          </a:prstGeom>
        </p:spPr>
      </p:pic>
      <p:sp>
        <p:nvSpPr>
          <p:cNvPr id="2" name="Every arrival,&#10;precisely composed.">
            <a:extLst>
              <a:ext uri="{FF2B5EF4-FFF2-40B4-BE49-F238E27FC236}">
                <a16:creationId xmlns:a16="http://schemas.microsoft.com/office/drawing/2014/main" id="{40034945-7B6D-4E92-A23B-C0DEE7A6C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248025"/>
            <a:ext cx="12668250" cy="2276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ct val="100000"/>
              </a:lnSpc>
              <a:defRPr sz="667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6675">
                <a:solidFill>
                  <a:srgbClr val="FFFFFF"/>
                </a:solidFill>
                <a:latin typeface="Jost"/>
                <a:ea typeface="Jost"/>
                <a:cs typeface="Jost"/>
              </a:rPr>
              <a:t>Every arrival,</a:t>
            </a:r>
          </a:p>
          <a:p>
            <a:pPr>
              <a:lnSpc>
                <a:spcPct val="100000"/>
              </a:lnSpc>
              <a:defRPr sz="667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6675">
                <a:solidFill>
                  <a:srgbClr val="FFFFFF"/>
                </a:solidFill>
                <a:latin typeface="Jost"/>
                <a:ea typeface="Jost"/>
                <a:cs typeface="Jost"/>
              </a:rPr>
              <a:t>precisely composed.</a:t>
            </a:r>
          </a:p>
        </p:txBody>
      </p:sp>
      <p:sp>
        <p:nvSpPr>
          <p:cNvPr id="3" name="Amenities &amp; Packaging">
            <a:extLst>
              <a:ext uri="{FF2B5EF4-FFF2-40B4-BE49-F238E27FC236}">
                <a16:creationId xmlns:a16="http://schemas.microsoft.com/office/drawing/2014/main" id="{A937B19B-48DB-4083-BC8C-5D9A7DE881AC}"/>
              </a:ext>
            </a:extLst>
          </p:cNvPr>
          <p:cNvSpPr>
            <a:spLocks noGrp="1"/>
          </p:cNvSpPr>
          <p:nvPr/>
        </p:nvSpPr>
        <p:spPr>
          <a:xfrm>
            <a:off x="962025" y="6267450"/>
            <a:ext cx="9525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550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2550" dirty="0">
                <a:solidFill>
                  <a:srgbClr val="FFFFFF"/>
                </a:solidFill>
                <a:latin typeface="Jost"/>
                <a:ea typeface="Jost"/>
                <a:cs typeface="Jost"/>
              </a:rPr>
              <a:t>Amenities &amp; Packaging</a:t>
            </a:r>
          </a:p>
        </p:txBody>
      </p:sp>
      <p:sp>
        <p:nvSpPr>
          <p:cNvPr id="4" name="Concept Product Portfolio v1.0">
            <a:extLst>
              <a:ext uri="{FF2B5EF4-FFF2-40B4-BE49-F238E27FC236}">
                <a16:creationId xmlns:a16="http://schemas.microsoft.com/office/drawing/2014/main" id="{99D94B13-D7CF-4005-96EF-82DEC841C450}"/>
              </a:ext>
            </a:extLst>
          </p:cNvPr>
          <p:cNvSpPr>
            <a:spLocks noGrp="1"/>
          </p:cNvSpPr>
          <p:nvPr/>
        </p:nvSpPr>
        <p:spPr>
          <a:xfrm>
            <a:off x="981075" y="7000875"/>
            <a:ext cx="9525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800" dirty="0">
                <a:solidFill>
                  <a:srgbClr val="FFFFFF"/>
                </a:solidFill>
                <a:latin typeface="Inter"/>
                <a:ea typeface="Inter"/>
                <a:cs typeface="Inter"/>
              </a:rPr>
              <a:t>Concept Product Portfolio v1.0</a:t>
            </a:r>
          </a:p>
        </p:txBody>
      </p:sp>
      <p:sp>
        <p:nvSpPr>
          <p:cNvPr id="5" name="WORKING EDITION   /   CONCEPT / NOT PRODUCTION ARTWORK">
            <a:extLst>
              <a:ext uri="{FF2B5EF4-FFF2-40B4-BE49-F238E27FC236}">
                <a16:creationId xmlns:a16="http://schemas.microsoft.com/office/drawing/2014/main" id="{0B5E3EA1-665D-4281-B1EC-BF9020F25DF3}"/>
              </a:ext>
            </a:extLst>
          </p:cNvPr>
          <p:cNvSpPr>
            <a:spLocks noGrp="1"/>
          </p:cNvSpPr>
          <p:nvPr/>
        </p:nvSpPr>
        <p:spPr>
          <a:xfrm>
            <a:off x="981075" y="8020050"/>
            <a:ext cx="13430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BCACA7"/>
                </a:solidFill>
                <a:latin typeface="Inter"/>
                <a:ea typeface="Inter"/>
                <a:cs typeface="Inter"/>
              </a:rPr>
              <a:t>WORKING EDITION   /   CONCEPT / NOT PRODUCTION ARTWORK</a:t>
            </a:r>
          </a:p>
        </p:txBody>
      </p:sp>
    </p:spTree>
    <p:extLst>
      <p:ext uri="{BB962C8B-B14F-4D97-AF65-F5344CB8AC3E}">
        <p14:creationId xmlns:p14="http://schemas.microsoft.com/office/powerpoint/2010/main" val="197791751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GEM V3 RC2">
      <a:dk1>
        <a:srgbClr val="020202"/>
      </a:dk1>
      <a:lt1>
        <a:srgbClr val="FFFFFF"/>
      </a:lt1>
      <a:dk2>
        <a:srgbClr val="12171D"/>
      </a:dk2>
      <a:lt2>
        <a:srgbClr val="BCACA7"/>
      </a:lt2>
      <a:accent1>
        <a:srgbClr val="12171D"/>
      </a:accent1>
      <a:accent2>
        <a:srgbClr val="BCACA7"/>
      </a:accent2>
      <a:accent3>
        <a:srgbClr val="020202"/>
      </a:accent3>
      <a:accent4>
        <a:srgbClr val="FFFFFF"/>
      </a:accent4>
      <a:accent5>
        <a:srgbClr val="12171D"/>
      </a:accent5>
      <a:accent6>
        <a:srgbClr val="BCACA7"/>
      </a:accent6>
      <a:hlink>
        <a:srgbClr val="12171D"/>
      </a:hlink>
      <a:folHlink>
        <a:srgbClr val="12171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GEM V3 RC2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GEM V3 RC2">
      <a:dk1>
        <a:srgbClr val="020202"/>
      </a:dk1>
      <a:lt1>
        <a:srgbClr val="FFFFFF"/>
      </a:lt1>
      <a:dk2>
        <a:srgbClr val="12171D"/>
      </a:dk2>
      <a:lt2>
        <a:srgbClr val="BCACA7"/>
      </a:lt2>
      <a:accent1>
        <a:srgbClr val="12171D"/>
      </a:accent1>
      <a:accent2>
        <a:srgbClr val="BCACA7"/>
      </a:accent2>
      <a:accent3>
        <a:srgbClr val="020202"/>
      </a:accent3>
      <a:accent4>
        <a:srgbClr val="FFFFFF"/>
      </a:accent4>
      <a:accent5>
        <a:srgbClr val="12171D"/>
      </a:accent5>
      <a:accent6>
        <a:srgbClr val="BCACA7"/>
      </a:accent6>
      <a:hlink>
        <a:srgbClr val="12171D"/>
      </a:hlink>
      <a:folHlink>
        <a:srgbClr val="12171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GEM V3 RC2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hatGPT">
  <a:themeElements>
    <a:clrScheme name="GEM V3 RC2">
      <a:dk1>
        <a:srgbClr val="020202"/>
      </a:dk1>
      <a:lt1>
        <a:srgbClr val="FFFFFF"/>
      </a:lt1>
      <a:dk2>
        <a:srgbClr val="12171D"/>
      </a:dk2>
      <a:lt2>
        <a:srgbClr val="BCACA7"/>
      </a:lt2>
      <a:accent1>
        <a:srgbClr val="12171D"/>
      </a:accent1>
      <a:accent2>
        <a:srgbClr val="BCACA7"/>
      </a:accent2>
      <a:accent3>
        <a:srgbClr val="020202"/>
      </a:accent3>
      <a:accent4>
        <a:srgbClr val="FFFFFF"/>
      </a:accent4>
      <a:accent5>
        <a:srgbClr val="12171D"/>
      </a:accent5>
      <a:accent6>
        <a:srgbClr val="BCACA7"/>
      </a:accent6>
      <a:hlink>
        <a:srgbClr val="12171D"/>
      </a:hlink>
      <a:folHlink>
        <a:srgbClr val="12171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GEM V3 RC2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4365</Words>
  <Application>Microsoft Macintosh PowerPoint</Application>
  <DocSecurity>0</DocSecurity>
  <PresentationFormat>Custom</PresentationFormat>
  <Paragraphs>419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Calibri</vt:lpstr>
      <vt:lpstr>Inter</vt:lpstr>
      <vt:lpstr>Jost</vt:lpstr>
      <vt:lpstr>ChatGPT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Mashal Alhammad</cp:lastModifiedBy>
  <cp:revision>2</cp:revision>
  <dcterms:created xsi:type="dcterms:W3CDTF">2026-10-06T15:19:44Z</dcterms:created>
  <dcterms:modified xsi:type="dcterms:W3CDTF">2026-10-06T16:17:55Z</dcterms:modified>
</cp:coreProperties>
</file>