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</p:sldIdLst>
  <p:notesMasterIdLst>
    <p:notesMasterId r:id="rId7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notesMaster" Target="notesMasters/notesMaster1.xml"/><Relationship Id="rId80" Type="http://schemas.openxmlformats.org/officeDocument/2006/relationships/presProps" Target="presProps.xml"/><Relationship Id="rId81" Type="http://schemas.openxmlformats.org/officeDocument/2006/relationships/viewProps" Target="viewProps.xml"/><Relationship Id="rId82" Type="http://schemas.openxmlformats.org/officeDocument/2006/relationships/theme" Target="theme/theme1.xml"/><Relationship Id="rId8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Part C governs physical production and supplier release. It is a working edition: it may be labelled APPROVED PRODUCTION STANDARD only when the applicable release evidence exists (see the release gates near the end). Logo is the supplied raster artwork, not a production master.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A governs what GEM should look and feel like. Part B governs digital implementation. Part C governs physical production and supplier release. Approved brand decisions in the register are not reopened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status is shown as a word and a border style, never by colour alone: filled, solid, dashed, dotted. A proof level or release is never called approved unless the evidence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allocation is a proposed framework, not an approved RACI. No names are supplied. Brand Owner authorizes release; the Production Lead issues the job to the supplier.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sequence is the control. Release at step 13 is a distinct act, taken only after final approval at step 12. A formally approved bypass must be recorded in the job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Raster files supplied with Part A are references for layout, not production masters. No file may be traced, redrawn or rebuilt to fill a gap; the owner must supply the vector master.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Provenance lets any released item be traced back to the exact master. Checksum, owner and approval date live in the manifest, not in the filename.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of each process test are recorded in the asset manifest and the process-specific production record, then carried back here as evidence-based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Clearspace and digital minimums are approved in Part A. Physical minimums depend on process and substrate and must come from actual tests; no conversion from pixels is allowed.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colours and their HEX values are approved brand identity references. They define digital appearance only. Print and physical values must be validated per process (next slides).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build is stated until step 5 is complete. The archived value is recorded against the process, substrate and job in the asset manifest.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Dashed borders mean PENDING VALIDATION. Tolerances are evidence-based and process-specific; they are recorded with the colour proof approval form (appendix 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Black is not the default text colour. Substitution of one for the other is a production deviation (see the deviation request).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Typography architecture follows Part A and Part B. Part C adds the control: no font is released to a supplier without a recorded source, licence owner and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Outline after final proof only, so a late text correction never requires editing outlined shapes. Record the source file ID next to the outlined file in the manifest.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Arabic mechanics follow Part B; numeral logic follows Part A: guest-facing Arabic may use Arabic-Indic numerals where approved for the locale or property, technical identifiers always remain Latin digits. Locale policy is pending sign-off.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Preflight is run internally at workflow step 6, before the supplier proof. The same list is the supplier's check at receipt.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diagram shows relationships only; proportions are illustrative and not dimensions. Brand safe areas protect the identity; structural tolerances belong to the supplier's dieline.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export recipe is agreed with each printer and recorded in the job record. Where the standard is pending, the supplier's written workflow governs after Brand Owner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Direction carried from Part A. These are principles, not process specifications; every process still needs its own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stock is approved. The first approved sample becomes the reference, recorded in the golden sample register.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finish is a brand direction, not a specification. Trial results are recorded in the material and finish approval form (appendix 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Status: NOT DEFAULT. Any metallic process is [PROJECT-SPECIFIC] and requires all three steps before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Tiers are carried from Part A. Bespoke Programme stays CONDITIONAL until the approval register supports it. No packaging data is invented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products come from Part A. Every attribute is a placeholder until a packaging master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Hierarchy approved in Part A. Type sizes per level are [PENDING PRODUCTION MASTER] and set per dieline.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of the SKU master record. The blank working form is appendix F. Technical identifiers always use Latin digits.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schematic shows line roles only: dashed outer = bleed, solid = trim, inner = safe area. It carries no dimensions. The dieline approval record is appendix 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structural specification exists in the source set. Each line is closed only by a supplier proof recorded in the material and finish approval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six items are [REGULATORY REVIEW REQUIRED]. Approvals are recorded in the regulatory copy approval record, appendix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Symbology, size and quiet zones follow the retail and regulatory standard for the market. They are not set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Verbal direction is carried from Part A. The tagline stays in English unless a translation is explicitly approved.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Recorded on the physical sample approval form (appendix I). Packaging physical proof is an open validation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Environmental identity is PROJECT-SPECIFIC. Site standards are an open validation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register lists the principle types from Part A. Each project adds its own rows with site data. Safety signage follows the local code, not GEM 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Vector, text outlined, one file per sign type and version. Supplier scaling is proportional only; it never licenses redrawing or re-spacing. Schematic shows zones only, no sizes. Approval is recorded on the signage fabrication approval form, appendix J; limitations go to appendix 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Arabic native QA is an open validation gate. Working Arabic text is never treated as approved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tactile value is invented. A local accessibility specialist confirms the code for each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Approved sample is logged in the golden sample register. Fabrication begins only after sign-off on appendix 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paper size is fixed because market formats differ. Each template is released as a production master with its own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Large-format values come from the printer and the site. A full-size proof is mandatory before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items stay visible in the brief. The supplier is told what is not yet decided, so no gap is filled by guessing.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 is appendix B. Production does not start until the acknowledgement is returned and filed.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Hierarchy P1–P5 retained. Which level each job needs is set on the release form (appendix A). Skipping a level is a deviation (appendix K). Method and tolerance for each level are [PENDING].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golden sample exists yet. Register form is appendix M. Until a sample is signed, no production run has a physical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form is appendix K. Decision holder is [REQUIRES OWNER].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Acceptance limits and sampling plan are not defined. They are set from golden sample trials and supplier capability.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Inspection result is recorded on the physical sample approval form, appendix 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Batch coding scheme is not defined and is owned by the supplier and regulatory reviewer.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form is appendix L. Nothing nonconforming ships without a recorded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Convention carried from Part A. Category and variant lists follow the asset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form is appendix N. Artwork ownership is an open validation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Archive folder follows the Part A asset library. Retention length is not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Release form. A RELEASED state is blocked while mandatory open items remain. Release authorization holder is [REQUIRES OWNER]. No technical values are pre-filled.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Returned before any production starts.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Mirrors the eighteen checks on the preflight slide. Mark P (pass), F (fail) or N/A. N/A only where the check does not apply to the job, with a note. No technical values are pre-filled; colour profile and output intent are [PENDING PREPRESS STANDARD].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Colour proof approval. No Delta E tolerance is stated or implied. Physical colour standards are an open validation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 and finish approval. Records the trials that close pending finish and material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Blank copy of the SKU master record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dimension is pre-filled.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Brand never edits regulatory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sample approval. An approved sample may be promoted to golden sample and logged in appendix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Signage fabrication approval. Artwork is scaled proportionally only; any adaptation goes to appendix K. Site standards are an open validation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Deviation request. Raised by the supplier, never actioned independently. Accepted deviations are logged in appendix 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Non-conformance report. Nothing nonconforming ships without a recorded disposition.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Golden sample register. No sample exists yet. Review intervals are not defined.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Twenty-two fields per record. Release status uses APPROVED, CONDITIONAL, PENDING VALIDATION or REFERENCE. Artwork ownership is an open validation gate; checksum algorithm is not yet defined.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change log. Links to appendix K (deviations) and appendix N (manifest).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seventeen items are PENDING VALIDATION. Each closes only with evidence logged in the asset manifest and change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edition is a working edition. No gate is closed.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53120"/>
            <a:ext cx="10566400" cy="33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4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93180"/>
            <a:ext cx="10566400" cy="425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53120"/>
            <a:ext cx="10566400" cy="33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4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93180"/>
            <a:ext cx="10566400" cy="425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geometry: a large beige ring cropped by the slide edge and a beige quarter mass in the bottom right corn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GEM logo, horizontal signature in beige">    </p:cNvPr>
          <p:cNvPicPr>
            <a:picLocks noChangeAspect="1"/>
          </p:cNvPicPr>
          <p:nvPr/>
        </p:nvPicPr>
        <p:blipFill>
          <a:blip r:embed="rId2"/>
          <a:srcRect l="0" r="0" t="-24" b="-24"/>
          <a:stretch/>
        </p:blipFill>
        <p:spPr>
          <a:xfrm>
            <a:off x="812800" y="812800"/>
            <a:ext cx="3048000" cy="965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21590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CANDIDATE 1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812800" y="2540000"/>
            <a:ext cx="719455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Production Standards</a:t>
            </a:r>
            <a:endParaRPr lang="en-US" sz="4800" dirty="0"/>
          </a:p>
        </p:txBody>
      </p:sp>
      <p:sp>
        <p:nvSpPr>
          <p:cNvPr id="6" name="Text 2"/>
          <p:cNvSpPr/>
          <p:nvPr/>
        </p:nvSpPr>
        <p:spPr>
          <a:xfrm>
            <a:off x="812800" y="3210520"/>
            <a:ext cx="719455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V3.0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812800" y="4127500"/>
            <a:ext cx="719455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C — Production &amp; Supplier Standards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19150" y="4768850"/>
            <a:ext cx="6972300" cy="447030"/>
          </a:xfrm>
          <a:prstGeom prst="rect">
            <a:avLst/>
          </a:prstGeom>
          <a:solidFill>
            <a:srgbClr val="12171D"/>
          </a:solidFill>
          <a:ln w="12700">
            <a:solidFill>
              <a:srgbClr val="BCACA7"/>
            </a:solidFill>
            <a:prstDash val="dash"/>
          </a:ln>
        </p:spPr>
        <p:txBody>
          <a:bodyPr wrap="square" lIns="158750" tIns="107950" rIns="0" bIns="825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EDITION / PENDING PRODUCTION VALIDATION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12800" y="6024959"/>
            <a:ext cx="85026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conditions incomplete · release authorization [REQUIRES OWNER] · logo shown from supplied raster, PENDING PRODUCTION MASTER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PURPOSE AND AUTHORITY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11379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6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Part C turns the approved identity into controlled production.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1857970"/>
            <a:ext cx="3433217" cy="110738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3300" y="2042120"/>
            <a:ext cx="31568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· BRAND GUIDELINES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3300" y="2318941"/>
            <a:ext cx="315686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GEM looks and feels like. Identity, logo, colour, type, direction.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2067" y="1857970"/>
            <a:ext cx="3433266" cy="110738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6217" y="2042120"/>
            <a:ext cx="31569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· DIGITAL DESIGN SYSTEM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6217" y="2318941"/>
            <a:ext cx="315691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implementation: tokens, components, accessibility, RTL.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8683" y="1851620"/>
            <a:ext cx="3420517" cy="1120080"/>
          </a:xfrm>
          <a:prstGeom prst="rect">
            <a:avLst/>
          </a:prstGeom>
          <a:solidFill>
            <a:srgbClr val="12171D"/>
          </a:solidFill>
          <a:ln/>
        </p:spPr>
      </p:sp>
      <p:sp>
        <p:nvSpPr>
          <p:cNvPr id="11" name="Text 9"/>
          <p:cNvSpPr/>
          <p:nvPr/>
        </p:nvSpPr>
        <p:spPr>
          <a:xfrm>
            <a:off x="8136483" y="2029420"/>
            <a:ext cx="31568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· PRODUCTION STANDARDS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36483" y="2306241"/>
            <a:ext cx="315686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production and supplier release. This document.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3174901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C OWNS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3439021"/>
            <a:ext cx="5284724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artwork, colour reproduction, print, materials, packaging production, supplier handoff, fabrication, physical proofing, tolerances and production release.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48400" y="3174901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SOURCE WINS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48400" y="3439021"/>
            <a:ext cx="5284724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V3 approval register · 2 Part A · 3 Part B · 4 approved production assets and evidence · 5 formal technical and regulatory standards. Where they conflict, the register wins.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2800" y="4366667"/>
            <a:ext cx="105664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4474617"/>
            <a:ext cx="10883392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rule: no production data is invented. A value without evidence is marked, never guessed.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WORKING EDITION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STATUS AND RELEASE LANGUAGE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spc="5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Pending material never looks approved.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23641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STATUS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125861"/>
            <a:ext cx="2095500" cy="314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73216" tIns="50800" rIns="73216" bIns="2540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7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60700" y="2180431"/>
            <a:ext cx="2943225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Final. Use as written.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9150" y="2536031"/>
            <a:ext cx="2082800" cy="302220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 wrap="square" lIns="66866" tIns="44450" rIns="66866" bIns="1905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7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60700" y="2584252"/>
            <a:ext cx="2943225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Usable once a stated condition is met.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9150" y="2988121"/>
            <a:ext cx="2082800" cy="3022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66866" tIns="44450" rIns="66866" bIns="1905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7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VALIDATION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0700" y="2933502"/>
            <a:ext cx="2943225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outstanding. Never shown as final.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9150" y="3440212"/>
            <a:ext cx="2082800" cy="302220"/>
          </a:xfrm>
          <a:prstGeom prst="rect">
            <a:avLst/>
          </a:prstGeom>
          <a:noFill/>
          <a:ln w="12700">
            <a:solidFill>
              <a:srgbClr val="BCACA7"/>
            </a:solidFill>
            <a:prstDash val="sysDot"/>
          </a:ln>
        </p:spPr>
        <p:txBody>
          <a:bodyPr wrap="square" lIns="66866" tIns="44450" rIns="66866" bIns="1905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7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60700" y="3488432"/>
            <a:ext cx="2943225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Illustrative. Not a production standard.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73800" y="1823641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STATUS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80150" y="2132211"/>
            <a:ext cx="2400300" cy="515541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95250" tIns="44450" rIns="28956" bIns="190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PRODUCTION MASTER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39200" y="2287091"/>
            <a:ext cx="261620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 file does not yet exist.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80150" y="2749352"/>
            <a:ext cx="2400300" cy="3022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95250" tIns="44450" rIns="28956" bIns="190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PHYSICAL PROOF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39200" y="2797572"/>
            <a:ext cx="261620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physical proof approved.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80150" y="3153172"/>
            <a:ext cx="2400300" cy="515541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95250" tIns="44450" rIns="28956" bIns="190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PROOF REQUIRED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39200" y="3308052"/>
            <a:ext cx="261620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must prove the process.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80150" y="3770313"/>
            <a:ext cx="2400300" cy="515541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95250" tIns="44450" rIns="28956" bIns="190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REVIEW REQUIRED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39200" y="3925193"/>
            <a:ext cx="261620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copy needs review.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80150" y="4387453"/>
            <a:ext cx="2400300" cy="3022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95250" tIns="44450" rIns="28956" bIns="190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PROJECT-SPECIFIC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39200" y="4435673"/>
            <a:ext cx="261620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per project or site.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800" y="5415359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Placeholders: [PENDING] [TO BE VERIFIED] [REQUIRES OWNER] [REQUIRES SUPPLIER] [PENDING PRODUCTION MASTER] [PENDING PHYSICAL PROOF] [PROJECT-SPECIFIC] [REGULATORY REVIEW REQUIRED]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WORKING EDITION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PRODUCTION GOVERNANCE · PROPOSED ALLOCATION · [REQUIRES OWNER]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step has a role. No names are assigned yet.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06811"/>
          <a:ext cx="10553700" cy="3326805"/>
        </p:xfrm>
        <a:graphic>
          <a:graphicData uri="http://schemas.openxmlformats.org/drawingml/2006/table">
            <a:tbl>
              <a:tblPr/>
              <a:tblGrid>
                <a:gridCol w="2276288"/>
                <a:gridCol w="1655482"/>
                <a:gridCol w="1655482"/>
                <a:gridCol w="1655482"/>
                <a:gridCol w="1655482"/>
                <a:gridCol w="1655482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Prepares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Checks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Approves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Releases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Archives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Brand Owner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Authorizes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Design Custodian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Artwork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Masters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Production Lead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Spec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Process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Issues job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Job record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Procurement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Terms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Supplier QA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Proof, goods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Localization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Arabic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Arabic copy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Accessibility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Access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Legal / Regulatory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Copy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Regulatory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Supplier / Fabricator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Proofs, samples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186015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Named holders: [REQUIRES OWNER]. This allocation is a proposal for the Brand Owner to confirm.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WORKING EDITION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PRODUCTION RELEASE WORKFLOW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Fourteen steps. None may be skipped.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9150" y="1751261"/>
            <a:ext cx="2029420" cy="83562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9800" y="1859211"/>
            <a:ext cx="18417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39800" y="2097931"/>
            <a:ext cx="184176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 received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50170" y="1751261"/>
            <a:ext cx="2029470" cy="83562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70820" y="1859211"/>
            <a:ext cx="18418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70820" y="2097931"/>
            <a:ext cx="1841815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master asset identified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81240" y="1751261"/>
            <a:ext cx="2029470" cy="83562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01890" y="1859211"/>
            <a:ext cx="18418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01890" y="2097931"/>
            <a:ext cx="1841815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specification confirmed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12310" y="1751261"/>
            <a:ext cx="2029470" cy="83562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2960" y="1859211"/>
            <a:ext cx="18418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32960" y="2097931"/>
            <a:ext cx="1841815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template or dieline received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43380" y="1751261"/>
            <a:ext cx="2029470" cy="83562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64030" y="1859211"/>
            <a:ext cx="18418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464030" y="2097931"/>
            <a:ext cx="184181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Artwork prepared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9150" y="2688481"/>
            <a:ext cx="2029420" cy="83562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9800" y="2796431"/>
            <a:ext cx="18417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9800" y="3035151"/>
            <a:ext cx="184176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preflight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950170" y="2688481"/>
            <a:ext cx="2029470" cy="83562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70820" y="2796431"/>
            <a:ext cx="18418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70820" y="3035151"/>
            <a:ext cx="184181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proof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81240" y="2688481"/>
            <a:ext cx="2029470" cy="83562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01890" y="2796431"/>
            <a:ext cx="18418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01890" y="3035151"/>
            <a:ext cx="184181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review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212310" y="2688481"/>
            <a:ext cx="2029470" cy="83562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32960" y="2796431"/>
            <a:ext cx="18418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32960" y="3035151"/>
            <a:ext cx="1841815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and regulatory review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343380" y="2688481"/>
            <a:ext cx="2029470" cy="83562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64030" y="2796431"/>
            <a:ext cx="18418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464030" y="3035151"/>
            <a:ext cx="19024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proof or sample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9150" y="3625701"/>
            <a:ext cx="2029420" cy="83562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9800" y="3733651"/>
            <a:ext cx="18417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39800" y="3972371"/>
            <a:ext cx="184176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Corrections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950170" y="3625701"/>
            <a:ext cx="2029470" cy="83562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70820" y="3733651"/>
            <a:ext cx="18418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70820" y="3972371"/>
            <a:ext cx="184181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approval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074890" y="3619351"/>
            <a:ext cx="2042170" cy="848320"/>
          </a:xfrm>
          <a:prstGeom prst="rect">
            <a:avLst/>
          </a:prstGeom>
          <a:solidFill>
            <a:srgbClr val="BCACA7"/>
          </a:solidFill>
          <a:ln/>
        </p:spPr>
      </p:sp>
      <p:sp>
        <p:nvSpPr>
          <p:cNvPr id="41" name="Text 39"/>
          <p:cNvSpPr/>
          <p:nvPr/>
        </p:nvSpPr>
        <p:spPr>
          <a:xfrm>
            <a:off x="5189190" y="3720951"/>
            <a:ext cx="18679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89190" y="3959671"/>
            <a:ext cx="1867977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release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212310" y="3625701"/>
            <a:ext cx="2029470" cy="83562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32960" y="3733651"/>
            <a:ext cx="18418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332960" y="3972371"/>
            <a:ext cx="1841815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or job record archived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12800" y="4645471"/>
            <a:ext cx="10883392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production may bypass the sequence unless formally approved in writing. Corrections at step 11 return the job to step 5.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WORKING EDITION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geometry: a large beige ring cropped by the right edge of the sli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8486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0" i="0" spc="4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IDENTITY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12800" y="3556000"/>
            <a:ext cx="65405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 artwork, colour, type and Arabic, as production controls.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3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MASTER ARTWORK REGISTER</a:t>
            </a:r>
            <a:endParaRPr lang="en-US" sz="119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8110"/>
            <a:ext cx="10883392" cy="352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24"/>
              </a:lnSpc>
              <a:buNone/>
            </a:pPr>
            <a:r>
              <a:rPr lang="en-US" sz="2385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Required masters: SVG, PDF, EPS if the workflow needs it.</a:t>
            </a:r>
            <a:endParaRPr lang="en-US" sz="238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15232"/>
          <a:ext cx="10553700" cy="3898850"/>
        </p:xfrm>
        <a:graphic>
          <a:graphicData uri="http://schemas.openxmlformats.org/drawingml/2006/table">
            <a:tbl>
              <a:tblPr/>
              <a:tblGrid>
                <a:gridCol w="3799332"/>
                <a:gridCol w="2743962"/>
                <a:gridCol w="4010406"/>
              </a:tblGrid>
              <a:tr h="324892"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Asset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 file today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Vector master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24892"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Primary horizontal signature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PNG supplied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PENDING PRODUCTION MASTER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892"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Monochrome (Black)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PNG supplied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PENDING PRODUCTION MASTER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892"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Reversed (White)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PNG supplied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PENDING PRODUCTION MASTER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892"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Standalone Ink symbol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PENDING PRODUCTION MASTER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892"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Standalone Beige symbol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PNG supplied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PENDING PRODUCTION MASTER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892"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Standalone White symbol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PENDING PRODUCTION MASTER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892"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Stacked configuration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PENDING PRODUCTION MASTER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892"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Micro / no-spark mark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PENDING PRODUCTION MASTER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941"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Fabrication version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[REQUIRES SUPPLIER]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941"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Embroidery version, if needed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[PROJECT-SPECIFIC]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941"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Favicon / app assets, if relevant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1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006" marR="52006" marT="52006" marB="5200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641082"/>
            <a:ext cx="10883392" cy="226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PNG is for raster use only. A Black symbol raster is also on file. Missing files are never redrawn.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IDENTITY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0551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· ARTWORK SOURCE AND PROVENANCE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91841"/>
            <a:ext cx="4055110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spc="5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geometry source. Every master on record.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5103515"/>
            <a:ext cx="3937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5195590"/>
            <a:ext cx="40551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authoritative geometry source.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2800" y="5518795"/>
            <a:ext cx="3937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800" y="5610870"/>
            <a:ext cx="40551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tracing from raster references.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57800" y="1499939"/>
            <a:ext cx="63050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MASTER RECORDS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64150" y="1808510"/>
            <a:ext cx="3003550" cy="42163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20650" tIns="95250" rIns="37783" bIns="698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ID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9300" y="1808510"/>
            <a:ext cx="3003550" cy="42163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20650" tIns="95250" rIns="37783" bIns="698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name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64150" y="2331740"/>
            <a:ext cx="3003550" cy="42163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20650" tIns="95250" rIns="37783" bIns="698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69300" y="2331740"/>
            <a:ext cx="3003550" cy="42163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20650" tIns="95250" rIns="37783" bIns="698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64150" y="2854970"/>
            <a:ext cx="3003550" cy="42163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20650" tIns="95250" rIns="37783" bIns="698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date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69300" y="2854970"/>
            <a:ext cx="3003550" cy="42163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20650" tIns="95250" rIns="37783" bIns="698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file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64150" y="3378200"/>
            <a:ext cx="3003550" cy="42163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20650" tIns="95250" rIns="37783" bIns="698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checksum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69300" y="3378200"/>
            <a:ext cx="3003550" cy="42163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20650" tIns="95250" rIns="37783" bIns="698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 mode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64150" y="3901430"/>
            <a:ext cx="3003550" cy="42163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20650" tIns="95250" rIns="37783" bIns="698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Intended use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9300" y="3901430"/>
            <a:ext cx="3003550" cy="42163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20650" tIns="95250" rIns="37783" bIns="698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Superseded version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64150" y="4424660"/>
            <a:ext cx="3003550" cy="42163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20650" tIns="95250" rIns="37783" bIns="698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status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57800" y="4941540"/>
            <a:ext cx="6934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Unknown values stay [PENDING]. The full record is the asset manifest, appendix 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IDENTITY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· LOGO REPRODUCTION LIMITS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Minimum line weights: [TO BE VERIFIED BY PROCESS TEST].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28080"/>
          <a:ext cx="10553700" cy="3659485"/>
        </p:xfrm>
        <a:graphic>
          <a:graphicData uri="http://schemas.openxmlformats.org/drawingml/2006/table">
            <a:tbl>
              <a:tblPr/>
              <a:tblGrid>
                <a:gridCol w="3377184"/>
                <a:gridCol w="7176516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Process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Evidence required before use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Offset print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Press proof of the logo at final size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Digital print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Proof at final size on the job substrate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Screen print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Test print with fine-line check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Engraving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Engraved sample on the actual material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Laser marking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Marked sample on the actual material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Embroidery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Stitched sample from a controlled file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Deboss and emboss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Tooling trial and physical sample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Die-cut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Cut test on the approved die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Signage fabrication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Full-size fabricated sample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Small-format labels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Printed proof at the smallest planned size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414566"/>
            <a:ext cx="1088339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line weight, gap or feature size is stated until process samples exist.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IDENTITY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· CLEARSPACE AND MINIMUM SIZE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325" y="1188045"/>
            <a:ext cx="3702050" cy="1879600"/>
          </a:xfrm>
          <a:prstGeom prst="rect">
            <a:avLst/>
          </a:prstGeom>
          <a:noFill/>
          <a:ln w="19050">
            <a:solidFill>
              <a:srgbClr val="12171D"/>
            </a:solidFill>
            <a:prstDash val="dash"/>
          </a:ln>
        </p:spPr>
      </p:sp>
      <p:pic>
        <p:nvPicPr>
          <p:cNvPr id="4" name="Image 0" descr="GEM horizontal logo inside a dashed boundary one u wide">    </p:cNvPr>
          <p:cNvPicPr>
            <a:picLocks noChangeAspect="1"/>
          </p:cNvPicPr>
          <p:nvPr/>
        </p:nvPicPr>
        <p:blipFill>
          <a:blip r:embed="rId1"/>
          <a:srcRect l="0" r="0" t="-24" b="-24"/>
          <a:stretch/>
        </p:blipFill>
        <p:spPr>
          <a:xfrm>
            <a:off x="1339850" y="1705570"/>
            <a:ext cx="2667000" cy="8445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322957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Schematic only: the dashed boundary is 1u on every side.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146800" y="1795264"/>
            <a:ext cx="53893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CARRIED FROM PART A · APPROVED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46800" y="2138759"/>
            <a:ext cx="5232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46800" y="2218134"/>
            <a:ext cx="53893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 = the G-ring radius. 1u minimum, 2u preferred.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46800" y="2597200"/>
            <a:ext cx="5232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46800" y="2676575"/>
            <a:ext cx="538937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Digital: lockup 120px, symbol 32px. Below 32px use the micro / no-spark mark.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46800" y="3377555"/>
            <a:ext cx="53893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SIZES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46800" y="3721050"/>
            <a:ext cx="5232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46800" y="3800425"/>
            <a:ext cx="538937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minimum sizes: [TO BE VERIFIED BY PROCESS TEST]. Pixels are never converted to millimetres.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53150" y="4431556"/>
            <a:ext cx="5219700" cy="42163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20650" tIns="95250" rIns="0" bIns="698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 / no-spark mark: PENDING PRODUCTION MASTER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IDENTITY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· MASTER COLOUR SPECIFICATION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1379200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HEX values are digital references. Physical values are not yet validated.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2800" y="1694111"/>
            <a:ext cx="2546350" cy="1079500"/>
          </a:xfrm>
          <a:prstGeom prst="rect">
            <a:avLst/>
          </a:prstGeom>
          <a:solidFill>
            <a:srgbClr val="12171D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2837111"/>
            <a:ext cx="262274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32206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#12171D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3497461"/>
            <a:ext cx="2622740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dark brand field and default text colour.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3972421"/>
            <a:ext cx="26227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Pantone, CMYK: [PENDING]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4241651"/>
            <a:ext cx="2622740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reference: [PENDING PHYSICAL PROOF]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86150" y="1694111"/>
            <a:ext cx="2546350" cy="1079500"/>
          </a:xfrm>
          <a:prstGeom prst="rect">
            <a:avLst/>
          </a:prstGeom>
          <a:solidFill>
            <a:srgbClr val="BCACA7"/>
          </a:solidFill>
          <a:ln/>
        </p:spPr>
      </p:sp>
      <p:sp>
        <p:nvSpPr>
          <p:cNvPr id="11" name="Text 9"/>
          <p:cNvSpPr/>
          <p:nvPr/>
        </p:nvSpPr>
        <p:spPr>
          <a:xfrm>
            <a:off x="3486150" y="2837111"/>
            <a:ext cx="262274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BEIGE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86150" y="32206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#BCACA7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86150" y="3497461"/>
            <a:ext cx="2622740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Warm-neutral counterpart to Ink. Not for essential text on White.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86150" y="3972421"/>
            <a:ext cx="26227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Pantone, CMYK: [PENDING]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86150" y="4241651"/>
            <a:ext cx="2622740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reference: [PENDING PHYSICAL PROOF]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59500" y="1694111"/>
            <a:ext cx="2546350" cy="1079500"/>
          </a:xfrm>
          <a:prstGeom prst="rect">
            <a:avLst/>
          </a:prstGeom>
          <a:solidFill>
            <a:srgbClr val="020202"/>
          </a:solidFill>
          <a:ln/>
        </p:spPr>
      </p:sp>
      <p:sp>
        <p:nvSpPr>
          <p:cNvPr id="17" name="Text 15"/>
          <p:cNvSpPr/>
          <p:nvPr/>
        </p:nvSpPr>
        <p:spPr>
          <a:xfrm>
            <a:off x="6159500" y="2837111"/>
            <a:ext cx="262274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BLACK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59500" y="32206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#020202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59500" y="3497461"/>
            <a:ext cx="2622740" cy="64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Monochrome and one-colour production, approved functional states.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59500" y="4178151"/>
            <a:ext cx="26227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Pantone, CMYK: [PENDING]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59500" y="4447381"/>
            <a:ext cx="2622740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reference: [PENDING PHYSICAL PROOF]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39200" y="1700461"/>
            <a:ext cx="253365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171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32850" y="2837111"/>
            <a:ext cx="262274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WHITE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832850" y="32206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#FFFFFF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832850" y="3497461"/>
            <a:ext cx="2622740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light canvas and inverse text colour.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32850" y="3972421"/>
            <a:ext cx="26227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Pantone, CMYK: [PENDING]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32850" y="4241651"/>
            <a:ext cx="2622740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reference: [PENDING PHYSICAL PROOF]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5636270"/>
            <a:ext cx="1088339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Pantone or CMYK value is stated until validated by a process proof.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COLOUR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· COLOUR CONVERSION AND PROOFING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Each process earns its own value.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9150" y="1802061"/>
            <a:ext cx="1678484" cy="1136551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9800" y="1922711"/>
            <a:ext cx="1487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39800" y="2174131"/>
            <a:ext cx="1487984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the process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99234" y="1802061"/>
            <a:ext cx="1678533" cy="1136551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19884" y="1922711"/>
            <a:ext cx="14880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19884" y="2174131"/>
            <a:ext cx="1488033" cy="6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a controlled conversion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79367" y="1802061"/>
            <a:ext cx="1678484" cy="1136551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0017" y="1922711"/>
            <a:ext cx="1487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00017" y="2174131"/>
            <a:ext cx="1487984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a proof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59450" y="1802061"/>
            <a:ext cx="1678533" cy="1136551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0100" y="1922711"/>
            <a:ext cx="14880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80100" y="2174131"/>
            <a:ext cx="1488033" cy="6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with the approved visual target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39584" y="1802061"/>
            <a:ext cx="1678533" cy="1136551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60234" y="1922711"/>
            <a:ext cx="14880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60234" y="2174131"/>
            <a:ext cx="1488033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physically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713367" y="1795711"/>
            <a:ext cx="1665833" cy="1149251"/>
          </a:xfrm>
          <a:prstGeom prst="rect">
            <a:avLst/>
          </a:prstGeom>
          <a:solidFill>
            <a:srgbClr val="BCACA7"/>
          </a:solidFill>
          <a:ln/>
        </p:spPr>
      </p:sp>
      <p:sp>
        <p:nvSpPr>
          <p:cNvPr id="20" name="Text 18"/>
          <p:cNvSpPr/>
          <p:nvPr/>
        </p:nvSpPr>
        <p:spPr>
          <a:xfrm>
            <a:off x="9827667" y="1910011"/>
            <a:ext cx="14880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27667" y="2161431"/>
            <a:ext cx="1488033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Archive the final process value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800" y="3148161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APPLIES 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3424982"/>
            <a:ext cx="525856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CMYK builds · spot colours if required · material colour references · painted finishes · textile · plastics · vinyl · coatings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73800" y="3148161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73800" y="3424982"/>
            <a:ext cx="5258562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processes may need different technical values to match the same GEM target. The visual target is the standard; the value is the evidence.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COLOUR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· COLOUR TOLERANCE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spc="5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No tolerance is stated until a supplier proof validates it.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9150" y="1829991"/>
            <a:ext cx="3424734" cy="868611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90600" y="2001441"/>
            <a:ext cx="31742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MEASUREMENT METHOD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0600" y="2278261"/>
            <a:ext cx="317428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3584" y="1829991"/>
            <a:ext cx="3424783" cy="868611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55034" y="2001441"/>
            <a:ext cx="31743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55034" y="2278261"/>
            <a:ext cx="31743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48067" y="1829991"/>
            <a:ext cx="3424734" cy="868611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8119517" y="2001441"/>
            <a:ext cx="31742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ILLUMINANT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19517" y="2278261"/>
            <a:ext cx="317428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9150" y="2838301"/>
            <a:ext cx="3424734" cy="868611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990600" y="3009751"/>
            <a:ext cx="31742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SUBSTRATE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90600" y="3286571"/>
            <a:ext cx="317428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83584" y="2838301"/>
            <a:ext cx="3424783" cy="868611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555034" y="3009751"/>
            <a:ext cx="31743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TOLERANCE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55034" y="3286571"/>
            <a:ext cx="31743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48067" y="2838301"/>
            <a:ext cx="3424734" cy="868611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8119517" y="3009751"/>
            <a:ext cx="31742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VIEWING CONDITIONS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19517" y="3286571"/>
            <a:ext cx="317428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800" y="3916462"/>
            <a:ext cx="1088339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follows printer or supplier proof validation. Until then no Delta E value, instrument or condition may be quoted to a supplier as a GEM standard.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COLOUR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rgbClr val="12171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29824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· INK AND BLACK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4401889"/>
            <a:ext cx="2982468" cy="8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spc="29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INK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2800" y="5344220"/>
            <a:ext cx="298246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colour. Default dark brand field and default text colour.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4000" y="0"/>
            <a:ext cx="2794000" cy="6858000"/>
          </a:xfrm>
          <a:prstGeom prst="rect">
            <a:avLst/>
          </a:prstGeom>
          <a:solidFill>
            <a:srgbClr val="020202"/>
          </a:solidFill>
          <a:ln/>
        </p:spPr>
      </p:sp>
      <p:sp>
        <p:nvSpPr>
          <p:cNvPr id="7" name="Text 5"/>
          <p:cNvSpPr/>
          <p:nvPr/>
        </p:nvSpPr>
        <p:spPr>
          <a:xfrm>
            <a:off x="4368800" y="4419650"/>
            <a:ext cx="224993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spc="21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BLACK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368800" y="5148610"/>
            <a:ext cx="2249932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Monochrome and one-colour production, where approved.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213600" y="2500709"/>
            <a:ext cx="42905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RULE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213600" y="2856905"/>
            <a:ext cx="4165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13600" y="2936280"/>
            <a:ext cx="429056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casually substitute Black for Ink in premium colour applications.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13600" y="3576935"/>
            <a:ext cx="4165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13600" y="3656310"/>
            <a:ext cx="429056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supplier uses the artwork variant specified for the job.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C · COLOUR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· FONT CONTROL · FONT BUILD VALIDATION · PENDING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Three families. Source, licence and build on record.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28080"/>
          <a:ext cx="10553700" cy="1330722"/>
        </p:xfrm>
        <a:graphic>
          <a:graphicData uri="http://schemas.openxmlformats.org/drawingml/2006/table">
            <a:tbl>
              <a:tblPr/>
              <a:tblGrid>
                <a:gridCol w="2321814"/>
                <a:gridCol w="2743962"/>
                <a:gridCol w="1688592"/>
                <a:gridCol w="3799332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Family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Weights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Build and licence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Jost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Display and headings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400, 500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PENDING VALIDATION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Body and operational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400, 500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PENDING VALIDATION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Noto Sans Arabic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Arabic, interim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PENDING LOCALIZATION APPROVAL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3085802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DOCUMENTED PER FAMILY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3349923"/>
            <a:ext cx="5258562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font source [PENDING] · licence owner [REQUIRES OWNER] · version and build number [PENDING] · platform use [PENDING] · embedded-font rules [PENDING]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73800" y="3085802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FOR PRODUCTION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73800" y="3349923"/>
            <a:ext cx="5258562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Futura PT, Montserrat, Aeonik, Satoshi and Whyte are legacy or reference only. Maximum two weights per composition.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TYPOGRAPHY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· TEXT TO OUTLINES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4578350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spc="5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Outline only the final duplicate.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5363270"/>
            <a:ext cx="457835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Outlined artwork is a production copy, never an editing master.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867400" y="2018159"/>
            <a:ext cx="56771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PERMITTED FOR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67400" y="2285454"/>
            <a:ext cx="5511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67400" y="2364829"/>
            <a:ext cx="567715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Fabrication artwork · supplier compatibility · cutting and engraving · final closed artwork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67400" y="3027710"/>
            <a:ext cx="56771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67400" y="3295005"/>
            <a:ext cx="5511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67400" y="3374380"/>
            <a:ext cx="567715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editable source separately.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67400" y="3677245"/>
            <a:ext cx="5511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67400" y="3756620"/>
            <a:ext cx="567715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live, searchable text where accessibility or future editing needs it.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67400" y="4308376"/>
            <a:ext cx="5511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67400" y="4387751"/>
            <a:ext cx="567715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outline malformed Arabic text.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TYPOGRAPHY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· ARABIC PRODUCTION · PENDING LOCALIZATION APPROVAL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native specialist reviews every Arabic proof before production.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2800" y="1748086"/>
            <a:ext cx="52832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827461"/>
            <a:ext cx="544169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shaping, no broken or disconnected letters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96000" y="1748086"/>
            <a:ext cx="52832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0" y="1827461"/>
            <a:ext cx="544169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 right-to-left setting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2800" y="2053481"/>
            <a:ext cx="52832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2132856"/>
            <a:ext cx="544169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Latin tracking on Arabic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96000" y="2053481"/>
            <a:ext cx="52832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6000" y="2132856"/>
            <a:ext cx="544169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order in mixed-language lines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800" y="2358876"/>
            <a:ext cx="52832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800" y="2438251"/>
            <a:ext cx="5441696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Latin digits for technical identifiers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96000" y="2358876"/>
            <a:ext cx="52832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6000" y="2438251"/>
            <a:ext cx="5441696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numeral policy for guest-facing Arabic [PENDING VALIDATION]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800" y="2887117"/>
            <a:ext cx="52832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2966492"/>
            <a:ext cx="544169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Arabic proof review before release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96000" y="2887117"/>
            <a:ext cx="52832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6000" y="2966492"/>
            <a:ext cx="544169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outline malformed Arabic text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9150" y="3373487"/>
            <a:ext cx="10553700" cy="69463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46050" tIns="107950" rIns="0" bIns="8255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Arabic copy is not approved copy. The tagline stays English only until an Arabic version is explicitly approved. The logo is never mirrored.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TYPOGRAPHY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geometry: a large beige ring with an opening, cropped at the top 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10883392" cy="612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0" i="0" spc="35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ARTWORK &amp; MATERIALS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12800" y="3683000"/>
            <a:ext cx="654050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Preflight, export, print principles, stock and finishes.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· ARTWORK PREFLIGHT CHECKLIST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production file passes eighteen checks.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19150" y="1672530"/>
            <a:ext cx="139700" cy="1397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4100" y="1666180"/>
            <a:ext cx="337924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master asset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41267" y="1672530"/>
            <a:ext cx="139700" cy="1397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6217" y="1666180"/>
            <a:ext cx="337924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version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63384" y="1672530"/>
            <a:ext cx="139700" cy="1397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8334" y="1666180"/>
            <a:ext cx="337929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colour mode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9150" y="1863030"/>
            <a:ext cx="139700" cy="1397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4100" y="1856680"/>
            <a:ext cx="337924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bleed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1267" y="1863030"/>
            <a:ext cx="139700" cy="1397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6217" y="1856680"/>
            <a:ext cx="337924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area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384" y="1863030"/>
            <a:ext cx="139700" cy="1397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8334" y="1856680"/>
            <a:ext cx="337929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Dieline visibility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9150" y="2053530"/>
            <a:ext cx="139700" cy="1397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4100" y="2047180"/>
            <a:ext cx="337924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Overprint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41267" y="2053530"/>
            <a:ext cx="139700" cy="1397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6217" y="2047180"/>
            <a:ext cx="337924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Transparency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384" y="2053530"/>
            <a:ext cx="139700" cy="1397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8334" y="2047180"/>
            <a:ext cx="337929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resolution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9150" y="2244030"/>
            <a:ext cx="139700" cy="1397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4100" y="2237680"/>
            <a:ext cx="337924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 assets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1267" y="2244030"/>
            <a:ext cx="139700" cy="1397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6217" y="2237680"/>
            <a:ext cx="337924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63384" y="2244030"/>
            <a:ext cx="139700" cy="1397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8334" y="2237680"/>
            <a:ext cx="337929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Barcode or QR integrity, if used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9150" y="2434530"/>
            <a:ext cx="139700" cy="1397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4100" y="2428180"/>
            <a:ext cx="337924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Spelling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341267" y="2434530"/>
            <a:ext cx="139700" cy="1397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6217" y="2428180"/>
            <a:ext cx="337924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shaping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863384" y="2434530"/>
            <a:ext cx="139700" cy="1397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98334" y="2428180"/>
            <a:ext cx="337929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copy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9150" y="2625030"/>
            <a:ext cx="139700" cy="1397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4100" y="2618680"/>
            <a:ext cx="337924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Hidden objects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341267" y="2625030"/>
            <a:ext cx="139700" cy="1397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6217" y="2618680"/>
            <a:ext cx="337924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Non-printing guides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863384" y="2625030"/>
            <a:ext cx="139700" cy="1397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98334" y="2618680"/>
            <a:ext cx="337929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intent and profile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12800" y="2961580"/>
            <a:ext cx="1088339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Supplier-ready form: appendix C. A file with any open check is not sent.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ARTWORK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39452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· BLEED AND SAFE AREA</a:t>
            </a:r>
            <a:endParaRPr lang="en-US" sz="1200" dirty="0"/>
          </a:p>
        </p:txBody>
      </p:sp>
      <p:pic>
        <p:nvPicPr>
          <p:cNvPr id="3" name="Image 0" descr="Diagram of nested rectangles: a dashed outer bleed edge, a solid trim edge and a dotted inner brand safe are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760240"/>
            <a:ext cx="4064000" cy="2921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4833640"/>
            <a:ext cx="45783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Dashed outer: bleed · Solid: trim · Dotted inner: brand safe area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5867400" y="2080964"/>
            <a:ext cx="5677154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supplier dieline governs bleed and trim.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867400" y="2950220"/>
            <a:ext cx="5511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67400" y="3029595"/>
            <a:ext cx="567715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universal dimensions are set where the process decides.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867400" y="3421360"/>
            <a:ext cx="5511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67400" y="3500735"/>
            <a:ext cx="567715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safe areas stay separate from structural tolerances.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867400" y="3892500"/>
            <a:ext cx="5511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67400" y="3971875"/>
            <a:ext cx="567715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dieline is approved before artwork preparation.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867400" y="4360466"/>
            <a:ext cx="56771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Values: [REQUIRES SUPPLIER] · Diagram not to scale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ARTWORK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· PRODUCTION PDF STANDARD · PENDING PREPRESS STANDARD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export follows the printer's actual workflow.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28080"/>
          <a:ext cx="10553700" cy="2994124"/>
        </p:xfrm>
        <a:graphic>
          <a:graphicData uri="http://schemas.openxmlformats.org/drawingml/2006/table">
            <a:tbl>
              <a:tblPr/>
              <a:tblGrid>
                <a:gridCol w="3799332"/>
                <a:gridCol w="6754368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Export item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Requirement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PDF standard and version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 PREPRESS STANDARD]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Embedded profile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 PREPRESS STANDARD]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Output intent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 PREPRESS STANDARD]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Fonts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Embedded or outlined, as the supplier requires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Transparencies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 PREPRESS STANDARD]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Trim and bleed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Set from the approved supplier dieline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Dieline layer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Separate, named, non-printing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Varnish, foil, emboss layers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Named spot layers where the job uses them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749205"/>
            <a:ext cx="1088339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PDF/X version is chosen until the printer workflow is known.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ARTWORK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· PRINT PRINCIPLES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spc="5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Tactile, restrained, exact.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823641"/>
            <a:ext cx="5207000" cy="4018359"/>
          </a:xfrm>
          <a:prstGeom prst="rect">
            <a:avLst/>
          </a:prstGeom>
          <a:solidFill>
            <a:srgbClr val="BCACA7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052241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1400" y="2367161"/>
            <a:ext cx="489229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Tactile quality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1400" y="2717651"/>
            <a:ext cx="489229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Restraint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41400" y="3068141"/>
            <a:ext cx="489229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 colour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41400" y="3418632"/>
            <a:ext cx="489229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Matte, controlled surfaces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41400" y="3769122"/>
            <a:ext cx="489229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41400" y="4119612"/>
            <a:ext cx="489229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Durable execution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53150" y="1829991"/>
            <a:ext cx="5219700" cy="4005659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388100" y="2064941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88100" y="2379861"/>
            <a:ext cx="489229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Decorative gold as a default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88100" y="2730351"/>
            <a:ext cx="489229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88100" y="3080841"/>
            <a:ext cx="489229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Holographic effects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88100" y="3431332"/>
            <a:ext cx="489229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Excessive foil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88100" y="3781822"/>
            <a:ext cx="489229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Heavy gloss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88100" y="4132312"/>
            <a:ext cx="489229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Unnecessary effects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PRINT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· PAPER AND BOARD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4185920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Direction is set. Specification is not.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510292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DIRECTION · PART 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5379740"/>
            <a:ext cx="418592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 uncoated stock · Ink board · Beige · premium matte surfaces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84800" y="1832868"/>
            <a:ext cx="61742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 OPEN UNTIL APPROVED SAMPLES EXIST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7500" y="2160488"/>
          <a:ext cx="5981700" cy="2661444"/>
        </p:xfrm>
        <a:graphic>
          <a:graphicData uri="http://schemas.openxmlformats.org/drawingml/2006/table">
            <a:tbl>
              <a:tblPr/>
              <a:tblGrid>
                <a:gridCol w="2691765"/>
                <a:gridCol w="3289935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Attribute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Value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Manufacturer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[REQUIRES SUPPLIER / OWNER]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Grade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[REQUIRES SUPPLIER / OWNER]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GSM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[REQUIRES SUPPLIER / OWNER]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Caliper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[REQUIRES SUPPLIER / OWNER]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Recycled content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[REQUIRES SUPPLIER / OWNER]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Coating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[REQUIRES SUPPLIER / OWNER]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Grain direction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[REQUIRES SUPPLIER / OWNER]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MATERIALS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· SPECIAL FINISHES · PENDING PHYSICAL PROOF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Four approved directions. Each needs a physical test.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9150" y="1751261"/>
            <a:ext cx="2552700" cy="92705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1922711"/>
            <a:ext cx="227609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Deboss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600" y="2293541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Direction · test required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86150" y="1751261"/>
            <a:ext cx="2552700" cy="92705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922711"/>
            <a:ext cx="227609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Blind emboss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0" y="2293541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Direction · test required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53150" y="1751261"/>
            <a:ext cx="2552700" cy="92705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4600" y="1922711"/>
            <a:ext cx="227609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Soft-touch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24600" y="2293541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Direction · test required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20150" y="1751261"/>
            <a:ext cx="2552700" cy="92705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91600" y="1922711"/>
            <a:ext cx="227609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Precision die-cut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991600" y="2293541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Direction · test required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286246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DEFINED UNTIL SUPPLIER TRIALS ARE COMPLETE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9150" y="3158331"/>
            <a:ext cx="3458617" cy="3784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107950" tIns="82550" rIns="10668" bIns="571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66667" y="3158331"/>
            <a:ext cx="3458617" cy="3784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107950" tIns="82550" rIns="10668" bIns="571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14184" y="3158331"/>
            <a:ext cx="3458666" cy="3784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107950" tIns="82550" rIns="10667" bIns="571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Plate specification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9150" y="3625652"/>
            <a:ext cx="3458617" cy="3784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107950" tIns="82550" rIns="10668" bIns="571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feature size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66667" y="3625652"/>
            <a:ext cx="3458617" cy="3784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107950" tIns="82550" rIns="10668" bIns="571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Registration tolerance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14184" y="3625652"/>
            <a:ext cx="3458666" cy="3784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107950" tIns="82550" rIns="10667" bIns="571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MATERIALS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BCAC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· FOIL AND METALLIC USE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1379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0" i="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Gold is not a GEM colour. Foil is not a default.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502037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 PROJECT REQUIRES METALLIC PRODUCTION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9150" y="5328940"/>
            <a:ext cx="3441700" cy="50671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33350" tIns="133350" rIns="38100" bIns="10795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Brand Owner approval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75150" y="5328940"/>
            <a:ext cx="3441700" cy="50671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33350" tIns="133350" rIns="38100" bIns="10795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Physical proof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31150" y="5328940"/>
            <a:ext cx="3441700" cy="50671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33350" tIns="133350" rIns="38100" bIns="10795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A project-specific standard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MATERIALS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geometry: a large beige ring with an opening, cropped at the top 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85026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0" i="0" spc="4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PACKAGING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12800" y="3556000"/>
            <a:ext cx="65405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Governance, SKU record, dielines, regulatory copy, codes and proof.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· PACKAGING GOVERNANCE · CONDITIONAL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packaging system. Three tiers. Nothing invented.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9150" y="1700461"/>
            <a:ext cx="3441700" cy="909241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1871911"/>
            <a:ext cx="319176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spc="3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Core Collection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90600" y="2224931"/>
            <a:ext cx="31917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direction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75150" y="1700461"/>
            <a:ext cx="3441700" cy="909241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6600" y="1871911"/>
            <a:ext cx="319176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spc="3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Property Edition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46600" y="2224931"/>
            <a:ext cx="31917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direction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31150" y="1700461"/>
            <a:ext cx="3441700" cy="909241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2600" y="1871911"/>
            <a:ext cx="319176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spc="3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Bespoke Programme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02600" y="2224931"/>
            <a:ext cx="31917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276845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— AMENITIES &amp; PACKAGING IS A DESCRIPTIVE STREAM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313417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is not a separate brand, symbol or colour system. Every pack carries the one GEM identity.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9150" y="3541812"/>
            <a:ext cx="5232400" cy="3784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07950" tIns="82550" rIns="0" bIns="571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Packaging owner · [REQUIRES OWNER]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40450" y="3541812"/>
            <a:ext cx="5232400" cy="3784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07950" tIns="82550" rIns="0" bIns="571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reviewer · [REQUIRES OWNER]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PACKAGING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· PILOT FAMILY · PENDING PRODUCTION MASTER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Five products define the pilot.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06811"/>
          <a:ext cx="10553700" cy="1996083"/>
        </p:xfrm>
        <a:graphic>
          <a:graphicData uri="http://schemas.openxmlformats.org/drawingml/2006/table">
            <a:tbl>
              <a:tblPr/>
              <a:tblGrid>
                <a:gridCol w="2532888"/>
                <a:gridCol w="2005203"/>
                <a:gridCol w="2005203"/>
                <a:gridCol w="2005203"/>
                <a:gridCol w="2005203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AC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Format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AC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Volume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AC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Material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AC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Closure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ACA7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Shampoo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Conditioner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Body Wash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Body Lotion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Hand Wash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3855293"/>
            <a:ext cx="1088339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formulation, ingredient, claim, origin, supplier, MOQ or price is stated in this standard.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PACKAGING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· INFORMATION HIERARCHY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4185920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Seven levels, always in this order.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5415359"/>
            <a:ext cx="41859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to bottom is the order of visual weight. The layout may flex; the order may not.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91150" y="1560909"/>
            <a:ext cx="5981700" cy="439390"/>
          </a:xfrm>
          <a:prstGeom prst="rect">
            <a:avLst/>
          </a:prstGeom>
          <a:solidFill>
            <a:srgbClr val="12171D"/>
          </a:solidFill>
          <a:ln w="12700">
            <a:solidFill>
              <a:srgbClr val="12171D"/>
            </a:solidFill>
            <a:prstDash val="solid"/>
          </a:ln>
        </p:spPr>
        <p:txBody>
          <a:bodyPr wrap="square" lIns="146050" tIns="95250" rIns="0" bIns="6985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GEM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91150" y="2076500"/>
            <a:ext cx="5981700" cy="43939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46050" tIns="95250" rIns="0" bIns="6985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Collection / tier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91150" y="2592090"/>
            <a:ext cx="5981700" cy="43939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46050" tIns="95250" rIns="0" bIns="6985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Product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91150" y="3107680"/>
            <a:ext cx="5981700" cy="43939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46050" tIns="95250" rIns="0" bIns="6985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Function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91150" y="3623270"/>
            <a:ext cx="5981700" cy="43939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46050" tIns="95250" rIns="0" bIns="6985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· Quantity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91150" y="4138861"/>
            <a:ext cx="5981700" cy="43939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46050" tIns="95250" rIns="0" bIns="6985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· Information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91150" y="4654451"/>
            <a:ext cx="5981700" cy="43939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46050" tIns="95250" rIns="0" bIns="6985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· SKU / artwork version · [PENDING]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PACKAGING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· SKU MASTER RECORD · PENDING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record per SKU. Artwork follows the record.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28080"/>
          <a:ext cx="10553700" cy="3326805"/>
        </p:xfrm>
        <a:graphic>
          <a:graphicData uri="http://schemas.openxmlformats.org/drawingml/2006/table">
            <a:tbl>
              <a:tblPr/>
              <a:tblGrid>
                <a:gridCol w="3588258"/>
                <a:gridCol w="6965442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Field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SKU code (Latin digits)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[REQUIRES OWNER]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Collection / tier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[REQUIRES OWNER]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 and function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[REQUIRES OWNER]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Quantity and unit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[REQUIRES OWNER]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Primary and secondary pack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[REQUIRES SUPPLIER]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Dieline reference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Regulatory copy reference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[REGULATORY REVIEW REQUIRED]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Barcode reference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Artwork version and status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vX.Y · status label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PACKAGING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5783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 · DIELINE CONTROL · PENDING PRODUCTION MASTER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91841"/>
            <a:ext cx="4578350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supplier dieline is the only dieline.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2270621"/>
            <a:ext cx="457835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 artwork is built onto a supplier-issued dieline. No dimension is set in this standard.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9150" y="2891631"/>
            <a:ext cx="2171700" cy="3784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107950" tIns="82550" rIns="49276" bIns="571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Trim size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79750" y="2891631"/>
            <a:ext cx="2171700" cy="3784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107950" tIns="82550" rIns="49276" bIns="571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9150" y="3358952"/>
            <a:ext cx="2171700" cy="3784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107950" tIns="82550" rIns="49276" bIns="571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area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79750" y="3358952"/>
            <a:ext cx="2171700" cy="3784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107950" tIns="82550" rIns="49276" bIns="571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Glue flap</a:t>
            </a:r>
            <a:endParaRPr lang="en-US" sz="1200" dirty="0"/>
          </a:p>
        </p:txBody>
      </p:sp>
      <p:pic>
        <p:nvPicPr>
          <p:cNvPr id="9" name="Image 0" descr="Schematic dieline with labelled trim, bleed and safe-area lines, no dimension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27700" y="1295400"/>
            <a:ext cx="5588000" cy="4064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PACKAGING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· STRUCTURAL FRAMEWORK · REQUIRES SUPPLIER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Structure is a supplier decision, tested before release.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28080"/>
          <a:ext cx="10553700" cy="2661444"/>
        </p:xfrm>
        <a:graphic>
          <a:graphicData uri="http://schemas.openxmlformats.org/drawingml/2006/table">
            <a:tbl>
              <a:tblPr/>
              <a:tblGrid>
                <a:gridCol w="3588258"/>
                <a:gridCol w="6965442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Element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Status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Bottle or tube format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[REQUIRES SUPPLIER]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Resin / substrate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[REQUIRES SUPPLIER]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Closure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[REQUIRES SUPPLIER]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Decoration method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[TO BE VERIFIED BY PROCESS TEST]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Carton and inner pack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[REQUIRES SUPPLIER]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Compatibility and durability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 PHYSICAL PROOF]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Recyclability claim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[REGULATORY REVIEW REQUIRED]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416524"/>
            <a:ext cx="1088339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direction asks for matte, restrained surfaces. It does not choose a material.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PACKAGING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BCAC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· REGULATORY COPY · REGULATORY REVIEW REQUIRED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6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 does not write regulatory copy.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51620"/>
            <a:ext cx="85026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Ingredients, origin, claims, warnings, batch and expiry text are supplied by an accountable owner and reviewed per market before artwork is released.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9150" y="2594570"/>
            <a:ext cx="3458617" cy="4038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20650" tIns="95250" rIns="24130" bIns="698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Ingredients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66667" y="2594570"/>
            <a:ext cx="3458617" cy="4038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20650" tIns="95250" rIns="24130" bIns="698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14184" y="2594570"/>
            <a:ext cx="3458666" cy="4038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20650" tIns="95250" rIns="24129" bIns="698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9150" y="3087291"/>
            <a:ext cx="3458617" cy="4038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20650" tIns="95250" rIns="24130" bIns="698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Warnings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66667" y="3087291"/>
            <a:ext cx="3458617" cy="4038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20650" tIns="95250" rIns="24130" bIns="698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and expiry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14184" y="3087291"/>
            <a:ext cx="3458666" cy="4038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20650" tIns="95250" rIns="24129" bIns="698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labelling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3700661"/>
            <a:ext cx="1088339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Typographic treatment follows GEM type rules. The words belong to the regulatory owner.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PACKAGING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 · BARCODES AND QR · PENDING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Codes are scanned, not styled.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28080"/>
          <a:ext cx="10553700" cy="2661444"/>
        </p:xfrm>
        <a:graphic>
          <a:graphicData uri="http://schemas.openxmlformats.org/drawingml/2006/table">
            <a:tbl>
              <a:tblPr/>
              <a:tblGrid>
                <a:gridCol w="3588258"/>
                <a:gridCol w="6965442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Rule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Requirement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Symbology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Size and magnification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Quiet zone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Colour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Dark on light. Never beige on white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Recolouring or logo overlay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permitted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Digits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Latin digits only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Scan verification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 PHYSICAL PROOF]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416524"/>
            <a:ext cx="1088339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data and placement are issued by the owner. GEM never generates or alters them.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PACKAGING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· PACKAGING LANGUAGE · ARABIC PENDING VALIDATION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Short, exact, measured.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2800" y="1744911"/>
            <a:ext cx="5207000" cy="1658491"/>
          </a:xfrm>
          <a:prstGeom prst="rect">
            <a:avLst/>
          </a:prstGeom>
          <a:solidFill>
            <a:srgbClr val="BCACA7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948111"/>
            <a:ext cx="49446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6000" y="2250331"/>
            <a:ext cx="494461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Plain product and function names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16000" y="2588121"/>
            <a:ext cx="494461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quantities and units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16000" y="2925911"/>
            <a:ext cx="494461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Sentence-case information lines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53150" y="1751261"/>
            <a:ext cx="5219700" cy="1645791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362700" y="1960811"/>
            <a:ext cx="49446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62700" y="2263031"/>
            <a:ext cx="494461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Superlatives and effusive claims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62700" y="2600821"/>
            <a:ext cx="494461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Unverified benefits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62700" y="2938611"/>
            <a:ext cx="494461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Translated tagline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358120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pack copy is a working placeholder until native QA is complete. Never tracked, never mirrored.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PACKAGING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 · PACKAGING PHYSICAL PROOF · PENDING PHYSICAL PROOF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No pack is released from a screen.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9150" y="1672530"/>
            <a:ext cx="5226050" cy="44703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33350" tIns="107950" rIns="0" bIns="825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 against the physical standard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146800" y="1672530"/>
            <a:ext cx="5226050" cy="44703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33350" tIns="107950" rIns="0" bIns="825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and type reproduction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9150" y="2221161"/>
            <a:ext cx="5226050" cy="44703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33350" tIns="107950" rIns="0" bIns="825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Finish and surface feel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46800" y="2221161"/>
            <a:ext cx="5226050" cy="44703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33350" tIns="107950" rIns="0" bIns="825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Dieline fit and fold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9150" y="2769791"/>
            <a:ext cx="5226050" cy="44703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33350" tIns="107950" rIns="0" bIns="825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copy legibility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46800" y="2769791"/>
            <a:ext cx="5226050" cy="44703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33350" tIns="107950" rIns="0" bIns="825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Barcode scan result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9150" y="3318421"/>
            <a:ext cx="5226050" cy="44703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33350" tIns="107950" rIns="0" bIns="825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Durability and compatibility · [PENDING]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3318421"/>
            <a:ext cx="5226050" cy="44703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33350" tIns="107950" rIns="0" bIns="825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Sign-off holder · [REQUIRES OWNER]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3924201"/>
            <a:ext cx="1088339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approved sample enters the golden sample register and becomes the production reference.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PACKAGING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geometry: a large beige ring with an opening, cropped at the top 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85026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0" i="0" spc="4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ENVIRONMENT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12800" y="3556000"/>
            <a:ext cx="65405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Signage, bilingual artwork, tactile, fabrication, corporate and large format.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 · ENVIRONMENTAL PRODUCTION · PROJECT-SPECIFIC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Principles are brand. Fabrication is the site's.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9150" y="1700461"/>
            <a:ext cx="5207000" cy="1620391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000" y="1897311"/>
            <a:ext cx="49576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BY GEM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6000" y="2199531"/>
            <a:ext cx="495769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Palette and contrast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16000" y="2537321"/>
            <a:ext cx="495769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hierarchy and glyph language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16000" y="2875111"/>
            <a:ext cx="495769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rules and clearspace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65850" y="1700461"/>
            <a:ext cx="5207000" cy="1620391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362700" y="1897311"/>
            <a:ext cx="49576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PER SITE · REQUIRES SITE VALIDATION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62700" y="2199531"/>
            <a:ext cx="495769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Dimensions and mounting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62700" y="2537321"/>
            <a:ext cx="495769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 and illumination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62700" y="2875111"/>
            <a:ext cx="495769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Viewing distance and tolerance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3479602"/>
            <a:ext cx="1088339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site dimension, illumination level, mounting method or fabrication tolerance is set in this standard.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ENVIRONMENT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 · SIGN TYPE REGISTER · PROJECT-SPECIFIC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sign type is registered before it is made.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28080"/>
          <a:ext cx="10553700" cy="1996083"/>
        </p:xfrm>
        <a:graphic>
          <a:graphicData uri="http://schemas.openxmlformats.org/drawingml/2006/table">
            <a:tbl>
              <a:tblPr/>
              <a:tblGrid>
                <a:gridCol w="2321814"/>
                <a:gridCol w="2743962"/>
                <a:gridCol w="2743962"/>
                <a:gridCol w="2743962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Type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Size and material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Status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Identification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Names a space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[PROJECT-SPECIFIC]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Directional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Guides movement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[PROJECT-SPECIFIC]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Room number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Identifies a door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[PROJECT-SPECIFIC]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Amenity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Marks a service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[PROJECT-SPECIFIC]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Regulatory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Safety and code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[REGULATORY REVIEW REQUIRED]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ENVIRONMENT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2788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 · SIGNAGE ARTWORK · SUPPLIER SCALING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627888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0" i="0" spc="5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Scaled proportionally. Never redrawn.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2800" y="1615380"/>
            <a:ext cx="6278880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Released vector artwork may be scaled proportionally by the supplier to the approved fabrication size. The artwork must not be redrawn, reshaped, re-spaced, stretched, compressed or reconstructed.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9150" y="2442121"/>
            <a:ext cx="6083300" cy="33779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20650" tIns="69850" rIns="0" bIns="4445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 master geometry remains unchanged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9150" y="2856111"/>
            <a:ext cx="6083300" cy="33779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20650" tIns="69850" rIns="0" bIns="4445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scaling is proportional only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9150" y="3270101"/>
            <a:ext cx="6083300" cy="33779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120650" tIns="69850" rIns="0" bIns="4445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physical feature sizes · [TO BE VERIFIED BY PROCESS TEST]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9150" y="3684091"/>
            <a:ext cx="6083300" cy="5358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20650" tIns="69850" rIns="0" bIns="4445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limitation exposed by scaling goes to a deviation request (appendix K), never an independent change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9150" y="4296172"/>
            <a:ext cx="6083300" cy="33779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20650" tIns="69850" rIns="0" bIns="4445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fabrication-specific adaptation needs written approval</a:t>
            </a:r>
            <a:endParaRPr lang="en-US" sz="1200" dirty="0"/>
          </a:p>
        </p:txBody>
      </p:sp>
      <p:pic>
        <p:nvPicPr>
          <p:cNvPr id="10" name="Image 0" descr="Schematic sign face with a glyph, a name line and a number line, no dimension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1803400"/>
            <a:ext cx="4064000" cy="3048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ENVIRONMENT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 · ARABIC AND BILINGUAL SIGNAGE · PENDING VALIDATION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Arabic is set natively, never mirrored from Latin.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9150" y="1672530"/>
            <a:ext cx="5226050" cy="438745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33350" tIns="107950" rIns="0" bIns="8255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text reads right to left and is never letter-spaced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146800" y="1672530"/>
            <a:ext cx="5226050" cy="438745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33350" tIns="107950" rIns="0" bIns="8255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logo is never mirrored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9150" y="2212876"/>
            <a:ext cx="5226050" cy="438745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33350" tIns="107950" rIns="0" bIns="8255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languages carry equal legibility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46800" y="2212876"/>
            <a:ext cx="5226050" cy="438745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33350" tIns="107950" rIns="0" bIns="8255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and technical numbers use Latin digits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9150" y="2753221"/>
            <a:ext cx="5226050" cy="438745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33350" tIns="107950" rIns="0" bIns="8255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language leads · [PROJECT-SPECIFIC]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46800" y="2753221"/>
            <a:ext cx="5226050" cy="438745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33350" tIns="107950" rIns="0" bIns="8255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wording · [REQUIRES OWNER]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3350716"/>
            <a:ext cx="1088339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Noto Sans Arabic is interim. Native review is required before any sign is fabricated.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ENVIRONMENT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BCAC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 · TACTILE AND BRAILLE · REGULATORY REVIEW REQUIRED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spc="5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Tactile content follows the code, not the brand.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772841"/>
            <a:ext cx="85026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tactile characters or Braille are required, the applicable accessibility code governs size, spacing, height, contrast and placement.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9150" y="2490391"/>
            <a:ext cx="3458617" cy="4038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20650" tIns="95250" rIns="24130" bIns="698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Governing code · [PENDING]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66667" y="2490391"/>
            <a:ext cx="3458617" cy="4038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20650" tIns="95250" rIns="24130" bIns="698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Braille grade · [PENDING]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14184" y="2490391"/>
            <a:ext cx="3458666" cy="4038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20650" tIns="95250" rIns="24129" bIns="698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 height · [PENDING]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9150" y="2983111"/>
            <a:ext cx="3458617" cy="4038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20650" tIns="95250" rIns="24130" bIns="698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Mounting height · [PENDING]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66667" y="2983111"/>
            <a:ext cx="3458617" cy="4038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20650" tIns="95250" rIns="24130" bIns="698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Braille · [PENDING]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14184" y="2983111"/>
            <a:ext cx="3458666" cy="4038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20650" tIns="95250" rIns="24129" bIns="698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 · [REQUIRES SUPPLIER]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ENVIRONMENT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 · MATERIAL AND FABRICATION SAMPLE · PENDING PHYSICAL PROOF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sample is approved in place, under site light.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78880"/>
          <a:ext cx="10553700" cy="2328763"/>
        </p:xfrm>
        <a:graphic>
          <a:graphicData uri="http://schemas.openxmlformats.org/drawingml/2006/table">
            <a:tbl>
              <a:tblPr/>
              <a:tblGrid>
                <a:gridCol w="3799332"/>
                <a:gridCol w="6754368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Check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Status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Colour against standard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 PHYSICAL PROOF]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Edge, finish and surface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 PHYSICAL PROOF]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Glyph and letter accuracy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 PHYSICAL PROOF]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Viewing from real distance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[PROJECT-SPECIFIC]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Mounting and tolerance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[REQUIRES SUPPLIER]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Approver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[REQUIRES OWNER]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ENVIRONMENT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· CORPORATE PRINT · PENDING PRODUCTION MASTER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Quiet stationery, produced from approved masters.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28080"/>
          <a:ext cx="10553700" cy="1996083"/>
        </p:xfrm>
        <a:graphic>
          <a:graphicData uri="http://schemas.openxmlformats.org/drawingml/2006/table">
            <a:tbl>
              <a:tblPr/>
              <a:tblGrid>
                <a:gridCol w="2955036"/>
                <a:gridCol w="3799332"/>
                <a:gridCol w="3799332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Item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Format and stock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Template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Letterhead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 PRODUCTION MASTER]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Business card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 PRODUCTION MASTER]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Proposal and quotation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 PRODUCTION MASTER]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 sheet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 PRODUCTION MASTER]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Envelope and folder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 PRODUCTION MASTER]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3751163"/>
            <a:ext cx="1088339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Layout follows Part A. Print process and stock follow the print and materials standards.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APPLICATIONS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 · LARGE FORMAT · PROJECT-SPECIFIC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Scale changes the rules. It does not change the identity.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9150" y="1700461"/>
            <a:ext cx="5226050" cy="661591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33350" tIns="107950" rIns="0" bIns="8255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artwork only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146800" y="1700461"/>
            <a:ext cx="5226050" cy="661591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33350" tIns="107950" rIns="0" bIns="8255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Geometry may be cropped or scaled proportionally, never redrawn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9150" y="2463651"/>
            <a:ext cx="5226050" cy="438745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133350" tIns="107950" rIns="0" bIns="8255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Resolution at viewing distance · [PENDING]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46800" y="2463651"/>
            <a:ext cx="5226050" cy="438745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133350" tIns="107950" rIns="0" bIns="8255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Substrate and ink · [REQUIRES SUPPLIER]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9150" y="3003996"/>
            <a:ext cx="5226050" cy="438745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133350" tIns="107950" rIns="0" bIns="8255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 match to standard · [PENDING PHYSICAL PROOF]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46800" y="3003996"/>
            <a:ext cx="5226050" cy="438745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133350" tIns="107950" rIns="0" bIns="8255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Installation tolerance · [PROJECT-SPECIFIC]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3601492"/>
            <a:ext cx="1088339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spark per composition applies at every scale.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APPLICATIONS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geometry: a large beige ring with an opening, cropped at the top 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98107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0" i="0" spc="4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SUPPLIER &amp; QA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12800" y="3556000"/>
            <a:ext cx="65405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Handoff, proof levels, golden sample, inspection and non-conformance.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 · SUPPLIER BRIEF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supplier receives a complete package or none.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28080"/>
          <a:ext cx="10553700" cy="2994124"/>
        </p:xfrm>
        <a:graphic>
          <a:graphicData uri="http://schemas.openxmlformats.org/drawingml/2006/table">
            <a:tbl>
              <a:tblPr/>
              <a:tblGrid>
                <a:gridCol w="3799332"/>
                <a:gridCol w="6754368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Included in the brief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Source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Release form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Appendix A, signed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Production artwork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Approved master, versioned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Colour reference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 PHYSICAL PROOF]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Material and finish direction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Part C, with open items marked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Dieline or site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Issued by supplier or project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Scaling and adaptation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Proportional only; any change by deviation request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Regulatory copy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[REGULATORY REVIEW REQUIRED]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Proof level and sample due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[REQUIRES OWNER]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SUPPLIER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 · SUPPLIER ACKNOWLEDGEMENT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Silence is not acceptance.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9150" y="1751261"/>
            <a:ext cx="3441700" cy="909241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1922711"/>
            <a:ext cx="319176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 · Receive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90600" y="2275731"/>
            <a:ext cx="3263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confirms the package is complete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75150" y="1751261"/>
            <a:ext cx="3441700" cy="909241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6600" y="1922711"/>
            <a:ext cx="319176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 · Declare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46600" y="2275731"/>
            <a:ext cx="31917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flags any item it cannot meet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31150" y="1751261"/>
            <a:ext cx="3441700" cy="909241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2600" y="1922711"/>
            <a:ext cx="319176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3 · Sign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02600" y="2275731"/>
            <a:ext cx="31917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Named signatory accepts in writing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9150" y="2851001"/>
            <a:ext cx="5232400" cy="3784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107950" tIns="82550" rIns="0" bIns="571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signatory · [REQUIRES SUPPLIER]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40450" y="2851001"/>
            <a:ext cx="5232400" cy="3784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107950" tIns="82550" rIns="0" bIns="571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 countersignature · [REQUIRES OWNER]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SUPPLIER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 · FIVE PROOF LEVELS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26120"/>
            <a:ext cx="10883392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0" i="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Each level proves something different.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47750"/>
          <a:ext cx="10553700" cy="2636044"/>
        </p:xfrm>
        <a:graphic>
          <a:graphicData uri="http://schemas.openxmlformats.org/drawingml/2006/table">
            <a:tbl>
              <a:tblPr/>
              <a:tblGrid>
                <a:gridCol w="738759"/>
                <a:gridCol w="1794129"/>
                <a:gridCol w="3799332"/>
                <a:gridCol w="4221480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Level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Name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Proves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Cannot prove / cannot replace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P1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Digital preview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Layout and content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Colour, substrate, finish, fit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00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P2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Supplier proof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Separations and files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Does not replace a physical production-intent proof where physical characteristics matter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P3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Colour proof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Colour intent only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Material, finish, structure, fit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932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P4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Physical sample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Required where material, finish, structure, fit, fabrication, tactile quality or surface behaviour matter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Batch consistency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Golden sample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signed reference for repeat production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a substitute for batch inspection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9150" y="4191744"/>
            <a:ext cx="10553700" cy="36319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20650" tIns="82550" rIns="0" bIns="5715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lower proof level may substitute for a higher level where the higher level proves a physical characteristic relevant to the job.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SUPPLIER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BCAC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· GOLDEN SAMPLE · PENDING PHYSICAL PROOF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spc="5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golden sample is the reference. Nothing else is.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9150" y="1779191"/>
            <a:ext cx="3441700" cy="489545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33350" tIns="133350" rIns="38100" bIns="10795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and signed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75150" y="1779191"/>
            <a:ext cx="3441700" cy="489545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33350" tIns="133350" rIns="38100" bIns="10795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Uniquely identified and dated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31150" y="1779191"/>
            <a:ext cx="3441700" cy="489545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33350" tIns="133350" rIns="38100" bIns="10795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Held by GEM and by the supplier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9150" y="2459236"/>
            <a:ext cx="5232400" cy="3784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07950" tIns="82550" rIns="0" bIns="571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 conditions · [PENDING]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40450" y="2459236"/>
            <a:ext cx="5232400" cy="3784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07950" tIns="82550" rIns="0" bIns="571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interval · [PENDING]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9150" y="2926556"/>
            <a:ext cx="5232400" cy="3784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07950" tIns="82550" rIns="0" bIns="571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Custodian · [REQUIRES OWNER]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40450" y="2926556"/>
            <a:ext cx="5232400" cy="3784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07950" tIns="82550" rIns="0" bIns="571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Replacement rule · [PENDING]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SUPPLIER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 · PRODUCTION DEVIATION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deviation is requested before it happens.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9150" y="1672530"/>
            <a:ext cx="2571750" cy="45591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20650" tIns="120650" rIns="50737" bIns="9525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requests in writing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79800" y="1672530"/>
            <a:ext cx="2571750" cy="45591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20650" tIns="120650" rIns="50737" bIns="9525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is stated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40450" y="1672530"/>
            <a:ext cx="2571750" cy="45591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20650" tIns="120650" rIns="50737" bIns="9525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Owner decides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01100" y="1672530"/>
            <a:ext cx="2571750" cy="45591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20650" tIns="120650" rIns="50737" bIns="9525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is logged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299891"/>
          <a:ext cx="10553700" cy="1330722"/>
        </p:xfrm>
        <a:graphic>
          <a:graphicData uri="http://schemas.openxmlformats.org/drawingml/2006/table">
            <a:tbl>
              <a:tblPr/>
              <a:tblGrid>
                <a:gridCol w="3799332"/>
                <a:gridCol w="6754368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Outcome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Effect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Accepted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Recorded on the change log; masters updated if needed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Rejected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Run continues to the approved specification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decided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Production does not proceed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SUPPLIER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 · INCOMING QA · PENDING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Check what arrives against what was approved.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06811"/>
          <a:ext cx="10553700" cy="2328763"/>
        </p:xfrm>
        <a:graphic>
          <a:graphicData uri="http://schemas.openxmlformats.org/drawingml/2006/table">
            <a:tbl>
              <a:tblPr/>
              <a:tblGrid>
                <a:gridCol w="3799332"/>
                <a:gridCol w="6754368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Check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AC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Standard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ACA7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Identity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Artwork version matches the release form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Colour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Against golden sample · 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Dimensions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Against supplier dieline · 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Finish and defects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Against golden sample · 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Regulatory copy and codes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Against approved record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Sampling plan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QA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 · FIRST ARTICLE INSPECTION · PENDING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first production piece is inspected before the run continues.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9150" y="1672530"/>
            <a:ext cx="2571750" cy="6705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20650" tIns="120650" rIns="50737" bIns="9525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Pull first article from production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79800" y="1672530"/>
            <a:ext cx="2571750" cy="6705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20650" tIns="120650" rIns="50737" bIns="9525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Compare to golden sample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40450" y="1672530"/>
            <a:ext cx="2571750" cy="6705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20650" tIns="120650" rIns="50737" bIns="9525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Record result and photograph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01100" y="1672530"/>
            <a:ext cx="2571750" cy="6705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20650" tIns="120650" rIns="50737" bIns="9525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GEM releases or rejects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9150" y="2508151"/>
            <a:ext cx="5232400" cy="3784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07950" tIns="82550" rIns="0" bIns="571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Acceptance criteria · [PENDING]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40450" y="2508151"/>
            <a:ext cx="5232400" cy="3784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07950" tIns="82550" rIns="0" bIns="571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Inspector · [REQUIRES OWNER]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QA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 · BATCH CONTROL · PENDING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batch can be traced to its artwork.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28080"/>
          <a:ext cx="10553700" cy="2328763"/>
        </p:xfrm>
        <a:graphic>
          <a:graphicData uri="http://schemas.openxmlformats.org/drawingml/2006/table">
            <a:tbl>
              <a:tblPr/>
              <a:tblGrid>
                <a:gridCol w="3799332"/>
                <a:gridCol w="6754368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Record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Batch identifier (Latin digits)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[REQUIRES OWNER]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Artwork version used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vX.Y from the manifest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Release form reference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Appendix A number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Production date and supplier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[REQUIRES SUPPLIER]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Inspection result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Pass / hold / reject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Retained sample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QA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· NON-CONFORMANCE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Hold, record, decide, close.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9150" y="1751261"/>
            <a:ext cx="2571750" cy="69592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33350" tIns="133350" rIns="64199" bIns="10795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 · Stop the affected batch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79800" y="1751261"/>
            <a:ext cx="2571750" cy="69592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33350" tIns="133350" rIns="64199" bIns="10795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· Defect, evidence, quantity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40450" y="1751261"/>
            <a:ext cx="2571750" cy="69592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33350" tIns="133350" rIns="64199" bIns="10795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· Rework, accept, scrap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01100" y="1751261"/>
            <a:ext cx="2571750" cy="69592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33350" tIns="133350" rIns="64199" bIns="10795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· Cause and fix recorded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9150" y="2637681"/>
            <a:ext cx="5232400" cy="3784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107950" tIns="82550" rIns="0" bIns="571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Severity classes · [PENDING]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40450" y="2637681"/>
            <a:ext cx="5232400" cy="3784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107950" tIns="82550" rIns="0" bIns="571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holder · [REQUIRES OWNER]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QA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 · FILE NAMING · APPROVED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pattern. Every file.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9150" y="1751261"/>
            <a:ext cx="10553700" cy="75942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209550" tIns="184150" rIns="0" bIns="15875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GEM_[Category]_[Asset]_[Variant]_vX.Y.ext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9150" y="2701181"/>
            <a:ext cx="5232400" cy="39623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20650" tIns="95250" rIns="0" bIns="6985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Underscores separate fields; no spaces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40450" y="2701181"/>
            <a:ext cx="5232400" cy="39623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20650" tIns="95250" rIns="0" bIns="6985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Latin letters and digits only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9150" y="3186311"/>
            <a:ext cx="5232400" cy="39623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20650" tIns="95250" rIns="0" bIns="6985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moves up; old versions archive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40450" y="3186311"/>
            <a:ext cx="5232400" cy="39623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20650" tIns="95250" rIns="0" bIns="6985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“final”, “new” or “copy” in a name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ASSET CONTROL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 · ASSET MANIFEST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If it is not in the manifest, it is not released.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28080"/>
          <a:ext cx="10553700" cy="2328763"/>
        </p:xfrm>
        <a:graphic>
          <a:graphicData uri="http://schemas.openxmlformats.org/drawingml/2006/table">
            <a:tbl>
              <a:tblPr/>
              <a:tblGrid>
                <a:gridCol w="3166110"/>
                <a:gridCol w="7387590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Column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Content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File name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 naming convention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Version and status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vX.Y · APPROVED / CONDITIONAL / PENDING VALIDATION / REFERENCE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Source master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Parent file and its version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Rights and owner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Release form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Appendix A reference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Date and by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[REQUIRES OWNER]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ASSET CONTROL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BCAC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 · ARCHIVE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spc="5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Superseded is archived, never deleted.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9150" y="1779191"/>
            <a:ext cx="3441700" cy="489545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33350" tIns="133350" rIns="38100" bIns="10795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Released set is frozen per job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75150" y="1779191"/>
            <a:ext cx="3441700" cy="489545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33350" tIns="133350" rIns="38100" bIns="10795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Old versions move to 10 Archive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31150" y="1779191"/>
            <a:ext cx="3441700" cy="489545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33350" tIns="133350" rIns="38100" bIns="10795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Golden samples stay logged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9150" y="2459236"/>
            <a:ext cx="5232400" cy="3784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07950" tIns="82550" rIns="0" bIns="571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 period · [PENDING]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40450" y="2459236"/>
            <a:ext cx="5232400" cy="3784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07950" tIns="82550" rIns="0" bIns="5715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Archive custodian · [REQUIRES OWNER]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ASSET CONTROL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geometry: a large beige ring with an opening, cropped at the top 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A–O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98107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0" i="0" spc="4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APPENDICES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12800" y="3556000"/>
            <a:ext cx="762000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Fifteen working forms for release, proof, approval and control.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A · WORKING FORM · PENDING VALUES STAY PENDING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48320"/>
            <a:ext cx="10883392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0" i="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Production artwork release form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244550"/>
          <a:ext cx="10553700" cy="3659485"/>
        </p:xfrm>
        <a:graphic>
          <a:graphicData uri="http://schemas.openxmlformats.org/drawingml/2006/table">
            <a:tbl>
              <a:tblPr/>
              <a:tblGrid>
                <a:gridCol w="3060573"/>
                <a:gridCol w="2216277"/>
                <a:gridCol w="3060573"/>
                <a:gridCol w="2216277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Field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Field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Release form ID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Job / project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SKU / sign / application ref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Artwork filename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Artwork version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Master asset reference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Supplier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Dieline / site-data reference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Proof level required (P1–P5)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Regulatory review status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Arabic review status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Physical proof required? Y / 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 items carried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Deviation references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Prepared by / date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Checked by / date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Brand approval / date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Technical approval / date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Released by / date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Release status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9150" y="4986586"/>
            <a:ext cx="10553700" cy="30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07950" tIns="57150" rIns="0" bIns="317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STATUS: HOLD · CONDITIONAL RELEASE · RELEASED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9150" y="5380286"/>
            <a:ext cx="10553700" cy="30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07950" tIns="57150" rIns="0" bIns="317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RELEASED is not permitted while any mandatory open item is unresolved.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APPENDIX 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B · WORKING FORM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Supplier acknowledgement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56011"/>
          <a:ext cx="10553700" cy="2661444"/>
        </p:xfrm>
        <a:graphic>
          <a:graphicData uri="http://schemas.openxmlformats.org/drawingml/2006/table">
            <a:tbl>
              <a:tblPr/>
              <a:tblGrid>
                <a:gridCol w="4854702"/>
                <a:gridCol w="5698998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Field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Supplier name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[ENTER]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Package received (date)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[ENTER]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Items supplier cannot meet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[ENTER]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Questions raised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[ENTER]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Signatory name and role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[ENTER]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Signature and date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[ENTER]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GEM countersignature and date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[ENTER]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APPENDIX B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08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C · WORKING FORM · ALL 18 CHECKS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784820"/>
            <a:ext cx="10883392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0" i="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Artwork preflight checklist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9150" y="1162000"/>
            <a:ext cx="3475534" cy="2717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82550" tIns="44450" rIns="0" bIns="190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name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58184" y="1162000"/>
            <a:ext cx="3475583" cy="2717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82550" tIns="44450" rIns="0" bIns="190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Artwork version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97267" y="1162000"/>
            <a:ext cx="3475534" cy="2717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82550" tIns="44450" rIns="0" bIns="190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/ SKU reference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9150" y="1497261"/>
            <a:ext cx="3475534" cy="2717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82550" tIns="44450" rIns="0" bIns="190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58184" y="1497261"/>
            <a:ext cx="3475583" cy="2717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82550" tIns="44450" rIns="0" bIns="190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97267" y="1497261"/>
            <a:ext cx="3475534" cy="2717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82550" tIns="44450" rIns="0" bIns="190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51571"/>
          <a:ext cx="5575300" cy="3326805"/>
        </p:xfrm>
        <a:graphic>
          <a:graphicData uri="http://schemas.openxmlformats.org/drawingml/2006/table">
            <a:tbl>
              <a:tblPr/>
              <a:tblGrid>
                <a:gridCol w="2676144"/>
                <a:gridCol w="1059307"/>
                <a:gridCol w="1226566"/>
                <a:gridCol w="613283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Check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Result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Evidence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Init.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01 Correct master asset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 · F · N/A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02 Correct version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 · F · N/A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03 Correct colour mode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 · F · N/A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04 Correct bleed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 · F · N/A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05 Safe area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 · F · N/A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06 Dieline visibility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 · F · N/A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07 Overprint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 · F · N/A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08 Transparency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 · F · N/A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09 Image resolution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 · F · N/A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6700" y="1851571"/>
          <a:ext cx="5575300" cy="3326805"/>
        </p:xfrm>
        <a:graphic>
          <a:graphicData uri="http://schemas.openxmlformats.org/drawingml/2006/table">
            <a:tbl>
              <a:tblPr/>
              <a:tblGrid>
                <a:gridCol w="2676144"/>
                <a:gridCol w="1059307"/>
                <a:gridCol w="1226566"/>
                <a:gridCol w="613283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Check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Result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Evidence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Init.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Linked assets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 · F · N/A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 Fonts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 · F · N/A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 Barcode / QR, if used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 · F · N/A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 Spelling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 · F · N/A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 Arabic shaping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 · F · N/A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 Regulatory copy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 · F · N/A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16 Hidden objects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 · F · N/A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17 Non-printing guides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 · F · N/A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 Output intent / profile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 · F · N/A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819150" y="5248225"/>
            <a:ext cx="10553700" cy="30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07950" tIns="57150" rIns="0" bIns="317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DISPOSITION: READY · HOLD · CORRECT AND RECHECK. Any failed mandatory item: the production file is not released.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APPENDIX C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D · WORKING FORM · PENDING VALUES STAY PENDING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48320"/>
            <a:ext cx="10883392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0" i="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Colour proof approval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244550"/>
          <a:ext cx="10553700" cy="2661444"/>
        </p:xfrm>
        <a:graphic>
          <a:graphicData uri="http://schemas.openxmlformats.org/drawingml/2006/table">
            <a:tbl>
              <a:tblPr/>
              <a:tblGrid>
                <a:gridCol w="3060573"/>
                <a:gridCol w="2216277"/>
                <a:gridCol w="3060573"/>
                <a:gridCol w="2216277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Field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Field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Job / SKU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Supplier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Substrate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Printing / finishing process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Colour reference used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Proof type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Viewing condition 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Measurement method 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Instrument 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Measured difference 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Visual assessment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Physical reference sample ID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Approved by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9150" y="3988544"/>
            <a:ext cx="10553700" cy="30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07950" tIns="57150" rIns="0" bIns="317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 PASS · ADJUST · FAIL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9150" y="4382244"/>
            <a:ext cx="10553700" cy="30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07950" tIns="57150" rIns="0" bIns="317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tolerance is pre-filled. Measurement values stay [PENDING] until a method and standard are validated.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APPENDIX 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E · WORKING FORM · PENDING VALUES STAY PENDING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48320"/>
            <a:ext cx="10883392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0" i="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Material and finish approval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244550"/>
          <a:ext cx="10553700" cy="2994124"/>
        </p:xfrm>
        <a:graphic>
          <a:graphicData uri="http://schemas.openxmlformats.org/drawingml/2006/table">
            <a:tbl>
              <a:tblPr/>
              <a:tblGrid>
                <a:gridCol w="3060573"/>
                <a:gridCol w="2216277"/>
                <a:gridCol w="3060573"/>
                <a:gridCol w="2216277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Field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Field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Material ID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Supplier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Manufacturer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Grade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GSM / caliper, if applicable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Finish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Production process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Sample ID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Brand-direction match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Colour result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Durability result, if applicable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Deviation from approved direction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Approver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Golden-sample reference, if approved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9150" y="4321225"/>
            <a:ext cx="10553700" cy="30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07950" tIns="57150" rIns="0" bIns="317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 APPROVE · REVISE · REJECT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9150" y="4714925"/>
            <a:ext cx="10553700" cy="30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07950" tIns="57150" rIns="0" bIns="317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Unknown values stay [PENDING]. Material attributes are [REQUIRES SUPPLIER / OWNER].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APPENDIX 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F · WORKING FORM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Packaging SKU master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56011"/>
          <a:ext cx="10553700" cy="2994124"/>
        </p:xfrm>
        <a:graphic>
          <a:graphicData uri="http://schemas.openxmlformats.org/drawingml/2006/table">
            <a:tbl>
              <a:tblPr/>
              <a:tblGrid>
                <a:gridCol w="4854702"/>
                <a:gridCol w="5698998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Field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SKU code (Latin digits)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[ENTER]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Collection / tier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[ENTER]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Product, function, quantity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[ENTER]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Pack format and closure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[ENTER]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Dieline reference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[ENTER]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Regulatory copy reference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[ENTER]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Barcode reference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[ENTER]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Artwork version and status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[ENTER]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APPENDIX F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G · WORKING FORM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Dieline approval record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56011"/>
          <a:ext cx="10553700" cy="2328763"/>
        </p:xfrm>
        <a:graphic>
          <a:graphicData uri="http://schemas.openxmlformats.org/drawingml/2006/table">
            <a:tbl>
              <a:tblPr/>
              <a:tblGrid>
                <a:gridCol w="4854702"/>
                <a:gridCol w="5698998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Field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Dieline source and version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[ENTER]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Supplier issuing the dieline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[ENTER]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Trim, bleed, safe area confirmed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[ENTER]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Artwork placed and checked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[ENTER]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Supplier signature / date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[ENTER]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GEM approval / date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[ENTER]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APPENDIX 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H · WORKING FORM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Regulatory copy approval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56011"/>
          <a:ext cx="10553700" cy="2328763"/>
        </p:xfrm>
        <a:graphic>
          <a:graphicData uri="http://schemas.openxmlformats.org/drawingml/2006/table">
            <a:tbl>
              <a:tblPr/>
              <a:tblGrid>
                <a:gridCol w="4854702"/>
                <a:gridCol w="5698998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Field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Market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[ENTER]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Copy owner [REQUIRES OWNER]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[ENTER]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Ingredients and claims reviewed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[ENTER]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Warnings and labelling reviewed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[ENTER]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Reviewer and credentials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[ENTER]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Decision and date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[ENTER]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APPENDIX H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I · WORKING FORM · PENDING VALUES STAY PENDING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48320"/>
            <a:ext cx="10883392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0" i="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Physical sample approval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244550"/>
          <a:ext cx="10553700" cy="3326805"/>
        </p:xfrm>
        <a:graphic>
          <a:graphicData uri="http://schemas.openxmlformats.org/drawingml/2006/table">
            <a:tbl>
              <a:tblPr/>
              <a:tblGrid>
                <a:gridCol w="3060573"/>
                <a:gridCol w="2216277"/>
                <a:gridCol w="3060573"/>
                <a:gridCol w="2216277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Field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Field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Sample ID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Job / SKU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Supplier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Artwork version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Dieline / drawing version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Material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Finish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Colour result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Logo reproduction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Type legibility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Arabic QA status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Barcode / QR test, if relevant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Construction / fit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Durability / compatibility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Photographs attached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Approved by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Golden sample entered? Y / 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9150" y="4653905"/>
            <a:ext cx="10553700" cy="30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07950" tIns="57150" rIns="0" bIns="317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 APPROVE · REVISE · REJECT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9150" y="5047605"/>
            <a:ext cx="10553700" cy="30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07950" tIns="57150" rIns="0" bIns="317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QA stays PENDING VALIDATION until native review is complete.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APPENDIX 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J · WORKING FORM · PENDING VALUES STAY PENDING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48320"/>
            <a:ext cx="10883392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0" i="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Signage fabrication approval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244550"/>
          <a:ext cx="10553700" cy="3659485"/>
        </p:xfrm>
        <a:graphic>
          <a:graphicData uri="http://schemas.openxmlformats.org/drawingml/2006/table">
            <a:tbl>
              <a:tblPr/>
              <a:tblGrid>
                <a:gridCol w="3060573"/>
                <a:gridCol w="2216277"/>
                <a:gridCol w="3060573"/>
                <a:gridCol w="2216277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Field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Field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Project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Sign type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Sign ID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Location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Artwork version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Drawing revision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Language / bilingual status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Arabic wording approval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Material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Finish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Mounting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Illumination, if applicable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Tactile / Braille requirement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Viewing-distance check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Full-size sample required? Y / 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Site approval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Brand approval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Fabricator approval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9150" y="4986586"/>
            <a:ext cx="10553700" cy="30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07950" tIns="57150" rIns="0" bIns="317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STATUS: HOLD · CONDITIONAL · APPROVED FOR FABRICATION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9150" y="5380286"/>
            <a:ext cx="10553700" cy="30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07950" tIns="57150" rIns="0" bIns="317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Site-specific values are [PROJECT-SPECIFIC]. Arabic wording stays PENDING VALIDATION until approved.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APPENDIX J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10883392" cy="237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K · WORKING FORM · PENDING VALUES STAY PENDING</a:t>
            </a:r>
            <a:endParaRPr lang="en-US" sz="119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47030"/>
            <a:ext cx="10883392" cy="330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0" i="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Deviation request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241375"/>
          <a:ext cx="10553700" cy="3967907"/>
        </p:xfrm>
        <a:graphic>
          <a:graphicData uri="http://schemas.openxmlformats.org/drawingml/2006/table">
            <a:tbl>
              <a:tblPr/>
              <a:tblGrid>
                <a:gridCol w="3060573"/>
                <a:gridCol w="2216277"/>
                <a:gridCol w="3060573"/>
                <a:gridCol w="2216277"/>
              </a:tblGrid>
              <a:tr h="330646"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Field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Entry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Field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Entry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0646"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Deviation ID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Job / SKU / sign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646"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Supplier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Requested by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646"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Date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Existing approved specification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646"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Requested change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Reason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646"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Visual impact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Technical impact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646"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Quality impact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Cost impact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646"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Timing impact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Regulatory impact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646"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Risk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Proposed remedy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696"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Supporting sample / proof ref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Recommendation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696"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Decision holder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Decision date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696"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Change-log reference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0"/>
                        </a:lnSpc>
                        <a:buNone/>
                      </a:pPr>
                      <a:r>
                        <a:rPr lang="en-US" sz="1193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193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007" marR="53007" marT="53007" marB="5300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9150" y="5291832"/>
            <a:ext cx="10553700" cy="303659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07950" tIns="57150" rIns="0" bIns="317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DECISION: ACCEPT · REJECT · HOLD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9150" y="5684391"/>
            <a:ext cx="10553700" cy="303659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07950" tIns="57150" rIns="0" bIns="317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change is made until a decision is recorded. Decision holder is [REQUIRES OWNER].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APPENDIX 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L · WORKING FORM · PENDING VALUES STAY PENDING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48320"/>
            <a:ext cx="10883392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0" i="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Non-conformance report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244550"/>
          <a:ext cx="10553700" cy="3326805"/>
        </p:xfrm>
        <a:graphic>
          <a:graphicData uri="http://schemas.openxmlformats.org/drawingml/2006/table">
            <a:tbl>
              <a:tblPr/>
              <a:tblGrid>
                <a:gridCol w="3060573"/>
                <a:gridCol w="2216277"/>
                <a:gridCol w="3060573"/>
                <a:gridCol w="2216277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Field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Field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NCR ID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Supplier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Job / batch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Artwork version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Defect category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Defect description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Evidence attached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Quantity affected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Severity 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Batch isolated? Y / 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Immediate containment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Root cause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Proposed corrective action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Approved disposition by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Corrective action completed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Verification result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Closed by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9150" y="4653905"/>
            <a:ext cx="10553700" cy="30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07950" tIns="57150" rIns="0" bIns="317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DISPOSITION: REWORK · ACCEPT · SCRAP · RETURN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9150" y="5047605"/>
            <a:ext cx="10553700" cy="30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07950" tIns="57150" rIns="0" bIns="317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Severity values stay [PENDING] until formally defined.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APPENDIX 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M · WORKING FORM · PENDING VALUES STAY PENDING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48320"/>
            <a:ext cx="10883392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0" i="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Golden sample register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244550"/>
          <a:ext cx="10553700" cy="3659485"/>
        </p:xfrm>
        <a:graphic>
          <a:graphicData uri="http://schemas.openxmlformats.org/drawingml/2006/table">
            <a:tbl>
              <a:tblPr/>
              <a:tblGrid>
                <a:gridCol w="3060573"/>
                <a:gridCol w="2216277"/>
                <a:gridCol w="3060573"/>
                <a:gridCol w="2216277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Field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Field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Sample ID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Item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SKU / sign / application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Artwork version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Supplier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Material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Finish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Colour reference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Production process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Date approved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Approved by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GEM custodian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Supplier custodian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GEM storage location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Supplier storage location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Photograph reference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Review date [PENDING]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Replacement date / reason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Superseded sample ID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Status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9150" y="4986586"/>
            <a:ext cx="10553700" cy="30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07950" tIns="57150" rIns="0" bIns="317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review interval is set. Review date is entered per sample once an interval is defined.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9150" y="5380286"/>
            <a:ext cx="10553700" cy="30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07950" tIns="57150" rIns="0" bIns="317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row per approved sample.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APPENDIX 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N · CONTROLLED ASSET MANIFEST · ONE RECORD PER FILE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61020"/>
            <a:ext cx="10883392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0" i="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Asset manifest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800" y="1257250"/>
            <a:ext cx="2574925" cy="31492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88900" tIns="50800" rIns="16986" bIns="254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9150" y="1629321"/>
            <a:ext cx="2562225" cy="2971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95250" tIns="57150" rIns="24098" bIns="317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9150" y="1989981"/>
            <a:ext cx="2562225" cy="2971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95250" tIns="57150" rIns="24098" bIns="317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name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9150" y="2350641"/>
            <a:ext cx="2562225" cy="2971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95250" tIns="57150" rIns="24098" bIns="317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9150" y="2711301"/>
            <a:ext cx="2562225" cy="2971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95250" tIns="57150" rIns="24098" bIns="317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9150" y="3071961"/>
            <a:ext cx="2562225" cy="2971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95250" tIns="57150" rIns="24098" bIns="317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9150" y="3432621"/>
            <a:ext cx="2562225" cy="2971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95250" tIns="57150" rIns="24098" bIns="317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6625" y="1257250"/>
            <a:ext cx="2574925" cy="31492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88900" tIns="50800" rIns="16986" bIns="254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82975" y="1629321"/>
            <a:ext cx="2562225" cy="2971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95250" tIns="57150" rIns="24098" bIns="317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status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82975" y="1989981"/>
            <a:ext cx="2562225" cy="2971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95250" tIns="57150" rIns="24098" bIns="317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format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82975" y="2350641"/>
            <a:ext cx="2562225" cy="2971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95250" tIns="57150" rIns="24098" bIns="317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master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82975" y="2711301"/>
            <a:ext cx="2562225" cy="2971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95250" tIns="57150" rIns="24098" bIns="317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 / source version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82975" y="3071961"/>
            <a:ext cx="2562225" cy="2971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95250" tIns="57150" rIns="24098" bIns="317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Supersedes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82975" y="3432621"/>
            <a:ext cx="2562225" cy="2971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95250" tIns="57150" rIns="24098" bIns="317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form reference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40450" y="1257250"/>
            <a:ext cx="2574925" cy="31492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88900" tIns="50800" rIns="16986" bIns="254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46800" y="1629321"/>
            <a:ext cx="2562225" cy="2971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95250" tIns="57150" rIns="24098" bIns="317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46800" y="1989981"/>
            <a:ext cx="2562225" cy="2971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95250" tIns="57150" rIns="24098" bIns="317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Rights / ownership status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46800" y="2350641"/>
            <a:ext cx="2562225" cy="2971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95250" tIns="57150" rIns="24098" bIns="317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date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46800" y="2711301"/>
            <a:ext cx="2562225" cy="2971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95250" tIns="57150" rIns="24098" bIns="317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date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46800" y="3071961"/>
            <a:ext cx="2562225" cy="2971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95250" tIns="57150" rIns="24098" bIns="317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46800" y="3432621"/>
            <a:ext cx="2562225" cy="2971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95250" tIns="57150" rIns="24098" bIns="317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Checksum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804275" y="1257250"/>
            <a:ext cx="2574925" cy="31492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88900" tIns="50800" rIns="16986" bIns="254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AND STORAGE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10625" y="1629321"/>
            <a:ext cx="2562225" cy="2971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95250" tIns="57150" rIns="24098" bIns="317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Intended use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10625" y="1989981"/>
            <a:ext cx="2562225" cy="2971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95250" tIns="57150" rIns="24098" bIns="317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810625" y="2350641"/>
            <a:ext cx="2562225" cy="2971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95250" tIns="57150" rIns="24098" bIns="317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 location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10625" y="2711301"/>
            <a:ext cx="2562225" cy="29716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95250" tIns="57150" rIns="24098" bIns="3175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9150" y="3831382"/>
            <a:ext cx="10553700" cy="30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07950" tIns="57150" rIns="0" bIns="317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name: GEM_[Category]_[Asset]_[Variant]_vX.Y.ext · Dates live in the manifest, not in the file name.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9150" y="4237782"/>
            <a:ext cx="10553700" cy="30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107950" tIns="57150" rIns="0" bIns="317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Rights / ownership status and checksum method · [PENDING] · No unreleased file may be listed as APPROVED.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APPENDIX 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O · WORKING FORM · PENDING VALUES STAY PENDING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48320"/>
            <a:ext cx="10883392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0" i="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Production change log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244550"/>
          <a:ext cx="10553700" cy="2661444"/>
        </p:xfrm>
        <a:graphic>
          <a:graphicData uri="http://schemas.openxmlformats.org/drawingml/2006/table">
            <a:tbl>
              <a:tblPr/>
              <a:tblGrid>
                <a:gridCol w="3060573"/>
                <a:gridCol w="2216277"/>
                <a:gridCol w="3060573"/>
                <a:gridCol w="2216277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Field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Field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1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Change ID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Asset / standard / SKU affected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Previous version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New version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Reason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Requested by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Impact assessment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Deviation reference, if applicable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Approved by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Effective date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Superseded asset / sample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Manifest updated? Y / 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Supplier notified? Y / 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9150" y="3988544"/>
            <a:ext cx="10553700" cy="30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07950" tIns="57150" rIns="0" bIns="317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change to a standard or master is logged before it takes effect.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APPENDIX 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 · OPEN VALIDATION GATES · SEVENTEEN OPEN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Nothing here is closed until the evidence exists.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9150" y="1621730"/>
            <a:ext cx="3467100" cy="3302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95250" tIns="69850" rIns="0" bIns="444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vector logo masters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62450" y="1621730"/>
            <a:ext cx="3467100" cy="3302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95250" tIns="69850" rIns="0" bIns="444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 / no-spark logo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05750" y="1621730"/>
            <a:ext cx="3467100" cy="3302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95250" tIns="69850" rIns="0" bIns="444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Stacked logo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9150" y="2028130"/>
            <a:ext cx="3467100" cy="3302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95250" tIns="69850" rIns="0" bIns="444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 symbol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62450" y="2028130"/>
            <a:ext cx="3467100" cy="3302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95250" tIns="69850" rIns="0" bIns="444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Artwork ownership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05750" y="2028130"/>
            <a:ext cx="3467100" cy="3302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95250" tIns="69850" rIns="0" bIns="444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Trademark clearance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9150" y="2434530"/>
            <a:ext cx="3467100" cy="3302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95250" tIns="69850" rIns="0" bIns="444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 build and licence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62450" y="2434530"/>
            <a:ext cx="3467100" cy="3302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95250" tIns="69850" rIns="0" bIns="444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CMYK / spot validation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05750" y="2434530"/>
            <a:ext cx="3467100" cy="3302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95250" tIns="69850" rIns="0" bIns="444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colour standards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9150" y="2840930"/>
            <a:ext cx="3467100" cy="3302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95250" tIns="69850" rIns="0" bIns="444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native QA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62450" y="2840930"/>
            <a:ext cx="3467100" cy="3302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95250" tIns="69850" rIns="0" bIns="444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rights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05750" y="2840930"/>
            <a:ext cx="3467100" cy="3302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95250" tIns="69850" rIns="0" bIns="444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Packaging dielines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9150" y="3247330"/>
            <a:ext cx="3467100" cy="3302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95250" tIns="69850" rIns="0" bIns="444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packaging 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62450" y="3247330"/>
            <a:ext cx="3467100" cy="3302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95250" tIns="69850" rIns="0" bIns="444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Packaging physical proof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05750" y="3247330"/>
            <a:ext cx="3467100" cy="3302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95250" tIns="69850" rIns="0" bIns="444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Signage site standards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9150" y="3653730"/>
            <a:ext cx="3467100" cy="3302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95250" tIns="69850" rIns="0" bIns="444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Named governance holders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62450" y="3653730"/>
            <a:ext cx="3467100" cy="3302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95250" tIns="69850" rIns="0" bIns="4445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release authorization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GATES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 · SIX RELEASE GATES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Six gates. All must be met.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9150" y="1700461"/>
            <a:ext cx="3450134" cy="82798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65200" y="1846511"/>
            <a:ext cx="325277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 · Master assets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5200" y="2169071"/>
            <a:ext cx="32527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70884" y="1700461"/>
            <a:ext cx="3450183" cy="82798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16934" y="1846511"/>
            <a:ext cx="325282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 · Production specification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16934" y="2169071"/>
            <a:ext cx="32528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22667" y="1700461"/>
            <a:ext cx="3450134" cy="82798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8068717" y="1846511"/>
            <a:ext cx="325277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3 · Supplier proof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68717" y="2169071"/>
            <a:ext cx="32527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9150" y="2630041"/>
            <a:ext cx="3450134" cy="82798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965200" y="2776091"/>
            <a:ext cx="325277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4 · Physical validation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5200" y="3098651"/>
            <a:ext cx="32527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70884" y="2630041"/>
            <a:ext cx="3450183" cy="82798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516934" y="2776091"/>
            <a:ext cx="325282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5 · Governance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16934" y="3098651"/>
            <a:ext cx="32528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22667" y="2630041"/>
            <a:ext cx="3450134" cy="82798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8068717" y="2776091"/>
            <a:ext cx="325277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6 · Release authorization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68717" y="3098651"/>
            <a:ext cx="32527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3616771"/>
            <a:ext cx="5226050" cy="683220"/>
          </a:xfrm>
          <a:prstGeom prst="rect">
            <a:avLst/>
          </a:prstGeom>
          <a:solidFill>
            <a:srgbClr val="BCACA7"/>
          </a:solidFill>
          <a:ln/>
        </p:spPr>
        <p:txBody>
          <a:bodyPr wrap="square" lIns="139700" tIns="114300" rIns="0" bIns="8890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Until all six are met: WORKING EDITION / PENDING VALIDATION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34100" y="3623121"/>
            <a:ext cx="5238750" cy="67052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46050" tIns="120650" rIns="0" bIns="9525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PRODUCTION STANDARD only when the evidence exists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· PART C · GATES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geometry: a large beige ring with an opening, cropped at the top 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GEM horizontal logo, beige">    </p:cNvPr>
          <p:cNvPicPr>
            <a:picLocks noChangeAspect="1"/>
          </p:cNvPicPr>
          <p:nvPr/>
        </p:nvPicPr>
        <p:blipFill>
          <a:blip r:embed="rId2"/>
          <a:srcRect l="0" r="0" t="3" b="3"/>
          <a:stretch/>
        </p:blipFill>
        <p:spPr>
          <a:xfrm>
            <a:off x="812800" y="812800"/>
            <a:ext cx="2286000" cy="723503"/>
          </a:xfrm>
          <a:prstGeom prst="rect">
            <a:avLst/>
          </a:prstGeom>
        </p:spPr>
      </p:pic>
      <p:sp>
        <p:nvSpPr>
          <p:cNvPr id="4" name="Text 0"/>
          <p:cNvSpPr/>
          <p:nvPr>
            <p:ph type="title"/>
          </p:nvPr>
        </p:nvSpPr>
        <p:spPr>
          <a:xfrm>
            <a:off x="812800" y="2794000"/>
            <a:ext cx="811022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24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SUPPLIER NEVER HAS TO GUESS.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812800" y="3556000"/>
            <a:ext cx="85026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CANDIDATE 1 · WORKING EDITION / PENDING VALIDATION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1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HOSPITALITY, IN PERFECT PROPORTION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M Production Standards V3.0 — Part C — Release Candidate 1">
  <a:themeElements>
    <a:clrScheme name="GEM Production Standards V3.0 — Part C — Release Candidate 1">
      <a:dk1>
        <a:srgbClr val="12171D"/>
      </a:dk1>
      <a:lt1>
        <a:srgbClr val="FFFFFF"/>
      </a:lt1>
      <a:dk2>
        <a:srgbClr val="4D5156"/>
      </a:dk2>
      <a:lt2>
        <a:srgbClr val="E7E8E8"/>
      </a:lt2>
      <a:accent1>
        <a:srgbClr val="BCACA7"/>
      </a:accent1>
      <a:accent2>
        <a:srgbClr val="9AA0A6"/>
      </a:accent2>
      <a:accent3>
        <a:srgbClr val="717477"/>
      </a:accent3>
      <a:accent4>
        <a:srgbClr val="949799"/>
      </a:accent4>
      <a:accent5>
        <a:srgbClr val="B8B9BB"/>
      </a:accent5>
      <a:accent6>
        <a:srgbClr val="D0D1D2"/>
      </a:accent6>
      <a:hlink>
        <a:srgbClr val="0563C1"/>
      </a:hlink>
      <a:folHlink>
        <a:srgbClr val="954F72"/>
      </a:folHlink>
    </a:clrScheme>
    <a:fontScheme name="GEM Production Standards V3.0 — Part C — Release Candidate 1">
      <a:majorFont>
        <a:latin typeface="Jo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77</Slides>
  <Notes>77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 Production Standards V3.0 — Part C — Release Candidate 1</dc:title>
  <dc:subject/>
  <dc:creator/>
  <cp:lastModifiedBy/>
  <cp:revision>1</cp:revision>
  <dcterms:created xsi:type="dcterms:W3CDTF">2026-10-06T02:06:29Z</dcterms:created>
  <dcterms:modified xsi:type="dcterms:W3CDTF">2026-10-06T02:06:29Z</dcterms:modified>
</cp:coreProperties>
</file>