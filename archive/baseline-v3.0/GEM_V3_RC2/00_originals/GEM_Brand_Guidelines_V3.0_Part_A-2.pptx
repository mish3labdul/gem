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identity direction is approved; this manual makes it complete. Edition status: working edition. Brand Owner release authorization (AC20) is pending. The logo is the supplied raster artwork and is shown as PENDING PRODUCTION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manual. It is deliberately editorial rather than technical: tokens and components live in Part B, production controls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Authority order as set by the brief and register. Part A cross-references B and C rather than repeating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use this manual: designers, agencies, hotel partners, suppliers, brand and procurement teams. How to use it: read the principle, look at the evidence, follow the rule, then check the application. The same four labels appear throughout; slide 73 shows how they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secondary editorial line, used selectively. It is the idea behind the identity, not a replacement for the primary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Proportion, timing, space, detail and restraint connect the idea to hospitality. They return throughout: in layout, in language, in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a rendered art-direction study, status REFERENCE,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emptiest page in the manual is deliberate. Restraint is shown by what is not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a schematic of the device vocabulary, drawn for explanation. It is not a reconstruction of the logo; the logo is only ever the supplied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threshold study. The dark field on the left carries the text; the doorway is the subject.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and partner positioning, per the architecture decision (AC02). GEM does not operate hotels.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Hospitality context is Saudi/GCC, bilingual English and Arabic. The promises here are brand promises, not commercial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 and developers are the fifth audience alongside guest, procurement, operations and brand and design teams. Hotel operations teams are a formal B2B audience (D07).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sentences, stated rather than sold. The same measured, warm, precise voice at every level of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 is a supplier and partner, not a hotel operator. Do not invent additional divisions. The future-stream slot is a rule,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allowed: a stream logo, a stream symbol, a stream colour system, a sub-brand lockup.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attributes G01 to G04. Arabic follows the same character and is written for Arabic, not translated word for word (G18).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vocabulary G09; avoid list G10. Struck-through words are also labelled by the heading, so the distinction does not rely on style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has three layers: state label, title, actionable sentence. See Part B for the full feedback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copy examples G11 to G17. Every unverified claim is prohibited in final templates (F08).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tagline is fixed. The secondary line is an editorial voice, not a second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Prohibited: rewriting, shortening, lowercasing, translating without explicit approval, wrapping, the retired 0.3 to 0.8em tracking, any face other than Jost, permanently locking it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logo is the supplied raster artwork, used unchanged. It is not a production master and is never traced or redrawn. Master SVG, PDF, EPS and PNG files are required before print or fabrication (H16, H17, DS05).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Raster logos must never be auto-traced. Embroidery, engraving and favicon masters follow once the vector masters exist (H18 to H20).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 is described from the supplied artwork only. No geometry is invented; relationships such as ring-to-quarter ratios are withheld until the vector master is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H10 to H15: lockup minimum 120 px, symbol minimum 32 px, below 32 px the no-spark version, clearspace u = G-ring radius, one u minimum, two u preferred. The dashed boundary is drawn to scale for the layout shown; exact print minimums belong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tile is a deliberate misuse made from the supplied raster. Dashed frames mean prohibited; every tile is also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stay conceptual until partners are approved. Sponsorship follows the approved agreement; the equal-partner arrangement is a default, not a mandate. GEM's own identity rules stay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colours, no accents. Ink is the field, Beige is its counterpart, Black is reserved for monochrome and one-colour production and functional states; it is not the default text colour. Proportions are not fixed percentages; Ink and space lead. Semantic tokens live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pairing is labelled in words, so meaning never depends on colour alone. The prohibited tile is dashed and carries the word NEVER.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Jost is the approved Latin display and heading family. Futura PT is legacy only. Font build validation remains an open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example only. Digital sizes and tokens are specified in Part B. Sample label text is illustrative; 30 ML is a placeholder, not a product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Calibrated tracking is taken from the Digital Design System V3.0. Line length guidance of 45 to 75 characters supports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Arabic string is a working placeholder to show direction and scale. Native review is required before any Arabic copy is used. The tagline is not translated here because translation needs explicit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Beige panel carries Ink text, never white. Arabic is sized larger than the Latin line to match optical weight. All strings are layout placeholders pending native localization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Numeral logic follows Part B: guest-facing Arabic may use Arabic-Indic numerals where approved for the locale or property; technical identifiers (SKU, booking and reference IDs, URLs, phone numbers, technical codes, batch numbers, cross-system identifiers) always remain Latin digits. Locale policy remains PENDING VALIDATION. Working strings only, not approved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only, not a template. This chapter explains brand composition; responsive layout breakpoints belong to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brand-world moment. The ring is decorative geometry; keep it behind or beside text, never under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drawings of the four devices, not the master artwork. Each device works alone or in relation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uses outline-only forms for clarity. Forms support the logo; they never compete with or imitate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spark drawing, not the master artwork. Maximum one per composition. Do not move or add the spark inside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illustrative glyphs only (REFERENCE), not the approved set. The full 27-glyph specification is in the Digital Design System V3.0,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Rendered reference study; replace with commissioned photography. Image rights remain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subjects shown with rendered reference studies; five await commissioned photography. Human presence is shown candid and partial, never posed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 examples are made by deliberately degrading the reference studies.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Crops are automatic centre crops of one study, shown to compare shapes. In production, subject placement is set per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 drawings are illustrative, not the master artwork. Timing follows the approved motion direction; the reduced-motion version is a still final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simple shapes to show feeling, not to specify components. No property is implied. Components and states are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content only. The confirmation message is example copy for tone, not approved UX writing. Messages use the verbal identity: measured and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Touchpoints are illustrative of the hospitality context GEM supplies into; GEM is a supplier and partner, not a hotel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Layouts are concepts. Dimensions, stock and finishing belong in Part C. No property information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hanger and Wi-Fi card are shown as plain concept blocks; copy is [PENDING].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content is not invented. Concept blocks show hierarchy and tone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 has no new logo, symbol or colour system. No quantities, capabilities, suppliers or commercial terms are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size steps down with each level. Detailed layout, dielines and production controls belong to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concept blocks, not packaging designs and not production artwork. Product names are the pilot family only; nothing about formulation or sourcing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only. No finishing capability or supplier is claimed.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Fabrication, sizes, mounting and materials depend on each property and are not specified here. Arabic text is a placeholder pending localization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Signage concept only. Glyph is an illustrative information symbol, not the approved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 and professional. No commercial data, claims, certifications or contact details are stated. Presentations are shown in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slide types in miniature. The template specification is not reproduced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thumbnails are scaled. Text inside them is placeholder at reduced size for layout only; in production, minimum sizes follow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 implementation QA remains an open gate. This deck itself uses readable sizes, AA contrast and alt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people or responsibilities are invented. Detailed RACI is intentionally omitted from Part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sources conflict, the V3 approval register decides. Tiles differ by fill and by border style, and each carries its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 architecture as listed in the brief. Brand Masters are currently PENDING PRODUCTION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convention for Part A. If the approval register specifies a different exact format, the register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spread to remember. Do is the light field; Don't is the dark field, and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reference for daily use. The ring, arc, quarter and spark are illustrative drawings.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Summarized by theme. Gate reference numbers should be taken from the V3 approval register; none are invented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Part B is the Digital Design System V3.0. Part C, Production Standards, is still to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jpeg"/><Relationship Id="rId3" Type="http://schemas.openxmlformats.org/officeDocument/2006/relationships/image" Target="../media/image-48-3.jpeg"/><Relationship Id="rId4" Type="http://schemas.openxmlformats.org/officeDocument/2006/relationships/image" Target="../media/image-4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image" Target="../media/image-49-3.jpeg"/><Relationship Id="rId4" Type="http://schemas.openxmlformats.org/officeDocument/2006/relationships/image" Target="../media/image-4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jpeg"/><Relationship Id="rId3" Type="http://schemas.openxmlformats.org/officeDocument/2006/relationships/image" Target="../media/image-50-3.jpeg"/><Relationship Id="rId4" Type="http://schemas.openxmlformats.org/officeDocument/2006/relationships/image" Target="../media/image-50-4.jpeg"/><Relationship Id="rId5" Type="http://schemas.openxmlformats.org/officeDocument/2006/relationships/image" Target="../media/image-50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by the slide edge and a beige quarter mass in the bottom right corn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logo, horizontal signature in beige">    </p:cNvPr>
          <p:cNvPicPr>
            <a:picLocks noChangeAspect="1"/>
          </p:cNvPicPr>
          <p:nvPr/>
        </p:nvPicPr>
        <p:blipFill>
          <a:blip r:embed="rId2"/>
          <a:srcRect l="-70" r="-70" t="0" b="0"/>
          <a:stretch/>
        </p:blipFill>
        <p:spPr>
          <a:xfrm>
            <a:off x="812800" y="812800"/>
            <a:ext cx="3556000" cy="112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3302000"/>
            <a:ext cx="71945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Guidelines V3.0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812800" y="419100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A — Master Brand Guidelines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5643910"/>
            <a:ext cx="71945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50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959"/>
            <a:ext cx="85026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edition · release not yet authorized · logo shown from supplied raster, PENDING PRODUCTION MASTER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5860288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manual for making things that belong to GEM.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210520"/>
            <a:ext cx="5860288" cy="128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strategic, visual and expressive manual for GEM™. The identity direction is approved. These pages make it complete, usable and consistent: what GEM believes, how it looks, how it sounds and how it behaves.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0" y="26822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3051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3181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GEM stand for?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3559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3689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GEM look and sound?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4067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4197350"/>
            <a:ext cx="41859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it behave for guests and B2B partners?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4822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4953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fixed, and what may flex?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5330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5838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5461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approved, and what is still pending?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INTRODUCTION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WINS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Where sources conflict, the approval register wins.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431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523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V3 approval register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863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29552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Digital Design System V3.0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00" y="32949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33870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Brand Guidelines V2 / V2.1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7267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8188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V1, historical only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00" y="41585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42506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Benchmarks, inspiration only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800" y="4590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800" y="5022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4682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WCAG 2.2 AA and formal standards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0" y="107955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COORDINATED PRODUCTS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445270"/>
            <a:ext cx="4064000" cy="127506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64847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· Brand Guidelines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43800" y="205487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manual. Strategy, identity, expression, applications, behaviour.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21550" y="287908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307593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 · Digital Design System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348233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Tokens, components, responsive and accessibility implementation.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21550" y="430654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543800" y="450339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 · Production Standards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43800" y="490979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Dielines, materials, tolerances, supplier proofs. [PENDING] not yet issued.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INTRODUCTION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VOCABULARY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page says what is final and what is not.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4018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83061"/>
            <a:ext cx="2413000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94615" tIns="50800" rIns="94615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30600" y="2211933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under the register. Use as written.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6408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150" y="279008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0600" y="281260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Approved, with a condition still open.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24152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150" y="339075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0600" y="341327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native QA or testing outstanding. Never shown as final.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84219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800" y="4442867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150" y="399142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ysDot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0600" y="401394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or inspiration. Not a GEM standard.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4700042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carries the meaning as well as the word: filled, solid, dashed, dotted. Placeholders read [PENDING], [TO BE VERIFIED] or [REQUIRES OWNER]. Concepts read CONCEPT / NOT PRODUCTION ARTWORK.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INTRODUCTION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by the right edge of the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idea, four principles, positioning, audiences and architecture.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thin ink ring cropped by the top edge of the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IDEA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905000"/>
            <a:ext cx="9156700" cy="189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44"/>
              </a:lnSpc>
              <a:buNone/>
            </a:pPr>
            <a:r>
              <a:rPr lang="en-US" sz="68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812800" y="4927600"/>
            <a:ext cx="536321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 is a sequence of moments. GEM gives each one its proportion, its timing, its space and its detail.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QUALITIES OF AN ARRIVAL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means each part is in measure.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element in right relation to the next.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71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moment, never rushed, never late.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30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0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30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to arrive, to look, to breathe.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89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9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Detail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89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Correct, verified, resolved down to the edge.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48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8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48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added that does not serve the guest.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close study of a pale surface with a single fine ring pressed into it, REFERENCE, concept study not photography">    </p:cNvPr>
          <p:cNvPicPr>
            <a:picLocks noChangeAspect="1"/>
          </p:cNvPicPr>
          <p:nvPr/>
        </p:nvPicPr>
        <p:blipFill>
          <a:blip r:embed="rId1"/>
          <a:srcRect l="22222" r="22222" t="0" b="0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600" y="812800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705600" y="1264890"/>
            <a:ext cx="4813808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 OVER DECORATION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705600" y="2418011"/>
            <a:ext cx="481380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fine line, correctly placed, says more than a surface of ornament.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705600" y="3739753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05600" y="3869928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05600" y="4210248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 element does not carry meaning, function or proportion, remove 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05600" y="4855964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05600" y="4986139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05600" y="5326459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deboss instead of a pattern. A hairline instead of a box. A verified fact instead of an adjective.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05600" y="6024959"/>
            <a:ext cx="3924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single small beige quarter mass in the lower right of a nearly empty ink fiel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4445000"/>
            <a:ext cx="7194550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5270500"/>
            <a:ext cx="62788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say less, show less, and let what remains be exact. Empty space is a decision.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890"/>
            <a:ext cx="418592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418011"/>
            <a:ext cx="418592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Ring, arc, quarter and spark are the whole vocabulary. Every supporting shape derives from the mark.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4566444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4696619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011539"/>
            <a:ext cx="418592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borrowed shapes. If it is not ring, arc, quarter or spark, it is not a GEM device.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Schematic of the vocabulary. Not the master artwork.</a:t>
            </a:r>
            <a:endParaRPr lang="en-US" sz="1200" dirty="0"/>
          </a:p>
        </p:txBody>
      </p:sp>
      <p:pic>
        <p:nvPicPr>
          <p:cNvPr id="9" name="Image 0" descr="Schematic diagram of the four GEM devices: a ring with an opening, a quarter mass and a four-point spark, on thin construction guid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3200" y="812800"/>
            <a:ext cx="5892800" cy="523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study of a pale doorway standing in a dark field, REFERENCE, concept study not photography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667000"/>
            <a:ext cx="405511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IS PART OF THE IDENTITY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79349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protect the empty field. Clearspace is not left over; it is designed.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hospitality supplier and partner.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2765971"/>
            <a:ext cx="4813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master brand, applied the same way everywhere.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35666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369684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Precise, restrained and specific in what it says.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42130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434325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by design for Saudi/GCC hospitality.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3" name="Text 11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56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 NOT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67056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56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hotel operator.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056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5600" y="276597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decorative luxury brand.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05600" y="328220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5600" y="341238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family of separate sub-brands.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05600" y="392861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5600" y="405879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source of unverified claims.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HOSPITALITY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calm of things being right.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EMOTIONAL PROMISE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74181"/>
            <a:ext cx="341848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Guests feel looked after without being told.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36517" y="2046536"/>
            <a:ext cx="3318966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6517" y="2233861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6517" y="2574181"/>
            <a:ext cx="3418535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coherent identity across objects, language and space.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60283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0283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0283" y="2574181"/>
            <a:ext cx="34184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and partner to those who run and build hospitality.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85026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scope, capabilities and proof points are CONDITIONAL until commercial validation closes (VAL-01). No capability is claimed in this manual.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audiences. One personality.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to feel welcome and unhurried.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669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669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66690" y="50076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specification and certainty.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3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3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3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clarity it can repeat daily.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7452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4520" y="4563170"/>
            <a:ext cx="200926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&amp; DESIGN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4520" y="53632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rules it can apply without guessing.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2846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846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28460" y="5007670"/>
            <a:ext cx="2009262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a standard that scales across properties.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PERSONALITY, FIVE REGISTERS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voice adjusts its detail, never its character.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050"/>
          <a:ext cx="10553700" cy="2476500"/>
        </p:xfrm>
        <a:graphic>
          <a:graphicData uri="http://schemas.openxmlformats.org/drawingml/2006/table">
            <a:tbl>
              <a:tblPr/>
              <a:tblGrid>
                <a:gridCol w="2532888"/>
                <a:gridCol w="802081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Audience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GEM says it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room is ready. Take your time.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Procurement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Name, size and artwork version are stated on every sheet.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reference for every item. Nothing to interpret.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and 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the approved artwork. Check the status before you send.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Owners and developers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identity, applied the same way in every property.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481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lines written for this manual, not approved campaign copy.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master brand. Streams are described, not branded.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984750"/>
            <a:ext cx="6069584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is the primary approved B2B stream under GEM. It uses the same logo, palette and typography, with a descriptive line set in type.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812800"/>
            <a:ext cx="4064000" cy="1302841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6" name="Text 4"/>
          <p:cNvSpPr/>
          <p:nvPr/>
        </p:nvSpPr>
        <p:spPr>
          <a:xfrm>
            <a:off x="7569200" y="1092200"/>
            <a:ext cx="3662680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69200" y="1624459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brand</a:t>
            </a:r>
            <a:endParaRPr lang="en-US" sz="1196" dirty="0"/>
          </a:p>
        </p:txBody>
      </p:sp>
      <p:sp>
        <p:nvSpPr>
          <p:cNvPr id="8" name="Shape 6"/>
          <p:cNvSpPr/>
          <p:nvPr/>
        </p:nvSpPr>
        <p:spPr>
          <a:xfrm>
            <a:off x="9337675" y="2115641"/>
            <a:ext cx="19050" cy="4572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572841"/>
            <a:ext cx="4064000" cy="1514723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0" name="Text 8"/>
          <p:cNvSpPr/>
          <p:nvPr/>
        </p:nvSpPr>
        <p:spPr>
          <a:xfrm>
            <a:off x="7569200" y="2852241"/>
            <a:ext cx="381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988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1988" dirty="0"/>
          </a:p>
        </p:txBody>
      </p:sp>
      <p:sp>
        <p:nvSpPr>
          <p:cNvPr id="11" name="Text 9"/>
          <p:cNvSpPr/>
          <p:nvPr/>
        </p:nvSpPr>
        <p:spPr>
          <a:xfrm>
            <a:off x="7569200" y="3596382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stream, APPROVED</a:t>
            </a:r>
            <a:endParaRPr lang="en-US" sz="1196" dirty="0"/>
          </a:p>
        </p:txBody>
      </p:sp>
      <p:sp>
        <p:nvSpPr>
          <p:cNvPr id="12" name="Shape 10"/>
          <p:cNvSpPr/>
          <p:nvPr/>
        </p:nvSpPr>
        <p:spPr>
          <a:xfrm>
            <a:off x="9337675" y="4087564"/>
            <a:ext cx="19050" cy="4572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3" name="Shape 11"/>
          <p:cNvSpPr/>
          <p:nvPr/>
        </p:nvSpPr>
        <p:spPr>
          <a:xfrm>
            <a:off x="7321550" y="4551114"/>
            <a:ext cx="4051300" cy="1284536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581900" y="4786064"/>
            <a:ext cx="3636518" cy="37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[future stream]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1900" y="5177185"/>
            <a:ext cx="3636518" cy="448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 No other divisions are defined.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FOR ANY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528472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new stream inherits the identity. It never forks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future stream follows the same rules, and is added through brand governance.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53200" y="19050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53200" y="203517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it descriptively: GEM™ — [Stream].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53200" y="242252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200" y="255270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one logo, one symbol, one palette.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53200" y="294005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3200" y="307022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line in Jost or Inter, never as a logo.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53200" y="345757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3200" y="358775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any capability before claiming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53200" y="39751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3200" y="47498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200" y="4105275"/>
            <a:ext cx="49707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through the Brand Owner. [REQUIRES OWNER]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by the bottom left of the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0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826000" y="2540000"/>
            <a:ext cx="65405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8260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GEM sounds, and the two lines that are fixed.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VERBAL IDENTITY · TONE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1660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23089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Measured.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67600" y="25883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sentences. No hurry.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0359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31788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Warm, not effusive.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67600" y="345827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without exclamation.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9059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40488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Quietly confident.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67600" y="43282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rather than sell.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47758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" y="583882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49187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Precise about detail.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67600" y="5198170"/>
            <a:ext cx="402894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verified. Never an adjective in place of one.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· measured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28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· exact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28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· crafted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0" name="Text 8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AVOID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56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luxurious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056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world-class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056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indulge · pamper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056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oasis · escape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056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unforgettable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056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05600" y="4366220"/>
            <a:ext cx="4813808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superlatives such as leading or number one without independent evidence.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moments, one measured voice.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 Your room is ready.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722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62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Booking confirmed.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2769741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[booking ID]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150" y="3362821"/>
            <a:ext cx="5194300" cy="1261021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68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Availability has changed.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668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your room selection.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356471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262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62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We're sorry the room wasn't ready.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62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noted it and [action].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8587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examples. [action] is supplied by the property; no compensation is stated.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B2B, EMAIL AND PACKAGING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language states; it does not persuade.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ENQUIRY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Tell us about your property or project.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22761"/>
            <a:ext cx="2524633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reply to [email address].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179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79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179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Request a quotation.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179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[ID]. Price: [PENDING].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230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30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30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sampling request is received.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23000" y="312276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confirm the details here.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281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281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281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281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mL · Artwork version [PENDING]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8554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price, delivery time, minimum order, origin or sustainability statement appears until the owner supplies and verifies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TAGLINES AND SIGNATURE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6480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· FIXED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47972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spc="54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27347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· USE SELECTIVELY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588395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Primary. Capitals, Jost, tracking .18em, one line. The signature of the brand.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92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92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Secondary. Sentence case, Jost light. At most once in a composition, and never beside the primary at equal weight.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8922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Set it once, set it right.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Where. Covers, closing pages, section statements, secondary zones of packaging, campaign sign-off.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5120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How. Clear of the logo by at least two u. It is not permanently locked to the logo.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232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Language. English only until an Arabic line is approved: PENDING LOCALIZATION APPROVAL.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8550" y="1497409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2700" y="1643459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2700" y="189488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8550" y="244733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362700" y="25933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LOWERCASED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62700" y="284480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8550" y="339725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362700" y="35433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SHORTENED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79472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 PERFECT PROPORTION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8550" y="434717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362700" y="449322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RETIRED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2700" y="4744641"/>
            <a:ext cx="497078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4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VOICE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with an opening, cropped by the top right of the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IDENTITY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Logo, colour, type, Arabic, composition and the graphic language.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5715000" cy="50292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3" name="Text 1"/>
          <p:cNvSpPr/>
          <p:nvPr/>
        </p:nvSpPr>
        <p:spPr>
          <a:xfrm>
            <a:off x="1117600" y="111760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HORIZONTAL SIGNATURE</a:t>
            </a:r>
            <a:endParaRPr lang="en-US" sz="1200" dirty="0"/>
          </a:p>
        </p:txBody>
      </p:sp>
      <p:pic>
        <p:nvPicPr>
          <p:cNvPr id="4" name="Image 0" descr="GEM horizontal logo in beige on ink">    </p:cNvPr>
          <p:cNvPicPr>
            <a:picLocks noChangeAspect="1"/>
          </p:cNvPicPr>
          <p:nvPr/>
        </p:nvPicPr>
        <p:blipFill>
          <a:blip r:embed="rId1"/>
          <a:srcRect l="0" r="0" t="-24" b="-24"/>
          <a:stretch/>
        </p:blipFill>
        <p:spPr>
          <a:xfrm>
            <a:off x="1117600" y="2552700"/>
            <a:ext cx="4572000" cy="144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950" y="5228630"/>
            <a:ext cx="2763391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PRODUCTION MASTER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86550" y="819150"/>
            <a:ext cx="46863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21500" y="1054100"/>
            <a:ext cx="43428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</a:t>
            </a:r>
            <a:endParaRPr lang="en-US" sz="1200" dirty="0"/>
          </a:p>
        </p:txBody>
      </p:sp>
      <p:pic>
        <p:nvPicPr>
          <p:cNvPr id="8" name="Image 1" descr="GEM horizontal logo in black on white">    </p:cNvPr>
          <p:cNvPicPr>
            <a:picLocks noChangeAspect="1"/>
          </p:cNvPicPr>
          <p:nvPr/>
        </p:nvPicPr>
        <p:blipFill>
          <a:blip r:embed="rId2"/>
          <a:srcRect l="0" r="0" t="-24" b="-24"/>
          <a:stretch/>
        </p:blipFill>
        <p:spPr>
          <a:xfrm>
            <a:off x="6921500" y="1577975"/>
            <a:ext cx="2667000" cy="84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7850" y="2739430"/>
            <a:ext cx="2579241" cy="276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PRODUCTION MASTER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680200" y="3416300"/>
            <a:ext cx="4699000" cy="2425700"/>
          </a:xfrm>
          <a:prstGeom prst="rect">
            <a:avLst/>
          </a:prstGeom>
          <a:solidFill>
            <a:srgbClr val="020202"/>
          </a:solidFill>
          <a:ln/>
        </p:spPr>
      </p:sp>
      <p:sp>
        <p:nvSpPr>
          <p:cNvPr id="11" name="Text 7"/>
          <p:cNvSpPr/>
          <p:nvPr/>
        </p:nvSpPr>
        <p:spPr>
          <a:xfrm>
            <a:off x="6908800" y="3644900"/>
            <a:ext cx="43690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REVERSED · INK OR BLACK ONLY</a:t>
            </a:r>
            <a:endParaRPr lang="en-US" sz="1200" dirty="0"/>
          </a:p>
        </p:txBody>
      </p:sp>
      <p:pic>
        <p:nvPicPr>
          <p:cNvPr id="12" name="Image 2" descr="GEM horizontal logo in white on black">    </p:cNvPr>
          <p:cNvPicPr>
            <a:picLocks noChangeAspect="1"/>
          </p:cNvPicPr>
          <p:nvPr/>
        </p:nvPicPr>
        <p:blipFill>
          <a:blip r:embed="rId3"/>
          <a:srcRect l="0" r="0" t="-24" b="-24"/>
          <a:stretch/>
        </p:blipFill>
        <p:spPr>
          <a:xfrm>
            <a:off x="6908800" y="4168775"/>
            <a:ext cx="2667000" cy="844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5150" y="5330230"/>
            <a:ext cx="2579241" cy="2768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PRODUCTION MASTER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LOGO SET · SUPPLIED AND NOT YET SUPPLIED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artworks exist. The rest are named, not faked.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011660" cy="391165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5" name="Image 0" descr="GEM standalone symbol in beige">    </p:cNvPr>
          <p:cNvPicPr>
            <a:picLocks noChangeAspect="1"/>
          </p:cNvPicPr>
          <p:nvPr/>
        </p:nvPicPr>
        <p:blipFill>
          <a:blip r:embed="rId1"/>
          <a:srcRect l="0" r="0" t="-59" b="-59"/>
          <a:stretch/>
        </p:blipFill>
        <p:spPr>
          <a:xfrm>
            <a:off x="1183630" y="2082750"/>
            <a:ext cx="1270000" cy="114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5958" y="5491510"/>
            <a:ext cx="18053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beige on ink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2410" y="1936700"/>
            <a:ext cx="2024410" cy="389895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</p:sp>
      <p:pic>
        <p:nvPicPr>
          <p:cNvPr id="8" name="Image 1" descr="GEM standalone symbol in black">    </p:cNvPr>
          <p:cNvPicPr>
            <a:picLocks noChangeAspect="1"/>
          </p:cNvPicPr>
          <p:nvPr/>
        </p:nvPicPr>
        <p:blipFill>
          <a:blip r:embed="rId2"/>
          <a:srcRect l="0" r="0" t="-59" b="-59"/>
          <a:stretch/>
        </p:blipFill>
        <p:spPr>
          <a:xfrm>
            <a:off x="3309590" y="2095450"/>
            <a:ext cx="1270000" cy="1149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43865" y="5478810"/>
            <a:ext cx="2001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black on white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71120" y="1936700"/>
            <a:ext cx="2024360" cy="38989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5229870" y="3401715"/>
            <a:ext cx="1758066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Stacked configuration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229870" y="3974405"/>
            <a:ext cx="1758066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supplied. PENDING PRODUCTION MASTER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209780" y="1936700"/>
            <a:ext cx="2024410" cy="38989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7368530" y="3401715"/>
            <a:ext cx="1758117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Micro, no-spark mark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68530" y="3974405"/>
            <a:ext cx="1758117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below 32px. Not supplied. PENDING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348490" y="1936700"/>
            <a:ext cx="2024360" cy="38989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9507240" y="3426817"/>
            <a:ext cx="1758066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masters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507240" y="3751263"/>
            <a:ext cx="1758066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SVG, PDF, EPS, PNG. PENDING PRODUCTION MASTER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M symbol in beige: a ring open at the upper right, a quarter mass at lower right, and a four-point spark">    </p:cNvPr>
          <p:cNvPicPr>
            <a:picLocks noChangeAspect="1"/>
          </p:cNvPicPr>
          <p:nvPr/>
        </p:nvPicPr>
        <p:blipFill>
          <a:blip r:embed="rId1"/>
          <a:srcRect l="-45" r="-45" t="0" b="0"/>
          <a:stretch/>
        </p:blipFill>
        <p:spPr>
          <a:xfrm>
            <a:off x="1016000" y="952500"/>
            <a:ext cx="4064000" cy="3670300"/>
          </a:xfrm>
          <a:prstGeom prst="rect">
            <a:avLst/>
          </a:prstGeom>
        </p:spPr>
      </p:pic>
      <p:pic>
        <p:nvPicPr>
          <p:cNvPr id="3" name="Image 1" descr="Leader lines from the symbol to its four part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CONSTRUCTION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69000" y="952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G-ring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69000" y="1381720"/>
            <a:ext cx="55725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circle that forms the G. Its radius sets the clearspace unit, u.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69000" y="1968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69000" y="2397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ring opens at the upper right. It makes the letter and gives the mark air.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69000" y="315595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 mass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69000" y="358517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solid quarter that anchors the lower right and carries the weight of the mark.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69000" y="4381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969000" y="4810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four-point spark at the end of the quarter's edge: the secondary signature.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6000" y="527050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Spark. Proportional measurements will be published from the production master only. PENDING PRODUCTION MASTER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CLEARSPACE AND SIZE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325" y="1213445"/>
            <a:ext cx="5530850" cy="2755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</p:sp>
      <p:pic>
        <p:nvPicPr>
          <p:cNvPr id="4" name="Image 0" descr="GEM horizontal logo surrounded by a dashed boundary one u wide, where u is the G-ring radius">    </p:cNvPr>
          <p:cNvPicPr>
            <a:picLocks noChangeAspect="1"/>
          </p:cNvPicPr>
          <p:nvPr/>
        </p:nvPicPr>
        <p:blipFill>
          <a:blip r:embed="rId1"/>
          <a:srcRect l="0" r="0" t="-106" b="-106"/>
          <a:stretch/>
        </p:blipFill>
        <p:spPr>
          <a:xfrm>
            <a:off x="1555750" y="1946870"/>
            <a:ext cx="4064000" cy="128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156670"/>
            <a:ext cx="6540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dashed boundary is 1u on every side. u equals the G-ring radius, about half the height of the symbol.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0" y="812800"/>
            <a:ext cx="3871976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1u minimum.</a:t>
            </a:r>
            <a:endParaRPr lang="en-US" sz="2800" dirty="0"/>
          </a:p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2u preferred.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20000" y="1683941"/>
            <a:ext cx="451104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logo two u wherever the layout allows.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20000" y="4059734"/>
            <a:ext cx="3759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0000" y="4215309"/>
            <a:ext cx="38719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DIGITAL SIZE · ACTUAL PIXELS</a:t>
            </a:r>
            <a:endParaRPr lang="en-US" sz="1200" dirty="0"/>
          </a:p>
        </p:txBody>
      </p:sp>
      <p:pic>
        <p:nvPicPr>
          <p:cNvPr id="10" name="Image 1" descr="Horizontal logo at its 120 pixel minimum width">    </p:cNvPr>
          <p:cNvPicPr>
            <a:picLocks noChangeAspect="1"/>
          </p:cNvPicPr>
          <p:nvPr/>
        </p:nvPicPr>
        <p:blipFill>
          <a:blip r:embed="rId2"/>
          <a:srcRect l="0" r="0" t="-24" b="-24"/>
          <a:stretch/>
        </p:blipFill>
        <p:spPr>
          <a:xfrm>
            <a:off x="7620000" y="4743549"/>
            <a:ext cx="762000" cy="24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000" y="5048349"/>
            <a:ext cx="1190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px lockup</a:t>
            </a:r>
            <a:endParaRPr lang="en-US" sz="1200" dirty="0"/>
          </a:p>
        </p:txBody>
      </p:sp>
      <p:pic>
        <p:nvPicPr>
          <p:cNvPr id="12" name="Image 2" descr="Standalone symbol at its 32 pixel minimum width">    </p:cNvPr>
          <p:cNvPicPr>
            <a:picLocks noChangeAspect="1"/>
          </p:cNvPicPr>
          <p:nvPr/>
        </p:nvPicPr>
        <p:blipFill>
          <a:blip r:embed="rId3"/>
          <a:srcRect l="0" r="0" t="-128" b="-128"/>
          <a:stretch/>
        </p:blipFill>
        <p:spPr>
          <a:xfrm>
            <a:off x="8917136" y="4800699"/>
            <a:ext cx="203200" cy="184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7136" y="5048349"/>
            <a:ext cx="1160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px symbol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620000" y="5363270"/>
            <a:ext cx="3871976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32 px use the no-spark micro mark. It is not supplied: PENDING PRODUCTION MASTER.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MISUSE · NEVER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pic>
        <p:nvPicPr>
          <p:cNvPr id="4" name="Image 0" descr="Logo stretched out of proportion">    </p:cNvPr>
          <p:cNvPicPr>
            <a:picLocks noChangeAspect="1"/>
          </p:cNvPicPr>
          <p:nvPr/>
        </p:nvPicPr>
        <p:blipFill>
          <a:blip r:embed="rId1"/>
          <a:srcRect l="0" r="0" t="18406" b="18406"/>
          <a:stretch/>
        </p:blipFill>
        <p:spPr>
          <a:xfrm>
            <a:off x="1133475" y="1807170"/>
            <a:ext cx="1905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925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pic>
        <p:nvPicPr>
          <p:cNvPr id="7" name="Image 1" descr="Logo rotated">    </p:cNvPr>
          <p:cNvPicPr>
            <a:picLocks noChangeAspect="1"/>
          </p:cNvPicPr>
          <p:nvPr/>
        </p:nvPicPr>
        <p:blipFill>
          <a:blip r:embed="rId2"/>
          <a:srcRect l="0" r="0" t="-24" b="-24"/>
          <a:stretch/>
        </p:blipFill>
        <p:spPr>
          <a:xfrm rot="20640000">
            <a:off x="3997325" y="1756370"/>
            <a:ext cx="1524000" cy="482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61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658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pic>
        <p:nvPicPr>
          <p:cNvPr id="10" name="Image 2" descr="Logo recoloured to blue">    </p:cNvPr>
          <p:cNvPicPr>
            <a:picLocks noChangeAspect="1"/>
          </p:cNvPicPr>
          <p:nvPr/>
        </p:nvPicPr>
        <p:blipFill>
          <a:blip r:embed="rId3"/>
          <a:srcRect l="0" r="0" t="-24" b="-24"/>
          <a:stretch/>
        </p:blipFill>
        <p:spPr>
          <a:xfrm>
            <a:off x="6670675" y="1756370"/>
            <a:ext cx="1524000" cy="482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595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RECOLOUR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8392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pic>
        <p:nvPicPr>
          <p:cNvPr id="13" name="Image 3" descr="Logo with a drop shadow">    </p:cNvPr>
          <p:cNvPicPr>
            <a:picLocks noChangeAspect="1"/>
          </p:cNvPicPr>
          <p:nvPr/>
        </p:nvPicPr>
        <p:blipFill>
          <a:blip r:embed="rId4"/>
          <a:srcRect l="0" r="0" t="-24" b="-24"/>
          <a:stretch/>
        </p:blipFill>
        <p:spPr>
          <a:xfrm>
            <a:off x="9344025" y="1756370"/>
            <a:ext cx="1524000" cy="482600"/>
          </a:xfrm>
          <a:prstGeom prst="rect">
            <a:avLst/>
          </a:prstGeom>
          <a:effectLst>
            <a:outerShdw sx="100000" sy="100000" kx="0" ky="0" algn="bl" rotWithShape="0" blurRad="114300" dist="89803" dir="2700000">
              <a:srgbClr val="020202">
                <a:alpha val="4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88328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19150" y="3201591"/>
            <a:ext cx="2533650" cy="1574800"/>
          </a:xfrm>
          <a:prstGeom prst="rect">
            <a:avLst/>
          </a:prstGeom>
          <a:gradFill rotWithShape="1">
            <a:gsLst>
              <a:gs pos="0">
                <a:srgbClr val="BCACA7"/>
              </a:gs>
              <a:gs pos="100000">
                <a:srgbClr val="12171D"/>
              </a:gs>
            </a:gsLst>
            <a:lin ang="2700000" scaled="0"/>
          </a:gradFill>
          <a:ln w="12700">
            <a:solidFill>
              <a:srgbClr val="12171D"/>
            </a:solidFill>
            <a:prstDash val="dash"/>
          </a:ln>
        </p:spPr>
      </p:sp>
      <p:pic>
        <p:nvPicPr>
          <p:cNvPr id="16" name="Image 4" descr="Logo on a gradient background">    </p:cNvPr>
          <p:cNvPicPr>
            <a:picLocks noChangeAspect="1"/>
          </p:cNvPicPr>
          <p:nvPr/>
        </p:nvPicPr>
        <p:blipFill>
          <a:blip r:embed="rId5"/>
          <a:srcRect l="0" r="0" t="-24" b="-24"/>
          <a:stretch/>
        </p:blipFill>
        <p:spPr>
          <a:xfrm>
            <a:off x="1323975" y="3747691"/>
            <a:ext cx="1524000" cy="482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28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BACKGROUND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34925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pic>
        <p:nvPicPr>
          <p:cNvPr id="19" name="Image 5" descr="Logo enclosed in an outlined pill contain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611" y="3814366"/>
            <a:ext cx="1103428" cy="349250"/>
          </a:xfrm>
          <a:custGeom>
            <a:avLst/>
            <a:gdLst/>
            <a:ahLst/>
            <a:cxnLst/>
            <a:rect l="l" t="t" r="r" b="b"/>
            <a:pathLst>
              <a:path w="1103428" h="349250">
                <a:moveTo>
                  <a:pt x="0" y="44756"/>
                </a:moveTo>
                <a:arcTo wR="174625" hR="174625" stAng="13682864" swAng="2517136"/>
                <a:lnTo>
                  <a:pt x="986689" y="0"/>
                </a:lnTo>
                <a:arcTo wR="174625" hR="174625" stAng="16200000" swAng="2517136"/>
                <a:lnTo>
                  <a:pt x="1103428" y="304494"/>
                </a:lnTo>
                <a:arcTo wR="174625" hR="174625" stAng="2882864" swAng="2517136"/>
                <a:lnTo>
                  <a:pt x="116739" y="349250"/>
                </a:lnTo>
                <a:arcTo wR="174625" hR="174625" stAng="5400000" swAng="2517136"/>
                <a:close/>
              </a:path>
            </a:pathLst>
          </a:custGeom>
        </p:spPr>
      </p:pic>
      <p:sp>
        <p:nvSpPr>
          <p:cNvPr id="20" name="Shape 12"/>
          <p:cNvSpPr/>
          <p:nvPr/>
        </p:nvSpPr>
        <p:spPr>
          <a:xfrm>
            <a:off x="4137025" y="3801666"/>
            <a:ext cx="1244600" cy="3746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2171D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34861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OUTLINE, CONTAINER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16585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</p:sp>
      <p:pic>
        <p:nvPicPr>
          <p:cNvPr id="23" name="Image 6" descr="Logo cropped so the wordmark is cut off">    </p:cNvPr>
          <p:cNvPicPr>
            <a:picLocks noChangeAspect="1"/>
          </p:cNvPicPr>
          <p:nvPr/>
        </p:nvPicPr>
        <p:blipFill>
          <a:blip r:embed="rId7"/>
          <a:srcRect l="0" r="0" t="-24" b="-24"/>
          <a:stretch/>
        </p:blipFill>
        <p:spPr>
          <a:xfrm>
            <a:off x="6892925" y="3747691"/>
            <a:ext cx="1524000" cy="482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595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8392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spc="3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</a:t>
            </a:r>
            <a:endParaRPr lang="en-US" sz="3000" dirty="0"/>
          </a:p>
        </p:txBody>
      </p:sp>
      <p:sp>
        <p:nvSpPr>
          <p:cNvPr id="26" name="Text 17"/>
          <p:cNvSpPr/>
          <p:nvPr/>
        </p:nvSpPr>
        <p:spPr>
          <a:xfrm>
            <a:off x="88328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WORDMARK SET IN TYPE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812800" y="52373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beige on white (2.2:1), the logo on busy photography, an added or moved spark, a changed lockup.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70916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Partners stand beside GEM, not inside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354659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459434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EQUAL-PARTNER ARRANGEMENT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982119"/>
            <a:ext cx="47091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optical prominence, not mechanical size. Keep each brand's required clearspace. Use about 2u separation as the GEM default where compatible; a hairline may be added when appropriate.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144764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merge, recolour, contain or redraw either identity. Partner-specific, contractual or sponsorship rules take precedence once formally approved.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5097264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5202039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commercial or property relationship determines precedence. GEM remains visually independent and uses its own clearspace and artwork.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2800" y="1387574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PARTNER · CONCEPT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9150" y="1759645"/>
            <a:ext cx="5473700" cy="11811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pic>
        <p:nvPicPr>
          <p:cNvPr id="12" name="Image 0" descr="GEM logo in black">    </p:cNvPr>
          <p:cNvPicPr>
            <a:picLocks noChangeAspect="1"/>
          </p:cNvPicPr>
          <p:nvPr/>
        </p:nvPicPr>
        <p:blipFill>
          <a:blip r:embed="rId1"/>
          <a:srcRect l="0" r="0" t="-24" b="-24"/>
          <a:stretch/>
        </p:blipFill>
        <p:spPr>
          <a:xfrm>
            <a:off x="6369050" y="2048570"/>
            <a:ext cx="1905000" cy="6032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629650" y="2045395"/>
            <a:ext cx="12700" cy="6096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4" name="Text 11"/>
          <p:cNvSpPr/>
          <p:nvPr/>
        </p:nvSpPr>
        <p:spPr>
          <a:xfrm>
            <a:off x="9004300" y="2054920"/>
            <a:ext cx="1892300" cy="5905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MARK] [REQUIRES OWNER]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2800" y="3099495"/>
            <a:ext cx="56509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RELATIONSHIP · ILLUSTRATIVE, PRECEDENCE PER AGREEMENT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92800" y="3678535"/>
            <a:ext cx="5486400" cy="122297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7" name="Text 14"/>
          <p:cNvSpPr/>
          <p:nvPr/>
        </p:nvSpPr>
        <p:spPr>
          <a:xfrm>
            <a:off x="6178550" y="4042370"/>
            <a:ext cx="2019300" cy="495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[PROPERTY MARK]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80565" y="3957935"/>
            <a:ext cx="10192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Supplied by</a:t>
            </a:r>
            <a:endParaRPr lang="en-US" sz="1200" dirty="0"/>
          </a:p>
        </p:txBody>
      </p:sp>
      <p:pic>
        <p:nvPicPr>
          <p:cNvPr id="19" name="Image 1" descr="GEM logo in beige">    </p:cNvPr>
          <p:cNvPicPr>
            <a:picLocks noChangeAspect="1"/>
          </p:cNvPicPr>
          <p:nvPr/>
        </p:nvPicPr>
        <p:blipFill>
          <a:blip r:embed="rId2"/>
          <a:srcRect l="-240" r="-240" t="0" b="0"/>
          <a:stretch/>
        </p:blipFill>
        <p:spPr>
          <a:xfrm>
            <a:off x="9829800" y="4222055"/>
            <a:ext cx="1270000" cy="4000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92800" y="5053905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ARTWORK. No real partner is approved.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LOGO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4175820"/>
            <a:ext cx="481380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spc="36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344220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#12171D · Primary dark brand field and default text colour.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7" name="Text 5"/>
          <p:cNvSpPr/>
          <p:nvPr/>
        </p:nvSpPr>
        <p:spPr>
          <a:xfrm>
            <a:off x="6705600" y="1948210"/>
            <a:ext cx="481380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spc="24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05600" y="2735610"/>
            <a:ext cx="481380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#BCACA7 · Signature warm-neutral counterpart to Ink: selected surfaces, controlled decorative use, approved contrast pairings.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3429000"/>
            <a:ext cx="2946400" cy="3429000"/>
          </a:xfrm>
          <a:prstGeom prst="rect">
            <a:avLst/>
          </a:prstGeom>
          <a:solidFill>
            <a:srgbClr val="020202"/>
          </a:solidFill>
          <a:ln/>
        </p:spPr>
      </p:sp>
      <p:sp>
        <p:nvSpPr>
          <p:cNvPr id="10" name="Text 8"/>
          <p:cNvSpPr/>
          <p:nvPr/>
        </p:nvSpPr>
        <p:spPr>
          <a:xfrm>
            <a:off x="6705600" y="451122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05600" y="4988719"/>
            <a:ext cx="21452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#020202 · Monochrome and one-colour production, approved functional states. Not default 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42400" y="3429000"/>
            <a:ext cx="3149600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042400" y="3435350"/>
            <a:ext cx="3149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6400" y="472454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96400" y="5202039"/>
            <a:ext cx="2145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 · Primary light canvas and inverse text colour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COLOUR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RELATIONSHIP AND ITS LIMITS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and Beige answer each other.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530475" cy="3204319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 : 1. The signature pairing. Dark applications.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6625" y="1936700"/>
            <a:ext cx="2543175" cy="3191619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6175" y="21462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on White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86175" y="44565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 : 1. Light applications and long reading.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53150" y="1930350"/>
            <a:ext cx="2530475" cy="3204319"/>
          </a:xfrm>
          <a:prstGeom prst="rect">
            <a:avLst/>
          </a:prstGeom>
          <a:solidFill>
            <a:srgbClr val="020202"/>
          </a:solidFill>
          <a:ln/>
        </p:spPr>
      </p:sp>
      <p:sp>
        <p:nvSpPr>
          <p:cNvPr id="11" name="Text 9"/>
          <p:cNvSpPr/>
          <p:nvPr/>
        </p:nvSpPr>
        <p:spPr>
          <a:xfrm>
            <a:off x="635635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 on Black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635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print, one-colour production.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0150" y="1939875"/>
            <a:ext cx="2549525" cy="3185269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032875" y="215260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White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32875" y="4219029"/>
            <a:ext cx="218779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NEVER. 2.2 : 1 fails contrast. Prohibited for text and logo.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gold, gradients, a fifth colour, or Beige as a text colour on a light field. Ratios are WCAG 2.2 AA; implementation tokens sit in Part 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COLOUR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JOST · DISPLAY AND HEADINGS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9525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206500"/>
            <a:ext cx="4656836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0" y="2794000"/>
            <a:ext cx="5334000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810000"/>
            <a:ext cx="4656836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0123456789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5270500"/>
            <a:ext cx="4656836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and headings: 400. Controlled labels and emphasis: 500. Two weights per composition at most. Capitals carry .04 to .12em tracking.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TYPOGRAPHY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INTER · BODY AND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91841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spc="-3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18592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carries every sentence that must be read, from a booking form to a specification sheet. It stays plain so Jost can stay distinct.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162634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1756519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· JOST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2007939"/>
            <a:ext cx="60695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0" y="255463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68481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 · INTER 500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936230"/>
            <a:ext cx="606958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detail, in its place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0" y="336609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349627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INTER 400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747691"/>
            <a:ext cx="60695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is set with zero tracking and generous leading, in measures that stay easy to read.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4436666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56684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· INTER 500 · CAPITALS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81826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COLLECTION · 30 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TYPOGRAPHY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TRACKING AND MEASURE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between letters is calibrated, not generous.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9972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39340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.18EM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9800" y="2317204"/>
            <a:ext cx="652551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" y="275470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87218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· .16EM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9800" y="2872184"/>
            <a:ext cx="1802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LABEL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202980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476030"/>
            <a:ext cx="24853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CAPITALS · .04–.12EM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9800" y="3320455"/>
            <a:ext cx="2069663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9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2800" y="40201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426779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 · 0–.02EM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9800" y="4137620"/>
            <a:ext cx="314610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2800" y="464621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800" y="51300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4789091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9800" y="4763691"/>
            <a:ext cx="624518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is never tracked. Keep lines to 45 to 75 characters.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track Arabic. The retired 0.3 to 0.8em rule is not used. Full token values: Part B.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TYPOGRAPHY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DIRECTION · PENDING VALIDATION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97078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is composed, not translated onto a Latin layout.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97078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Noto Sans Arabic is the interim family. It stays PENDING VALIDATION until native Arabic, RTL and localization QA is complete. PENDING LOCALIZATION APPROVAL.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54750" y="1880295"/>
            <a:ext cx="5118100" cy="13283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77178" y="2115245"/>
            <a:ext cx="473532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15100" y="2760365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string for layout only. Not approved copy.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8400" y="339596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8400" y="348803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right to left. Alignment, order and reading path all reverse.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8400" y="381124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400" y="3903315"/>
            <a:ext cx="528472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mirror the logo. The GEM mark keeps its orientation in every language.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8400" y="445765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8400" y="454972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Latin tracking. Arabic letters are never letterspaced.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COMPOSITION · CONCEPT · PENDING LOCALIZATION APPROVAL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29320"/>
            <a:ext cx="5181600" cy="3615829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ENGLISH-FIRST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7600" y="3549799"/>
            <a:ext cx="470916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80440" y="4149229"/>
            <a:ext cx="4709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CACA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 leads on the left. Arabic follows, aligned right.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1229320"/>
            <a:ext cx="5181600" cy="3615829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9" name="Text 7"/>
          <p:cNvSpPr/>
          <p:nvPr/>
        </p:nvSpPr>
        <p:spPr>
          <a:xfrm>
            <a:off x="636524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الأولوية للعربية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65240" y="3514229"/>
            <a:ext cx="4709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02400" y="4184749"/>
            <a:ext cx="47091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976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Arabic-first for Saudi and GCC. Arabic leads, anchored right.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languages share one grid, one baseline rhythm and equal care. Neither is a footnote to the other. Working strings only; not approved copy.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MIXED LANGUAGE, NUMERALS AND CODES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Technical codes stay Latin, even inside Arabic.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NUMBER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2216" y="2461171"/>
            <a:ext cx="3453384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غرفة 412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800" y="3086001"/>
            <a:ext cx="345338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Arabic-Indic digits may be used where approved for the locale or property. Latin shown here until policy is signed off.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96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96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IDENTIFIER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9016" y="2461171"/>
            <a:ext cx="34533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الحجز GEM-0000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9600" y="3014861"/>
            <a:ext cx="345338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IDs, SKUs, URLs, phone numbers, batch and system codes are always Latin digits, left to right. GEM-0000 is a placeholder.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264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64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26400" y="2461171"/>
            <a:ext cx="3453384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mix numeral systems arbitrarily within one content role. One page may carry Arabic-Indic digits in guest-facing Arabic and Latin digits in technical identifiers, because the roles differ.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6400" y="3877022"/>
            <a:ext cx="34533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VALIDATION: Arabic locale policy is not yet signed off. Strings are working placeholders, PENDING LOCALIZATION APPROVAL.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IDENTITY · ARABIC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AND COMPOSITION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Balance, held off-centre.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504190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strong element, one generous field. Align to a few clear edges. Let the empty side do as much work as the full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73750" y="819150"/>
            <a:ext cx="5499100" cy="50165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pic>
        <p:nvPicPr>
          <p:cNvPr id="6" name="Image 0" descr="Composition diagram: a margin frame, a text block left, a large cropped ring right, and open space betw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400" y="812800"/>
            <a:ext cx="5715000" cy="482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4876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· edge · crop · open field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COMPOSITION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very large beige ring cropped on the right and a thin beige ar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 · SCALE AND TENSION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413000"/>
            <a:ext cx="4970780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OVERSIZED GEOMETRY, CROPPED WITH INTENT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444754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a form leave the frame. A crop creates tension; the text keeps still. Never crowd the type.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COMPOSITION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FOUR FORMS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pic>
        <p:nvPicPr>
          <p:cNvPr id="4" name="Image 0" descr="A single beige r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1496020"/>
            <a:ext cx="1905000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87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7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Completeness. The frame of the 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988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pic>
        <p:nvPicPr>
          <p:cNvPr id="8" name="Image 1" descr="A beige arc with an ope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8400" y="1496020"/>
            <a:ext cx="19050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84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7084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opening. Welcome, passage.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85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pic>
        <p:nvPicPr>
          <p:cNvPr id="12" name="Image 2" descr="A solid beige quarter 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8100" y="1496020"/>
            <a:ext cx="1905000" cy="190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88100" y="497845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388100" y="5420370"/>
            <a:ext cx="215836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Mass. Weight and anchor.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8582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pic>
        <p:nvPicPr>
          <p:cNvPr id="16" name="Image 3" descr="A beige four-point spar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67800" y="1496020"/>
            <a:ext cx="1905000" cy="1905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8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0678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GRAPHIC LANGUAGE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SCALE, CROP, COLOUR, PLACEMENT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Forms are large, quiet and behind the words.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4826000" cy="391165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5" name="Image 0" descr="Example: ring cropped at the lower right of an Ink field with a text block lef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30350"/>
            <a:ext cx="4826000" cy="355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94400" y="1933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94400" y="2038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Scale. Large enough to be architecture, never small enough to be an icon.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94400" y="3118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94400" y="3223220"/>
            <a:ext cx="55463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Crop. Let the frame cut the form. Never crop through text.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94400" y="4054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94400" y="4159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Colour. Beige on Ink, Ink or Black on White. One colour per form.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94400" y="5239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94400" y="534422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Placement. Keep off the logo's clearspace. Never repeat a form as a pattern.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GRAPHIC LANGUAGE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large beige four-point spark in the right half of the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· SECONDARY SIGNATURE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905000"/>
            <a:ext cx="497078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PER COMPOSITION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3302000"/>
            <a:ext cx="444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 Use it as punctuation: a key moment, a confirmation, a point of arrival.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46990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Approved: a cover, an opener, a confirmation state, one packaging detail.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53975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Never: a pattern, a bullet, a repeat, a recolour, a second spark.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THE SPARK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GLYPH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Functional, not decorative.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78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Glyphs help people find, choose and understand. They share the geometry of the brand: circles, arcs, clean terminals.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363270"/>
            <a:ext cx="45783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set and its technical rules live in Part B. Never use a glyph as ornament.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737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pic>
        <p:nvPicPr>
          <p:cNvPr id="7" name="Image 0" descr="Illustrative arrow glyp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9700" y="1049040"/>
            <a:ext cx="508000" cy="50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6157" y="1633240"/>
            <a:ext cx="775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533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pic>
        <p:nvPicPr>
          <p:cNvPr id="10" name="Image 1" descr="Illustrative check glyp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69300" y="1049040"/>
            <a:ext cx="508000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5697" y="1633240"/>
            <a:ext cx="695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6329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pic>
        <p:nvPicPr>
          <p:cNvPr id="13" name="Image 2" descr="Illustrative information glyp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48900" y="1049040"/>
            <a:ext cx="508000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10100" y="1633240"/>
            <a:ext cx="9855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EXPRESSION · GLYPHS · REFERENCE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by the bottom left of the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IMAGE &amp; MOTION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Light, material and the single gesture that moves.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close study of a pale surface with a single fine ring pressed into it, REFERENCE, concept study not photography">    </p:cNvPr>
          <p:cNvPicPr>
            <a:picLocks noChangeAspect="1"/>
          </p:cNvPicPr>
          <p:nvPr/>
        </p:nvPicPr>
        <p:blipFill>
          <a:blip r:embed="rId1"/>
          <a:srcRect l="18171" r="18171" t="0" b="0"/>
          <a:stretch/>
        </p:blipFill>
        <p:spPr>
          <a:xfrm>
            <a:off x="0" y="0"/>
            <a:ext cx="698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3000" y="812800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DIRECTION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7493000" y="1203920"/>
            <a:ext cx="400278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LIGHT, THEN SUBJECT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493000" y="412571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3000" y="421778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and architectural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3000" y="458415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3000" y="467622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Single-source light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3000" y="504259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3000" y="513467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Warm-neutral, controlled contrast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3000" y="550103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3000" y="559311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space around the subject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3000" y="605542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NINE SUBJECTS · REFERENCE STUDIES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197103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00" y="231646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Line, volume, shadow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68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7" name="Image 0" descr="Rendered study of a pale doorway in a dark field, REFERENCE">    </p:cNvPr>
          <p:cNvPicPr>
            <a:picLocks noChangeAspect="1"/>
          </p:cNvPicPr>
          <p:nvPr/>
        </p:nvPicPr>
        <p:blipFill>
          <a:blip r:embed="rId1"/>
          <a:srcRect l="0" r="0" t="15765" b="15765"/>
          <a:stretch/>
        </p:blipFill>
        <p:spPr>
          <a:xfrm>
            <a:off x="4368800" y="1203920"/>
            <a:ext cx="3454400" cy="1478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68800" y="2270720"/>
            <a:ext cx="1598166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24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10" name="Image 1" descr="Rendered close study of a pale surface with a fine ring pressed in, REFERENCE">    </p:cNvPr>
          <p:cNvPicPr>
            <a:picLocks noChangeAspect="1"/>
          </p:cNvPicPr>
          <p:nvPr/>
        </p:nvPicPr>
        <p:blipFill>
          <a:blip r:embed="rId2"/>
          <a:srcRect l="0" r="0" t="15765" b="15765"/>
          <a:stretch/>
        </p:blipFill>
        <p:spPr>
          <a:xfrm>
            <a:off x="7924800" y="1203920"/>
            <a:ext cx="3454400" cy="14782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4800" y="2270720"/>
            <a:ext cx="1353840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2800" y="278378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3" name="Text 9"/>
          <p:cNvSpPr/>
          <p:nvPr/>
        </p:nvSpPr>
        <p:spPr>
          <a:xfrm>
            <a:off x="965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 RITUAL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65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Hands, objects, gesture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68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16" name="Image 2" descr="Rendered study of pale plates and a small cup arranged on a taupe surface, REFERENCE">    </p:cNvPr>
          <p:cNvPicPr>
            <a:picLocks noChangeAspect="1"/>
          </p:cNvPicPr>
          <p:nvPr/>
        </p:nvPicPr>
        <p:blipFill>
          <a:blip r:embed="rId3"/>
          <a:srcRect l="0" r="0" t="15764" b="15764"/>
          <a:stretch/>
        </p:blipFill>
        <p:spPr>
          <a:xfrm>
            <a:off x="4368800" y="2783780"/>
            <a:ext cx="3454400" cy="14783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68800" y="3850630"/>
            <a:ext cx="1036588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924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9" name="Text 14"/>
          <p:cNvSpPr/>
          <p:nvPr/>
        </p:nvSpPr>
        <p:spPr>
          <a:xfrm>
            <a:off x="8077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077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Objects, composed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2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22" name="Image 3" descr="Rendered study of daylight falling on a wall through a window, REFERENCE">    </p:cNvPr>
          <p:cNvPicPr>
            <a:picLocks noChangeAspect="1"/>
          </p:cNvPicPr>
          <p:nvPr/>
        </p:nvPicPr>
        <p:blipFill>
          <a:blip r:embed="rId4"/>
          <a:srcRect l="0" r="0" t="15764" b="15764"/>
          <a:stretch/>
        </p:blipFill>
        <p:spPr>
          <a:xfrm>
            <a:off x="812800" y="4363690"/>
            <a:ext cx="3454400" cy="14783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2800" y="5430540"/>
            <a:ext cx="1770013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ROOM DETAILS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368800" y="436369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25" name="Text 19"/>
          <p:cNvSpPr/>
          <p:nvPr/>
        </p:nvSpPr>
        <p:spPr>
          <a:xfrm>
            <a:off x="4521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521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Care, unannounced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924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28" name="Text 22"/>
          <p:cNvSpPr/>
          <p:nvPr/>
        </p:nvSpPr>
        <p:spPr>
          <a:xfrm>
            <a:off x="8077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HUMAN PRESENCE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077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Candid, partial, calm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6024959"/>
            <a:ext cx="85026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PLAIN TILES AWAIT COMMISSIONED IMAGES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DO AND DON'T ·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4" name="Image 0" descr="Rendered reference study of calm daylight on a wall">    </p:cNvPr>
          <p:cNvPicPr>
            <a:picLocks noChangeAspect="1"/>
          </p:cNvPicPr>
          <p:nvPr/>
        </p:nvPicPr>
        <p:blipFill>
          <a:blip r:embed="rId1"/>
          <a:srcRect l="28798" r="28798" t="0" b="0"/>
          <a:stretch/>
        </p:blipFill>
        <p:spPr>
          <a:xfrm>
            <a:off x="812800" y="1203920"/>
            <a:ext cx="2527300" cy="3725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· One source of light. Quiet tones. Room to breathe.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925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7" name="Image 1" descr="The wall study over-saturated with a heavy warm glow, shown as a prohibited example">    </p:cNvPr>
          <p:cNvPicPr>
            <a:picLocks noChangeAspect="1"/>
          </p:cNvPicPr>
          <p:nvPr/>
        </p:nvPicPr>
        <p:blipFill>
          <a:blip r:embed="rId2"/>
          <a:srcRect l="28798" r="28798" t="0" b="0"/>
          <a:stretch/>
        </p:blipFill>
        <p:spPr>
          <a:xfrm>
            <a:off x="3492500" y="1203920"/>
            <a:ext cx="2527300" cy="37250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25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Oversaturate or add artificial glow.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722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10" name="Image 2" descr="The table study with text placed over a busy area, shown as a prohibited example">    </p:cNvPr>
          <p:cNvPicPr>
            <a:picLocks noChangeAspect="1"/>
          </p:cNvPicPr>
          <p:nvPr/>
        </p:nvPicPr>
        <p:blipFill>
          <a:blip r:embed="rId3"/>
          <a:srcRect l="28798" r="28798" t="0" b="0"/>
          <a:stretch/>
        </p:blipFill>
        <p:spPr>
          <a:xfrm>
            <a:off x="6172200" y="1203920"/>
            <a:ext cx="2527300" cy="37250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600" y="1584920"/>
            <a:ext cx="3352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TO LUXURY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1722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Place text over the subject or a busy field.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8519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14" name="Image 3" descr="The threshold study with a trendy faded filter, shown as a prohibited example">    </p:cNvPr>
          <p:cNvPicPr>
            <a:picLocks noChangeAspect="1"/>
          </p:cNvPicPr>
          <p:nvPr/>
        </p:nvPicPr>
        <p:blipFill>
          <a:blip r:embed="rId4"/>
          <a:srcRect l="28798" r="28798" t="0" b="0"/>
          <a:stretch/>
        </p:blipFill>
        <p:spPr>
          <a:xfrm>
            <a:off x="8851900" y="1203920"/>
            <a:ext cx="2527300" cy="37250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519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Apply trendy filters or off-palette tints.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avoid generic hotel stock, posed smiling groups and generic luxury clichés.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NOT PRODUCTION PHOTOGRAPHY · EDITED AS EXAMPLES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AND IMAGE COMPOSITION · REFERENCE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RATIOS. ONE SUBJECT, OFF-CENTRE.</a:t>
            </a:r>
            <a:endParaRPr lang="en-US" sz="2800" dirty="0"/>
          </a:p>
        </p:txBody>
      </p:sp>
      <p:pic>
        <p:nvPicPr>
          <p:cNvPr id="4" name="Image 0" descr="Reference study cropped 3 to 2">    </p:cNvPr>
          <p:cNvPicPr>
            <a:picLocks noChangeAspect="1"/>
          </p:cNvPicPr>
          <p:nvPr/>
        </p:nvPicPr>
        <p:blipFill>
          <a:blip r:embed="rId1"/>
          <a:srcRect l="3125" r="3125" t="0" b="0"/>
          <a:stretch/>
        </p:blipFill>
        <p:spPr>
          <a:xfrm>
            <a:off x="812800" y="3725614"/>
            <a:ext cx="2095500" cy="139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186114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3:2</a:t>
            </a:r>
            <a:endParaRPr lang="en-US" sz="1200" dirty="0"/>
          </a:p>
        </p:txBody>
      </p:sp>
      <p:pic>
        <p:nvPicPr>
          <p:cNvPr id="6" name="Image 1" descr="Reference study cropped 4 to 5">    </p:cNvPr>
          <p:cNvPicPr>
            <a:picLocks noChangeAspect="1"/>
          </p:cNvPicPr>
          <p:nvPr/>
        </p:nvPicPr>
        <p:blipFill>
          <a:blip r:embed="rId2"/>
          <a:srcRect l="25000" r="25000" t="0" b="0"/>
          <a:stretch/>
        </p:blipFill>
        <p:spPr>
          <a:xfrm>
            <a:off x="3060700" y="3090614"/>
            <a:ext cx="1625600" cy="203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60700" y="5186114"/>
            <a:ext cx="1676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pic>
        <p:nvPicPr>
          <p:cNvPr id="8" name="Image 2" descr="Reference study cropped 16 to 9">    </p:cNvPr>
          <p:cNvPicPr>
            <a:picLocks noChangeAspect="1"/>
          </p:cNvPicPr>
          <p:nvPr/>
        </p:nvPicPr>
        <p:blipFill>
          <a:blip r:embed="rId3"/>
          <a:srcRect l="0" r="0" t="5000" b="5000"/>
          <a:stretch/>
        </p:blipFill>
        <p:spPr>
          <a:xfrm>
            <a:off x="4838700" y="3408114"/>
            <a:ext cx="304800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38700" y="5186114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pic>
        <p:nvPicPr>
          <p:cNvPr id="10" name="Image 3" descr="Reference study cropped 1 to 1">    </p:cNvPr>
          <p:cNvPicPr>
            <a:picLocks noChangeAspect="1"/>
          </p:cNvPicPr>
          <p:nvPr/>
        </p:nvPicPr>
        <p:blipFill>
          <a:blip r:embed="rId4"/>
          <a:srcRect l="18750" r="18750" t="0" b="0"/>
          <a:stretch/>
        </p:blipFill>
        <p:spPr>
          <a:xfrm>
            <a:off x="8039100" y="3408114"/>
            <a:ext cx="1714500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9100" y="5186114"/>
            <a:ext cx="1765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pic>
        <p:nvPicPr>
          <p:cNvPr id="12" name="Image 4" descr="Reference study cropped 9 to 16">    </p:cNvPr>
          <p:cNvPicPr>
            <a:picLocks noChangeAspect="1"/>
          </p:cNvPicPr>
          <p:nvPr/>
        </p:nvPicPr>
        <p:blipFill>
          <a:blip r:embed="rId5"/>
          <a:srcRect l="32422" r="32422" t="0" b="0"/>
          <a:stretch/>
        </p:blipFill>
        <p:spPr>
          <a:xfrm>
            <a:off x="9906000" y="3090614"/>
            <a:ext cx="1143000" cy="203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06000" y="5186114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the subject on a third and leave the opposite field empty. Keep text in the quiet area, away from the subject.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· THE SIGNATURE SEQUENCE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RING DRAWS. THE SPARK FLASHES. THE QUARTER FILLS.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200870"/>
            <a:ext cx="3424734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pic>
        <p:nvPicPr>
          <p:cNvPr id="5" name="Image 0" descr="Step one: the ring draws as a partial ar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3300" y="2385020"/>
            <a:ext cx="1651000" cy="165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300" y="4612084"/>
            <a:ext cx="314812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· DRAW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3300" y="4970214"/>
            <a:ext cx="31481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ring traces itself.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584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pic>
        <p:nvPicPr>
          <p:cNvPr id="9" name="Image 1" descr="Step two: the full ring with a spark flash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7734" y="2385020"/>
            <a:ext cx="1651000" cy="165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7734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· FLASH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67734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appears once.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48067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pic>
        <p:nvPicPr>
          <p:cNvPr id="13" name="Image 2" descr="Step three: the quarter mass fill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2217" y="2385020"/>
            <a:ext cx="1651000" cy="165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2217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· FILL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32217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quarter settles the mark.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1.5 seconds, ease-out, once. Reduced motion: show the final frame at rest, no animation. Motion tokens: Part B.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IMAGE &amp; MOTION · MOTION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arc crossing the right of the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EXPERIENCE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brand universe, from the screen to the door to the table.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HOMEPAGE AND BOOKING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6756400" cy="463808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4" name="Image 0" descr="GEM logo in beige">    </p:cNvPr>
          <p:cNvPicPr>
            <a:picLocks noChangeAspect="1"/>
          </p:cNvPicPr>
          <p:nvPr/>
        </p:nvPicPr>
        <p:blipFill>
          <a:blip r:embed="rId1"/>
          <a:srcRect l="-355" r="-355" t="0" b="0"/>
          <a:stretch/>
        </p:blipFill>
        <p:spPr>
          <a:xfrm>
            <a:off x="1066800" y="1407120"/>
            <a:ext cx="8890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70120" y="1407120"/>
            <a:ext cx="2545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· DINE · CONTACT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6800" y="4808240"/>
            <a:ext cx="643585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66800" y="5356870"/>
            <a:ext cx="643585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headline and imagery</a:t>
            </a:r>
            <a:endParaRPr lang="en-US" sz="1300" dirty="0"/>
          </a:p>
        </p:txBody>
      </p:sp>
      <p:pic>
        <p:nvPicPr>
          <p:cNvPr id="8" name="Image 1" descr="Decorative ring cropped at the upper right of the homepage concept">    </p:cNvPr>
          <p:cNvPicPr>
            <a:picLocks noChangeAspect="1"/>
          </p:cNvPicPr>
          <p:nvPr/>
        </p:nvPicPr>
        <p:blipFill>
          <a:blip r:embed="rId2"/>
          <a:srcRect l="0" r="0" t="-3619" b="-3619"/>
          <a:stretch/>
        </p:blipFill>
        <p:spPr>
          <a:xfrm>
            <a:off x="812800" y="1203920"/>
            <a:ext cx="6756400" cy="4638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29550" y="1210270"/>
            <a:ext cx="3543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39100" y="1419820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39100" y="2292201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39100" y="176014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39100" y="197346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39100" y="2957612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39100" y="242555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039100" y="263887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039100" y="3090962"/>
            <a:ext cx="3124200" cy="45973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52400" tIns="114300" rIns="67818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AVAILABILITY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039100" y="3677692"/>
            <a:ext cx="32179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Square edges, hairline fields, one clear action.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EXPERIENCE · DIGITAL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MOBILE, CONCIERGE, B2B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413000" cy="4638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38172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· ROOMS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683941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Choose your room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950" y="2058591"/>
            <a:ext cx="204470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607221"/>
            <a:ext cx="2044700" cy="4470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600" y="5247680"/>
            <a:ext cx="20574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45974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203920"/>
            <a:ext cx="4445000" cy="463808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43252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· RESERVATION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47441"/>
            <a:ext cx="3175000" cy="4514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39700" tIns="114300" rIns="5283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may we help with your stay?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8400" y="2300486"/>
            <a:ext cx="2667000" cy="451445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39700" tIns="114300" rIns="6807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[GUEST MESSAGE]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504195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5293370"/>
            <a:ext cx="41074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reservation is set.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77200" y="1203920"/>
            <a:ext cx="3302000" cy="4638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05800" y="1432520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ENQUIRY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5800" y="1747441"/>
            <a:ext cx="293014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05800" y="267831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5800" y="240784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name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05800" y="305673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5800" y="278626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interest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5800" y="5196880"/>
            <a:ext cx="28448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22352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ENQUIRY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EXPERIENCE ·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EXPERIENCE · THE JOURNEY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MOMENTS. ONE BRAND.</a:t>
            </a:r>
            <a:endParaRPr lang="en-US" sz="3200" dirty="0"/>
          </a:p>
        </p:txBody>
      </p:sp>
      <p:pic>
        <p:nvPicPr>
          <p:cNvPr id="4" name="Image 0" descr="A horizontal line with six points along it">    </p:cNvPr>
          <p:cNvPicPr>
            <a:picLocks noChangeAspect="1"/>
          </p:cNvPicPr>
          <p:nvPr/>
        </p:nvPicPr>
        <p:blipFill>
          <a:blip r:embed="rId1"/>
          <a:srcRect l="0" r="0" t="-236" b="-236"/>
          <a:stretch/>
        </p:blipFill>
        <p:spPr>
          <a:xfrm>
            <a:off x="812800" y="3036292"/>
            <a:ext cx="105664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card, welcome, digital check-in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90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90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card, door hanger, amenities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68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68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Menu, table, reservation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6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46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recovery, concierge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4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DEPARTURE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4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Folio, farewell note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0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RETURN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02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Follow-up, invitation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touchpoint, physical or digital, uses the same colour, type, geometry and voice.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EXPERIENCE · JOURNEY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 · KEY CARD, SLEEVE, WELCOME, DIGITAL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302000" cy="209550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4" name="Image 0" descr="Key card with a cropped ring and quarter mas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03920"/>
            <a:ext cx="3302000" cy="2095500"/>
          </a:xfrm>
          <a:prstGeom prst="rect">
            <a:avLst/>
          </a:prstGeom>
        </p:spPr>
      </p:pic>
      <p:pic>
        <p:nvPicPr>
          <p:cNvPr id="5" name="Image 1" descr="GEM logo in beige on the key card">    </p:cNvPr>
          <p:cNvPicPr>
            <a:picLocks noChangeAspect="1"/>
          </p:cNvPicPr>
          <p:nvPr/>
        </p:nvPicPr>
        <p:blipFill>
          <a:blip r:embed="rId2"/>
          <a:srcRect l="-642" r="-642" t="0" b="0"/>
          <a:stretch/>
        </p:blipFill>
        <p:spPr>
          <a:xfrm>
            <a:off x="1016000" y="1407120"/>
            <a:ext cx="1016000" cy="31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6000" y="29083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318000" y="247521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8" name="Text 4"/>
          <p:cNvSpPr/>
          <p:nvPr/>
        </p:nvSpPr>
        <p:spPr>
          <a:xfrm>
            <a:off x="4470400" y="316617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SLEEVE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70400" y="337949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 [PENDING]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24350" y="3878560"/>
            <a:ext cx="25273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 wrap="square" lIns="158750" tIns="6350" rIns="92456" bIns="6350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067550" y="2195810"/>
            <a:ext cx="4305300" cy="2654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02500" y="243076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CARD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02500" y="3091855"/>
            <a:ext cx="395046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302500" y="3475385"/>
            <a:ext cx="39504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a short, warm line of welcome in the GEM voice.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02500" y="440184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ARRIVAL ▸ [PENDING]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EXPERIENCE · ARRIVAL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study of daylight falling on a wall through a window, REFERENCE">    </p:cNvPr>
          <p:cNvPicPr>
            <a:picLocks noChangeAspect="1"/>
          </p:cNvPicPr>
          <p:nvPr/>
        </p:nvPicPr>
        <p:blipFill>
          <a:blip r:embed="rId1"/>
          <a:srcRect l="23958" r="23958" t="0" b="0"/>
          <a:stretch/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200" y="8128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· CONCEPT / NOT PRODUCTION ARTWORK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172200" y="1178520"/>
            <a:ext cx="53632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ROOM SPEAKS SOFTLY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72200" y="271904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58420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HANGER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20150" y="2725390"/>
            <a:ext cx="2552700" cy="1257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770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CARD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72200" y="514161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52209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Stationery and guest notes in Ink and Beige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553149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561087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set as a composed group, with one detail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2800" y="6024959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IMAGE · NOT PRODUCTION PHOTOGRAPHY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DINING · TABLE DETAIL ·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178520"/>
            <a:ext cx="4826000" cy="4297759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4" name="Image 0" descr="Rendered study of pale plates and a small cup arranged on a taupe surface, REFERENCE">    </p:cNvPr>
          <p:cNvPicPr>
            <a:picLocks noChangeAspect="1"/>
          </p:cNvPicPr>
          <p:nvPr/>
        </p:nvPicPr>
        <p:blipFill>
          <a:blip r:embed="rId1"/>
          <a:srcRect l="14909" r="14909" t="0" b="0"/>
          <a:stretch/>
        </p:blipFill>
        <p:spPr>
          <a:xfrm>
            <a:off x="812800" y="1178520"/>
            <a:ext cx="4826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objects, generous space between them.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94400" y="812800"/>
            <a:ext cx="5384800" cy="1427361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7" name="Text 4"/>
          <p:cNvSpPr/>
          <p:nvPr/>
        </p:nvSpPr>
        <p:spPr>
          <a:xfrm>
            <a:off x="6223000" y="104140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· CONCEPT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23000" y="1330920"/>
            <a:ext cx="507542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MENU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23000" y="179824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dishes, one column, wide margins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00750" y="3082280"/>
            <a:ext cx="5372100" cy="96515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5700" y="3317230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 · CONCEPT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700" y="3581350"/>
            <a:ext cx="504926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card, a screen, a confirmation. The same voice each time.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4400" y="4889550"/>
            <a:ext cx="5384800" cy="95245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4" name="Text 11"/>
          <p:cNvSpPr/>
          <p:nvPr/>
        </p:nvSpPr>
        <p:spPr>
          <a:xfrm>
            <a:off x="6223000" y="511815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DINING · CONCEPT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23000" y="538227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Order, request or reserve from one calm screen. [PENDING]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OR ARTWORK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by the right edge with a beige quarter mass in the lower right corn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159000"/>
            <a:ext cx="7848600" cy="173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0" i="0" spc="5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 &amp; PACKAGING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4064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B2B stream, under one master brand.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· THE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Packaging: a descriptor, not a new brand.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77380"/>
            <a:ext cx="3429000" cy="2757289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40121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Core Collection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44794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consistent GEM range. Scope [PENDING]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800" y="2377380"/>
            <a:ext cx="3429000" cy="2757289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9" name="Text 7"/>
          <p:cNvSpPr/>
          <p:nvPr/>
        </p:nvSpPr>
        <p:spPr>
          <a:xfrm>
            <a:off x="4597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7400" y="422542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Property Edition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7400" y="4692749"/>
            <a:ext cx="320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to a property. Scope [PENDING]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1150" y="2383730"/>
            <a:ext cx="3441700" cy="274458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6100" y="26186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6100" y="39994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Bespoke Programme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6100" y="44667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with a partner. Scope [PENDING]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logo, same palette, same type in every tier. Tier names and scope are CONDITIONAL until confirmed against the approval register.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AMENITIES &amp; 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· THE HIERARCHY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 FROM THE TOP, DOWN.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05511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is seen first, then the tier, then the product, and information last. Never reverse the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59400" y="1509464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59400" y="1823789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614239"/>
            <a:ext cx="1332012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22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59400" y="221684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59400" y="2451795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321620"/>
            <a:ext cx="23723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Collection / tier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359400" y="281751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9400" y="299849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922290"/>
            <a:ext cx="91928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59400" y="334709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9400" y="3493145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451870"/>
            <a:ext cx="9304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59400" y="382334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9400" y="395352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928120"/>
            <a:ext cx="8505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59400" y="428178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9400" y="4396085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4386560"/>
            <a:ext cx="106775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59400" y="472246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9400" y="5145336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9400" y="482724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827240"/>
            <a:ext cx="18947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/ artwork 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AMENITIES &amp; PACKAGING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AMENITY FAMILY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148880"/>
            <a:ext cx="2026890" cy="330200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4" name="Image 0" descr="Beige ring detail on the pa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2301280"/>
            <a:ext cx="381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520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20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41290" y="2148880"/>
            <a:ext cx="2026940" cy="330200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9" name="Image 1" descr="Beige ring detail on the pa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93690" y="2301280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369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09369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9369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69830" y="2148880"/>
            <a:ext cx="2026890" cy="3302000"/>
          </a:xfrm>
          <a:prstGeom prst="rect">
            <a:avLst/>
          </a:prstGeom>
          <a:solidFill>
            <a:srgbClr val="BCACA7"/>
          </a:solidFill>
          <a:ln/>
        </p:spPr>
      </p:sp>
      <p:pic>
        <p:nvPicPr>
          <p:cNvPr id="14" name="Image 2" descr="Ink ring detail on the pa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22230" y="230128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223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22223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Wash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2223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198320" y="2148880"/>
            <a:ext cx="2026940" cy="3302000"/>
          </a:xfrm>
          <a:prstGeom prst="rect">
            <a:avLst/>
          </a:prstGeom>
          <a:solidFill>
            <a:srgbClr val="BCACA7"/>
          </a:solidFill>
          <a:ln/>
        </p:spPr>
      </p:sp>
      <p:pic>
        <p:nvPicPr>
          <p:cNvPr id="19" name="Image 3" descr="Ink ring detail on the pa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50720" y="2301280"/>
            <a:ext cx="381000" cy="381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072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5072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Lotion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5072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333210" y="2155230"/>
            <a:ext cx="2039640" cy="328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</p:sp>
      <p:pic>
        <p:nvPicPr>
          <p:cNvPr id="24" name="Image 4" descr="Ink ring detail on the pa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91960" y="2313980"/>
            <a:ext cx="381000" cy="381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91960" y="45340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491960" y="47981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Hand Wash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491960" y="50724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on every pack: volume, ingredients, claims, origin, certifications, supplier, MOQ and price. None are stated.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AMENITIES &amp; PACKAGING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AND FINISHES · DIRECTION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178520"/>
            <a:ext cx="4064000" cy="4297759"/>
          </a:xfrm>
          <a:prstGeom prst="rect">
            <a:avLst/>
          </a:prstGeom>
          <a:solidFill>
            <a:srgbClr val="020202"/>
          </a:solidFill>
          <a:ln/>
        </p:spPr>
      </p:sp>
      <p:pic>
        <p:nvPicPr>
          <p:cNvPr id="4" name="Image 0" descr="Rendered close study of a pale surface with a single fine ring pressed into it, REFERENCE">    </p:cNvPr>
          <p:cNvPicPr>
            <a:picLocks noChangeAspect="1"/>
          </p:cNvPicPr>
          <p:nvPr/>
        </p:nvPicPr>
        <p:blipFill>
          <a:blip r:embed="rId1"/>
          <a:srcRect l="20450" r="20450" t="0" b="0"/>
          <a:stretch/>
        </p:blipFill>
        <p:spPr>
          <a:xfrm>
            <a:off x="812800" y="1178520"/>
            <a:ext cx="4064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pressed ring, one surface, one gesture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340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uncoated stock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566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566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board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340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340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566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66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Deboss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340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40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emboss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3566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566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Soft-touch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34000" y="178365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4000" y="186303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die-cut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334000" y="3200450"/>
            <a:ext cx="6045200" cy="1117501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21" name="Text 18"/>
          <p:cNvSpPr/>
          <p:nvPr/>
        </p:nvSpPr>
        <p:spPr>
          <a:xfrm>
            <a:off x="5537200" y="3378250"/>
            <a:ext cx="580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37200" y="3642370"/>
            <a:ext cx="580796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Decorative gold, holographic, chrome, heavy foil, gloss-heavy cues.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34000" y="5415359"/>
            <a:ext cx="62265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before shine. Finish suppliers, stock weights and tolerances are [REQUIRES OWNER] and belong in Part C.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AMENITIES &amp; PACKAGING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with an opening, cropped by the left edg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Wayfinding, signage and the physical expression of GEM.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 AND ENVIRONMENT · PRINCIPLES · CONCEPT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3378200" cy="3590429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pic>
        <p:nvPicPr>
          <p:cNvPr id="5" name="Image 0" descr="Arrow pointing 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4108549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1000" y="4141589"/>
            <a:ext cx="98667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394200" y="1203920"/>
            <a:ext cx="3378200" cy="3590429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8" name="Text 5"/>
          <p:cNvSpPr/>
          <p:nvPr/>
        </p:nvSpPr>
        <p:spPr>
          <a:xfrm>
            <a:off x="46228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22800" y="3676749"/>
            <a:ext cx="3008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spc="2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000</a:t>
            </a:r>
            <a:endParaRPr lang="en-US" sz="7000" dirty="0"/>
          </a:p>
        </p:txBody>
      </p:sp>
      <p:sp>
        <p:nvSpPr>
          <p:cNvPr id="10" name="Shape 7"/>
          <p:cNvSpPr/>
          <p:nvPr/>
        </p:nvSpPr>
        <p:spPr>
          <a:xfrm>
            <a:off x="7981950" y="1210270"/>
            <a:ext cx="3390900" cy="357772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16900" y="14452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ORDER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9270" y="3791099"/>
            <a:ext cx="30086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[عربي]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16900" y="4233019"/>
            <a:ext cx="300863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[ENGLISH]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4972149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direction, one message per sign. Read left to right in English, right to left in Arabic; bilingual signs set both with equal care. Geometry is shared with the brand.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PROJECT-SPECIFIC / REQUIRES SITE VALIDATION · ARABIC: PENDING LOCALIZATION APPROVAL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ENVIRONMENT · WAYFINDING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 LANGUAGE · EN · AR · BILINGUAL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HIERARCHY, THREE FORMS.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22041"/>
            <a:ext cx="3437434" cy="34901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25241"/>
            <a:ext cx="31219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1200" dirty="0"/>
          </a:p>
        </p:txBody>
      </p:sp>
      <p:pic>
        <p:nvPicPr>
          <p:cNvPr id="6" name="Image 0" descr="Information glyp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064099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" y="4546699"/>
            <a:ext cx="31219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77234" y="1722041"/>
            <a:ext cx="3437483" cy="34901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489501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العربية</a:t>
            </a:r>
            <a:endParaRPr lang="en-US" sz="1200" dirty="0"/>
          </a:p>
        </p:txBody>
      </p:sp>
      <p:pic>
        <p:nvPicPr>
          <p:cNvPr id="10" name="Image 1" descr="Information glyp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05117" y="3992959"/>
            <a:ext cx="40640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3681" y="4475559"/>
            <a:ext cx="17378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7941717" y="1722041"/>
            <a:ext cx="3437483" cy="3490119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3" name="Text 9"/>
          <p:cNvSpPr/>
          <p:nvPr/>
        </p:nvSpPr>
        <p:spPr>
          <a:xfrm>
            <a:off x="8144917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53984" y="4104779"/>
            <a:ext cx="312201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144917" y="4617839"/>
            <a:ext cx="31220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2800" y="54153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Glyph, then name. High contrast, generous spacing, matte material direction. No dimensions are given. Arabic is a working string, PENDING LOCALIZATION APPROVAL. PROJECT-SPECIFIC / REQUIRES SITE VALIDATION.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ENVIRONMENT · SIGNAGE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AND B2B · CONCEPT / NOT PRODUCTION ARTWORK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10270"/>
            <a:ext cx="3289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pic>
        <p:nvPicPr>
          <p:cNvPr id="4" name="Image 0" descr="GEM logo in black on the letterhead concept">    </p:cNvPr>
          <p:cNvPicPr>
            <a:picLocks noChangeAspect="1"/>
          </p:cNvPicPr>
          <p:nvPr/>
        </p:nvPicPr>
        <p:blipFill>
          <a:blip r:embed="rId1"/>
          <a:srcRect l="0" r="0" t="-24" b="-24"/>
          <a:stretch/>
        </p:blipFill>
        <p:spPr>
          <a:xfrm>
            <a:off x="1054100" y="1445220"/>
            <a:ext cx="114300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4100" y="3482975"/>
            <a:ext cx="1651000" cy="254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6" name="Shape 3"/>
          <p:cNvSpPr/>
          <p:nvPr/>
        </p:nvSpPr>
        <p:spPr>
          <a:xfrm>
            <a:off x="1054100" y="3584575"/>
            <a:ext cx="1270000" cy="2540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7" name="Shape 4"/>
          <p:cNvSpPr/>
          <p:nvPr/>
        </p:nvSpPr>
        <p:spPr>
          <a:xfrm>
            <a:off x="1054100" y="3686175"/>
            <a:ext cx="1460500" cy="2540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8" name="Text 5"/>
          <p:cNvSpPr/>
          <p:nvPr/>
        </p:nvSpPr>
        <p:spPr>
          <a:xfrm>
            <a:off x="1054100" y="5387380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LETTERHEAD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2600" y="1203920"/>
            <a:ext cx="4241800" cy="245874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0" name="Text 7"/>
          <p:cNvSpPr/>
          <p:nvPr/>
        </p:nvSpPr>
        <p:spPr>
          <a:xfrm>
            <a:off x="4495800" y="140712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5800" y="2677220"/>
            <a:ext cx="395046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92600" y="3789660"/>
            <a:ext cx="2044700" cy="205234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3" name="Text 10"/>
          <p:cNvSpPr/>
          <p:nvPr/>
        </p:nvSpPr>
        <p:spPr>
          <a:xfrm>
            <a:off x="4470400" y="5237559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70400" y="54508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[PENDING]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70650" y="3796010"/>
            <a:ext cx="2057400" cy="20396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4800" y="5011539"/>
            <a:ext cx="1739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 SHEET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4800" y="54381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[PENDING]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18550" y="1210270"/>
            <a:ext cx="2654300" cy="23063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84150" tIns="184150" rIns="115570" bIns="1841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SHEET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31250" y="3649960"/>
            <a:ext cx="0" cy="2192040"/>
          </a:xfrm>
          <a:prstGeom prst="line">
            <a:avLst/>
          </a:prstGeom>
          <a:noFill/>
          <a:ln w="38100">
            <a:solidFill>
              <a:srgbClr val="12171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02700" y="5250259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SIGNATURE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02700" y="5501680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 · [ROLE] · GEM™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ENVIRONMENT · CORPORATE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PRESENTATIONS · PHILOSOPHY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10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IDEA PER SLIDE. SPACE DOES THE REST.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649661"/>
            <a:ext cx="3424734" cy="1888480"/>
          </a:xfrm>
          <a:prstGeom prst="rect">
            <a:avLst/>
          </a:prstGeom>
          <a:solidFill>
            <a:srgbClr val="12171D"/>
          </a:solidFill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38609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77234" y="1643311"/>
            <a:ext cx="3437483" cy="190118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31496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DIVIDER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41717" y="1643311"/>
            <a:ext cx="3437434" cy="1901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0" tIns="127000" rIns="31497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3671491"/>
            <a:ext cx="3437434" cy="21705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39800" y="5501680"/>
            <a:ext cx="5607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pic>
        <p:nvPicPr>
          <p:cNvPr id="9" name="Image 0" descr="Simple bar mark for a data sl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61234" y="5207000"/>
            <a:ext cx="762000" cy="5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77234" y="3671491"/>
            <a:ext cx="3437483" cy="2170509"/>
          </a:xfrm>
          <a:prstGeom prst="rect">
            <a:avLst/>
          </a:prstGeom>
          <a:solidFill>
            <a:srgbClr val="020202"/>
          </a:solidFill>
          <a:ln/>
        </p:spPr>
      </p:sp>
      <p:pic>
        <p:nvPicPr>
          <p:cNvPr id="11" name="Image 1" descr="Reference study used for the image-led slide concept">    </p:cNvPr>
          <p:cNvPicPr>
            <a:picLocks noChangeAspect="1"/>
          </p:cNvPicPr>
          <p:nvPr/>
        </p:nvPicPr>
        <p:blipFill>
          <a:blip r:embed="rId2"/>
          <a:srcRect l="509" r="509" t="0" b="0"/>
          <a:stretch/>
        </p:blipFill>
        <p:spPr>
          <a:xfrm>
            <a:off x="4377234" y="3671491"/>
            <a:ext cx="3437483" cy="21705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7234" y="5527080"/>
            <a:ext cx="1267321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IMAGE-LED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41717" y="3671491"/>
            <a:ext cx="3437434" cy="2170509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4" name="Text 10"/>
          <p:cNvSpPr/>
          <p:nvPr/>
        </p:nvSpPr>
        <p:spPr>
          <a:xfrm>
            <a:off x="7973214" y="3798491"/>
            <a:ext cx="32789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[عربي]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68717" y="5501680"/>
            <a:ext cx="3278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024959"/>
            <a:ext cx="71945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ARABIC: PENDING LOCALIZATION APPROVAL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AND CAMPAIGN · CONCEPT / NOT PRODUCTION ARTWORK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in the feed is a strength.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2989014"/>
            <a:ext cx="2159000" cy="215900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5" name="Image 0" descr="Square post with a cropped r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989014"/>
            <a:ext cx="2159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200" y="4800054"/>
            <a:ext cx="1701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211514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49600" y="2766764"/>
            <a:ext cx="1905000" cy="238125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9" name="Text 6"/>
          <p:cNvSpPr/>
          <p:nvPr/>
        </p:nvSpPr>
        <p:spPr>
          <a:xfrm>
            <a:off x="3302000" y="4800054"/>
            <a:ext cx="1574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49600" y="5211514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2400" y="2779464"/>
            <a:ext cx="1333500" cy="236855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12" name="Image 1" descr="Story with a cropped quarter mas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2400" y="2779464"/>
            <a:ext cx="1333500" cy="2368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9400" y="2957264"/>
            <a:ext cx="113030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32400" y="5211514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743700" y="3293814"/>
            <a:ext cx="3302000" cy="18542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6" name="Text 12"/>
          <p:cNvSpPr/>
          <p:nvPr/>
        </p:nvSpPr>
        <p:spPr>
          <a:xfrm>
            <a:off x="6921500" y="4746724"/>
            <a:ext cx="2485390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43700" y="5211514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form, one line, one spark at most. No loud colour, no stickers, no gradients.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ENVIRONMENT · SOCIAL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at the top 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STEWARDSHIP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governance, status and what remains open.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0" i="0" spc="9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Luxury must remain usable.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on White 18.0. Beige on Ink 8.2. Never Beige on White.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44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44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544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sizes, clear hierarchy, no text over busy images.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and motion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focus. Reduced motion is honoured.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76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76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76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by colour alone. Add a word, a glyph or a shape.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shaping and direction. Native QA pending.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544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44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544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and contrast rules validated per site.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60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60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Inclusive, candid, respectful people. Alt text always.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376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76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37600" y="4389090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2.2 AA. Detail in Part B.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ACCESSIBILITY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GOVERNANCE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EIGHT ROLES KEEP GEM EXACT.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781770"/>
            <a:ext cx="2533650" cy="1723082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1940520"/>
            <a:ext cx="22826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Owner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7900" y="3132782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2500" y="1781770"/>
            <a:ext cx="2533650" cy="1723082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1250" y="1940520"/>
            <a:ext cx="22826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 Custodian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1250" y="3132782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5850" y="1781770"/>
            <a:ext cx="2533650" cy="1723082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4600" y="1940520"/>
            <a:ext cx="22826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600" y="3132782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39200" y="1781770"/>
            <a:ext cx="2533650" cy="1723082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7950" y="1940520"/>
            <a:ext cx="22826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7950" y="3132782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150" y="3644553"/>
            <a:ext cx="2533650" cy="1723132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900" y="3803303"/>
            <a:ext cx="22826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Localization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7900" y="4995614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92500" y="3644553"/>
            <a:ext cx="2533650" cy="1723132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1250" y="3803303"/>
            <a:ext cx="22826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1250" y="4995614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5850" y="3644553"/>
            <a:ext cx="2533650" cy="1723132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4600" y="3803303"/>
            <a:ext cx="22826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4600" y="4995614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39200" y="3644553"/>
            <a:ext cx="2533650" cy="1723132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7950" y="3803303"/>
            <a:ext cx="22826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Legal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97950" y="4995614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are defined; named holders are not yet assigned. Release authorization (AC20) rests with the Brand Owner.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GOVERNANCE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STATUS · FOUR LABELS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claim in V3 says how settled it 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530475" cy="3443684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APPROVED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7085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Final. Use as written. Not reopened.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0275" y="1930350"/>
            <a:ext cx="2530475" cy="3443684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8" name="Text 6"/>
          <p:cNvSpPr/>
          <p:nvPr/>
        </p:nvSpPr>
        <p:spPr>
          <a:xfrm>
            <a:off x="3673475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73475" y="4477445"/>
            <a:ext cx="218779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once stated evidence or conditions are met.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37275" y="1939875"/>
            <a:ext cx="2549525" cy="3424634"/>
          </a:xfrm>
          <a:prstGeom prst="rect">
            <a:avLst/>
          </a:prstGeom>
          <a:noFill/>
          <a:ln w="19050">
            <a:solidFill>
              <a:srgbClr val="12171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350000" y="2152600"/>
            <a:ext cx="2187797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PENDING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0000" y="468952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state. Do not present as final.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9675" y="1936700"/>
            <a:ext cx="2543175" cy="3430984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9225" y="21462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39225" y="46958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or historical. Not for production.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602635"/>
            <a:ext cx="1137920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 are always written as words, never signalled by colour alone. Placeholders: [PENDING], [TO BE VERIFIED],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STATUS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LIBRARY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TEN FOLDERS. ONE SOURCE.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363270"/>
            <a:ext cx="405511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approved artwork lives in the library. Anything pending is labelled and kept apart.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594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594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Masters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693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93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Packaging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594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94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&amp; Color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693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93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594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94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Imagery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693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93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Localization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594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94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693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93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Governance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594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94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94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693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93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93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ASSETS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NAMING · THE CONVENTION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name should say what it 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500"/>
            <a:ext cx="10553700" cy="13817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2298650"/>
            <a:ext cx="1012469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GEM_[Category]_[Asset]_[Variant]_vX.Y.ext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1100" y="2826941"/>
            <a:ext cx="10124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GEM_Logo_Horizontal_Black_v3.0.svg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spaces. Short, predictable names. The category follows the asset library folder.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6517" y="3632746"/>
            <a:ext cx="3318966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6517" y="3737521"/>
            <a:ext cx="3418535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"final", "new" or "latest". No dates in the name unless a regulatory or production workflow requires one. The version number carries asset history.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0283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0283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date, checksum, owner, source and release status live in the asset manifest, not the filename. Pending or reference files use controlled status metadata, not filename variants.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STEWARDSHIP · NAMING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187260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space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36279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proportion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285298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approved artwork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2800" y="334317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restraint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2800" y="383336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details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800" y="432355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hierarchy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16" name="Text 14"/>
          <p:cNvSpPr/>
          <p:nvPr/>
        </p:nvSpPr>
        <p:spPr>
          <a:xfrm>
            <a:off x="67056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DON'T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6705600" y="187260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56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05600" y="236279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56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05600" y="28529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56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Over-colour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05600" y="33431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56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Over-round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05600" y="38333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56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Over-brand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705600" y="432355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56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generic luxury cues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SUMMARY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1203920"/>
            <a:ext cx="2546350" cy="2260600"/>
          </a:xfrm>
          <a:prstGeom prst="rect">
            <a:avLst/>
          </a:prstGeom>
          <a:solidFill>
            <a:srgbClr val="12171D"/>
          </a:solidFill>
          <a:ln/>
        </p:spPr>
      </p:sp>
      <p:pic>
        <p:nvPicPr>
          <p:cNvPr id="4" name="Image 0" descr="GEM logo in beige">    </p:cNvPr>
          <p:cNvPicPr>
            <a:picLocks noChangeAspect="1"/>
          </p:cNvPicPr>
          <p:nvPr/>
        </p:nvPicPr>
        <p:blipFill>
          <a:blip r:embed="rId1"/>
          <a:srcRect l="-240" r="-240" t="0" b="0"/>
          <a:stretch/>
        </p:blipFill>
        <p:spPr>
          <a:xfrm>
            <a:off x="965200" y="1356320"/>
            <a:ext cx="127000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· 1u min, 2u preferred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9250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1250" y="1369020"/>
            <a:ext cx="547688" cy="38100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8" name="Shape 5"/>
          <p:cNvSpPr/>
          <p:nvPr/>
        </p:nvSpPr>
        <p:spPr>
          <a:xfrm>
            <a:off x="4198938" y="1369020"/>
            <a:ext cx="547688" cy="38100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9" name="Shape 6"/>
          <p:cNvSpPr/>
          <p:nvPr/>
        </p:nvSpPr>
        <p:spPr>
          <a:xfrm>
            <a:off x="4746625" y="1369020"/>
            <a:ext cx="547688" cy="381000"/>
          </a:xfrm>
          <a:prstGeom prst="rect">
            <a:avLst/>
          </a:prstGeom>
          <a:solidFill>
            <a:srgbClr val="020202"/>
          </a:solidFill>
          <a:ln/>
        </p:spPr>
      </p:sp>
      <p:sp>
        <p:nvSpPr>
          <p:cNvPr id="10" name="Shape 7"/>
          <p:cNvSpPr/>
          <p:nvPr/>
        </p:nvSpPr>
        <p:spPr>
          <a:xfrm>
            <a:off x="5300663" y="1375370"/>
            <a:ext cx="560388" cy="368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125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 · Ink, Beige, Black, White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6585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24600" y="1369020"/>
            <a:ext cx="22826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 + Inter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2460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· Arabic: interim, pending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832850" y="1203920"/>
            <a:ext cx="2546350" cy="2260600"/>
          </a:xfrm>
          <a:prstGeom prst="rect">
            <a:avLst/>
          </a:prstGeom>
          <a:solidFill>
            <a:srgbClr val="BCACA7"/>
          </a:solidFill>
          <a:ln/>
        </p:spPr>
      </p:sp>
      <p:sp>
        <p:nvSpPr>
          <p:cNvPr id="16" name="Text 13"/>
          <p:cNvSpPr/>
          <p:nvPr/>
        </p:nvSpPr>
        <p:spPr>
          <a:xfrm>
            <a:off x="8985250" y="1356320"/>
            <a:ext cx="23087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1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8525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fixed, never altered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915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pic>
        <p:nvPicPr>
          <p:cNvPr id="19" name="Image 1" descr="Ring, arc, quarter and spark in a row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7900" y="3756620"/>
            <a:ext cx="1524000" cy="381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77900" y="5250259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· one spark maximum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9250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1250" y="3756620"/>
            <a:ext cx="2282635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Measured. Warm. Confident. Precise.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651250" y="54635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59500" y="3591520"/>
            <a:ext cx="5219700" cy="2250480"/>
          </a:xfrm>
          <a:prstGeom prst="rect">
            <a:avLst/>
          </a:prstGeom>
          <a:solidFill>
            <a:srgbClr val="12171D"/>
          </a:solidFill>
          <a:ln/>
        </p:spPr>
      </p:sp>
      <p:sp>
        <p:nvSpPr>
          <p:cNvPr id="25" name="Text 21"/>
          <p:cNvSpPr/>
          <p:nvPr/>
        </p:nvSpPr>
        <p:spPr>
          <a:xfrm>
            <a:off x="6311900" y="3743920"/>
            <a:ext cx="50623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gold, gradients, shadows, accent colours, Beige on White, over-rounding, or SaaS styling.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11900" y="5476280"/>
            <a:ext cx="50623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PROHIBITIONS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SUMMARY · QUICK REFERENCE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VALIDATION ITEMS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IS NOT YET SETTLED.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logo masters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PENDING PRODUCTION MASTER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proof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PENDING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Trademark and ownership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[TO BE VERIFIED]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standards, Part C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PENDING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build validation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PENDING VALIDATION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implementation QA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PENDING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rights and commissioned photography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PENDING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holders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[REQUIRES OWNER]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native QA and localization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PENDING VALIDATION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authorization, AC20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[REQUIRES OWNER]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· PART A · SUMMARY · OPEN 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geometry: a large beige ring cropped at the lower right and a beige quarter mass in the corn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logo, horizontal signature in beige">    </p:cNvPr>
          <p:cNvPicPr>
            <a:picLocks noChangeAspect="1"/>
          </p:cNvPicPr>
          <p:nvPr/>
        </p:nvPicPr>
        <p:blipFill>
          <a:blip r:embed="rId2"/>
          <a:srcRect l="0" r="0" t="-24" b="-24"/>
          <a:stretch/>
        </p:blipFill>
        <p:spPr>
          <a:xfrm>
            <a:off x="812800" y="812800"/>
            <a:ext cx="2667000" cy="8445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5572770"/>
            <a:ext cx="71945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 V3.0 · Part A · Working edition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 Brand Guidelines V3.0 — Part A">
  <a:themeElements>
    <a:clrScheme name="GEM Brand Guidelines V3.0 — Part A">
      <a:dk1>
        <a:srgbClr val="12171D"/>
      </a:dk1>
      <a:lt1>
        <a:srgbClr val="FFFFFF"/>
      </a:lt1>
      <a:dk2>
        <a:srgbClr val="4D5156"/>
      </a:dk2>
      <a:lt2>
        <a:srgbClr val="E7E8E8"/>
      </a:lt2>
      <a:accent1>
        <a:srgbClr val="BCACA7"/>
      </a:accent1>
      <a:accent2>
        <a:srgbClr val="9AA0A6"/>
      </a:accent2>
      <a:accent3>
        <a:srgbClr val="717477"/>
      </a:accent3>
      <a:accent4>
        <a:srgbClr val="949799"/>
      </a:accent4>
      <a:accent5>
        <a:srgbClr val="B8B9BB"/>
      </a:accent5>
      <a:accent6>
        <a:srgbClr val="D0D1D2"/>
      </a:accent6>
      <a:hlink>
        <a:srgbClr val="0563C1"/>
      </a:hlink>
      <a:folHlink>
        <a:srgbClr val="954F72"/>
      </a:folHlink>
    </a:clrScheme>
    <a:fontScheme name="GEM Brand Guidelines V3.0 — Part A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Brand Guidelines V3.0 — Part A</dc:title>
  <dc:subject/>
  <dc:creator/>
  <cp:lastModifiedBy/>
  <cp:revision>1</cp:revision>
  <dcterms:created xsi:type="dcterms:W3CDTF">2026-10-06T01:30:59Z</dcterms:created>
  <dcterms:modified xsi:type="dcterms:W3CDTF">2026-10-06T01:30:59Z</dcterms:modified>
</cp:coreProperties>
</file>