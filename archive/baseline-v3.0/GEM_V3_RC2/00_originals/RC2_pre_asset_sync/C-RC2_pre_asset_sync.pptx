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3" r:id="rId84"/>
    <p:sldId id="332" r:id="rId78"/>
  </p:sldIdLst>
  <p:notesMasterIdLst>
    <p:notesMasterId r:id="rId7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8.xml"/><Relationship Id="rId79" Type="http://schemas.openxmlformats.org/officeDocument/2006/relationships/notesMaster" Target="notesMasters/notesMaster1.xml"/><Relationship Id="rId80" Type="http://schemas.openxmlformats.org/officeDocument/2006/relationships/presProps" Target="presProps.xml"/><Relationship Id="rId81" Type="http://schemas.openxmlformats.org/officeDocument/2006/relationships/viewProps" Target="viewProps.xml"/><Relationship Id="rId82" Type="http://schemas.openxmlformats.org/officeDocument/2006/relationships/theme" Target="theme/theme1.xml"/><Relationship Id="rId83" Type="http://schemas.openxmlformats.org/officeDocument/2006/relationships/tableStyles" Target="tableStyles.xml"/><Relationship Id="rId84" Type="http://schemas.openxmlformats.org/officeDocument/2006/relationships/slide" Target="slides/slide7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Cover. Part C governs physical production and supplier release. Edition: V3.0 Release Candidate 2 (RC2), a working edition synchronized with Part A and Part B RC2 and the V3 Final Brand Approval Register. It may be labelled APPROVED PRODUCTION STANDARD only when the six release gates are met and the Brand Owner authorizes release (AC20). Logo is the supplied raster artwork, not a production master (VAL-02). Document control and change log: slide 77.</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Authority order shared with Part A slide 3 and Part B (RF01, RF02, DS01). Part A governs what GEM should look and feel like, Part B digital implementation, Part C physical production and supplier release; where domains differ, the owning document governs unless the register overrides it. Approved brand decisions in the register are not reopened here.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status is shown as a word and a border style, never by colour alone: filled, solid, dashed, dotted. A proof level or release is never called approved unless the evidence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Role names follow the register's twelve-role list; Part A slide 72 is the canonical statement. The allocation of prepare / check / approve / release / archive is a proposed framework for the Brand Owner to confirm (A06, AC19). No names are supplied.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is the control. Release at step 13 is a distinct act, taken only after final approval at step 12. A formally approved bypass must be recorded in the job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Raster files supplied with Part A are references for layout, not production masters. No file may be traced, redrawn or rebuilt to fill a gap; the owner must supply the vector master.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Provenance lets any released item be traced back to the exact master. Checksum, owner and approval date live in the manifest, not in the filename.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of each process test are recorded in the asset manifest and the process-specific production record, then carried back here as evidence-based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Clearspace and digital minimums are approved in Part A. Physical minimums depend on process and substrate and must come from actual tests; no conversion from pixels is allowed.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colours and their HEX values are approved brand identity references. They define digital appearance only. Print and physical values must be validated per process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build is stated until step 5 is complete. The archived value is recorded against the process, substrate and job in the asset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Dashed borders mean PENDING VALIDATION. Tolerances are evidence-based and process-specific; they are recorded with the colour proof approval form (appendix 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Black is not the default text colour. Substitution of one for the other is a production deviation (see the deviation request).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Typography architecture follows Part A and Part B. Part C adds the control: no font is released to a supplier without a recorded source, licence owner and 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Outline after final proof only, so a late text correction never requires editing outlined shapes. Record the source file ID next to the outlined file in the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Arabic mechanics and numeral mechanics follow Part B (M11, M12, DS06): guest-facing Arabic may use Arabic-Indic numerals where approved for the locale or property; technical identifiers always remain Latin digits. Part A states the principle; Part B owns the implementation rule. Locale policy is pending sign-off.</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Preflight is run internally at workflow step 6, before the supplier proof. The same list is the supplier's check at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diagram shows relationships only; proportions are illustrative and not dimensions. Brand safe areas protect the identity; structural tolerances belong to the supplier's dieline.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export recipe is agreed with each printer and recorded in the job record. Where the standard is pending, the supplier's written workflow governs after Brand Owner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Direction carried from Part A. These are principles, not process specifications; every process still needs its own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stock is approved. The first approved sample becomes the reference, recorded in the golden sample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finish is a brand direction, not a specification. Trial results are recorded in the material and finish approval form (appendix 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Status: NOT DEFAULT. Any metallic process is [PROJECT-SPECIFIC] and requires all three steps before release.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Tiers are carried from Part A slide 60 with the same status: CONDITIONAL under AC03 / VAL-01. No packaging data is invented here.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products come from Part A. Every attribute is a placeholder until a packaging master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Hierarchy approved in the register (T05) and stated in Part A slide 61. Type sizes per level are [PENDING PRODUCTION MASTER] and set per dieline.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Template of the SKU master record. The blank working form is appendix F. Technical identifiers always use Latin digits.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schematic shows line roles only: dashed outer = bleed, solid = trim, inner = safe area. It carries no dimensions. The dieline approval record is appendix 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structural specification exists in the source set. Each line is closed only by a supplier proof recorded in the material and finish approval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six items are [REGULATORY REVIEW REQUIRED]. Approvals are recorded in the regulatory copy approval record, appendix 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Symbology, size and quiet zones follow the retail and regulatory standard for the market. They are not set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Verbal direction is carried from Part A. The tagline stays in English unless a translation is explicitly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Recorded on the physical sample approval form (appendix I). Packaging physical proof is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Environmental identity is PROJECT-SPECIFIC. Site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register lists the principle types from Part A. Each project adds its own rows with site data. Safety signage follows the local code, not GEM style.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Vector, text outlined, one file per sign type and version. Supplier scaling is proportional only; it never licenses redrawing or re-spacing. Schematic shows zones only, no sizes. Approval is recorded on the signage fabrication approval form, appendix J; limitations go to appendix 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Bilingual order follows register decision S07 and Part A slide 65: Arabic first and right, English secondary and left, with equivalent information and legibility. Arabic native QA is an open validation gate (VAL-07). Working Arabic text is never treated as approved copy.</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tactile value is invented. A local accessibility specialist confirms the code for each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Approved sample is logged in the golden sample register. Fabrication begins only after sign-off on appendix 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paper size is fixed because market formats differ. Each template is released as a production master with its own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Large-format values come from the printer and the site. A full-size proof is mandatory before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items stay visible in the brief. The supplier is told what is not yet decided, so no gap is filled by guessing.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Form is appendix B. Production does not start until the acknowledgement is returned and filed.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Hierarchy P1–P5 retained. Which level each job needs is set on the release form (appendix A). Skipping a level is a deviation (appendix K). Method and tolerance for each level are [PENDING].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golden sample exists yet. Register form is appendix M. Until a sample is signed, no production run has a physical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Request form is appendix K. Decision holder is [REQUIRES OWNER].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Acceptance limits and sampling plan are not defined. They are set from golden sample trials and supplier capability.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Inspection result is recorded on the physical sample approval form, appendix 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Batch coding scheme is not defined and is owned by the supplier and regulatory reviewer.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 form is appendix L. Nothing nonconforming ships without a recorded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Convention carried from Part A. Category and variant lists follow the asset library.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Working form is appendix N. Artwork ownership is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Archive folder follows the Part A asset library. Retention length is not set.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Release form. A RELEASED state is blocked while mandatory open items remain. Release authorization holder is [REQUIRES OWNER]. No technical values are pre-filled.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Returned before any production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Mirrors the eighteen checks on the preflight slide. Mark P (pass), F (fail) or N/A. N/A only where the check does not apply to the job, with a note. No technical values are pre-filled; colour profile and output intent are [PENDING PREPRESS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Colour proof approval. No Delta E tolerance is stated or implied. Physical colour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Material and finish approval. Records the trials that close pending finish and material items.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Blank copy of the SKU master record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dimension is pre-filled.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Brand never edits regulatory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Physical sample approval. An approved sample may be promoted to golden sample and logged in appendix 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Signage fabrication approval. Artwork is scaled proportionally only; any adaptation goes to appendix K. Site standards are an open validation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Deviation request. Raised by the supplier, never actioned independently. Accepted deviations are logged in appendix 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Non-conformance report. Nothing nonconforming ships without a recorded disposition.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Golden sample register. No sample exists yet. Review intervals are not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Twenty-two fields per record. Release status uses APPROVED, CONDITIONAL, PENDING VALIDATION or REFERENCE. Artwork ownership is an open validation gate; checksum algorithm is not yet 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change log. Links to appendix K (deviations) and appendix N (manifest).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seventeen items are PENDING VALIDATION and map to the register's VAL and AC identifiers; Part A slide 78 lists the same IDs. Each closes only with evidence logged in the asset manifest and change log.</a:t>
            </a:r>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edition is Release Candidate 2, a working edition. No gate is closed; gate IDs follow the register.</a:t>
            </a:r>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Document control per register A11 and the change-log requirement (Z24, AB19). Appendix O remains the production change log for assets and standards; this slide records the edition history of Part C itself.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793180"/>
            <a:ext cx="10566400" cy="425202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p:bgPr>
    </p:bg>
    <p:spTree>
      <p:nvGrpSpPr>
        <p:cNvPr id="1" name=""/>
        <p:cNvGrpSpPr/>
        <p:nvPr/>
      </p:nvGrpSpPr>
      <p:grpSpPr>
        <a:xfrm>
          <a:off x="0" y="0"/>
          <a:ext cx="0" cy="0"/>
          <a:chOff x="0" y="0"/>
          <a:chExt cx="0" cy="0"/>
        </a:xfrm>
      </p:grpSpPr>
      <p:sp>
        <p:nvSpPr>
          <p:cNvPr id="2" name="Title Placeholder 1"/>
          <p:cNvSpPr/>
          <p:nvPr>
            <p:ph type="title"/>
          </p:nvPr>
        </p:nvSpPr>
        <p:spPr>
          <a:xfrm>
            <a:off x="812800" y="1153120"/>
            <a:ext cx="10566400" cy="335260"/>
          </a:xfrm>
          <a:prstGeom prst="rect">
            <a:avLst/>
          </a:prstGeom>
          <a:noFill/>
          <a:ln/>
        </p:spPr>
        <p:txBody>
          <a:bodyPr wrap="square" lIns="0" tIns="0" rIns="0" bIns="0" rtlCol="0" anchor="t"/>
          <a:lstStyle>
            <a:lvl1pPr algn="l" indent="0" marL="0">
              <a:lnSpc>
                <a:spcPct val="115000"/>
              </a:lnSpc>
              <a:buNone/>
              <a:defRPr lang="en-US" sz="2400" dirty="0">
                <a:solidFill>
                  <a:srgbClr val="12171D"/>
                </a:solidFill>
                <a:latin typeface="Jost" pitchFamily="34" charset="0"/>
                <a:ea typeface="Jost" pitchFamily="34" charset="-122"/>
                <a:cs typeface="Jost" pitchFamily="34" charset="-120"/>
              </a:defRPr>
            </a:lvl1pPr>
          </a:lstStyle>
          <a:p>
            <a:pPr algn="l" indent="0" marL="0">
              <a:lnSpc>
                <a:spcPct val="115000"/>
              </a:lnSpc>
              <a:buNone/>
            </a:pPr>
            <a:endParaRPr lang="en-US" sz="2400" dirty="0"/>
          </a:p>
        </p:txBody>
      </p:sp>
      <p:sp>
        <p:nvSpPr>
          <p:cNvPr id="3" name="Text Placeholder 2"/>
          <p:cNvSpPr/>
          <p:nvPr>
            <p:ph idx="101" type="body"/>
          </p:nvPr>
        </p:nvSpPr>
        <p:spPr>
          <a:xfrm>
            <a:off x="812800" y="1793180"/>
            <a:ext cx="10566400" cy="4252020"/>
          </a:xfrm>
          <a:prstGeom prst="rect">
            <a:avLst/>
          </a:prstGeom>
          <a:noFill/>
          <a:ln/>
        </p:spPr>
        <p:txBody>
          <a:bodyPr wrap="square" lIns="0" tIns="0" rIns="0" bIns="0" rtlCol="0" anchor="t"/>
          <a:lstStyle>
            <a:lvl1pPr algn="l" indent="0" marL="0">
              <a:lnSpc>
                <a:spcPct val="140000"/>
              </a:lnSpc>
              <a:buNone/>
              <a:defRPr lang="en-US" sz="1600" dirty="0">
                <a:solidFill>
                  <a:srgbClr val="12171D"/>
                </a:solidFill>
                <a:latin typeface="Inter" pitchFamily="34" charset="0"/>
                <a:ea typeface="Inter" pitchFamily="34" charset="-122"/>
                <a:cs typeface="Inter" pitchFamily="34" charset="-120"/>
              </a:defRPr>
            </a:lvl1pPr>
          </a:lstStyle>
          <a:p>
            <a:pPr algn="l" indent="0" marL="0">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2.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8.xml.rels><?xml version='1.0' encoding='UTF-8' standalone='yes'?>
<Relationships xmlns="http://schemas.openxmlformats.org/package/2006/relationships"><Relationship Id="rId1" Type="http://schemas.openxmlformats.org/officeDocument/2006/relationships/image" Target="../media/image-77-1.png"/><Relationship Id="rId2" Type="http://schemas.openxmlformats.org/officeDocument/2006/relationships/image" Target="../media/image-77-2.png"/><Relationship Id="rId3" Type="http://schemas.openxmlformats.org/officeDocument/2006/relationships/slideLayout" Target="../slideLayouts/slideLayout2.xml"/><Relationship Id="rId4" Type="http://schemas.openxmlformats.org/officeDocument/2006/relationships/notesSlide" Target="../notesSlides/notesSlide7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PENDING PRODUCTION MASTER" title="GEM primary horizontal signature, Beige on Ink, supplied ras">    </p:cNvPr>
          <p:cNvPicPr>
            <a:picLocks noChangeAspect="1"/>
          </p:cNvPicPr>
          <p:nvPr/>
        </p:nvPicPr>
        <p:blipFill>
          <a:blip r:embed="rId2"/>
          <a:srcRect l="0" r="0" t="-24" b="-24"/>
          <a:stretch/>
        </p:blipFill>
        <p:spPr>
          <a:xfrm>
            <a:off x="812800" y="812800"/>
            <a:ext cx="3048000" cy="965200"/>
          </a:xfrm>
          <a:prstGeom prst="rect">
            <a:avLst/>
          </a:prstGeom>
        </p:spPr>
      </p:pic>
      <p:sp>
        <p:nvSpPr>
          <p:cNvPr id="4" name="Text 0"/>
          <p:cNvSpPr/>
          <p:nvPr/>
        </p:nvSpPr>
        <p:spPr>
          <a:xfrm>
            <a:off x="812800" y="2159000"/>
            <a:ext cx="58864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RELEASE CANDIDATE 2</a:t>
            </a:r>
            <a:endParaRPr lang="en-US" sz="1200" dirty="0"/>
          </a:p>
        </p:txBody>
      </p:sp>
      <p:sp>
        <p:nvSpPr>
          <p:cNvPr id="5" name="Text 1"/>
          <p:cNvSpPr/>
          <p:nvPr/>
        </p:nvSpPr>
        <p:spPr>
          <a:xfrm>
            <a:off x="812800" y="2540000"/>
            <a:ext cx="7194550" cy="695920"/>
          </a:xfrm>
          <a:prstGeom prst="rect">
            <a:avLst/>
          </a:prstGeom>
          <a:noFill/>
          <a:ln/>
        </p:spPr>
        <p:txBody>
          <a:bodyPr wrap="square" lIns="0" tIns="0" rIns="0" bIns="0" rtlCol="0" anchor="t">
            <a:normAutofit/>
          </a:bodyPr>
          <a:lstStyle/>
          <a:p>
            <a:pPr algn="l" indent="0" marL="0">
              <a:lnSpc>
                <a:spcPts val="5280"/>
              </a:lnSpc>
              <a:buNone/>
            </a:pPr>
            <a:r>
              <a:rPr lang="en-US" sz="4800" spc="95" kern="0" dirty="0">
                <a:solidFill>
                  <a:srgbClr val="FFFFFF"/>
                </a:solidFill>
                <a:latin typeface="Jost" pitchFamily="34" charset="0"/>
                <a:ea typeface="Jost" pitchFamily="34" charset="-122"/>
                <a:cs typeface="Jost" pitchFamily="34" charset="-120"/>
              </a:rPr>
              <a:t>Production Standards</a:t>
            </a:r>
            <a:endParaRPr lang="en-US" sz="4800" dirty="0"/>
          </a:p>
        </p:txBody>
      </p:sp>
      <p:sp>
        <p:nvSpPr>
          <p:cNvPr id="6" name="Text 2"/>
          <p:cNvSpPr/>
          <p:nvPr/>
        </p:nvSpPr>
        <p:spPr>
          <a:xfrm>
            <a:off x="812800" y="3210520"/>
            <a:ext cx="7194550" cy="695920"/>
          </a:xfrm>
          <a:prstGeom prst="rect">
            <a:avLst/>
          </a:prstGeom>
          <a:noFill/>
          <a:ln/>
        </p:spPr>
        <p:txBody>
          <a:bodyPr wrap="square" lIns="0" tIns="0" rIns="0" bIns="0" rtlCol="0" anchor="t">
            <a:normAutofit/>
          </a:bodyPr>
          <a:lstStyle/>
          <a:p>
            <a:pPr algn="l" indent="0" marL="0">
              <a:lnSpc>
                <a:spcPts val="5280"/>
              </a:lnSpc>
              <a:buNone/>
            </a:pPr>
            <a:r>
              <a:rPr lang="en-US" sz="4800" spc="95" kern="0" dirty="0">
                <a:solidFill>
                  <a:srgbClr val="FFFFFF"/>
                </a:solidFill>
                <a:latin typeface="Jost" pitchFamily="34" charset="0"/>
                <a:ea typeface="Jost" pitchFamily="34" charset="-122"/>
                <a:cs typeface="Jost" pitchFamily="34" charset="-120"/>
              </a:rPr>
              <a:t>V3.0</a:t>
            </a:r>
            <a:endParaRPr lang="en-US" sz="4800" dirty="0"/>
          </a:p>
        </p:txBody>
      </p:sp>
      <p:sp>
        <p:nvSpPr>
          <p:cNvPr id="7" name="Text 3"/>
          <p:cNvSpPr/>
          <p:nvPr/>
        </p:nvSpPr>
        <p:spPr>
          <a:xfrm>
            <a:off x="812800" y="4127500"/>
            <a:ext cx="7194550" cy="345430"/>
          </a:xfrm>
          <a:prstGeom prst="rect">
            <a:avLst/>
          </a:prstGeom>
          <a:noFill/>
          <a:ln/>
        </p:spPr>
        <p:txBody>
          <a:bodyPr wrap="square" lIns="0" tIns="0" rIns="0" bIns="0" rtlCol="0" anchor="t">
            <a:normAutofit/>
          </a:bodyPr>
          <a:lstStyle/>
          <a:p>
            <a:pPr algn="l" indent="0" marL="0">
              <a:lnSpc>
                <a:spcPts val="2520"/>
              </a:lnSpc>
              <a:buNone/>
            </a:pPr>
            <a:r>
              <a:rPr lang="en-US" sz="1800" dirty="0">
                <a:solidFill>
                  <a:srgbClr val="BCACA7"/>
                </a:solidFill>
                <a:latin typeface="Inter" pitchFamily="34" charset="0"/>
                <a:ea typeface="Inter" pitchFamily="34" charset="-122"/>
                <a:cs typeface="Inter" pitchFamily="34" charset="-120"/>
              </a:rPr>
              <a:t>Part C — Production &amp; Supplier Standards</a:t>
            </a:r>
            <a:endParaRPr lang="en-US" sz="1800" dirty="0"/>
          </a:p>
        </p:txBody>
      </p:sp>
      <p:sp>
        <p:nvSpPr>
          <p:cNvPr id="8" name="Text 4"/>
          <p:cNvSpPr/>
          <p:nvPr/>
        </p:nvSpPr>
        <p:spPr>
          <a:xfrm>
            <a:off x="819150" y="4768850"/>
            <a:ext cx="6972300" cy="447030"/>
          </a:xfrm>
          <a:prstGeom prst="rect">
            <a:avLst/>
          </a:prstGeom>
          <a:solidFill>
            <a:srgbClr val="12171D"/>
          </a:solidFill>
          <a:ln w="12700">
            <a:solidFill>
              <a:srgbClr val="BCACA7"/>
            </a:solidFill>
            <a:prstDash val="dash"/>
          </a:ln>
        </p:spPr>
        <p:txBody>
          <a:bodyPr wrap="square" lIns="158750" tIns="107950" rIns="0" bIns="82550" rtlCol="0" anchor="t">
            <a:normAutofit/>
          </a:bodyPr>
          <a:lstStyle/>
          <a:p>
            <a:pPr algn="l" indent="0" marL="0">
              <a:lnSpc>
                <a:spcPts val="1820"/>
              </a:lnSpc>
              <a:buNone/>
            </a:pPr>
            <a:r>
              <a:rPr lang="en-US" sz="1300" spc="105" kern="0" dirty="0">
                <a:solidFill>
                  <a:srgbClr val="FFFFFF"/>
                </a:solidFill>
                <a:latin typeface="Inter" pitchFamily="34" charset="0"/>
                <a:ea typeface="Inter" pitchFamily="34" charset="-122"/>
                <a:cs typeface="Inter" pitchFamily="34" charset="-120"/>
              </a:rPr>
              <a:t>WORKING EDITION / PENDING PRODUCTION VALIDATION</a:t>
            </a:r>
            <a:endParaRPr lang="en-US" sz="1300" dirty="0"/>
          </a:p>
        </p:txBody>
      </p:sp>
      <p:sp>
        <p:nvSpPr>
          <p:cNvPr id="9" name="Text 5"/>
          <p:cNvSpPr/>
          <p:nvPr/>
        </p:nvSpPr>
        <p:spPr>
          <a:xfrm>
            <a:off x="812800" y="6024959"/>
            <a:ext cx="8502650" cy="452041"/>
          </a:xfrm>
          <a:prstGeom prst="rect">
            <a:avLst/>
          </a:prstGeom>
          <a:noFill/>
          <a:ln/>
        </p:spPr>
        <p:txBody>
          <a:bodyPr wrap="square" lIns="0" tIns="0" rIns="0" bIns="0" rtlCol="0" anchor="t"/>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Release conditions incomplete · release authorization [REQUIRES OWNER] (AC20) · logo shown from supplied raster, PENDING PRODUCTION MASTER · Document ID GEM-PS-V3.0-RC2 · V3.0 RC2 · issued 2026-10-06</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02 · PURPOSE AND AUTHORITY</a:t>
            </a:r>
            <a:endParaRPr lang="en-US" sz="1200" dirty="0"/>
          </a:p>
        </p:txBody>
      </p:sp>
      <p:sp>
        <p:nvSpPr>
          <p:cNvPr id="3" name="Text 1"/>
          <p:cNvSpPr/>
          <p:nvPr>
            <p:ph type="title"/>
          </p:nvPr>
        </p:nvSpPr>
        <p:spPr>
          <a:xfrm>
            <a:off x="812800" y="1229320"/>
            <a:ext cx="11379200" cy="4445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Part C turns the approved identity into controlled production.</a:t>
            </a:r>
            <a:endParaRPr lang="en-US" sz="3000" dirty="0"/>
          </a:p>
        </p:txBody>
      </p:sp>
      <p:sp>
        <p:nvSpPr>
          <p:cNvPr id="4" name="Shape 2"/>
          <p:cNvSpPr/>
          <p:nvPr/>
        </p:nvSpPr>
        <p:spPr>
          <a:xfrm>
            <a:off x="819150" y="1857970"/>
            <a:ext cx="3433217" cy="1107380"/>
          </a:xfrm>
          <a:prstGeom prst="rect">
            <a:avLst/>
          </a:prstGeom>
          <a:noFill/>
          <a:ln w="12700">
            <a:solidFill>
              <a:srgbClr val="12171D"/>
            </a:solidFill>
            <a:prstDash val="solid"/>
          </a:ln>
        </p:spPr>
        <p:txBody>
          <a:bodyPr/>
          <a:p/>
        </p:txBody>
      </p:sp>
      <p:sp>
        <p:nvSpPr>
          <p:cNvPr id="5" name="Text 3"/>
          <p:cNvSpPr/>
          <p:nvPr/>
        </p:nvSpPr>
        <p:spPr>
          <a:xfrm>
            <a:off x="1003300" y="2042120"/>
            <a:ext cx="315686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 · BRAND GUIDELINES</a:t>
            </a:r>
            <a:endParaRPr lang="en-US" sz="1200" dirty="0"/>
          </a:p>
        </p:txBody>
      </p:sp>
      <p:sp>
        <p:nvSpPr>
          <p:cNvPr id="6" name="Text 4"/>
          <p:cNvSpPr/>
          <p:nvPr/>
        </p:nvSpPr>
        <p:spPr>
          <a:xfrm>
            <a:off x="1003300" y="231894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What GEM looks and feels like. Identity, logo, colour, type, direction.</a:t>
            </a:r>
            <a:endParaRPr lang="en-US" sz="1300" dirty="0"/>
          </a:p>
        </p:txBody>
      </p:sp>
      <p:sp>
        <p:nvSpPr>
          <p:cNvPr id="7" name="Shape 5"/>
          <p:cNvSpPr/>
          <p:nvPr/>
        </p:nvSpPr>
        <p:spPr>
          <a:xfrm>
            <a:off x="4392067" y="1857970"/>
            <a:ext cx="3433266" cy="1107380"/>
          </a:xfrm>
          <a:prstGeom prst="rect">
            <a:avLst/>
          </a:prstGeom>
          <a:noFill/>
          <a:ln w="12700">
            <a:solidFill>
              <a:srgbClr val="12171D"/>
            </a:solidFill>
            <a:prstDash val="solid"/>
          </a:ln>
        </p:spPr>
        <p:txBody>
          <a:bodyPr/>
          <a:p/>
        </p:txBody>
      </p:sp>
      <p:sp>
        <p:nvSpPr>
          <p:cNvPr id="8" name="Text 6"/>
          <p:cNvSpPr/>
          <p:nvPr/>
        </p:nvSpPr>
        <p:spPr>
          <a:xfrm>
            <a:off x="4576217" y="2042120"/>
            <a:ext cx="3156915"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 · DIGITAL DESIGN SYSTEM</a:t>
            </a:r>
            <a:endParaRPr lang="en-US" sz="1200" dirty="0"/>
          </a:p>
        </p:txBody>
      </p:sp>
      <p:sp>
        <p:nvSpPr>
          <p:cNvPr id="9" name="Text 7"/>
          <p:cNvSpPr/>
          <p:nvPr/>
        </p:nvSpPr>
        <p:spPr>
          <a:xfrm>
            <a:off x="4576217" y="2318941"/>
            <a:ext cx="3156915"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Digital implementation: tokens, components, accessibility, RTL.</a:t>
            </a:r>
            <a:endParaRPr lang="en-US" sz="1300" dirty="0"/>
          </a:p>
        </p:txBody>
      </p:sp>
      <p:sp>
        <p:nvSpPr>
          <p:cNvPr id="10" name="Shape 8"/>
          <p:cNvSpPr/>
          <p:nvPr/>
        </p:nvSpPr>
        <p:spPr>
          <a:xfrm>
            <a:off x="7958683" y="1851620"/>
            <a:ext cx="3420517" cy="1120080"/>
          </a:xfrm>
          <a:prstGeom prst="rect">
            <a:avLst/>
          </a:prstGeom>
          <a:solidFill>
            <a:srgbClr val="12171D"/>
          </a:solidFill>
          <a:ln/>
        </p:spPr>
        <p:txBody>
          <a:bodyPr/>
          <a:p/>
        </p:txBody>
      </p:sp>
      <p:sp>
        <p:nvSpPr>
          <p:cNvPr id="11" name="Text 9"/>
          <p:cNvSpPr/>
          <p:nvPr/>
        </p:nvSpPr>
        <p:spPr>
          <a:xfrm>
            <a:off x="8136483" y="2029420"/>
            <a:ext cx="315686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C · PRODUCTION STANDARDS</a:t>
            </a:r>
            <a:endParaRPr lang="en-US" sz="1200" dirty="0"/>
          </a:p>
        </p:txBody>
      </p:sp>
      <p:sp>
        <p:nvSpPr>
          <p:cNvPr id="12" name="Text 10"/>
          <p:cNvSpPr/>
          <p:nvPr/>
        </p:nvSpPr>
        <p:spPr>
          <a:xfrm>
            <a:off x="8136483" y="2306241"/>
            <a:ext cx="3156864"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Physical production and supplier release. This document.</a:t>
            </a:r>
            <a:endParaRPr lang="en-US" sz="1300" dirty="0"/>
          </a:p>
        </p:txBody>
      </p:sp>
      <p:sp>
        <p:nvSpPr>
          <p:cNvPr id="13" name="Text 11"/>
          <p:cNvSpPr/>
          <p:nvPr/>
        </p:nvSpPr>
        <p:spPr>
          <a:xfrm>
            <a:off x="812800" y="3174901"/>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PART C OWNS</a:t>
            </a:r>
            <a:endParaRPr lang="en-US" sz="1200" dirty="0"/>
          </a:p>
        </p:txBody>
      </p:sp>
      <p:sp>
        <p:nvSpPr>
          <p:cNvPr id="14" name="Text 12"/>
          <p:cNvSpPr/>
          <p:nvPr/>
        </p:nvSpPr>
        <p:spPr>
          <a:xfrm>
            <a:off x="812800" y="3439021"/>
            <a:ext cx="5284724" cy="743496"/>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Production artwork, colour reproduction, print, materials, packaging production, supplier handoff, fabrication, physical proofing, tolerances and production release.</a:t>
            </a:r>
            <a:endParaRPr lang="en-US" sz="1300" dirty="0"/>
          </a:p>
        </p:txBody>
      </p:sp>
      <p:sp>
        <p:nvSpPr>
          <p:cNvPr id="15" name="Text 13"/>
          <p:cNvSpPr/>
          <p:nvPr/>
        </p:nvSpPr>
        <p:spPr>
          <a:xfrm>
            <a:off x="6248400" y="3174901"/>
            <a:ext cx="528472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WHICH SOURCE WINS</a:t>
            </a:r>
            <a:endParaRPr lang="en-US" sz="1200" dirty="0"/>
          </a:p>
        </p:txBody>
      </p:sp>
      <p:sp>
        <p:nvSpPr>
          <p:cNvPr id="16" name="Text 14"/>
          <p:cNvSpPr/>
          <p:nvPr/>
        </p:nvSpPr>
        <p:spPr>
          <a:xfrm>
            <a:off x="6248400" y="3401568"/>
            <a:ext cx="5284724" cy="114300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1 V3 Final Brand Approval Register · 2 Part A, brand and identity · 3 Part B, digital implementation · 4 Part C, physical production · 5 formal technical and legal standards where they apply · 6 V2 / V2.1 and V1, historical · 7 benchmarks and inspiration only. The owning document governs its domain unless the register overrides it.</a:t>
            </a:r>
            <a:endParaRPr lang="en-US" sz="1300" dirty="0"/>
          </a:p>
        </p:txBody>
      </p:sp>
      <p:sp>
        <p:nvSpPr>
          <p:cNvPr id="17" name="Shape 15"/>
          <p:cNvSpPr/>
          <p:nvPr/>
        </p:nvSpPr>
        <p:spPr>
          <a:xfrm>
            <a:off x="812800" y="4681728"/>
            <a:ext cx="10566400" cy="0"/>
          </a:xfrm>
          <a:prstGeom prst="line">
            <a:avLst/>
          </a:prstGeom>
          <a:noFill/>
          <a:ln w="12700">
            <a:solidFill>
              <a:srgbClr val="12171D"/>
            </a:solidFill>
            <a:prstDash val="solid"/>
          </a:ln>
        </p:spPr>
        <p:txBody>
          <a:bodyPr/>
          <a:p/>
        </p:txBody>
      </p:sp>
      <p:sp>
        <p:nvSpPr>
          <p:cNvPr id="18" name="Text 16"/>
          <p:cNvSpPr/>
          <p:nvPr/>
        </p:nvSpPr>
        <p:spPr>
          <a:xfrm>
            <a:off x="812800" y="4773168"/>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Core rule: no production data is invented. A value without evidence is marked, never guessed.</a:t>
            </a:r>
            <a:endParaRPr lang="en-US" sz="1300" dirty="0"/>
          </a:p>
        </p:txBody>
      </p:sp>
      <p:sp>
        <p:nvSpPr>
          <p:cNvPr id="19" name="Text 1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20" name="Text 1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03 · STATUS AND RELEASE LANGUAGE</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Pending material never looks approved.</a:t>
            </a:r>
            <a:endParaRPr lang="en-US" sz="2800" dirty="0"/>
          </a:p>
        </p:txBody>
      </p:sp>
      <p:sp>
        <p:nvSpPr>
          <p:cNvPr id="4" name="Text 2"/>
          <p:cNvSpPr/>
          <p:nvPr/>
        </p:nvSpPr>
        <p:spPr>
          <a:xfrm>
            <a:off x="812800" y="182364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BRAND STATUS</a:t>
            </a:r>
            <a:endParaRPr lang="en-US" sz="1200" dirty="0"/>
          </a:p>
        </p:txBody>
      </p:sp>
      <p:sp>
        <p:nvSpPr>
          <p:cNvPr id="5" name="Text 3"/>
          <p:cNvSpPr/>
          <p:nvPr/>
        </p:nvSpPr>
        <p:spPr>
          <a:xfrm>
            <a:off x="812800" y="2125861"/>
            <a:ext cx="2095500" cy="314920"/>
          </a:xfrm>
          <a:prstGeom prst="rect">
            <a:avLst/>
          </a:prstGeom>
          <a:solidFill>
            <a:srgbClr val="FFFFFF"/>
          </a:solidFill>
          <a:ln/>
        </p:spPr>
        <p:txBody>
          <a:bodyPr wrap="square" lIns="73216" tIns="50800" rIns="73216" bIns="25400" rtlCol="0" anchor="t">
            <a:normAutofit/>
          </a:bodyPr>
          <a:lstStyle/>
          <a:p>
            <a:pPr algn="ctr" indent="0" marL="0">
              <a:lnSpc>
                <a:spcPts val="1680"/>
              </a:lnSpc>
              <a:buNone/>
            </a:pPr>
            <a:r>
              <a:rPr lang="en-US" sz="1200" spc="70" kern="0" dirty="0">
                <a:solidFill>
                  <a:srgbClr val="12171D"/>
                </a:solidFill>
                <a:latin typeface="Inter" pitchFamily="34" charset="0"/>
                <a:ea typeface="Inter" pitchFamily="34" charset="-122"/>
                <a:cs typeface="Inter" pitchFamily="34" charset="-120"/>
              </a:rPr>
              <a:t>APPROVED</a:t>
            </a:r>
            <a:endParaRPr lang="en-US" sz="1200" dirty="0"/>
          </a:p>
        </p:txBody>
      </p:sp>
      <p:sp>
        <p:nvSpPr>
          <p:cNvPr id="6" name="Text 4"/>
          <p:cNvSpPr/>
          <p:nvPr/>
        </p:nvSpPr>
        <p:spPr>
          <a:xfrm>
            <a:off x="3060700" y="2180431"/>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Final. Use as written.</a:t>
            </a:r>
            <a:endParaRPr lang="en-US" sz="1200" dirty="0"/>
          </a:p>
        </p:txBody>
      </p:sp>
      <p:sp>
        <p:nvSpPr>
          <p:cNvPr id="7" name="Text 5"/>
          <p:cNvSpPr/>
          <p:nvPr/>
        </p:nvSpPr>
        <p:spPr>
          <a:xfrm>
            <a:off x="819150" y="2536031"/>
            <a:ext cx="2082800" cy="302220"/>
          </a:xfrm>
          <a:prstGeom prst="rect">
            <a:avLst/>
          </a:prstGeom>
          <a:noFill/>
          <a:ln w="12700">
            <a:solidFill>
              <a:srgbClr val="FFFFFF"/>
            </a:solidFill>
            <a:prstDash val="solid"/>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CONDITIONAL</a:t>
            </a:r>
            <a:endParaRPr lang="en-US" sz="1200" dirty="0"/>
          </a:p>
        </p:txBody>
      </p:sp>
      <p:sp>
        <p:nvSpPr>
          <p:cNvPr id="8" name="Text 6"/>
          <p:cNvSpPr/>
          <p:nvPr/>
        </p:nvSpPr>
        <p:spPr>
          <a:xfrm>
            <a:off x="3060700" y="2584252"/>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Usable once a stated condition is met.</a:t>
            </a:r>
            <a:endParaRPr lang="en-US" sz="1200" dirty="0"/>
          </a:p>
        </p:txBody>
      </p:sp>
      <p:sp>
        <p:nvSpPr>
          <p:cNvPr id="9" name="Text 7"/>
          <p:cNvSpPr/>
          <p:nvPr/>
        </p:nvSpPr>
        <p:spPr>
          <a:xfrm>
            <a:off x="819150" y="2988121"/>
            <a:ext cx="2082800" cy="302220"/>
          </a:xfrm>
          <a:prstGeom prst="rect">
            <a:avLst/>
          </a:prstGeom>
          <a:noFill/>
          <a:ln w="12700">
            <a:solidFill>
              <a:srgbClr val="BCACA7"/>
            </a:solidFill>
            <a:prstDash val="dash"/>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PENDING VALIDATION</a:t>
            </a:r>
            <a:endParaRPr lang="en-US" sz="1200" dirty="0"/>
          </a:p>
        </p:txBody>
      </p:sp>
      <p:sp>
        <p:nvSpPr>
          <p:cNvPr id="10" name="Text 8"/>
          <p:cNvSpPr/>
          <p:nvPr/>
        </p:nvSpPr>
        <p:spPr>
          <a:xfrm>
            <a:off x="3060700" y="2933502"/>
            <a:ext cx="2943225"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Evidence outstanding. Never shown as final.</a:t>
            </a:r>
            <a:endParaRPr lang="en-US" sz="1200" dirty="0"/>
          </a:p>
        </p:txBody>
      </p:sp>
      <p:sp>
        <p:nvSpPr>
          <p:cNvPr id="11" name="Text 9"/>
          <p:cNvSpPr/>
          <p:nvPr/>
        </p:nvSpPr>
        <p:spPr>
          <a:xfrm>
            <a:off x="819150" y="3440212"/>
            <a:ext cx="2082800" cy="302220"/>
          </a:xfrm>
          <a:prstGeom prst="rect">
            <a:avLst/>
          </a:prstGeom>
          <a:noFill/>
          <a:ln w="12700">
            <a:solidFill>
              <a:srgbClr val="BCACA7"/>
            </a:solidFill>
            <a:prstDash val="sysDot"/>
          </a:ln>
        </p:spPr>
        <p:txBody>
          <a:bodyPr wrap="square" lIns="66866" tIns="44450" rIns="66866" bIns="19050" rtlCol="0" anchor="t">
            <a:normAutofit/>
          </a:bodyPr>
          <a:lstStyle/>
          <a:p>
            <a:pPr algn="ctr" indent="0" marL="0">
              <a:lnSpc>
                <a:spcPts val="1680"/>
              </a:lnSpc>
              <a:buNone/>
            </a:pPr>
            <a:r>
              <a:rPr lang="en-US" sz="1200" spc="70" kern="0" dirty="0">
                <a:solidFill>
                  <a:srgbClr val="FFFFFF"/>
                </a:solidFill>
                <a:latin typeface="Inter" pitchFamily="34" charset="0"/>
                <a:ea typeface="Inter" pitchFamily="34" charset="-122"/>
                <a:cs typeface="Inter" pitchFamily="34" charset="-120"/>
              </a:rPr>
              <a:t>REFERENCE</a:t>
            </a:r>
            <a:endParaRPr lang="en-US" sz="1200" dirty="0"/>
          </a:p>
        </p:txBody>
      </p:sp>
      <p:sp>
        <p:nvSpPr>
          <p:cNvPr id="12" name="Text 10"/>
          <p:cNvSpPr/>
          <p:nvPr/>
        </p:nvSpPr>
        <p:spPr>
          <a:xfrm>
            <a:off x="3060700" y="3488432"/>
            <a:ext cx="2943225"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Illustrative. Not a production standard.</a:t>
            </a:r>
            <a:endParaRPr lang="en-US" sz="1200" dirty="0"/>
          </a:p>
        </p:txBody>
      </p:sp>
      <p:sp>
        <p:nvSpPr>
          <p:cNvPr id="13" name="Text 11"/>
          <p:cNvSpPr/>
          <p:nvPr/>
        </p:nvSpPr>
        <p:spPr>
          <a:xfrm>
            <a:off x="6273800" y="182364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PRODUCTION STATUS</a:t>
            </a:r>
            <a:endParaRPr lang="en-US" sz="1200" dirty="0"/>
          </a:p>
        </p:txBody>
      </p:sp>
      <p:sp>
        <p:nvSpPr>
          <p:cNvPr id="14" name="Text 12"/>
          <p:cNvSpPr/>
          <p:nvPr/>
        </p:nvSpPr>
        <p:spPr>
          <a:xfrm>
            <a:off x="6280150" y="2132211"/>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PENDING PRODUCTION MASTER</a:t>
            </a:r>
            <a:endParaRPr lang="en-US" sz="1200" dirty="0"/>
          </a:p>
        </p:txBody>
      </p:sp>
      <p:sp>
        <p:nvSpPr>
          <p:cNvPr id="15" name="Text 13"/>
          <p:cNvSpPr/>
          <p:nvPr/>
        </p:nvSpPr>
        <p:spPr>
          <a:xfrm>
            <a:off x="8839200" y="2287091"/>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Master file does not yet exist.</a:t>
            </a:r>
            <a:endParaRPr lang="en-US" sz="1200" dirty="0"/>
          </a:p>
        </p:txBody>
      </p:sp>
      <p:sp>
        <p:nvSpPr>
          <p:cNvPr id="16" name="Text 14"/>
          <p:cNvSpPr/>
          <p:nvPr/>
        </p:nvSpPr>
        <p:spPr>
          <a:xfrm>
            <a:off x="6280150" y="2749352"/>
            <a:ext cx="2400300" cy="302220"/>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PENDING PHYSICAL PROOF</a:t>
            </a:r>
            <a:endParaRPr lang="en-US" sz="1200" dirty="0"/>
          </a:p>
        </p:txBody>
      </p:sp>
      <p:sp>
        <p:nvSpPr>
          <p:cNvPr id="17" name="Text 15"/>
          <p:cNvSpPr/>
          <p:nvPr/>
        </p:nvSpPr>
        <p:spPr>
          <a:xfrm>
            <a:off x="8839200" y="2797572"/>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No physical proof approved.</a:t>
            </a:r>
            <a:endParaRPr lang="en-US" sz="1200" dirty="0"/>
          </a:p>
        </p:txBody>
      </p:sp>
      <p:sp>
        <p:nvSpPr>
          <p:cNvPr id="18" name="Text 16"/>
          <p:cNvSpPr/>
          <p:nvPr/>
        </p:nvSpPr>
        <p:spPr>
          <a:xfrm>
            <a:off x="6280150" y="3153172"/>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SUPPLIER PROOF REQUIRED</a:t>
            </a:r>
            <a:endParaRPr lang="en-US" sz="1200" dirty="0"/>
          </a:p>
        </p:txBody>
      </p:sp>
      <p:sp>
        <p:nvSpPr>
          <p:cNvPr id="19" name="Text 17"/>
          <p:cNvSpPr/>
          <p:nvPr/>
        </p:nvSpPr>
        <p:spPr>
          <a:xfrm>
            <a:off x="8839200" y="3308052"/>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Supplier must prove the process.</a:t>
            </a:r>
            <a:endParaRPr lang="en-US" sz="1200" dirty="0"/>
          </a:p>
        </p:txBody>
      </p:sp>
      <p:sp>
        <p:nvSpPr>
          <p:cNvPr id="20" name="Text 18"/>
          <p:cNvSpPr/>
          <p:nvPr/>
        </p:nvSpPr>
        <p:spPr>
          <a:xfrm>
            <a:off x="6280150" y="3770313"/>
            <a:ext cx="2400300" cy="515541"/>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REGULATORY REVIEW REQUIRED</a:t>
            </a:r>
            <a:endParaRPr lang="en-US" sz="1200" dirty="0"/>
          </a:p>
        </p:txBody>
      </p:sp>
      <p:sp>
        <p:nvSpPr>
          <p:cNvPr id="21" name="Text 19"/>
          <p:cNvSpPr/>
          <p:nvPr/>
        </p:nvSpPr>
        <p:spPr>
          <a:xfrm>
            <a:off x="8839200" y="3925193"/>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Legal copy needs review.</a:t>
            </a:r>
            <a:endParaRPr lang="en-US" sz="1200" dirty="0"/>
          </a:p>
        </p:txBody>
      </p:sp>
      <p:sp>
        <p:nvSpPr>
          <p:cNvPr id="22" name="Text 20"/>
          <p:cNvSpPr/>
          <p:nvPr/>
        </p:nvSpPr>
        <p:spPr>
          <a:xfrm>
            <a:off x="6280150" y="4387453"/>
            <a:ext cx="2400300" cy="302220"/>
          </a:xfrm>
          <a:prstGeom prst="rect">
            <a:avLst/>
          </a:prstGeom>
          <a:noFill/>
          <a:ln w="12700">
            <a:solidFill>
              <a:srgbClr val="BCACA7"/>
            </a:solidFill>
            <a:prstDash val="dash"/>
          </a:ln>
        </p:spPr>
        <p:txBody>
          <a:bodyPr wrap="square" lIns="95250" tIns="44450" rIns="28956" bIns="19050" rtlCol="0" anchor="t">
            <a:normAutofit/>
          </a:bodyPr>
          <a:lstStyle/>
          <a:p>
            <a:pPr algn="l" indent="0" marL="0">
              <a:lnSpc>
                <a:spcPts val="1680"/>
              </a:lnSpc>
              <a:buNone/>
            </a:pPr>
            <a:r>
              <a:rPr lang="en-US" sz="1200" spc="50" kern="0" dirty="0">
                <a:solidFill>
                  <a:srgbClr val="FFFFFF"/>
                </a:solidFill>
                <a:latin typeface="Inter" pitchFamily="34" charset="0"/>
                <a:ea typeface="Inter" pitchFamily="34" charset="-122"/>
                <a:cs typeface="Inter" pitchFamily="34" charset="-120"/>
              </a:rPr>
              <a:t>PROJECT-SPECIFIC</a:t>
            </a:r>
            <a:endParaRPr lang="en-US" sz="1200" dirty="0"/>
          </a:p>
        </p:txBody>
      </p:sp>
      <p:sp>
        <p:nvSpPr>
          <p:cNvPr id="23" name="Text 21"/>
          <p:cNvSpPr/>
          <p:nvPr/>
        </p:nvSpPr>
        <p:spPr>
          <a:xfrm>
            <a:off x="8839200" y="4435673"/>
            <a:ext cx="261620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Set per project or site.</a:t>
            </a:r>
            <a:endParaRPr lang="en-US" sz="1200" dirty="0"/>
          </a:p>
        </p:txBody>
      </p:sp>
      <p:sp>
        <p:nvSpPr>
          <p:cNvPr id="24" name="Text 22"/>
          <p:cNvSpPr/>
          <p:nvPr/>
        </p:nvSpPr>
        <p:spPr>
          <a:xfrm>
            <a:off x="812800" y="5212080"/>
            <a:ext cx="10883392" cy="548640"/>
          </a:xfrm>
          <a:prstGeom prst="rect">
            <a:avLst/>
          </a:prstGeom>
          <a:noFill/>
          <a:ln/>
        </p:spPr>
        <p:txBody>
          <a:bodyPr wrap="square" lIns="0" tIns="0" rIns="0" bIns="0" rtlCol="0" anchor="t"/>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Placeholders: [PENDING] [TO BE VERIFIED] [TO BE VERIFIED BY PROCESS TEST] [REQUIRES OWNER] [REQUIRES SUPPLIER] [REQUIRES SUPPLIER / OWNER] [ENTER] [PENDING PRODUCTION MASTER] [PENDING PHYSICAL PROOF] [PENDING PREPRESS STANDARD] [PROJECT-SPECIFIC] [REGULATORY REVIEW REQUIRED] [LEGAL REVIEW REQUIRED]</a:t>
            </a:r>
            <a:endParaRPr lang="en-US" sz="1200" dirty="0"/>
          </a:p>
        </p:txBody>
      </p:sp>
      <p:sp>
        <p:nvSpPr>
          <p:cNvPr id="25" name="Text 2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26" name="Text 2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27" name="Text 25"/>
          <p:cNvSpPr/>
          <p:nvPr/>
        </p:nvSpPr>
        <p:spPr>
          <a:xfrm>
            <a:off x="812800" y="5779008"/>
            <a:ext cx="10883392" cy="384048"/>
          </a:xfrm>
          <a:prstGeom prst="rect">
            <a:avLst/>
          </a:prstGeom>
          <a:noFill/>
          <a:ln/>
        </p:spPr>
        <p:txBody>
          <a:bodyPr wrap="square" lIns="0" tIns="0" rIns="0" bIns="0" rtlCol="0" anchor="t"/>
          <a:lstStyle/>
          <a:p>
            <a:pPr algn="l" indent="0" marL="0">
              <a:lnSpc>
                <a:spcPts val="1680"/>
              </a:lnSpc>
              <a:buNone/>
            </a:pPr>
            <a:r>
              <a:rPr lang="en-US" sz="1100" dirty="0">
                <a:solidFill>
                  <a:srgbClr val="BCACA7"/>
                </a:solidFill>
                <a:latin typeface="Inter" pitchFamily="34" charset="0"/>
                <a:ea typeface="Inter" pitchFamily="34" charset="-122"/>
                <a:cs typeface="Inter" pitchFamily="34" charset="-120"/>
              </a:rPr>
              <a:t>Edition states: WORKING EDITION → RELEASE CANDIDATE (RC) → APPROVED PRODUCTION STANDARD. An RC is a synchronized working edition issued for validation; it becomes APPROVED only when all six release gates are met and the Brand Owner authorizes release (AC20).</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04 · PRODUCTION GOVERNANCE · PROPOSED ALLOCATION · [REQUIRES OWNER]</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Every step has a role. No names are assigned yet.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2994125"/>
        </p:xfrm>
        <a:graphic>
          <a:graphicData uri="http://schemas.openxmlformats.org/drawingml/2006/table">
            <a:tbl>
              <a:tblPr/>
              <a:tblGrid>
                <a:gridCol w="2276288"/>
                <a:gridCol w="1655482"/>
                <a:gridCol w="1655482"/>
                <a:gridCol w="1655482"/>
                <a:gridCol w="1655482"/>
                <a:gridCol w="1655482"/>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Prepares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Checks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Approves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Releases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Archives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Authorizes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Design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Lead [REQUIRES OWNER]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Spec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Issues job</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record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Procurement / Supplier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Terms · proof, goods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 Localization Lead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Accessibility QA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Legal / IP Counsel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 Fabricator (external party)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Proofs, samples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983480"/>
            <a:ext cx="10883392" cy="54864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Named holders: [REQUIRES OWNER]. Roles are the twelve of the V3 Approval Register (Owners &amp; Governance; Part A slide 72). * Production Lead is not a register role: proposed as a delegate of Procurement / Supplier QA, for the Brand Owner to confirm. The allocation is a proposal, not an approved RACI.</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05 · PRODUCTION RELEASE WORKFLOW</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Fourteen steps. None may be skipped.</a:t>
            </a:r>
            <a:endParaRPr lang="en-US" sz="2600" dirty="0"/>
          </a:p>
        </p:txBody>
      </p:sp>
      <p:sp>
        <p:nvSpPr>
          <p:cNvPr id="4" name="Shape 2"/>
          <p:cNvSpPr/>
          <p:nvPr/>
        </p:nvSpPr>
        <p:spPr>
          <a:xfrm>
            <a:off x="819150" y="1751261"/>
            <a:ext cx="2029420" cy="835620"/>
          </a:xfrm>
          <a:prstGeom prst="rect">
            <a:avLst/>
          </a:prstGeom>
          <a:noFill/>
          <a:ln w="12700">
            <a:solidFill>
              <a:srgbClr val="BCACA7"/>
            </a:solidFill>
            <a:prstDash val="solid"/>
          </a:ln>
        </p:spPr>
        <p:txBody>
          <a:bodyPr/>
          <a:p/>
        </p:txBody>
      </p:sp>
      <p:sp>
        <p:nvSpPr>
          <p:cNvPr id="5" name="Text 3"/>
          <p:cNvSpPr/>
          <p:nvPr/>
        </p:nvSpPr>
        <p:spPr>
          <a:xfrm>
            <a:off x="939800" y="185921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01</a:t>
            </a:r>
            <a:endParaRPr lang="en-US" sz="1200" dirty="0"/>
          </a:p>
        </p:txBody>
      </p:sp>
      <p:sp>
        <p:nvSpPr>
          <p:cNvPr id="6" name="Text 4"/>
          <p:cNvSpPr/>
          <p:nvPr/>
        </p:nvSpPr>
        <p:spPr>
          <a:xfrm>
            <a:off x="939800" y="209793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Brief received</a:t>
            </a:r>
            <a:endParaRPr lang="en-US" sz="1200" dirty="0"/>
          </a:p>
        </p:txBody>
      </p:sp>
      <p:sp>
        <p:nvSpPr>
          <p:cNvPr id="7" name="Shape 5"/>
          <p:cNvSpPr/>
          <p:nvPr/>
        </p:nvSpPr>
        <p:spPr>
          <a:xfrm>
            <a:off x="2950170" y="1751261"/>
            <a:ext cx="2029470" cy="835620"/>
          </a:xfrm>
          <a:prstGeom prst="rect">
            <a:avLst/>
          </a:prstGeom>
          <a:noFill/>
          <a:ln w="12700">
            <a:solidFill>
              <a:srgbClr val="BCACA7"/>
            </a:solidFill>
            <a:prstDash val="solid"/>
          </a:ln>
        </p:spPr>
        <p:txBody>
          <a:bodyPr/>
          <a:p/>
        </p:txBody>
      </p:sp>
      <p:sp>
        <p:nvSpPr>
          <p:cNvPr id="8" name="Text 6"/>
          <p:cNvSpPr/>
          <p:nvPr/>
        </p:nvSpPr>
        <p:spPr>
          <a:xfrm>
            <a:off x="307082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02</a:t>
            </a:r>
            <a:endParaRPr lang="en-US" sz="1200" dirty="0"/>
          </a:p>
        </p:txBody>
      </p:sp>
      <p:sp>
        <p:nvSpPr>
          <p:cNvPr id="9" name="Text 7"/>
          <p:cNvSpPr/>
          <p:nvPr/>
        </p:nvSpPr>
        <p:spPr>
          <a:xfrm>
            <a:off x="307082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Correct master asset identified</a:t>
            </a:r>
            <a:endParaRPr lang="en-US" sz="1200" dirty="0"/>
          </a:p>
        </p:txBody>
      </p:sp>
      <p:sp>
        <p:nvSpPr>
          <p:cNvPr id="10" name="Shape 8"/>
          <p:cNvSpPr/>
          <p:nvPr/>
        </p:nvSpPr>
        <p:spPr>
          <a:xfrm>
            <a:off x="5081240" y="1751261"/>
            <a:ext cx="2029470" cy="835620"/>
          </a:xfrm>
          <a:prstGeom prst="rect">
            <a:avLst/>
          </a:prstGeom>
          <a:noFill/>
          <a:ln w="12700">
            <a:solidFill>
              <a:srgbClr val="BCACA7"/>
            </a:solidFill>
            <a:prstDash val="solid"/>
          </a:ln>
        </p:spPr>
        <p:txBody>
          <a:bodyPr/>
          <a:p/>
        </p:txBody>
      </p:sp>
      <p:sp>
        <p:nvSpPr>
          <p:cNvPr id="11" name="Text 9"/>
          <p:cNvSpPr/>
          <p:nvPr/>
        </p:nvSpPr>
        <p:spPr>
          <a:xfrm>
            <a:off x="520189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03</a:t>
            </a:r>
            <a:endParaRPr lang="en-US" sz="1200" dirty="0"/>
          </a:p>
        </p:txBody>
      </p:sp>
      <p:sp>
        <p:nvSpPr>
          <p:cNvPr id="12" name="Text 10"/>
          <p:cNvSpPr/>
          <p:nvPr/>
        </p:nvSpPr>
        <p:spPr>
          <a:xfrm>
            <a:off x="520189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Technical specification confirmed</a:t>
            </a:r>
            <a:endParaRPr lang="en-US" sz="1200" dirty="0"/>
          </a:p>
        </p:txBody>
      </p:sp>
      <p:sp>
        <p:nvSpPr>
          <p:cNvPr id="13" name="Shape 11"/>
          <p:cNvSpPr/>
          <p:nvPr/>
        </p:nvSpPr>
        <p:spPr>
          <a:xfrm>
            <a:off x="7212310" y="1751261"/>
            <a:ext cx="2029470" cy="835620"/>
          </a:xfrm>
          <a:prstGeom prst="rect">
            <a:avLst/>
          </a:prstGeom>
          <a:noFill/>
          <a:ln w="12700">
            <a:solidFill>
              <a:srgbClr val="BCACA7"/>
            </a:solidFill>
            <a:prstDash val="solid"/>
          </a:ln>
        </p:spPr>
        <p:txBody>
          <a:bodyPr/>
          <a:p/>
        </p:txBody>
      </p:sp>
      <p:sp>
        <p:nvSpPr>
          <p:cNvPr id="14" name="Text 12"/>
          <p:cNvSpPr/>
          <p:nvPr/>
        </p:nvSpPr>
        <p:spPr>
          <a:xfrm>
            <a:off x="733296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04</a:t>
            </a:r>
            <a:endParaRPr lang="en-US" sz="1200" dirty="0"/>
          </a:p>
        </p:txBody>
      </p:sp>
      <p:sp>
        <p:nvSpPr>
          <p:cNvPr id="15" name="Text 13"/>
          <p:cNvSpPr/>
          <p:nvPr/>
        </p:nvSpPr>
        <p:spPr>
          <a:xfrm>
            <a:off x="7332960" y="209793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Supplier template or dieline received</a:t>
            </a:r>
            <a:endParaRPr lang="en-US" sz="1200" dirty="0"/>
          </a:p>
        </p:txBody>
      </p:sp>
      <p:sp>
        <p:nvSpPr>
          <p:cNvPr id="16" name="Shape 14"/>
          <p:cNvSpPr/>
          <p:nvPr/>
        </p:nvSpPr>
        <p:spPr>
          <a:xfrm>
            <a:off x="9343380" y="1751261"/>
            <a:ext cx="2029470" cy="835620"/>
          </a:xfrm>
          <a:prstGeom prst="rect">
            <a:avLst/>
          </a:prstGeom>
          <a:noFill/>
          <a:ln w="12700">
            <a:solidFill>
              <a:srgbClr val="BCACA7"/>
            </a:solidFill>
            <a:prstDash val="solid"/>
          </a:ln>
        </p:spPr>
        <p:txBody>
          <a:bodyPr/>
          <a:p/>
        </p:txBody>
      </p:sp>
      <p:sp>
        <p:nvSpPr>
          <p:cNvPr id="17" name="Text 15"/>
          <p:cNvSpPr/>
          <p:nvPr/>
        </p:nvSpPr>
        <p:spPr>
          <a:xfrm>
            <a:off x="9464030" y="185921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
        <p:nvSpPr>
          <p:cNvPr id="18" name="Text 16"/>
          <p:cNvSpPr/>
          <p:nvPr/>
        </p:nvSpPr>
        <p:spPr>
          <a:xfrm>
            <a:off x="9464030" y="209793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Artwork prepared</a:t>
            </a:r>
            <a:endParaRPr lang="en-US" sz="1200" dirty="0"/>
          </a:p>
        </p:txBody>
      </p:sp>
      <p:sp>
        <p:nvSpPr>
          <p:cNvPr id="19" name="Shape 17"/>
          <p:cNvSpPr/>
          <p:nvPr/>
        </p:nvSpPr>
        <p:spPr>
          <a:xfrm>
            <a:off x="819150" y="2688481"/>
            <a:ext cx="2029420" cy="835620"/>
          </a:xfrm>
          <a:prstGeom prst="rect">
            <a:avLst/>
          </a:prstGeom>
          <a:noFill/>
          <a:ln w="12700">
            <a:solidFill>
              <a:srgbClr val="BCACA7"/>
            </a:solidFill>
            <a:prstDash val="solid"/>
          </a:ln>
        </p:spPr>
        <p:txBody>
          <a:bodyPr/>
          <a:p/>
        </p:txBody>
      </p:sp>
      <p:sp>
        <p:nvSpPr>
          <p:cNvPr id="20" name="Text 18"/>
          <p:cNvSpPr/>
          <p:nvPr/>
        </p:nvSpPr>
        <p:spPr>
          <a:xfrm>
            <a:off x="939800" y="279643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06</a:t>
            </a:r>
            <a:endParaRPr lang="en-US" sz="1200" dirty="0"/>
          </a:p>
        </p:txBody>
      </p:sp>
      <p:sp>
        <p:nvSpPr>
          <p:cNvPr id="21" name="Text 19"/>
          <p:cNvSpPr/>
          <p:nvPr/>
        </p:nvSpPr>
        <p:spPr>
          <a:xfrm>
            <a:off x="939800" y="303515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Internal preflight</a:t>
            </a:r>
            <a:endParaRPr lang="en-US" sz="1200" dirty="0"/>
          </a:p>
        </p:txBody>
      </p:sp>
      <p:sp>
        <p:nvSpPr>
          <p:cNvPr id="22" name="Shape 20"/>
          <p:cNvSpPr/>
          <p:nvPr/>
        </p:nvSpPr>
        <p:spPr>
          <a:xfrm>
            <a:off x="2950170" y="2688481"/>
            <a:ext cx="2029470" cy="835620"/>
          </a:xfrm>
          <a:prstGeom prst="rect">
            <a:avLst/>
          </a:prstGeom>
          <a:noFill/>
          <a:ln w="12700">
            <a:solidFill>
              <a:srgbClr val="BCACA7"/>
            </a:solidFill>
            <a:prstDash val="solid"/>
          </a:ln>
        </p:spPr>
        <p:txBody>
          <a:bodyPr/>
          <a:p/>
        </p:txBody>
      </p:sp>
      <p:sp>
        <p:nvSpPr>
          <p:cNvPr id="23" name="Text 21"/>
          <p:cNvSpPr/>
          <p:nvPr/>
        </p:nvSpPr>
        <p:spPr>
          <a:xfrm>
            <a:off x="307082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07</a:t>
            </a:r>
            <a:endParaRPr lang="en-US" sz="1200" dirty="0"/>
          </a:p>
        </p:txBody>
      </p:sp>
      <p:sp>
        <p:nvSpPr>
          <p:cNvPr id="24" name="Text 22"/>
          <p:cNvSpPr/>
          <p:nvPr/>
        </p:nvSpPr>
        <p:spPr>
          <a:xfrm>
            <a:off x="3070820" y="303515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Supplier proof</a:t>
            </a:r>
            <a:endParaRPr lang="en-US" sz="1200" dirty="0"/>
          </a:p>
        </p:txBody>
      </p:sp>
      <p:sp>
        <p:nvSpPr>
          <p:cNvPr id="25" name="Shape 23"/>
          <p:cNvSpPr/>
          <p:nvPr/>
        </p:nvSpPr>
        <p:spPr>
          <a:xfrm>
            <a:off x="5081240" y="2688481"/>
            <a:ext cx="2029470" cy="835620"/>
          </a:xfrm>
          <a:prstGeom prst="rect">
            <a:avLst/>
          </a:prstGeom>
          <a:noFill/>
          <a:ln w="12700">
            <a:solidFill>
              <a:srgbClr val="BCACA7"/>
            </a:solidFill>
            <a:prstDash val="solid"/>
          </a:ln>
        </p:spPr>
        <p:txBody>
          <a:bodyPr/>
          <a:p/>
        </p:txBody>
      </p:sp>
      <p:sp>
        <p:nvSpPr>
          <p:cNvPr id="26" name="Text 24"/>
          <p:cNvSpPr/>
          <p:nvPr/>
        </p:nvSpPr>
        <p:spPr>
          <a:xfrm>
            <a:off x="520189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08</a:t>
            </a:r>
            <a:endParaRPr lang="en-US" sz="1200" dirty="0"/>
          </a:p>
        </p:txBody>
      </p:sp>
      <p:sp>
        <p:nvSpPr>
          <p:cNvPr id="27" name="Text 25"/>
          <p:cNvSpPr/>
          <p:nvPr/>
        </p:nvSpPr>
        <p:spPr>
          <a:xfrm>
            <a:off x="5201890" y="303515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Brand review</a:t>
            </a:r>
            <a:endParaRPr lang="en-US" sz="1200" dirty="0"/>
          </a:p>
        </p:txBody>
      </p:sp>
      <p:sp>
        <p:nvSpPr>
          <p:cNvPr id="28" name="Shape 26"/>
          <p:cNvSpPr/>
          <p:nvPr/>
        </p:nvSpPr>
        <p:spPr>
          <a:xfrm>
            <a:off x="7212310" y="2688481"/>
            <a:ext cx="2029470" cy="835620"/>
          </a:xfrm>
          <a:prstGeom prst="rect">
            <a:avLst/>
          </a:prstGeom>
          <a:noFill/>
          <a:ln w="12700">
            <a:solidFill>
              <a:srgbClr val="BCACA7"/>
            </a:solidFill>
            <a:prstDash val="solid"/>
          </a:ln>
        </p:spPr>
        <p:txBody>
          <a:bodyPr/>
          <a:p/>
        </p:txBody>
      </p:sp>
      <p:sp>
        <p:nvSpPr>
          <p:cNvPr id="29" name="Text 27"/>
          <p:cNvSpPr/>
          <p:nvPr/>
        </p:nvSpPr>
        <p:spPr>
          <a:xfrm>
            <a:off x="733296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09</a:t>
            </a:r>
            <a:endParaRPr lang="en-US" sz="1200" dirty="0"/>
          </a:p>
        </p:txBody>
      </p:sp>
      <p:sp>
        <p:nvSpPr>
          <p:cNvPr id="30" name="Text 28"/>
          <p:cNvSpPr/>
          <p:nvPr/>
        </p:nvSpPr>
        <p:spPr>
          <a:xfrm>
            <a:off x="7332960" y="303515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Technical and regulatory review</a:t>
            </a:r>
            <a:endParaRPr lang="en-US" sz="1200" dirty="0"/>
          </a:p>
        </p:txBody>
      </p:sp>
      <p:sp>
        <p:nvSpPr>
          <p:cNvPr id="31" name="Shape 29"/>
          <p:cNvSpPr/>
          <p:nvPr/>
        </p:nvSpPr>
        <p:spPr>
          <a:xfrm>
            <a:off x="9343380" y="2688481"/>
            <a:ext cx="2029470" cy="835620"/>
          </a:xfrm>
          <a:prstGeom prst="rect">
            <a:avLst/>
          </a:prstGeom>
          <a:noFill/>
          <a:ln w="12700">
            <a:solidFill>
              <a:srgbClr val="BCACA7"/>
            </a:solidFill>
            <a:prstDash val="solid"/>
          </a:ln>
        </p:spPr>
        <p:txBody>
          <a:bodyPr/>
          <a:p/>
        </p:txBody>
      </p:sp>
      <p:sp>
        <p:nvSpPr>
          <p:cNvPr id="32" name="Text 30"/>
          <p:cNvSpPr/>
          <p:nvPr/>
        </p:nvSpPr>
        <p:spPr>
          <a:xfrm>
            <a:off x="9464030" y="279643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10</a:t>
            </a:r>
            <a:endParaRPr lang="en-US" sz="1200" dirty="0"/>
          </a:p>
        </p:txBody>
      </p:sp>
      <p:sp>
        <p:nvSpPr>
          <p:cNvPr id="33" name="Text 31"/>
          <p:cNvSpPr/>
          <p:nvPr/>
        </p:nvSpPr>
        <p:spPr>
          <a:xfrm>
            <a:off x="9464030" y="3035151"/>
            <a:ext cx="190247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Physical proof or sample</a:t>
            </a:r>
            <a:endParaRPr lang="en-US" sz="1200" dirty="0"/>
          </a:p>
        </p:txBody>
      </p:sp>
      <p:sp>
        <p:nvSpPr>
          <p:cNvPr id="34" name="Shape 32"/>
          <p:cNvSpPr/>
          <p:nvPr/>
        </p:nvSpPr>
        <p:spPr>
          <a:xfrm>
            <a:off x="819150" y="3625701"/>
            <a:ext cx="2029420" cy="835620"/>
          </a:xfrm>
          <a:prstGeom prst="rect">
            <a:avLst/>
          </a:prstGeom>
          <a:noFill/>
          <a:ln w="12700">
            <a:solidFill>
              <a:srgbClr val="BCACA7"/>
            </a:solidFill>
            <a:prstDash val="solid"/>
          </a:ln>
        </p:spPr>
        <p:txBody>
          <a:bodyPr/>
          <a:p/>
        </p:txBody>
      </p:sp>
      <p:sp>
        <p:nvSpPr>
          <p:cNvPr id="35" name="Text 33"/>
          <p:cNvSpPr/>
          <p:nvPr/>
        </p:nvSpPr>
        <p:spPr>
          <a:xfrm>
            <a:off x="939800" y="3733651"/>
            <a:ext cx="184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11</a:t>
            </a:r>
            <a:endParaRPr lang="en-US" sz="1200" dirty="0"/>
          </a:p>
        </p:txBody>
      </p:sp>
      <p:sp>
        <p:nvSpPr>
          <p:cNvPr id="36" name="Text 34"/>
          <p:cNvSpPr/>
          <p:nvPr/>
        </p:nvSpPr>
        <p:spPr>
          <a:xfrm>
            <a:off x="939800" y="3972371"/>
            <a:ext cx="1841764"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Corrections</a:t>
            </a:r>
            <a:endParaRPr lang="en-US" sz="1200" dirty="0"/>
          </a:p>
        </p:txBody>
      </p:sp>
      <p:sp>
        <p:nvSpPr>
          <p:cNvPr id="37" name="Shape 35"/>
          <p:cNvSpPr/>
          <p:nvPr/>
        </p:nvSpPr>
        <p:spPr>
          <a:xfrm>
            <a:off x="2950170" y="3625701"/>
            <a:ext cx="2029470" cy="835620"/>
          </a:xfrm>
          <a:prstGeom prst="rect">
            <a:avLst/>
          </a:prstGeom>
          <a:noFill/>
          <a:ln w="12700">
            <a:solidFill>
              <a:srgbClr val="BCACA7"/>
            </a:solidFill>
            <a:prstDash val="solid"/>
          </a:ln>
        </p:spPr>
        <p:txBody>
          <a:bodyPr/>
          <a:p/>
        </p:txBody>
      </p:sp>
      <p:sp>
        <p:nvSpPr>
          <p:cNvPr id="38" name="Text 36"/>
          <p:cNvSpPr/>
          <p:nvPr/>
        </p:nvSpPr>
        <p:spPr>
          <a:xfrm>
            <a:off x="3070820" y="373365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12</a:t>
            </a:r>
            <a:endParaRPr lang="en-US" sz="1200" dirty="0"/>
          </a:p>
        </p:txBody>
      </p:sp>
      <p:sp>
        <p:nvSpPr>
          <p:cNvPr id="39" name="Text 37"/>
          <p:cNvSpPr/>
          <p:nvPr/>
        </p:nvSpPr>
        <p:spPr>
          <a:xfrm>
            <a:off x="3070820" y="3972371"/>
            <a:ext cx="1841815"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Final approval</a:t>
            </a:r>
            <a:endParaRPr lang="en-US" sz="1200" dirty="0"/>
          </a:p>
        </p:txBody>
      </p:sp>
      <p:sp>
        <p:nvSpPr>
          <p:cNvPr id="40" name="Shape 38"/>
          <p:cNvSpPr/>
          <p:nvPr/>
        </p:nvSpPr>
        <p:spPr>
          <a:xfrm>
            <a:off x="5074890" y="3619351"/>
            <a:ext cx="2042170" cy="848320"/>
          </a:xfrm>
          <a:prstGeom prst="rect">
            <a:avLst/>
          </a:prstGeom>
          <a:solidFill>
            <a:srgbClr val="BCACA7"/>
          </a:solidFill>
          <a:ln/>
        </p:spPr>
        <p:txBody>
          <a:bodyPr/>
          <a:p/>
        </p:txBody>
      </p:sp>
      <p:sp>
        <p:nvSpPr>
          <p:cNvPr id="41" name="Text 39"/>
          <p:cNvSpPr/>
          <p:nvPr/>
        </p:nvSpPr>
        <p:spPr>
          <a:xfrm>
            <a:off x="5189190" y="3720951"/>
            <a:ext cx="1867977"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13</a:t>
            </a:r>
            <a:endParaRPr lang="en-US" sz="1200" dirty="0"/>
          </a:p>
        </p:txBody>
      </p:sp>
      <p:sp>
        <p:nvSpPr>
          <p:cNvPr id="42" name="Text 40"/>
          <p:cNvSpPr/>
          <p:nvPr/>
        </p:nvSpPr>
        <p:spPr>
          <a:xfrm>
            <a:off x="5189190" y="3959671"/>
            <a:ext cx="1867977"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Production release</a:t>
            </a:r>
            <a:endParaRPr lang="en-US" sz="1200" dirty="0"/>
          </a:p>
        </p:txBody>
      </p:sp>
      <p:sp>
        <p:nvSpPr>
          <p:cNvPr id="43" name="Shape 41"/>
          <p:cNvSpPr/>
          <p:nvPr/>
        </p:nvSpPr>
        <p:spPr>
          <a:xfrm>
            <a:off x="7212310" y="3625701"/>
            <a:ext cx="2029470" cy="835620"/>
          </a:xfrm>
          <a:prstGeom prst="rect">
            <a:avLst/>
          </a:prstGeom>
          <a:noFill/>
          <a:ln w="12700">
            <a:solidFill>
              <a:srgbClr val="BCACA7"/>
            </a:solidFill>
            <a:prstDash val="solid"/>
          </a:ln>
        </p:spPr>
        <p:txBody>
          <a:bodyPr/>
          <a:p/>
        </p:txBody>
      </p:sp>
      <p:sp>
        <p:nvSpPr>
          <p:cNvPr id="44" name="Text 42"/>
          <p:cNvSpPr/>
          <p:nvPr/>
        </p:nvSpPr>
        <p:spPr>
          <a:xfrm>
            <a:off x="7332960" y="3733651"/>
            <a:ext cx="184181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14</a:t>
            </a:r>
            <a:endParaRPr lang="en-US" sz="1200" dirty="0"/>
          </a:p>
        </p:txBody>
      </p:sp>
      <p:sp>
        <p:nvSpPr>
          <p:cNvPr id="45" name="Text 43"/>
          <p:cNvSpPr/>
          <p:nvPr/>
        </p:nvSpPr>
        <p:spPr>
          <a:xfrm>
            <a:off x="7332960" y="3972371"/>
            <a:ext cx="1841815" cy="4064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FFFFFF"/>
                </a:solidFill>
                <a:latin typeface="Inter" pitchFamily="34" charset="0"/>
                <a:ea typeface="Inter" pitchFamily="34" charset="-122"/>
                <a:cs typeface="Inter" pitchFamily="34" charset="-120"/>
              </a:rPr>
              <a:t>Batch or job record archived</a:t>
            </a:r>
            <a:endParaRPr lang="en-US" sz="1200" dirty="0"/>
          </a:p>
        </p:txBody>
      </p:sp>
      <p:sp>
        <p:nvSpPr>
          <p:cNvPr id="46" name="Text 44"/>
          <p:cNvSpPr/>
          <p:nvPr/>
        </p:nvSpPr>
        <p:spPr>
          <a:xfrm>
            <a:off x="812800" y="4645471"/>
            <a:ext cx="10883392" cy="264765"/>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No production may bypass the sequence unless formally approved in writing. Corrections at step 11 return the job to step 5.</a:t>
            </a:r>
            <a:endParaRPr lang="en-US" sz="1300" dirty="0"/>
          </a:p>
        </p:txBody>
      </p:sp>
      <p:sp>
        <p:nvSpPr>
          <p:cNvPr id="47" name="Text 4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WORKING EDITION</a:t>
            </a:r>
            <a:endParaRPr lang="en-US" sz="1200" dirty="0"/>
          </a:p>
        </p:txBody>
      </p:sp>
      <p:sp>
        <p:nvSpPr>
          <p:cNvPr id="48" name="Text 4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01</a:t>
            </a:r>
            <a:endParaRPr lang="en-US" sz="1400" dirty="0"/>
          </a:p>
        </p:txBody>
      </p:sp>
      <p:sp>
        <p:nvSpPr>
          <p:cNvPr id="4" name="Text 1"/>
          <p:cNvSpPr/>
          <p:nvPr>
            <p:ph type="title"/>
          </p:nvPr>
        </p:nvSpPr>
        <p:spPr>
          <a:xfrm>
            <a:off x="812800" y="2540000"/>
            <a:ext cx="784860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IDENTITY</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Master artwork, colour, type and Arabic, as production controls.</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3710"/>
          </a:xfrm>
          <a:prstGeom prst="rect">
            <a:avLst/>
          </a:prstGeom>
          <a:noFill/>
          <a:ln/>
        </p:spPr>
        <p:txBody>
          <a:bodyPr wrap="square" lIns="0" tIns="0" rIns="0" bIns="0" rtlCol="0" anchor="t">
            <a:normAutofit/>
          </a:bodyPr>
          <a:lstStyle/>
          <a:p>
            <a:pPr algn="l" indent="0" marL="0">
              <a:lnSpc>
                <a:spcPts val="1675"/>
              </a:lnSpc>
              <a:buNone/>
            </a:pPr>
            <a:r>
              <a:rPr lang="en-US" sz="1196" spc="190" kern="0" dirty="0">
                <a:solidFill>
                  <a:srgbClr val="12171D"/>
                </a:solidFill>
                <a:latin typeface="Inter" pitchFamily="34" charset="0"/>
                <a:ea typeface="Inter" pitchFamily="34" charset="-122"/>
                <a:cs typeface="Inter" pitchFamily="34" charset="-120"/>
              </a:rPr>
              <a:t>06 · MASTER ARTWORK REGISTER</a:t>
            </a:r>
            <a:endParaRPr lang="en-US" sz="1196" dirty="0"/>
          </a:p>
        </p:txBody>
      </p:sp>
      <p:sp>
        <p:nvSpPr>
          <p:cNvPr id="3" name="Text 1"/>
          <p:cNvSpPr/>
          <p:nvPr>
            <p:ph type="title"/>
          </p:nvPr>
        </p:nvSpPr>
        <p:spPr>
          <a:xfrm>
            <a:off x="812800" y="1148110"/>
            <a:ext cx="10883392" cy="352822"/>
          </a:xfrm>
          <a:prstGeom prst="rect">
            <a:avLst/>
          </a:prstGeom>
          <a:noFill/>
          <a:ln/>
        </p:spPr>
        <p:txBody>
          <a:bodyPr wrap="square" lIns="0" tIns="0" rIns="0" bIns="0" rtlCol="0" anchor="t">
            <a:normAutofit/>
          </a:bodyPr>
          <a:lstStyle/>
          <a:p>
            <a:pPr algn="l" indent="0" marL="0">
              <a:lnSpc>
                <a:spcPts val="2624"/>
              </a:lnSpc>
              <a:buNone/>
            </a:pPr>
            <a:r>
              <a:rPr lang="en-US" sz="2385" b="0" i="0" spc="50" kern="0" dirty="0">
                <a:solidFill>
                  <a:srgbClr val="12171D"/>
                </a:solidFill>
                <a:latin typeface="Jost" pitchFamily="34" charset="0"/>
                <a:ea typeface="Jost" pitchFamily="34" charset="-122"/>
                <a:cs typeface="Jost" pitchFamily="34" charset="-120"/>
              </a:rPr>
              <a:t>Required masters: SVG, PDF, EPS if the workflow needs it.</a:t>
            </a:r>
            <a:endParaRPr lang="en-US" sz="2385"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15232"/>
          <a:ext cx="10553700" cy="3898850"/>
        </p:xfrm>
        <a:graphic>
          <a:graphicData uri="http://schemas.openxmlformats.org/drawingml/2006/table">
            <a:tbl>
              <a:tblPr/>
              <a:tblGrid>
                <a:gridCol w="3799332"/>
                <a:gridCol w="2743962"/>
                <a:gridCol w="4010406"/>
              </a:tblGrid>
              <a:tr h="324892">
                <a:tc>
                  <a:txBody>
                    <a:bodyPr/>
                    <a:lstStyle/>
                    <a:p>
                      <a:pPr indent="0" marL="0">
                        <a:lnSpc>
                          <a:spcPts val="1638"/>
                        </a:lnSpc>
                        <a:buNone/>
                      </a:pPr>
                      <a:r>
                        <a:rPr lang="en-US" sz="1170" b="1" dirty="0">
                          <a:solidFill>
                            <a:srgbClr val="FFFFFF"/>
                          </a:solidFill>
                          <a:latin typeface="Inter" pitchFamily="34" charset="0"/>
                          <a:ea typeface="Inter" pitchFamily="34" charset="-122"/>
                          <a:cs typeface="Inter" pitchFamily="34" charset="-120"/>
                        </a:rPr>
                        <a:t>Asset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38"/>
                        </a:lnSpc>
                        <a:buNone/>
                      </a:pPr>
                      <a:r>
                        <a:rPr lang="en-US" sz="1170" b="1" dirty="0">
                          <a:solidFill>
                            <a:srgbClr val="FFFFFF"/>
                          </a:solidFill>
                          <a:latin typeface="Inter" pitchFamily="34" charset="0"/>
                          <a:ea typeface="Inter" pitchFamily="34" charset="-122"/>
                          <a:cs typeface="Inter" pitchFamily="34" charset="-120"/>
                        </a:rPr>
                        <a:t>On file today</a:t>
                      </a:r>
                      <a:endParaRPr lang="en-US" sz="1170" dirty="0">
                        <a:latin typeface="Inter" charset="0"/>
                        <a:ea typeface="Inter" charset="0"/>
                        <a:cs typeface="Inter" charset="0"/>
                      </a:endParaRPr>
                    </a:p>
                  </a:txBody>
                  <a:tcPr marL="52006" marR="52006" marT="52006" marB="52006"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38"/>
                        </a:lnSpc>
                        <a:buNone/>
                      </a:pPr>
                      <a:r>
                        <a:rPr lang="en-US" sz="1170" b="1" dirty="0">
                          <a:solidFill>
                            <a:srgbClr val="FFFFFF"/>
                          </a:solidFill>
                          <a:latin typeface="Inter" pitchFamily="34" charset="0"/>
                          <a:ea typeface="Inter" pitchFamily="34" charset="-122"/>
                          <a:cs typeface="Inter" pitchFamily="34" charset="-120"/>
                        </a:rPr>
                        <a:t>Vector master</a:t>
                      </a:r>
                      <a:endParaRPr lang="en-US" sz="1170" dirty="0">
                        <a:latin typeface="Inter" charset="0"/>
                        <a:ea typeface="Inter" charset="0"/>
                        <a:cs typeface="Inter" charset="0"/>
                      </a:endParaRPr>
                    </a:p>
                  </a:txBody>
                  <a:tcPr marL="52006" marR="52006" marT="52006" marB="52006"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Primary horizontal signature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PENDING PRODUCTION MASTER</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Monochrome (Black)</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PENDING PRODUCTION MASTER</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Reversed (White)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PENDING PRODUCTION MASTER</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Black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PENDING PRODUCTION MASTER</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Beige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PNG supplied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PENDING PRODUCTION MASTER</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Standalone White symbol</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None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PENDING PRODUCTION MASTER</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Stacked configuration</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None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PENDING PRODUCTION MASTER</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892">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Micro / no-spark mark</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None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PENDING PRODUCTION MASTER</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Fabrication version</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None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[REQUIRES SUPPLIER]</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Embroidery version, if needed</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None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[PROJECT-SPECIFIC]</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24941">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Favicon / app assets, if relevant</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None</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38"/>
                        </a:lnSpc>
                        <a:buNone/>
                      </a:pPr>
                      <a:r>
                        <a:rPr lang="en-US" sz="1170" dirty="0">
                          <a:solidFill>
                            <a:srgbClr val="12171D"/>
                          </a:solidFill>
                          <a:latin typeface="Inter" pitchFamily="34" charset="0"/>
                          <a:ea typeface="Inter" pitchFamily="34" charset="-122"/>
                          <a:cs typeface="Inter" pitchFamily="34" charset="-120"/>
                        </a:rPr>
                        <a:t>[PENDING]</a:t>
                      </a:r>
                      <a:endParaRPr lang="en-US" sz="1170" dirty="0">
                        <a:latin typeface="Inter" charset="0"/>
                        <a:ea typeface="Inter" charset="0"/>
                        <a:cs typeface="Inter" charset="0"/>
                      </a:endParaRPr>
                    </a:p>
                  </a:txBody>
                  <a:tcPr marL="52006" marR="52006" marT="52006" marB="52006"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5577840"/>
            <a:ext cx="10883392" cy="45720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PNG is for raster use only. Supplied rasters: GEM_Logo_Horizontal_Beige / Black / White and GEM_Symbol_Beige / Black (Part B); controlled names follow X12 at first manifest (VAL-16). Missing files are never redrawn.</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IDENTITY</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05511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07 · ARTWORK SOURCE AND PROVENANCE</a:t>
            </a:r>
            <a:endParaRPr lang="en-US" sz="1200" dirty="0"/>
          </a:p>
        </p:txBody>
      </p:sp>
      <p:sp>
        <p:nvSpPr>
          <p:cNvPr id="3" name="Text 1"/>
          <p:cNvSpPr/>
          <p:nvPr>
            <p:ph type="title"/>
          </p:nvPr>
        </p:nvSpPr>
        <p:spPr>
          <a:xfrm>
            <a:off x="812800" y="1391841"/>
            <a:ext cx="4055110" cy="807641"/>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One geometry source. Every master on record.</a:t>
            </a:r>
            <a:endParaRPr lang="en-US" sz="2800" dirty="0"/>
          </a:p>
        </p:txBody>
      </p:sp>
      <p:sp>
        <p:nvSpPr>
          <p:cNvPr id="4" name="Shape 2"/>
          <p:cNvSpPr/>
          <p:nvPr/>
        </p:nvSpPr>
        <p:spPr>
          <a:xfrm>
            <a:off x="812800" y="5103515"/>
            <a:ext cx="3937000" cy="0"/>
          </a:xfrm>
          <a:prstGeom prst="line">
            <a:avLst/>
          </a:prstGeom>
          <a:noFill/>
          <a:ln w="6350">
            <a:solidFill>
              <a:srgbClr val="BCACA7"/>
            </a:solidFill>
            <a:prstDash val="solid"/>
          </a:ln>
        </p:spPr>
        <p:txBody>
          <a:bodyPr/>
          <a:p/>
        </p:txBody>
      </p:sp>
      <p:sp>
        <p:nvSpPr>
          <p:cNvPr id="5" name="Text 3"/>
          <p:cNvSpPr/>
          <p:nvPr/>
        </p:nvSpPr>
        <p:spPr>
          <a:xfrm>
            <a:off x="812800" y="5195590"/>
            <a:ext cx="40551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One authoritative geometry source.</a:t>
            </a:r>
            <a:endParaRPr lang="en-US" sz="1300" dirty="0"/>
          </a:p>
        </p:txBody>
      </p:sp>
      <p:sp>
        <p:nvSpPr>
          <p:cNvPr id="6" name="Shape 4"/>
          <p:cNvSpPr/>
          <p:nvPr/>
        </p:nvSpPr>
        <p:spPr>
          <a:xfrm>
            <a:off x="812800" y="5518795"/>
            <a:ext cx="3937000" cy="0"/>
          </a:xfrm>
          <a:prstGeom prst="line">
            <a:avLst/>
          </a:prstGeom>
          <a:noFill/>
          <a:ln w="6350">
            <a:solidFill>
              <a:srgbClr val="BCACA7"/>
            </a:solidFill>
            <a:prstDash val="solid"/>
          </a:ln>
        </p:spPr>
        <p:txBody>
          <a:bodyPr/>
          <a:p/>
        </p:txBody>
      </p:sp>
      <p:sp>
        <p:nvSpPr>
          <p:cNvPr id="7" name="Text 5"/>
          <p:cNvSpPr/>
          <p:nvPr/>
        </p:nvSpPr>
        <p:spPr>
          <a:xfrm>
            <a:off x="812800" y="5610870"/>
            <a:ext cx="4055110" cy="25653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No tracing from raster references.</a:t>
            </a:r>
            <a:endParaRPr lang="en-US" sz="1300" dirty="0"/>
          </a:p>
        </p:txBody>
      </p:sp>
      <p:sp>
        <p:nvSpPr>
          <p:cNvPr id="8" name="Text 6"/>
          <p:cNvSpPr/>
          <p:nvPr/>
        </p:nvSpPr>
        <p:spPr>
          <a:xfrm>
            <a:off x="5257800" y="1499939"/>
            <a:ext cx="630504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EACH MASTER RECORDS</a:t>
            </a:r>
            <a:endParaRPr lang="en-US" sz="1200" dirty="0"/>
          </a:p>
        </p:txBody>
      </p:sp>
      <p:sp>
        <p:nvSpPr>
          <p:cNvPr id="9" name="Text 7"/>
          <p:cNvSpPr/>
          <p:nvPr/>
        </p:nvSpPr>
        <p:spPr>
          <a:xfrm>
            <a:off x="5264150" y="180851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Asset ID</a:t>
            </a:r>
            <a:endParaRPr lang="en-US" sz="1300" dirty="0"/>
          </a:p>
        </p:txBody>
      </p:sp>
      <p:sp>
        <p:nvSpPr>
          <p:cNvPr id="10" name="Text 8"/>
          <p:cNvSpPr/>
          <p:nvPr/>
        </p:nvSpPr>
        <p:spPr>
          <a:xfrm>
            <a:off x="8369300" y="180851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Asset name</a:t>
            </a:r>
            <a:endParaRPr lang="en-US" sz="1300" dirty="0"/>
          </a:p>
        </p:txBody>
      </p:sp>
      <p:sp>
        <p:nvSpPr>
          <p:cNvPr id="11" name="Text 9"/>
          <p:cNvSpPr/>
          <p:nvPr/>
        </p:nvSpPr>
        <p:spPr>
          <a:xfrm>
            <a:off x="5264150" y="233174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Version</a:t>
            </a:r>
            <a:endParaRPr lang="en-US" sz="1300" dirty="0"/>
          </a:p>
        </p:txBody>
      </p:sp>
      <p:sp>
        <p:nvSpPr>
          <p:cNvPr id="12" name="Text 10"/>
          <p:cNvSpPr/>
          <p:nvPr/>
        </p:nvSpPr>
        <p:spPr>
          <a:xfrm>
            <a:off x="8369300" y="233174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Owner</a:t>
            </a:r>
            <a:endParaRPr lang="en-US" sz="1300" dirty="0"/>
          </a:p>
        </p:txBody>
      </p:sp>
      <p:sp>
        <p:nvSpPr>
          <p:cNvPr id="13" name="Text 11"/>
          <p:cNvSpPr/>
          <p:nvPr/>
        </p:nvSpPr>
        <p:spPr>
          <a:xfrm>
            <a:off x="5264150" y="285497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Approval date</a:t>
            </a:r>
            <a:endParaRPr lang="en-US" sz="1300" dirty="0"/>
          </a:p>
        </p:txBody>
      </p:sp>
      <p:sp>
        <p:nvSpPr>
          <p:cNvPr id="14" name="Text 12"/>
          <p:cNvSpPr/>
          <p:nvPr/>
        </p:nvSpPr>
        <p:spPr>
          <a:xfrm>
            <a:off x="8369300" y="285497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Source file</a:t>
            </a:r>
            <a:endParaRPr lang="en-US" sz="1300" dirty="0"/>
          </a:p>
        </p:txBody>
      </p:sp>
      <p:sp>
        <p:nvSpPr>
          <p:cNvPr id="15" name="Text 13"/>
          <p:cNvSpPr/>
          <p:nvPr/>
        </p:nvSpPr>
        <p:spPr>
          <a:xfrm>
            <a:off x="5264150" y="337820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File checksum</a:t>
            </a:r>
            <a:endParaRPr lang="en-US" sz="1300" dirty="0"/>
          </a:p>
        </p:txBody>
      </p:sp>
      <p:sp>
        <p:nvSpPr>
          <p:cNvPr id="16" name="Text 14"/>
          <p:cNvSpPr/>
          <p:nvPr/>
        </p:nvSpPr>
        <p:spPr>
          <a:xfrm>
            <a:off x="8369300" y="337820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Colour mode</a:t>
            </a:r>
            <a:endParaRPr lang="en-US" sz="1300" dirty="0"/>
          </a:p>
        </p:txBody>
      </p:sp>
      <p:sp>
        <p:nvSpPr>
          <p:cNvPr id="17" name="Text 15"/>
          <p:cNvSpPr/>
          <p:nvPr/>
        </p:nvSpPr>
        <p:spPr>
          <a:xfrm>
            <a:off x="5264150" y="390143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Intended use</a:t>
            </a:r>
            <a:endParaRPr lang="en-US" sz="1300" dirty="0"/>
          </a:p>
        </p:txBody>
      </p:sp>
      <p:sp>
        <p:nvSpPr>
          <p:cNvPr id="18" name="Text 16"/>
          <p:cNvSpPr/>
          <p:nvPr/>
        </p:nvSpPr>
        <p:spPr>
          <a:xfrm>
            <a:off x="8369300" y="390143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Superseded version</a:t>
            </a:r>
            <a:endParaRPr lang="en-US" sz="1300" dirty="0"/>
          </a:p>
        </p:txBody>
      </p:sp>
      <p:sp>
        <p:nvSpPr>
          <p:cNvPr id="19" name="Text 17"/>
          <p:cNvSpPr/>
          <p:nvPr/>
        </p:nvSpPr>
        <p:spPr>
          <a:xfrm>
            <a:off x="5264150" y="4424660"/>
            <a:ext cx="3003550" cy="421630"/>
          </a:xfrm>
          <a:prstGeom prst="rect">
            <a:avLst/>
          </a:prstGeom>
          <a:noFill/>
          <a:ln w="12700">
            <a:solidFill>
              <a:srgbClr val="BCACA7"/>
            </a:solidFill>
            <a:prstDash val="solid"/>
          </a:ln>
        </p:spPr>
        <p:txBody>
          <a:bodyPr wrap="square" lIns="120650" tIns="95250" rIns="37783" bIns="6985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Release status</a:t>
            </a:r>
            <a:endParaRPr lang="en-US" sz="1300" dirty="0"/>
          </a:p>
        </p:txBody>
      </p:sp>
      <p:sp>
        <p:nvSpPr>
          <p:cNvPr id="20" name="Text 18"/>
          <p:cNvSpPr/>
          <p:nvPr/>
        </p:nvSpPr>
        <p:spPr>
          <a:xfrm>
            <a:off x="5257800" y="4941540"/>
            <a:ext cx="69342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Unknown values stay [PENDING]. The full record is the asset manifest, appendix N.</a:t>
            </a:r>
            <a:endParaRPr lang="en-US" sz="12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IDENTITY</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08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08 · LOGO REPRODUCTION LIMITS</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Minimum line weights: [TO BE VERIFIED BY PROCESS TEST].</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3659485"/>
        </p:xfrm>
        <a:graphic>
          <a:graphicData uri="http://schemas.openxmlformats.org/drawingml/2006/table">
            <a:tbl>
              <a:tblPr/>
              <a:tblGrid>
                <a:gridCol w="3377184"/>
                <a:gridCol w="7176516"/>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Evidence required before use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Offset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Press proof of the logo at final size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at final size on the job 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Screen 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Test print with fine-line 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Engraving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Engraved sample on the actual 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Laser marking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Marked sample on the actual 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Embroidery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Stitched sample from a controlled 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Deboss and emboss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Tooling trial and physical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Die-cut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Cut test on the approved die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Signage fabrication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Full-size fabricated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Small-format labels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Printed proof at the smallest planned size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5414566"/>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line weight, gap or feature size is stated until process samples exist.</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IDENTITY</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09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9707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09 · CLEARSPACE AND MINIMUM SIZE</a:t>
            </a:r>
            <a:endParaRPr lang="en-US" sz="1200" dirty="0"/>
          </a:p>
        </p:txBody>
      </p:sp>
      <p:sp>
        <p:nvSpPr>
          <p:cNvPr id="3" name="Shape 1"/>
          <p:cNvSpPr/>
          <p:nvPr/>
        </p:nvSpPr>
        <p:spPr>
          <a:xfrm>
            <a:off x="822325" y="1188045"/>
            <a:ext cx="3702050" cy="1879600"/>
          </a:xfrm>
          <a:prstGeom prst="rect">
            <a:avLst/>
          </a:prstGeom>
          <a:noFill/>
          <a:ln w="19050">
            <a:solidFill>
              <a:srgbClr val="12171D"/>
            </a:solidFill>
            <a:prstDash val="dash"/>
          </a:ln>
        </p:spPr>
        <p:txBody>
          <a:bodyPr/>
          <a:p/>
        </p:txBody>
      </p:sp>
      <p:pic>
        <p:nvPicPr>
          <p:cNvPr id="4" name="Image 0" descr="Primary signature inside the dashed one-u clearspace boundary, schematic only." title="Primary signature inside the dashed one-u clearspace boundar">    </p:cNvPr>
          <p:cNvPicPr>
            <a:picLocks noChangeAspect="1"/>
          </p:cNvPicPr>
          <p:nvPr/>
        </p:nvPicPr>
        <p:blipFill>
          <a:blip r:embed="rId1"/>
          <a:srcRect l="0" r="0" t="-24" b="-24"/>
          <a:stretch/>
        </p:blipFill>
        <p:spPr>
          <a:xfrm>
            <a:off x="1339850" y="1705570"/>
            <a:ext cx="2667000" cy="844550"/>
          </a:xfrm>
          <a:prstGeom prst="rect">
            <a:avLst/>
          </a:prstGeom>
        </p:spPr>
      </p:pic>
      <p:sp>
        <p:nvSpPr>
          <p:cNvPr id="5" name="Text 2"/>
          <p:cNvSpPr/>
          <p:nvPr/>
        </p:nvSpPr>
        <p:spPr>
          <a:xfrm>
            <a:off x="812800" y="3229570"/>
            <a:ext cx="497078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Schematic only: the dashed boundary is 1u on every side.</a:t>
            </a:r>
            <a:endParaRPr lang="en-US" sz="1200" dirty="0"/>
          </a:p>
        </p:txBody>
      </p:sp>
      <p:sp>
        <p:nvSpPr>
          <p:cNvPr id="6" name="Text 3"/>
          <p:cNvSpPr/>
          <p:nvPr/>
        </p:nvSpPr>
        <p:spPr>
          <a:xfrm>
            <a:off x="6146800" y="1795264"/>
            <a:ext cx="538937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CARRIED FROM PART A · APPROVED</a:t>
            </a:r>
            <a:endParaRPr lang="en-US" sz="1200" dirty="0"/>
          </a:p>
        </p:txBody>
      </p:sp>
      <p:sp>
        <p:nvSpPr>
          <p:cNvPr id="7" name="Shape 4"/>
          <p:cNvSpPr/>
          <p:nvPr/>
        </p:nvSpPr>
        <p:spPr>
          <a:xfrm>
            <a:off x="6146800" y="2138759"/>
            <a:ext cx="5232400" cy="0"/>
          </a:xfrm>
          <a:prstGeom prst="line">
            <a:avLst/>
          </a:prstGeom>
          <a:noFill/>
          <a:ln w="6350">
            <a:solidFill>
              <a:srgbClr val="BCACA7"/>
            </a:solidFill>
            <a:prstDash val="solid"/>
          </a:ln>
        </p:spPr>
        <p:txBody>
          <a:bodyPr/>
          <a:p/>
        </p:txBody>
      </p:sp>
      <p:sp>
        <p:nvSpPr>
          <p:cNvPr id="8" name="Text 5"/>
          <p:cNvSpPr/>
          <p:nvPr/>
        </p:nvSpPr>
        <p:spPr>
          <a:xfrm>
            <a:off x="6146800" y="2218134"/>
            <a:ext cx="5389372"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u = the G-ring radius. 1u minimum, 2u preferred.</a:t>
            </a:r>
            <a:endParaRPr lang="en-US" sz="1400" dirty="0"/>
          </a:p>
        </p:txBody>
      </p:sp>
      <p:sp>
        <p:nvSpPr>
          <p:cNvPr id="9" name="Shape 6"/>
          <p:cNvSpPr/>
          <p:nvPr/>
        </p:nvSpPr>
        <p:spPr>
          <a:xfrm>
            <a:off x="6146800" y="2597200"/>
            <a:ext cx="5232400" cy="0"/>
          </a:xfrm>
          <a:prstGeom prst="line">
            <a:avLst/>
          </a:prstGeom>
          <a:noFill/>
          <a:ln w="6350">
            <a:solidFill>
              <a:srgbClr val="BCACA7"/>
            </a:solidFill>
            <a:prstDash val="solid"/>
          </a:ln>
        </p:spPr>
        <p:txBody>
          <a:bodyPr/>
          <a:p/>
        </p:txBody>
      </p:sp>
      <p:sp>
        <p:nvSpPr>
          <p:cNvPr id="10" name="Text 7"/>
          <p:cNvSpPr/>
          <p:nvPr/>
        </p:nvSpPr>
        <p:spPr>
          <a:xfrm>
            <a:off x="6146800" y="2676575"/>
            <a:ext cx="53893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Digital: lockup 120px, symbol 32px. Below 32px use the micro / no-spark mark.</a:t>
            </a:r>
            <a:endParaRPr lang="en-US" sz="1400" dirty="0"/>
          </a:p>
        </p:txBody>
      </p:sp>
      <p:sp>
        <p:nvSpPr>
          <p:cNvPr id="11" name="Text 8"/>
          <p:cNvSpPr/>
          <p:nvPr/>
        </p:nvSpPr>
        <p:spPr>
          <a:xfrm>
            <a:off x="6146800" y="3377555"/>
            <a:ext cx="538937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PHYSICAL SIZES</a:t>
            </a:r>
            <a:endParaRPr lang="en-US" sz="1200" dirty="0"/>
          </a:p>
        </p:txBody>
      </p:sp>
      <p:sp>
        <p:nvSpPr>
          <p:cNvPr id="12" name="Shape 9"/>
          <p:cNvSpPr/>
          <p:nvPr/>
        </p:nvSpPr>
        <p:spPr>
          <a:xfrm>
            <a:off x="6146800" y="3721050"/>
            <a:ext cx="5232400" cy="0"/>
          </a:xfrm>
          <a:prstGeom prst="line">
            <a:avLst/>
          </a:prstGeom>
          <a:noFill/>
          <a:ln w="6350">
            <a:solidFill>
              <a:srgbClr val="BCACA7"/>
            </a:solidFill>
            <a:prstDash val="solid"/>
          </a:ln>
        </p:spPr>
        <p:txBody>
          <a:bodyPr/>
          <a:p/>
        </p:txBody>
      </p:sp>
      <p:sp>
        <p:nvSpPr>
          <p:cNvPr id="13" name="Text 10"/>
          <p:cNvSpPr/>
          <p:nvPr/>
        </p:nvSpPr>
        <p:spPr>
          <a:xfrm>
            <a:off x="6146800" y="3800425"/>
            <a:ext cx="5389372"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Physical minimum sizes: [TO BE VERIFIED BY PROCESS TEST]. Pixels are never converted to millimetres.</a:t>
            </a:r>
            <a:endParaRPr lang="en-US" sz="1400" dirty="0"/>
          </a:p>
        </p:txBody>
      </p:sp>
      <p:sp>
        <p:nvSpPr>
          <p:cNvPr id="14" name="Text 11"/>
          <p:cNvSpPr/>
          <p:nvPr/>
        </p:nvSpPr>
        <p:spPr>
          <a:xfrm>
            <a:off x="6153150" y="4431556"/>
            <a:ext cx="5219700" cy="421630"/>
          </a:xfrm>
          <a:prstGeom prst="rect">
            <a:avLst/>
          </a:prstGeom>
          <a:noFill/>
          <a:ln w="12700">
            <a:solidFill>
              <a:srgbClr val="12171D"/>
            </a:solidFill>
            <a:prstDash val="dash"/>
          </a:ln>
        </p:spPr>
        <p:txBody>
          <a:bodyPr wrap="square" lIns="120650" tIns="95250" rIns="0" bIns="698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Micro / no-spark mark: PENDING PRODUCTION MASTER</a:t>
            </a:r>
            <a:endParaRPr lang="en-US" sz="1300" dirty="0"/>
          </a:p>
        </p:txBody>
      </p:sp>
      <p:sp>
        <p:nvSpPr>
          <p:cNvPr id="15" name="Text 1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IDENTITY</a:t>
            </a:r>
            <a:endParaRPr lang="en-US" sz="1200" dirty="0"/>
          </a:p>
        </p:txBody>
      </p:sp>
      <p:sp>
        <p:nvSpPr>
          <p:cNvPr id="16"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10 · MASTER COLOUR SPECIFICATION</a:t>
            </a:r>
            <a:endParaRPr lang="en-US" sz="1200" dirty="0"/>
          </a:p>
        </p:txBody>
      </p:sp>
      <p:sp>
        <p:nvSpPr>
          <p:cNvPr id="3" name="Text 1"/>
          <p:cNvSpPr/>
          <p:nvPr>
            <p:ph type="title"/>
          </p:nvPr>
        </p:nvSpPr>
        <p:spPr>
          <a:xfrm>
            <a:off x="812800" y="1178520"/>
            <a:ext cx="11379200"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HEX values are digital references. Physical values are not yet validated.</a:t>
            </a:r>
            <a:endParaRPr lang="en-US" sz="2600" dirty="0"/>
          </a:p>
        </p:txBody>
      </p:sp>
      <p:sp>
        <p:nvSpPr>
          <p:cNvPr id="4" name="Shape 2"/>
          <p:cNvSpPr/>
          <p:nvPr/>
        </p:nvSpPr>
        <p:spPr>
          <a:xfrm>
            <a:off x="812800" y="1694111"/>
            <a:ext cx="2546350" cy="1079500"/>
          </a:xfrm>
          <a:prstGeom prst="rect">
            <a:avLst/>
          </a:prstGeom>
          <a:solidFill>
            <a:srgbClr val="12171D"/>
          </a:solidFill>
          <a:ln/>
        </p:spPr>
        <p:txBody>
          <a:bodyPr/>
          <a:p/>
        </p:txBody>
      </p:sp>
      <p:sp>
        <p:nvSpPr>
          <p:cNvPr id="5" name="Text 3"/>
          <p:cNvSpPr/>
          <p:nvPr/>
        </p:nvSpPr>
        <p:spPr>
          <a:xfrm>
            <a:off x="81280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INK</a:t>
            </a:r>
            <a:endParaRPr lang="en-US" sz="1800" dirty="0"/>
          </a:p>
        </p:txBody>
      </p:sp>
      <p:sp>
        <p:nvSpPr>
          <p:cNvPr id="6" name="Text 4"/>
          <p:cNvSpPr/>
          <p:nvPr/>
        </p:nvSpPr>
        <p:spPr>
          <a:xfrm>
            <a:off x="81280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#12171D</a:t>
            </a:r>
            <a:endParaRPr lang="en-US" sz="1200" dirty="0"/>
          </a:p>
        </p:txBody>
      </p:sp>
      <p:sp>
        <p:nvSpPr>
          <p:cNvPr id="7" name="Text 5"/>
          <p:cNvSpPr/>
          <p:nvPr/>
        </p:nvSpPr>
        <p:spPr>
          <a:xfrm>
            <a:off x="81280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Primary dark brand field and default text colour.</a:t>
            </a:r>
            <a:endParaRPr lang="en-US" sz="1200" dirty="0"/>
          </a:p>
        </p:txBody>
      </p:sp>
      <p:sp>
        <p:nvSpPr>
          <p:cNvPr id="8" name="Text 6"/>
          <p:cNvSpPr/>
          <p:nvPr/>
        </p:nvSpPr>
        <p:spPr>
          <a:xfrm>
            <a:off x="81280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9" name="Text 7"/>
          <p:cNvSpPr/>
          <p:nvPr/>
        </p:nvSpPr>
        <p:spPr>
          <a:xfrm>
            <a:off x="81280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10" name="Shape 8"/>
          <p:cNvSpPr/>
          <p:nvPr/>
        </p:nvSpPr>
        <p:spPr>
          <a:xfrm>
            <a:off x="3486150" y="1694111"/>
            <a:ext cx="2546350" cy="1079500"/>
          </a:xfrm>
          <a:prstGeom prst="rect">
            <a:avLst/>
          </a:prstGeom>
          <a:solidFill>
            <a:srgbClr val="BCACA7"/>
          </a:solidFill>
          <a:ln/>
        </p:spPr>
        <p:txBody>
          <a:bodyPr/>
          <a:p/>
        </p:txBody>
      </p:sp>
      <p:sp>
        <p:nvSpPr>
          <p:cNvPr id="11" name="Text 9"/>
          <p:cNvSpPr/>
          <p:nvPr/>
        </p:nvSpPr>
        <p:spPr>
          <a:xfrm>
            <a:off x="348615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BEIGE</a:t>
            </a:r>
            <a:endParaRPr lang="en-US" sz="1800" dirty="0"/>
          </a:p>
        </p:txBody>
      </p:sp>
      <p:sp>
        <p:nvSpPr>
          <p:cNvPr id="12" name="Text 10"/>
          <p:cNvSpPr/>
          <p:nvPr/>
        </p:nvSpPr>
        <p:spPr>
          <a:xfrm>
            <a:off x="348615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#BCACA7</a:t>
            </a:r>
            <a:endParaRPr lang="en-US" sz="1200" dirty="0"/>
          </a:p>
        </p:txBody>
      </p:sp>
      <p:sp>
        <p:nvSpPr>
          <p:cNvPr id="13" name="Text 11"/>
          <p:cNvSpPr/>
          <p:nvPr/>
        </p:nvSpPr>
        <p:spPr>
          <a:xfrm>
            <a:off x="348615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Warm-neutral counterpart to Ink. Not for essential text on White.</a:t>
            </a:r>
            <a:endParaRPr lang="en-US" sz="1200" dirty="0"/>
          </a:p>
        </p:txBody>
      </p:sp>
      <p:sp>
        <p:nvSpPr>
          <p:cNvPr id="14" name="Text 12"/>
          <p:cNvSpPr/>
          <p:nvPr/>
        </p:nvSpPr>
        <p:spPr>
          <a:xfrm>
            <a:off x="348615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15" name="Text 13"/>
          <p:cNvSpPr/>
          <p:nvPr/>
        </p:nvSpPr>
        <p:spPr>
          <a:xfrm>
            <a:off x="348615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16" name="Shape 14"/>
          <p:cNvSpPr/>
          <p:nvPr/>
        </p:nvSpPr>
        <p:spPr>
          <a:xfrm>
            <a:off x="6159500" y="1694111"/>
            <a:ext cx="2546350" cy="1079500"/>
          </a:xfrm>
          <a:prstGeom prst="rect">
            <a:avLst/>
          </a:prstGeom>
          <a:solidFill>
            <a:srgbClr val="020202"/>
          </a:solidFill>
          <a:ln/>
        </p:spPr>
        <p:txBody>
          <a:bodyPr/>
          <a:p/>
        </p:txBody>
      </p:sp>
      <p:sp>
        <p:nvSpPr>
          <p:cNvPr id="17" name="Text 15"/>
          <p:cNvSpPr/>
          <p:nvPr/>
        </p:nvSpPr>
        <p:spPr>
          <a:xfrm>
            <a:off x="615950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BLACK</a:t>
            </a:r>
            <a:endParaRPr lang="en-US" sz="1800" dirty="0"/>
          </a:p>
        </p:txBody>
      </p:sp>
      <p:sp>
        <p:nvSpPr>
          <p:cNvPr id="18" name="Text 16"/>
          <p:cNvSpPr/>
          <p:nvPr/>
        </p:nvSpPr>
        <p:spPr>
          <a:xfrm>
            <a:off x="615950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#020202</a:t>
            </a:r>
            <a:endParaRPr lang="en-US" sz="1200" dirty="0"/>
          </a:p>
        </p:txBody>
      </p:sp>
      <p:sp>
        <p:nvSpPr>
          <p:cNvPr id="19" name="Text 17"/>
          <p:cNvSpPr/>
          <p:nvPr/>
        </p:nvSpPr>
        <p:spPr>
          <a:xfrm>
            <a:off x="6159500" y="3497461"/>
            <a:ext cx="2622740" cy="64259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Monochrome and one-colour production, approved functional states.</a:t>
            </a:r>
            <a:endParaRPr lang="en-US" sz="1200" dirty="0"/>
          </a:p>
        </p:txBody>
      </p:sp>
      <p:sp>
        <p:nvSpPr>
          <p:cNvPr id="20" name="Text 18"/>
          <p:cNvSpPr/>
          <p:nvPr/>
        </p:nvSpPr>
        <p:spPr>
          <a:xfrm>
            <a:off x="6159500" y="417815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21" name="Text 19"/>
          <p:cNvSpPr/>
          <p:nvPr/>
        </p:nvSpPr>
        <p:spPr>
          <a:xfrm>
            <a:off x="6159500" y="444738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22" name="Shape 20"/>
          <p:cNvSpPr/>
          <p:nvPr/>
        </p:nvSpPr>
        <p:spPr>
          <a:xfrm>
            <a:off x="8839200" y="1700461"/>
            <a:ext cx="2533650" cy="1066800"/>
          </a:xfrm>
          <a:prstGeom prst="rect">
            <a:avLst/>
          </a:prstGeom>
          <a:solidFill>
            <a:srgbClr val="FFFFFF"/>
          </a:solidFill>
          <a:ln w="12700">
            <a:solidFill>
              <a:srgbClr val="12171D"/>
            </a:solidFill>
            <a:prstDash val="solid"/>
          </a:ln>
        </p:spPr>
        <p:txBody>
          <a:bodyPr/>
          <a:p/>
        </p:txBody>
      </p:sp>
      <p:sp>
        <p:nvSpPr>
          <p:cNvPr id="23" name="Text 21"/>
          <p:cNvSpPr/>
          <p:nvPr/>
        </p:nvSpPr>
        <p:spPr>
          <a:xfrm>
            <a:off x="8832850" y="2837111"/>
            <a:ext cx="2622740" cy="345430"/>
          </a:xfrm>
          <a:prstGeom prst="rect">
            <a:avLst/>
          </a:prstGeom>
          <a:noFill/>
          <a:ln/>
        </p:spPr>
        <p:txBody>
          <a:bodyPr wrap="square" lIns="0" tIns="0" rIns="0" bIns="0" rtlCol="0" anchor="t">
            <a:normAutofit/>
          </a:bodyPr>
          <a:lstStyle/>
          <a:p>
            <a:pPr algn="l" indent="0" marL="0">
              <a:lnSpc>
                <a:spcPts val="2520"/>
              </a:lnSpc>
              <a:buNone/>
            </a:pPr>
            <a:r>
              <a:rPr lang="en-US" sz="1800" spc="70" kern="0" dirty="0">
                <a:solidFill>
                  <a:srgbClr val="12171D"/>
                </a:solidFill>
                <a:latin typeface="Jost" pitchFamily="34" charset="0"/>
                <a:ea typeface="Jost" pitchFamily="34" charset="-122"/>
                <a:cs typeface="Jost" pitchFamily="34" charset="-120"/>
              </a:rPr>
              <a:t>WHITE</a:t>
            </a:r>
            <a:endParaRPr lang="en-US" sz="1800" dirty="0"/>
          </a:p>
        </p:txBody>
      </p:sp>
      <p:sp>
        <p:nvSpPr>
          <p:cNvPr id="24" name="Text 22"/>
          <p:cNvSpPr/>
          <p:nvPr/>
        </p:nvSpPr>
        <p:spPr>
          <a:xfrm>
            <a:off x="8832850" y="3220641"/>
            <a:ext cx="262274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#FFFFFF</a:t>
            </a:r>
            <a:endParaRPr lang="en-US" sz="1200" dirty="0"/>
          </a:p>
        </p:txBody>
      </p:sp>
      <p:sp>
        <p:nvSpPr>
          <p:cNvPr id="25" name="Text 23"/>
          <p:cNvSpPr/>
          <p:nvPr/>
        </p:nvSpPr>
        <p:spPr>
          <a:xfrm>
            <a:off x="8832850" y="349746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Primary light canvas and inverse text colour.</a:t>
            </a:r>
            <a:endParaRPr lang="en-US" sz="1200" dirty="0"/>
          </a:p>
        </p:txBody>
      </p:sp>
      <p:sp>
        <p:nvSpPr>
          <p:cNvPr id="26" name="Text 24"/>
          <p:cNvSpPr/>
          <p:nvPr/>
        </p:nvSpPr>
        <p:spPr>
          <a:xfrm>
            <a:off x="8832850" y="3972421"/>
            <a:ext cx="2622740"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Pantone, CMYK: [PENDING]</a:t>
            </a:r>
            <a:endParaRPr lang="en-US" sz="1200" dirty="0"/>
          </a:p>
        </p:txBody>
      </p:sp>
      <p:sp>
        <p:nvSpPr>
          <p:cNvPr id="27" name="Text 25"/>
          <p:cNvSpPr/>
          <p:nvPr/>
        </p:nvSpPr>
        <p:spPr>
          <a:xfrm>
            <a:off x="8832850" y="4241651"/>
            <a:ext cx="2622740" cy="43686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Physical reference: [PENDING PHYSICAL PROOF]</a:t>
            </a:r>
            <a:endParaRPr lang="en-US" sz="1200" dirty="0"/>
          </a:p>
        </p:txBody>
      </p:sp>
      <p:sp>
        <p:nvSpPr>
          <p:cNvPr id="28" name="Text 26"/>
          <p:cNvSpPr/>
          <p:nvPr/>
        </p:nvSpPr>
        <p:spPr>
          <a:xfrm>
            <a:off x="812800" y="5636270"/>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Pantone or CMYK value is stated until validated by a process proof.</a:t>
            </a:r>
            <a:endParaRPr lang="en-US" sz="1200" dirty="0"/>
          </a:p>
        </p:txBody>
      </p:sp>
      <p:sp>
        <p:nvSpPr>
          <p:cNvPr id="29" name="Text 2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COLOUR</a:t>
            </a:r>
            <a:endParaRPr lang="en-US" sz="1200" dirty="0"/>
          </a:p>
        </p:txBody>
      </p:sp>
      <p:sp>
        <p:nvSpPr>
          <p:cNvPr id="30" name="Text 2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11 · COLOUR CONVERSION AND PROOFING</a:t>
            </a:r>
            <a:endParaRPr lang="en-US" sz="1200" dirty="0"/>
          </a:p>
        </p:txBody>
      </p:sp>
      <p:sp>
        <p:nvSpPr>
          <p:cNvPr id="3" name="Text 1"/>
          <p:cNvSpPr/>
          <p:nvPr>
            <p:ph type="title"/>
          </p:nvPr>
        </p:nvSpPr>
        <p:spPr>
          <a:xfrm>
            <a:off x="812800" y="12293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Each process earns its own value.</a:t>
            </a:r>
            <a:endParaRPr lang="en-US" sz="2600" dirty="0"/>
          </a:p>
        </p:txBody>
      </p:sp>
      <p:sp>
        <p:nvSpPr>
          <p:cNvPr id="4" name="Shape 2"/>
          <p:cNvSpPr/>
          <p:nvPr/>
        </p:nvSpPr>
        <p:spPr>
          <a:xfrm>
            <a:off x="819150" y="1802061"/>
            <a:ext cx="1678484" cy="1136551"/>
          </a:xfrm>
          <a:prstGeom prst="rect">
            <a:avLst/>
          </a:prstGeom>
          <a:noFill/>
          <a:ln w="12700">
            <a:solidFill>
              <a:srgbClr val="BCACA7"/>
            </a:solidFill>
            <a:prstDash val="solid"/>
          </a:ln>
        </p:spPr>
        <p:txBody>
          <a:bodyPr/>
          <a:p/>
        </p:txBody>
      </p:sp>
      <p:sp>
        <p:nvSpPr>
          <p:cNvPr id="5" name="Text 3"/>
          <p:cNvSpPr/>
          <p:nvPr/>
        </p:nvSpPr>
        <p:spPr>
          <a:xfrm>
            <a:off x="939800" y="1922711"/>
            <a:ext cx="1487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1</a:t>
            </a:r>
            <a:endParaRPr lang="en-US" sz="1200" dirty="0"/>
          </a:p>
        </p:txBody>
      </p:sp>
      <p:sp>
        <p:nvSpPr>
          <p:cNvPr id="6" name="Text 4"/>
          <p:cNvSpPr/>
          <p:nvPr/>
        </p:nvSpPr>
        <p:spPr>
          <a:xfrm>
            <a:off x="939800" y="2174131"/>
            <a:ext cx="1487984"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Select the process</a:t>
            </a:r>
            <a:endParaRPr lang="en-US" sz="1300" dirty="0"/>
          </a:p>
        </p:txBody>
      </p:sp>
      <p:sp>
        <p:nvSpPr>
          <p:cNvPr id="7" name="Shape 5"/>
          <p:cNvSpPr/>
          <p:nvPr/>
        </p:nvSpPr>
        <p:spPr>
          <a:xfrm>
            <a:off x="2599234" y="1802061"/>
            <a:ext cx="1678533" cy="1136551"/>
          </a:xfrm>
          <a:prstGeom prst="rect">
            <a:avLst/>
          </a:prstGeom>
          <a:noFill/>
          <a:ln w="12700">
            <a:solidFill>
              <a:srgbClr val="BCACA7"/>
            </a:solidFill>
            <a:prstDash val="solid"/>
          </a:ln>
        </p:spPr>
        <p:txBody>
          <a:bodyPr/>
          <a:p/>
        </p:txBody>
      </p:sp>
      <p:sp>
        <p:nvSpPr>
          <p:cNvPr id="8" name="Text 6"/>
          <p:cNvSpPr/>
          <p:nvPr/>
        </p:nvSpPr>
        <p:spPr>
          <a:xfrm>
            <a:off x="2719884"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2</a:t>
            </a:r>
            <a:endParaRPr lang="en-US" sz="1200" dirty="0"/>
          </a:p>
        </p:txBody>
      </p:sp>
      <p:sp>
        <p:nvSpPr>
          <p:cNvPr id="9" name="Text 7"/>
          <p:cNvSpPr/>
          <p:nvPr/>
        </p:nvSpPr>
        <p:spPr>
          <a:xfrm>
            <a:off x="2719884" y="2174131"/>
            <a:ext cx="1488033"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Generate a controlled conversion</a:t>
            </a:r>
            <a:endParaRPr lang="en-US" sz="1300" dirty="0"/>
          </a:p>
        </p:txBody>
      </p:sp>
      <p:sp>
        <p:nvSpPr>
          <p:cNvPr id="10" name="Shape 8"/>
          <p:cNvSpPr/>
          <p:nvPr/>
        </p:nvSpPr>
        <p:spPr>
          <a:xfrm>
            <a:off x="4379367" y="1802061"/>
            <a:ext cx="1678484" cy="1136551"/>
          </a:xfrm>
          <a:prstGeom prst="rect">
            <a:avLst/>
          </a:prstGeom>
          <a:noFill/>
          <a:ln w="12700">
            <a:solidFill>
              <a:srgbClr val="BCACA7"/>
            </a:solidFill>
            <a:prstDash val="solid"/>
          </a:ln>
        </p:spPr>
        <p:txBody>
          <a:bodyPr/>
          <a:p/>
        </p:txBody>
      </p:sp>
      <p:sp>
        <p:nvSpPr>
          <p:cNvPr id="11" name="Text 9"/>
          <p:cNvSpPr/>
          <p:nvPr/>
        </p:nvSpPr>
        <p:spPr>
          <a:xfrm>
            <a:off x="4500017" y="1922711"/>
            <a:ext cx="148798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3</a:t>
            </a:r>
            <a:endParaRPr lang="en-US" sz="1200" dirty="0"/>
          </a:p>
        </p:txBody>
      </p:sp>
      <p:sp>
        <p:nvSpPr>
          <p:cNvPr id="12" name="Text 10"/>
          <p:cNvSpPr/>
          <p:nvPr/>
        </p:nvSpPr>
        <p:spPr>
          <a:xfrm>
            <a:off x="4500017" y="2174131"/>
            <a:ext cx="1487984" cy="24001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Output a proof</a:t>
            </a:r>
            <a:endParaRPr lang="en-US" sz="1300" dirty="0"/>
          </a:p>
        </p:txBody>
      </p:sp>
      <p:sp>
        <p:nvSpPr>
          <p:cNvPr id="13" name="Shape 11"/>
          <p:cNvSpPr/>
          <p:nvPr/>
        </p:nvSpPr>
        <p:spPr>
          <a:xfrm>
            <a:off x="6159450" y="1802061"/>
            <a:ext cx="1678533" cy="1136551"/>
          </a:xfrm>
          <a:prstGeom prst="rect">
            <a:avLst/>
          </a:prstGeom>
          <a:noFill/>
          <a:ln w="12700">
            <a:solidFill>
              <a:srgbClr val="BCACA7"/>
            </a:solidFill>
            <a:prstDash val="solid"/>
          </a:ln>
        </p:spPr>
        <p:txBody>
          <a:bodyPr/>
          <a:p/>
        </p:txBody>
      </p:sp>
      <p:sp>
        <p:nvSpPr>
          <p:cNvPr id="14" name="Text 12"/>
          <p:cNvSpPr/>
          <p:nvPr/>
        </p:nvSpPr>
        <p:spPr>
          <a:xfrm>
            <a:off x="6280100"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4</a:t>
            </a:r>
            <a:endParaRPr lang="en-US" sz="1200" dirty="0"/>
          </a:p>
        </p:txBody>
      </p:sp>
      <p:sp>
        <p:nvSpPr>
          <p:cNvPr id="15" name="Text 13"/>
          <p:cNvSpPr/>
          <p:nvPr/>
        </p:nvSpPr>
        <p:spPr>
          <a:xfrm>
            <a:off x="6280100" y="2174131"/>
            <a:ext cx="1488033" cy="66923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Compare with the approved visual target</a:t>
            </a:r>
            <a:endParaRPr lang="en-US" sz="1300" dirty="0"/>
          </a:p>
        </p:txBody>
      </p:sp>
      <p:sp>
        <p:nvSpPr>
          <p:cNvPr id="16" name="Shape 14"/>
          <p:cNvSpPr/>
          <p:nvPr/>
        </p:nvSpPr>
        <p:spPr>
          <a:xfrm>
            <a:off x="7939584" y="1802061"/>
            <a:ext cx="1678533" cy="1136551"/>
          </a:xfrm>
          <a:prstGeom prst="rect">
            <a:avLst/>
          </a:prstGeom>
          <a:noFill/>
          <a:ln w="12700">
            <a:solidFill>
              <a:srgbClr val="BCACA7"/>
            </a:solidFill>
            <a:prstDash val="solid"/>
          </a:ln>
        </p:spPr>
        <p:txBody>
          <a:bodyPr/>
          <a:p/>
        </p:txBody>
      </p:sp>
      <p:sp>
        <p:nvSpPr>
          <p:cNvPr id="17" name="Text 15"/>
          <p:cNvSpPr/>
          <p:nvPr/>
        </p:nvSpPr>
        <p:spPr>
          <a:xfrm>
            <a:off x="8060234" y="19227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5</a:t>
            </a:r>
            <a:endParaRPr lang="en-US" sz="1200" dirty="0"/>
          </a:p>
        </p:txBody>
      </p:sp>
      <p:sp>
        <p:nvSpPr>
          <p:cNvPr id="18" name="Text 16"/>
          <p:cNvSpPr/>
          <p:nvPr/>
        </p:nvSpPr>
        <p:spPr>
          <a:xfrm>
            <a:off x="8060234" y="2174131"/>
            <a:ext cx="1488033"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Approve physically</a:t>
            </a:r>
            <a:endParaRPr lang="en-US" sz="1300" dirty="0"/>
          </a:p>
        </p:txBody>
      </p:sp>
      <p:sp>
        <p:nvSpPr>
          <p:cNvPr id="19" name="Shape 17"/>
          <p:cNvSpPr/>
          <p:nvPr/>
        </p:nvSpPr>
        <p:spPr>
          <a:xfrm>
            <a:off x="9713367" y="1795711"/>
            <a:ext cx="1665833" cy="1149251"/>
          </a:xfrm>
          <a:prstGeom prst="rect">
            <a:avLst/>
          </a:prstGeom>
          <a:solidFill>
            <a:srgbClr val="BCACA7"/>
          </a:solidFill>
          <a:ln/>
        </p:spPr>
        <p:txBody>
          <a:bodyPr/>
          <a:p/>
        </p:txBody>
      </p:sp>
      <p:sp>
        <p:nvSpPr>
          <p:cNvPr id="20" name="Text 18"/>
          <p:cNvSpPr/>
          <p:nvPr/>
        </p:nvSpPr>
        <p:spPr>
          <a:xfrm>
            <a:off x="9827667" y="1910011"/>
            <a:ext cx="1488033"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6</a:t>
            </a:r>
            <a:endParaRPr lang="en-US" sz="1200" dirty="0"/>
          </a:p>
        </p:txBody>
      </p:sp>
      <p:sp>
        <p:nvSpPr>
          <p:cNvPr id="21" name="Text 19"/>
          <p:cNvSpPr/>
          <p:nvPr/>
        </p:nvSpPr>
        <p:spPr>
          <a:xfrm>
            <a:off x="9827667" y="2161431"/>
            <a:ext cx="1488033" cy="454620"/>
          </a:xfrm>
          <a:prstGeom prst="rect">
            <a:avLst/>
          </a:prstGeom>
          <a:noFill/>
          <a:ln/>
        </p:spPr>
        <p:txBody>
          <a:bodyPr wrap="square" lIns="0" tIns="0" rIns="0" bIns="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Archive the final process value</a:t>
            </a:r>
            <a:endParaRPr lang="en-US" sz="1300" dirty="0"/>
          </a:p>
        </p:txBody>
      </p:sp>
      <p:sp>
        <p:nvSpPr>
          <p:cNvPr id="22" name="Text 20"/>
          <p:cNvSpPr/>
          <p:nvPr/>
        </p:nvSpPr>
        <p:spPr>
          <a:xfrm>
            <a:off x="812800" y="314816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APPLIES TO</a:t>
            </a:r>
            <a:endParaRPr lang="en-US" sz="1200" dirty="0"/>
          </a:p>
        </p:txBody>
      </p:sp>
      <p:sp>
        <p:nvSpPr>
          <p:cNvPr id="23" name="Text 21"/>
          <p:cNvSpPr/>
          <p:nvPr/>
        </p:nvSpPr>
        <p:spPr>
          <a:xfrm>
            <a:off x="812800" y="3424982"/>
            <a:ext cx="5258562"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CMYK builds · spot colours if required · material colour references · painted finishes · textile · plastics · vinyl · coatings</a:t>
            </a:r>
            <a:endParaRPr lang="en-US" sz="1300" dirty="0"/>
          </a:p>
        </p:txBody>
      </p:sp>
      <p:sp>
        <p:nvSpPr>
          <p:cNvPr id="24" name="Text 22"/>
          <p:cNvSpPr/>
          <p:nvPr/>
        </p:nvSpPr>
        <p:spPr>
          <a:xfrm>
            <a:off x="6273800" y="3148161"/>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WHY</a:t>
            </a:r>
            <a:endParaRPr lang="en-US" sz="1200" dirty="0"/>
          </a:p>
        </p:txBody>
      </p:sp>
      <p:sp>
        <p:nvSpPr>
          <p:cNvPr id="25" name="Text 23"/>
          <p:cNvSpPr/>
          <p:nvPr/>
        </p:nvSpPr>
        <p:spPr>
          <a:xfrm>
            <a:off x="6273800" y="3424982"/>
            <a:ext cx="5258562" cy="1188720"/>
          </a:xfrm>
          <a:prstGeom prst="rect">
            <a:avLst/>
          </a:prstGeom>
          <a:noFill/>
          <a:ln/>
        </p:spPr>
        <p:txBody>
          <a:bodyPr wrap="square" lIns="0" tIns="0" rIns="0" bIns="0" rtlCol="0" anchor="t"/>
          <a:lstStyle/>
          <a:p>
            <a:pPr algn="l" indent="0" marL="0">
              <a:lnSpc>
                <a:spcPts val="1885"/>
              </a:lnSpc>
              <a:buNone/>
            </a:pPr>
            <a:r>
              <a:rPr lang="en-US" sz="1300" dirty="0">
                <a:solidFill>
                  <a:srgbClr val="FFFFFF"/>
                </a:solidFill>
                <a:latin typeface="Inter" pitchFamily="34" charset="0"/>
                <a:ea typeface="Inter" pitchFamily="34" charset="-122"/>
                <a:cs typeface="Inter" pitchFamily="34" charset="-120"/>
              </a:rPr>
              <a:t>Different processes may need different technical values to match the same GEM target. The visual target is the standard; the value is the evidence. The first formally approved physical proof for a process and substrate becomes the controlled process-specific reference target and is logged as a golden sample (Appendix M).</a:t>
            </a:r>
            <a:endParaRPr lang="en-US" sz="1300" dirty="0"/>
          </a:p>
        </p:txBody>
      </p:sp>
      <p:sp>
        <p:nvSpPr>
          <p:cNvPr id="26" name="Text 2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COLOUR</a:t>
            </a:r>
            <a:endParaRPr lang="en-US" sz="1200" dirty="0"/>
          </a:p>
        </p:txBody>
      </p:sp>
      <p:sp>
        <p:nvSpPr>
          <p:cNvPr id="27" name="Text 2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12 · COLOUR TOLERANCE</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No tolerance is stated until a supplier proof validates it.</a:t>
            </a:r>
            <a:endParaRPr lang="en-US" sz="2800" dirty="0"/>
          </a:p>
        </p:txBody>
      </p:sp>
      <p:sp>
        <p:nvSpPr>
          <p:cNvPr id="4" name="Shape 2"/>
          <p:cNvSpPr/>
          <p:nvPr/>
        </p:nvSpPr>
        <p:spPr>
          <a:xfrm>
            <a:off x="819150" y="1829991"/>
            <a:ext cx="3424734" cy="868611"/>
          </a:xfrm>
          <a:prstGeom prst="rect">
            <a:avLst/>
          </a:prstGeom>
          <a:noFill/>
          <a:ln w="12700">
            <a:solidFill>
              <a:srgbClr val="12171D"/>
            </a:solidFill>
            <a:prstDash val="dash"/>
          </a:ln>
        </p:spPr>
        <p:txBody>
          <a:bodyPr/>
          <a:p/>
        </p:txBody>
      </p:sp>
      <p:sp>
        <p:nvSpPr>
          <p:cNvPr id="5" name="Text 3"/>
          <p:cNvSpPr/>
          <p:nvPr/>
        </p:nvSpPr>
        <p:spPr>
          <a:xfrm>
            <a:off x="990600" y="200144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MEASUREMENT METHOD</a:t>
            </a:r>
            <a:endParaRPr lang="en-US" sz="1200" dirty="0"/>
          </a:p>
        </p:txBody>
      </p:sp>
      <p:sp>
        <p:nvSpPr>
          <p:cNvPr id="6" name="Text 4"/>
          <p:cNvSpPr/>
          <p:nvPr/>
        </p:nvSpPr>
        <p:spPr>
          <a:xfrm>
            <a:off x="990600" y="227826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7" name="Shape 5"/>
          <p:cNvSpPr/>
          <p:nvPr/>
        </p:nvSpPr>
        <p:spPr>
          <a:xfrm>
            <a:off x="4383584" y="1829991"/>
            <a:ext cx="3424783" cy="868611"/>
          </a:xfrm>
          <a:prstGeom prst="rect">
            <a:avLst/>
          </a:prstGeom>
          <a:noFill/>
          <a:ln w="12700">
            <a:solidFill>
              <a:srgbClr val="12171D"/>
            </a:solidFill>
            <a:prstDash val="dash"/>
          </a:ln>
        </p:spPr>
        <p:txBody>
          <a:bodyPr/>
          <a:p/>
        </p:txBody>
      </p:sp>
      <p:sp>
        <p:nvSpPr>
          <p:cNvPr id="8" name="Text 6"/>
          <p:cNvSpPr/>
          <p:nvPr/>
        </p:nvSpPr>
        <p:spPr>
          <a:xfrm>
            <a:off x="4555034" y="2001441"/>
            <a:ext cx="317434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INSTRUMENT</a:t>
            </a:r>
            <a:endParaRPr lang="en-US" sz="1200" dirty="0"/>
          </a:p>
        </p:txBody>
      </p:sp>
      <p:sp>
        <p:nvSpPr>
          <p:cNvPr id="9" name="Text 7"/>
          <p:cNvSpPr/>
          <p:nvPr/>
        </p:nvSpPr>
        <p:spPr>
          <a:xfrm>
            <a:off x="4555034" y="2278261"/>
            <a:ext cx="31743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0" name="Shape 8"/>
          <p:cNvSpPr/>
          <p:nvPr/>
        </p:nvSpPr>
        <p:spPr>
          <a:xfrm>
            <a:off x="7948067" y="1829991"/>
            <a:ext cx="3424734" cy="868611"/>
          </a:xfrm>
          <a:prstGeom prst="rect">
            <a:avLst/>
          </a:prstGeom>
          <a:noFill/>
          <a:ln w="12700">
            <a:solidFill>
              <a:srgbClr val="12171D"/>
            </a:solidFill>
            <a:prstDash val="dash"/>
          </a:ln>
        </p:spPr>
        <p:txBody>
          <a:bodyPr/>
          <a:p/>
        </p:txBody>
      </p:sp>
      <p:sp>
        <p:nvSpPr>
          <p:cNvPr id="11" name="Text 9"/>
          <p:cNvSpPr/>
          <p:nvPr/>
        </p:nvSpPr>
        <p:spPr>
          <a:xfrm>
            <a:off x="8119517" y="200144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ILLUMINANT</a:t>
            </a:r>
            <a:endParaRPr lang="en-US" sz="1200" dirty="0"/>
          </a:p>
        </p:txBody>
      </p:sp>
      <p:sp>
        <p:nvSpPr>
          <p:cNvPr id="12" name="Text 10"/>
          <p:cNvSpPr/>
          <p:nvPr/>
        </p:nvSpPr>
        <p:spPr>
          <a:xfrm>
            <a:off x="8119517" y="227826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3" name="Shape 11"/>
          <p:cNvSpPr/>
          <p:nvPr/>
        </p:nvSpPr>
        <p:spPr>
          <a:xfrm>
            <a:off x="819150" y="2838301"/>
            <a:ext cx="3424734" cy="868611"/>
          </a:xfrm>
          <a:prstGeom prst="rect">
            <a:avLst/>
          </a:prstGeom>
          <a:noFill/>
          <a:ln w="12700">
            <a:solidFill>
              <a:srgbClr val="12171D"/>
            </a:solidFill>
            <a:prstDash val="dash"/>
          </a:ln>
        </p:spPr>
        <p:txBody>
          <a:bodyPr/>
          <a:p/>
        </p:txBody>
      </p:sp>
      <p:sp>
        <p:nvSpPr>
          <p:cNvPr id="14" name="Text 12"/>
          <p:cNvSpPr/>
          <p:nvPr/>
        </p:nvSpPr>
        <p:spPr>
          <a:xfrm>
            <a:off x="990600" y="300975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SUBSTRATE</a:t>
            </a:r>
            <a:endParaRPr lang="en-US" sz="1200" dirty="0"/>
          </a:p>
        </p:txBody>
      </p:sp>
      <p:sp>
        <p:nvSpPr>
          <p:cNvPr id="15" name="Text 13"/>
          <p:cNvSpPr/>
          <p:nvPr/>
        </p:nvSpPr>
        <p:spPr>
          <a:xfrm>
            <a:off x="990600" y="328657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6" name="Shape 14"/>
          <p:cNvSpPr/>
          <p:nvPr/>
        </p:nvSpPr>
        <p:spPr>
          <a:xfrm>
            <a:off x="4383584" y="2838301"/>
            <a:ext cx="3424783" cy="868611"/>
          </a:xfrm>
          <a:prstGeom prst="rect">
            <a:avLst/>
          </a:prstGeom>
          <a:noFill/>
          <a:ln w="12700">
            <a:solidFill>
              <a:srgbClr val="12171D"/>
            </a:solidFill>
            <a:prstDash val="dash"/>
          </a:ln>
        </p:spPr>
        <p:txBody>
          <a:bodyPr/>
          <a:p/>
        </p:txBody>
      </p:sp>
      <p:sp>
        <p:nvSpPr>
          <p:cNvPr id="17" name="Text 15"/>
          <p:cNvSpPr/>
          <p:nvPr/>
        </p:nvSpPr>
        <p:spPr>
          <a:xfrm>
            <a:off x="4555034" y="3009751"/>
            <a:ext cx="317434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TOLERANCE</a:t>
            </a:r>
            <a:endParaRPr lang="en-US" sz="1200" dirty="0"/>
          </a:p>
        </p:txBody>
      </p:sp>
      <p:sp>
        <p:nvSpPr>
          <p:cNvPr id="18" name="Text 16"/>
          <p:cNvSpPr/>
          <p:nvPr/>
        </p:nvSpPr>
        <p:spPr>
          <a:xfrm>
            <a:off x="4555034" y="3286571"/>
            <a:ext cx="3174340"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19" name="Shape 17"/>
          <p:cNvSpPr/>
          <p:nvPr/>
        </p:nvSpPr>
        <p:spPr>
          <a:xfrm>
            <a:off x="7948067" y="2838301"/>
            <a:ext cx="3424734" cy="868611"/>
          </a:xfrm>
          <a:prstGeom prst="rect">
            <a:avLst/>
          </a:prstGeom>
          <a:noFill/>
          <a:ln w="12700">
            <a:solidFill>
              <a:srgbClr val="12171D"/>
            </a:solidFill>
            <a:prstDash val="dash"/>
          </a:ln>
        </p:spPr>
        <p:txBody>
          <a:bodyPr/>
          <a:p/>
        </p:txBody>
      </p:sp>
      <p:sp>
        <p:nvSpPr>
          <p:cNvPr id="20" name="Text 18"/>
          <p:cNvSpPr/>
          <p:nvPr/>
        </p:nvSpPr>
        <p:spPr>
          <a:xfrm>
            <a:off x="8119517" y="3009751"/>
            <a:ext cx="317428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VIEWING CONDITIONS</a:t>
            </a:r>
            <a:endParaRPr lang="en-US" sz="1200" dirty="0"/>
          </a:p>
        </p:txBody>
      </p:sp>
      <p:sp>
        <p:nvSpPr>
          <p:cNvPr id="21" name="Text 19"/>
          <p:cNvSpPr/>
          <p:nvPr/>
        </p:nvSpPr>
        <p:spPr>
          <a:xfrm>
            <a:off x="8119517" y="3286571"/>
            <a:ext cx="317428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[PENDING]</a:t>
            </a:r>
            <a:endParaRPr lang="en-US" sz="1400" dirty="0"/>
          </a:p>
        </p:txBody>
      </p:sp>
      <p:sp>
        <p:nvSpPr>
          <p:cNvPr id="22" name="Text 20"/>
          <p:cNvSpPr/>
          <p:nvPr/>
        </p:nvSpPr>
        <p:spPr>
          <a:xfrm>
            <a:off x="812800" y="3916462"/>
            <a:ext cx="10883392" cy="777240"/>
          </a:xfrm>
          <a:prstGeom prst="rect">
            <a:avLst/>
          </a:prstGeom>
          <a:noFill/>
          <a:ln/>
        </p:spPr>
        <p:txBody>
          <a:bodyPr wrap="square" lIns="0" tIns="0" rIns="0" bIns="0" rtlCol="0" anchor="t"/>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Approval follows printer or supplier proof validation. Until then no Delta E value, instrument or condition may be quoted to a supplier as a GEM standard. The first approved proof for a process and substrate is promoted to the golden sample register (Appendix M) and becomes the comparison reference for that process. No value is created by this standard.</a:t>
            </a:r>
            <a:endParaRPr lang="en-US" sz="1300" dirty="0"/>
          </a:p>
        </p:txBody>
      </p:sp>
      <p:sp>
        <p:nvSpPr>
          <p:cNvPr id="23"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COLOUR</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064000" cy="6858000"/>
          </a:xfrm>
          <a:prstGeom prst="rect">
            <a:avLst/>
          </a:prstGeom>
          <a:solidFill>
            <a:srgbClr val="12171D"/>
          </a:solidFill>
          <a:ln/>
        </p:spPr>
        <p:txBody>
          <a:bodyPr/>
          <a:p/>
        </p:txBody>
      </p:sp>
      <p:sp>
        <p:nvSpPr>
          <p:cNvPr id="3" name="Text 1"/>
          <p:cNvSpPr/>
          <p:nvPr/>
        </p:nvSpPr>
        <p:spPr>
          <a:xfrm>
            <a:off x="812800" y="812800"/>
            <a:ext cx="298246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13 · INK AND BLACK</a:t>
            </a:r>
            <a:endParaRPr lang="en-US" sz="1200" dirty="0"/>
          </a:p>
        </p:txBody>
      </p:sp>
      <p:sp>
        <p:nvSpPr>
          <p:cNvPr id="4" name="Text 2"/>
          <p:cNvSpPr/>
          <p:nvPr/>
        </p:nvSpPr>
        <p:spPr>
          <a:xfrm>
            <a:off x="812800" y="4401889"/>
            <a:ext cx="2982468" cy="878830"/>
          </a:xfrm>
          <a:prstGeom prst="rect">
            <a:avLst/>
          </a:prstGeom>
          <a:noFill/>
          <a:ln/>
        </p:spPr>
        <p:txBody>
          <a:bodyPr wrap="square" lIns="0" tIns="0" rIns="0" bIns="0" rtlCol="0" anchor="t">
            <a:normAutofit/>
          </a:bodyPr>
          <a:lstStyle/>
          <a:p>
            <a:pPr algn="l" indent="0" marL="0">
              <a:lnSpc>
                <a:spcPts val="6720"/>
              </a:lnSpc>
              <a:buNone/>
            </a:pPr>
            <a:r>
              <a:rPr lang="en-US" sz="4800" spc="290" kern="0" dirty="0">
                <a:solidFill>
                  <a:srgbClr val="FFFFFF"/>
                </a:solidFill>
                <a:latin typeface="Jost" pitchFamily="34" charset="0"/>
                <a:ea typeface="Jost" pitchFamily="34" charset="-122"/>
                <a:cs typeface="Jost" pitchFamily="34" charset="-120"/>
              </a:rPr>
              <a:t>INK</a:t>
            </a:r>
            <a:endParaRPr lang="en-US" sz="4800" dirty="0"/>
          </a:p>
        </p:txBody>
      </p:sp>
      <p:sp>
        <p:nvSpPr>
          <p:cNvPr id="5" name="Text 3"/>
          <p:cNvSpPr/>
          <p:nvPr/>
        </p:nvSpPr>
        <p:spPr>
          <a:xfrm>
            <a:off x="812800" y="5344220"/>
            <a:ext cx="29824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Brand colour. Default dark brand field and default text colour.</a:t>
            </a:r>
            <a:endParaRPr lang="en-US" sz="1400" dirty="0"/>
          </a:p>
        </p:txBody>
      </p:sp>
      <p:sp>
        <p:nvSpPr>
          <p:cNvPr id="6" name="Shape 4"/>
          <p:cNvSpPr/>
          <p:nvPr/>
        </p:nvSpPr>
        <p:spPr>
          <a:xfrm>
            <a:off x="4064000" y="0"/>
            <a:ext cx="2794000" cy="6858000"/>
          </a:xfrm>
          <a:prstGeom prst="rect">
            <a:avLst/>
          </a:prstGeom>
          <a:solidFill>
            <a:srgbClr val="020202"/>
          </a:solidFill>
          <a:ln/>
        </p:spPr>
        <p:txBody>
          <a:bodyPr/>
          <a:p/>
        </p:txBody>
      </p:sp>
      <p:sp>
        <p:nvSpPr>
          <p:cNvPr id="7" name="Text 5"/>
          <p:cNvSpPr/>
          <p:nvPr/>
        </p:nvSpPr>
        <p:spPr>
          <a:xfrm>
            <a:off x="4368800" y="4419650"/>
            <a:ext cx="2249932" cy="665460"/>
          </a:xfrm>
          <a:prstGeom prst="rect">
            <a:avLst/>
          </a:prstGeom>
          <a:noFill/>
          <a:ln/>
        </p:spPr>
        <p:txBody>
          <a:bodyPr wrap="square" lIns="0" tIns="0" rIns="0" bIns="0" rtlCol="0" anchor="t">
            <a:normAutofit/>
          </a:bodyPr>
          <a:lstStyle/>
          <a:p>
            <a:pPr algn="l" indent="0" marL="0">
              <a:lnSpc>
                <a:spcPts val="5040"/>
              </a:lnSpc>
              <a:buNone/>
            </a:pPr>
            <a:r>
              <a:rPr lang="en-US" sz="3600" spc="215" kern="0" dirty="0">
                <a:solidFill>
                  <a:srgbClr val="FFFFFF"/>
                </a:solidFill>
                <a:latin typeface="Jost" pitchFamily="34" charset="0"/>
                <a:ea typeface="Jost" pitchFamily="34" charset="-122"/>
                <a:cs typeface="Jost" pitchFamily="34" charset="-120"/>
              </a:rPr>
              <a:t>BLACK</a:t>
            </a:r>
            <a:endParaRPr lang="en-US" sz="3600" dirty="0"/>
          </a:p>
        </p:txBody>
      </p:sp>
      <p:sp>
        <p:nvSpPr>
          <p:cNvPr id="8" name="Text 6"/>
          <p:cNvSpPr/>
          <p:nvPr/>
        </p:nvSpPr>
        <p:spPr>
          <a:xfrm>
            <a:off x="4368800" y="5148610"/>
            <a:ext cx="2249932"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Monochrome and one-colour production, where approved.</a:t>
            </a:r>
            <a:endParaRPr lang="en-US" sz="1300" dirty="0"/>
          </a:p>
        </p:txBody>
      </p:sp>
      <p:sp>
        <p:nvSpPr>
          <p:cNvPr id="9" name="Text 7"/>
          <p:cNvSpPr/>
          <p:nvPr/>
        </p:nvSpPr>
        <p:spPr>
          <a:xfrm>
            <a:off x="7213600" y="2500709"/>
            <a:ext cx="429056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PRODUCTION RULE</a:t>
            </a:r>
            <a:endParaRPr lang="en-US" sz="1200" dirty="0"/>
          </a:p>
        </p:txBody>
      </p:sp>
      <p:sp>
        <p:nvSpPr>
          <p:cNvPr id="10" name="Shape 8"/>
          <p:cNvSpPr/>
          <p:nvPr/>
        </p:nvSpPr>
        <p:spPr>
          <a:xfrm>
            <a:off x="7213600" y="2856905"/>
            <a:ext cx="4165600" cy="0"/>
          </a:xfrm>
          <a:prstGeom prst="line">
            <a:avLst/>
          </a:prstGeom>
          <a:noFill/>
          <a:ln w="6350">
            <a:solidFill>
              <a:srgbClr val="BCACA7"/>
            </a:solidFill>
            <a:prstDash val="solid"/>
          </a:ln>
        </p:spPr>
        <p:txBody>
          <a:bodyPr/>
          <a:p/>
        </p:txBody>
      </p:sp>
      <p:sp>
        <p:nvSpPr>
          <p:cNvPr id="11" name="Text 9"/>
          <p:cNvSpPr/>
          <p:nvPr/>
        </p:nvSpPr>
        <p:spPr>
          <a:xfrm>
            <a:off x="7213600" y="2936280"/>
            <a:ext cx="42905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Do not casually substitute Black for Ink in premium colour applications.</a:t>
            </a:r>
            <a:endParaRPr lang="en-US" sz="1400" dirty="0"/>
          </a:p>
        </p:txBody>
      </p:sp>
      <p:sp>
        <p:nvSpPr>
          <p:cNvPr id="12" name="Shape 10"/>
          <p:cNvSpPr/>
          <p:nvPr/>
        </p:nvSpPr>
        <p:spPr>
          <a:xfrm>
            <a:off x="7213600" y="3576935"/>
            <a:ext cx="4165600" cy="0"/>
          </a:xfrm>
          <a:prstGeom prst="line">
            <a:avLst/>
          </a:prstGeom>
          <a:noFill/>
          <a:ln w="6350">
            <a:solidFill>
              <a:srgbClr val="BCACA7"/>
            </a:solidFill>
            <a:prstDash val="solid"/>
          </a:ln>
        </p:spPr>
        <p:txBody>
          <a:bodyPr/>
          <a:p/>
        </p:txBody>
      </p:sp>
      <p:sp>
        <p:nvSpPr>
          <p:cNvPr id="13" name="Text 11"/>
          <p:cNvSpPr/>
          <p:nvPr/>
        </p:nvSpPr>
        <p:spPr>
          <a:xfrm>
            <a:off x="7213600" y="3656310"/>
            <a:ext cx="4290568"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The supplier uses the artwork variant specified for the job.</a:t>
            </a:r>
            <a:endParaRPr lang="en-US" sz="1400" dirty="0"/>
          </a:p>
        </p:txBody>
      </p:sp>
      <p:sp>
        <p:nvSpPr>
          <p:cNvPr id="14" name="Text 12"/>
          <p:cNvSpPr/>
          <p:nvPr/>
        </p:nvSpPr>
        <p:spPr>
          <a:xfrm>
            <a:off x="812800" y="6238280"/>
            <a:ext cx="5943600" cy="238720"/>
          </a:xfrm>
          <a:prstGeom prst="rect">
            <a:avLst/>
          </a:prstGeom>
          <a:noFill/>
          <a:ln/>
        </p:spPr>
        <p:txBody>
          <a:bodyPr wrap="square" lIns="0" tIns="0" rIns="0" bIns="0" rtlCol="0" anchor="t"/>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COLOUR</a:t>
            </a:r>
            <a:endParaRPr lang="en-US" sz="1200" dirty="0"/>
          </a:p>
        </p:txBody>
      </p:sp>
      <p:sp>
        <p:nvSpPr>
          <p:cNvPr id="15" name="Text 1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14 · FONT CONTROL · FONT BUILD VALIDATION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Three families. Source, licence and build on record.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1330722"/>
        </p:xfrm>
        <a:graphic>
          <a:graphicData uri="http://schemas.openxmlformats.org/drawingml/2006/table">
            <a:tbl>
              <a:tblPr/>
              <a:tblGrid>
                <a:gridCol w="2321814"/>
                <a:gridCol w="2743962"/>
                <a:gridCol w="1688592"/>
                <a:gridCol w="3799332"/>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Family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Weights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Build and licence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Display and headings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400, 500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Body and operational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400, 500</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VALIDATION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Noto Sans Arabic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interim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LOCALIZATION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3085802"/>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TO BE DOCUMENTED PER FAMILY</a:t>
            </a:r>
            <a:endParaRPr lang="en-US" sz="1200" dirty="0"/>
          </a:p>
        </p:txBody>
      </p:sp>
      <p:sp>
        <p:nvSpPr>
          <p:cNvPr id="6" name="Text 3"/>
          <p:cNvSpPr/>
          <p:nvPr/>
        </p:nvSpPr>
        <p:spPr>
          <a:xfrm>
            <a:off x="812800" y="3349923"/>
            <a:ext cx="5258562" cy="68828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Approved font source [PENDING] · licence owner [REQUIRES OWNER] · version and build number [PENDING] · platform use [PENDING] · embedded-font rules [PENDING]</a:t>
            </a:r>
            <a:endParaRPr lang="en-US" sz="1200" dirty="0"/>
          </a:p>
        </p:txBody>
      </p:sp>
      <p:sp>
        <p:nvSpPr>
          <p:cNvPr id="7" name="Text 4"/>
          <p:cNvSpPr/>
          <p:nvPr/>
        </p:nvSpPr>
        <p:spPr>
          <a:xfrm>
            <a:off x="6273800" y="3085802"/>
            <a:ext cx="525856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NOT FOR PRODUCTION</a:t>
            </a:r>
            <a:endParaRPr lang="en-US" sz="1200" dirty="0"/>
          </a:p>
        </p:txBody>
      </p:sp>
      <p:sp>
        <p:nvSpPr>
          <p:cNvPr id="8" name="Text 5"/>
          <p:cNvSpPr/>
          <p:nvPr/>
        </p:nvSpPr>
        <p:spPr>
          <a:xfrm>
            <a:off x="6273800" y="3349923"/>
            <a:ext cx="5258562" cy="467320"/>
          </a:xfrm>
          <a:prstGeom prst="rect">
            <a:avLst/>
          </a:prstGeom>
          <a:noFill/>
          <a:ln/>
        </p:spPr>
        <p:txBody>
          <a:bodyPr wrap="square" lIns="0" tIns="0" rIns="0" bIns="0" rtlCol="0" anchor="t">
            <a:normAutofit/>
          </a:bodyPr>
          <a:lstStyle/>
          <a:p>
            <a:pPr algn="l" indent="0" marL="0">
              <a:lnSpc>
                <a:spcPts val="1740"/>
              </a:lnSpc>
              <a:buNone/>
            </a:pPr>
            <a:r>
              <a:rPr lang="en-US" sz="1200" dirty="0">
                <a:solidFill>
                  <a:srgbClr val="12171D"/>
                </a:solidFill>
                <a:latin typeface="Inter" pitchFamily="34" charset="0"/>
                <a:ea typeface="Inter" pitchFamily="34" charset="-122"/>
                <a:cs typeface="Inter" pitchFamily="34" charset="-120"/>
              </a:rPr>
              <a:t>Futura PT, Montserrat, Aeonik, Satoshi and Whyte are legacy or reference only. Maximum two weights per composition.</a:t>
            </a:r>
            <a:endParaRPr lang="en-US" sz="1200" dirty="0"/>
          </a:p>
        </p:txBody>
      </p:sp>
      <p:sp>
        <p:nvSpPr>
          <p:cNvPr id="9"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TYPOGRAPHY</a:t>
            </a:r>
            <a:endParaRPr lang="en-US" sz="1200" dirty="0"/>
          </a:p>
        </p:txBody>
      </p:sp>
      <p:sp>
        <p:nvSpPr>
          <p:cNvPr id="10"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15</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15 · TEXT TO OUTLINES</a:t>
            </a:r>
            <a:endParaRPr lang="en-US" sz="1200" dirty="0"/>
          </a:p>
        </p:txBody>
      </p:sp>
      <p:sp>
        <p:nvSpPr>
          <p:cNvPr id="3" name="Text 1"/>
          <p:cNvSpPr/>
          <p:nvPr>
            <p:ph type="title"/>
          </p:nvPr>
        </p:nvSpPr>
        <p:spPr>
          <a:xfrm>
            <a:off x="812800" y="1178520"/>
            <a:ext cx="4578350" cy="807641"/>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Outline only the final duplicate.</a:t>
            </a:r>
            <a:endParaRPr lang="en-US" sz="2800" dirty="0"/>
          </a:p>
        </p:txBody>
      </p:sp>
      <p:sp>
        <p:nvSpPr>
          <p:cNvPr id="4" name="Text 2"/>
          <p:cNvSpPr/>
          <p:nvPr/>
        </p:nvSpPr>
        <p:spPr>
          <a:xfrm>
            <a:off x="812800" y="5363270"/>
            <a:ext cx="4578350" cy="504130"/>
          </a:xfrm>
          <a:prstGeom prst="rect">
            <a:avLst/>
          </a:prstGeom>
          <a:noFill/>
          <a:ln/>
        </p:spPr>
        <p:txBody>
          <a:bodyPr wrap="square" lIns="0" tIns="0" rIns="0" bIns="0" rtlCol="0" anchor="t">
            <a:normAutofit/>
          </a:bodyPr>
          <a:lstStyle/>
          <a:p>
            <a:pPr algn="l" indent="0" marL="0">
              <a:lnSpc>
                <a:spcPts val="1885"/>
              </a:lnSpc>
              <a:buNone/>
            </a:pPr>
            <a:r>
              <a:rPr lang="en-US" sz="1300" dirty="0">
                <a:solidFill>
                  <a:srgbClr val="BCACA7"/>
                </a:solidFill>
                <a:latin typeface="Inter" pitchFamily="34" charset="0"/>
                <a:ea typeface="Inter" pitchFamily="34" charset="-122"/>
                <a:cs typeface="Inter" pitchFamily="34" charset="-120"/>
              </a:rPr>
              <a:t>Outlined artwork is a production copy, never an editing master.</a:t>
            </a:r>
            <a:endParaRPr lang="en-US" sz="1300" dirty="0"/>
          </a:p>
        </p:txBody>
      </p:sp>
      <p:sp>
        <p:nvSpPr>
          <p:cNvPr id="5" name="Text 3"/>
          <p:cNvSpPr/>
          <p:nvPr/>
        </p:nvSpPr>
        <p:spPr>
          <a:xfrm>
            <a:off x="5867400" y="2018159"/>
            <a:ext cx="56771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PERMITTED FOR</a:t>
            </a:r>
            <a:endParaRPr lang="en-US" sz="1200" dirty="0"/>
          </a:p>
        </p:txBody>
      </p:sp>
      <p:sp>
        <p:nvSpPr>
          <p:cNvPr id="6" name="Shape 4"/>
          <p:cNvSpPr/>
          <p:nvPr/>
        </p:nvSpPr>
        <p:spPr>
          <a:xfrm>
            <a:off x="5867400" y="2285454"/>
            <a:ext cx="5511800" cy="0"/>
          </a:xfrm>
          <a:prstGeom prst="line">
            <a:avLst/>
          </a:prstGeom>
          <a:noFill/>
          <a:ln w="6350">
            <a:solidFill>
              <a:srgbClr val="BCACA7"/>
            </a:solidFill>
            <a:prstDash val="solid"/>
          </a:ln>
        </p:spPr>
        <p:txBody>
          <a:bodyPr/>
          <a:p/>
        </p:txBody>
      </p:sp>
      <p:sp>
        <p:nvSpPr>
          <p:cNvPr id="7" name="Text 5"/>
          <p:cNvSpPr/>
          <p:nvPr/>
        </p:nvSpPr>
        <p:spPr>
          <a:xfrm>
            <a:off x="5867400" y="2364829"/>
            <a:ext cx="567715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Fabrication artwork · supplier compatibility · cutting and engraving · final closed artwork</a:t>
            </a:r>
            <a:endParaRPr lang="en-US" sz="1400" dirty="0"/>
          </a:p>
        </p:txBody>
      </p:sp>
      <p:sp>
        <p:nvSpPr>
          <p:cNvPr id="8" name="Text 6"/>
          <p:cNvSpPr/>
          <p:nvPr/>
        </p:nvSpPr>
        <p:spPr>
          <a:xfrm>
            <a:off x="5867400" y="3027710"/>
            <a:ext cx="567715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RULES</a:t>
            </a:r>
            <a:endParaRPr lang="en-US" sz="1200" dirty="0"/>
          </a:p>
        </p:txBody>
      </p:sp>
      <p:sp>
        <p:nvSpPr>
          <p:cNvPr id="9" name="Shape 7"/>
          <p:cNvSpPr/>
          <p:nvPr/>
        </p:nvSpPr>
        <p:spPr>
          <a:xfrm>
            <a:off x="5867400" y="3295005"/>
            <a:ext cx="5511800" cy="0"/>
          </a:xfrm>
          <a:prstGeom prst="line">
            <a:avLst/>
          </a:prstGeom>
          <a:noFill/>
          <a:ln w="6350">
            <a:solidFill>
              <a:srgbClr val="BCACA7"/>
            </a:solidFill>
            <a:prstDash val="solid"/>
          </a:ln>
        </p:spPr>
        <p:txBody>
          <a:bodyPr/>
          <a:p/>
        </p:txBody>
      </p:sp>
      <p:sp>
        <p:nvSpPr>
          <p:cNvPr id="10" name="Text 8"/>
          <p:cNvSpPr/>
          <p:nvPr/>
        </p:nvSpPr>
        <p:spPr>
          <a:xfrm>
            <a:off x="5867400" y="3374380"/>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Keep the editable source separately.</a:t>
            </a:r>
            <a:endParaRPr lang="en-US" sz="1400" dirty="0"/>
          </a:p>
        </p:txBody>
      </p:sp>
      <p:sp>
        <p:nvSpPr>
          <p:cNvPr id="11" name="Shape 9"/>
          <p:cNvSpPr/>
          <p:nvPr/>
        </p:nvSpPr>
        <p:spPr>
          <a:xfrm>
            <a:off x="5867400" y="3677245"/>
            <a:ext cx="5511800" cy="0"/>
          </a:xfrm>
          <a:prstGeom prst="line">
            <a:avLst/>
          </a:prstGeom>
          <a:noFill/>
          <a:ln w="6350">
            <a:solidFill>
              <a:srgbClr val="BCACA7"/>
            </a:solidFill>
            <a:prstDash val="solid"/>
          </a:ln>
        </p:spPr>
        <p:txBody>
          <a:bodyPr/>
          <a:p/>
        </p:txBody>
      </p:sp>
      <p:sp>
        <p:nvSpPr>
          <p:cNvPr id="12" name="Text 10"/>
          <p:cNvSpPr/>
          <p:nvPr/>
        </p:nvSpPr>
        <p:spPr>
          <a:xfrm>
            <a:off x="5867400" y="3756620"/>
            <a:ext cx="5677154" cy="52318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Keep live, searchable text where accessibility or future editing needs it.</a:t>
            </a:r>
            <a:endParaRPr lang="en-US" sz="1400" dirty="0"/>
          </a:p>
        </p:txBody>
      </p:sp>
      <p:sp>
        <p:nvSpPr>
          <p:cNvPr id="13" name="Shape 11"/>
          <p:cNvSpPr/>
          <p:nvPr/>
        </p:nvSpPr>
        <p:spPr>
          <a:xfrm>
            <a:off x="5867400" y="4308376"/>
            <a:ext cx="5511800" cy="0"/>
          </a:xfrm>
          <a:prstGeom prst="line">
            <a:avLst/>
          </a:prstGeom>
          <a:noFill/>
          <a:ln w="6350">
            <a:solidFill>
              <a:srgbClr val="BCACA7"/>
            </a:solidFill>
            <a:prstDash val="solid"/>
          </a:ln>
        </p:spPr>
        <p:txBody>
          <a:bodyPr/>
          <a:p/>
        </p:txBody>
      </p:sp>
      <p:sp>
        <p:nvSpPr>
          <p:cNvPr id="14" name="Text 12"/>
          <p:cNvSpPr/>
          <p:nvPr/>
        </p:nvSpPr>
        <p:spPr>
          <a:xfrm>
            <a:off x="5867400" y="4387751"/>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Never outline malformed Arabic text.</a:t>
            </a:r>
            <a:endParaRPr lang="en-US" sz="14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TYPOGRAPHY</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16</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16 · ARABIC PRODUCTION · PENDING LOCALIZATION APPROVAL</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A native specialist reviews every Arabic proof before production.</a:t>
            </a:r>
            <a:endParaRPr lang="en-US" sz="2600" dirty="0"/>
          </a:p>
        </p:txBody>
      </p:sp>
      <p:sp>
        <p:nvSpPr>
          <p:cNvPr id="4" name="Shape 2"/>
          <p:cNvSpPr/>
          <p:nvPr/>
        </p:nvSpPr>
        <p:spPr>
          <a:xfrm>
            <a:off x="812800" y="1748086"/>
            <a:ext cx="5283200" cy="0"/>
          </a:xfrm>
          <a:prstGeom prst="line">
            <a:avLst/>
          </a:prstGeom>
          <a:noFill/>
          <a:ln w="6350">
            <a:solidFill>
              <a:srgbClr val="12171D"/>
            </a:solidFill>
            <a:prstDash val="solid"/>
          </a:ln>
        </p:spPr>
        <p:txBody>
          <a:bodyPr/>
          <a:p/>
        </p:txBody>
      </p:sp>
      <p:sp>
        <p:nvSpPr>
          <p:cNvPr id="5" name="Text 3"/>
          <p:cNvSpPr/>
          <p:nvPr/>
        </p:nvSpPr>
        <p:spPr>
          <a:xfrm>
            <a:off x="812800" y="1827461"/>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Correct shaping, no broken or disconnected letters</a:t>
            </a:r>
            <a:endParaRPr lang="en-US" sz="1300" dirty="0"/>
          </a:p>
        </p:txBody>
      </p:sp>
      <p:sp>
        <p:nvSpPr>
          <p:cNvPr id="6" name="Shape 4"/>
          <p:cNvSpPr/>
          <p:nvPr/>
        </p:nvSpPr>
        <p:spPr>
          <a:xfrm>
            <a:off x="6096000" y="1748086"/>
            <a:ext cx="5283200" cy="0"/>
          </a:xfrm>
          <a:prstGeom prst="line">
            <a:avLst/>
          </a:prstGeom>
          <a:noFill/>
          <a:ln w="6350">
            <a:solidFill>
              <a:srgbClr val="12171D"/>
            </a:solidFill>
            <a:prstDash val="solid"/>
          </a:ln>
        </p:spPr>
        <p:txBody>
          <a:bodyPr/>
          <a:p/>
        </p:txBody>
      </p:sp>
      <p:sp>
        <p:nvSpPr>
          <p:cNvPr id="7" name="Text 5"/>
          <p:cNvSpPr/>
          <p:nvPr/>
        </p:nvSpPr>
        <p:spPr>
          <a:xfrm>
            <a:off x="6096000" y="1827461"/>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True right-to-left setting</a:t>
            </a:r>
            <a:endParaRPr lang="en-US" sz="1300" dirty="0"/>
          </a:p>
        </p:txBody>
      </p:sp>
      <p:sp>
        <p:nvSpPr>
          <p:cNvPr id="8" name="Shape 6"/>
          <p:cNvSpPr/>
          <p:nvPr/>
        </p:nvSpPr>
        <p:spPr>
          <a:xfrm>
            <a:off x="812800" y="2053481"/>
            <a:ext cx="5283200" cy="0"/>
          </a:xfrm>
          <a:prstGeom prst="line">
            <a:avLst/>
          </a:prstGeom>
          <a:noFill/>
          <a:ln w="6350">
            <a:solidFill>
              <a:srgbClr val="12171D"/>
            </a:solidFill>
            <a:prstDash val="solid"/>
          </a:ln>
        </p:spPr>
        <p:txBody>
          <a:bodyPr/>
          <a:p/>
        </p:txBody>
      </p:sp>
      <p:sp>
        <p:nvSpPr>
          <p:cNvPr id="9" name="Text 7"/>
          <p:cNvSpPr/>
          <p:nvPr/>
        </p:nvSpPr>
        <p:spPr>
          <a:xfrm>
            <a:off x="812800" y="2132856"/>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No Latin tracking on Arabic</a:t>
            </a:r>
            <a:endParaRPr lang="en-US" sz="1300" dirty="0"/>
          </a:p>
        </p:txBody>
      </p:sp>
      <p:sp>
        <p:nvSpPr>
          <p:cNvPr id="10" name="Shape 8"/>
          <p:cNvSpPr/>
          <p:nvPr/>
        </p:nvSpPr>
        <p:spPr>
          <a:xfrm>
            <a:off x="6096000" y="2053481"/>
            <a:ext cx="5283200" cy="0"/>
          </a:xfrm>
          <a:prstGeom prst="line">
            <a:avLst/>
          </a:prstGeom>
          <a:noFill/>
          <a:ln w="6350">
            <a:solidFill>
              <a:srgbClr val="12171D"/>
            </a:solidFill>
            <a:prstDash val="solid"/>
          </a:ln>
        </p:spPr>
        <p:txBody>
          <a:bodyPr/>
          <a:p/>
        </p:txBody>
      </p:sp>
      <p:sp>
        <p:nvSpPr>
          <p:cNvPr id="11" name="Text 9"/>
          <p:cNvSpPr/>
          <p:nvPr/>
        </p:nvSpPr>
        <p:spPr>
          <a:xfrm>
            <a:off x="6096000" y="2132856"/>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Correct order in mixed-language lines</a:t>
            </a:r>
            <a:endParaRPr lang="en-US" sz="1300" dirty="0"/>
          </a:p>
        </p:txBody>
      </p:sp>
      <p:sp>
        <p:nvSpPr>
          <p:cNvPr id="12" name="Shape 10"/>
          <p:cNvSpPr/>
          <p:nvPr/>
        </p:nvSpPr>
        <p:spPr>
          <a:xfrm>
            <a:off x="812800" y="2358876"/>
            <a:ext cx="5283200" cy="0"/>
          </a:xfrm>
          <a:prstGeom prst="line">
            <a:avLst/>
          </a:prstGeom>
          <a:noFill/>
          <a:ln w="6350">
            <a:solidFill>
              <a:srgbClr val="12171D"/>
            </a:solidFill>
            <a:prstDash val="solid"/>
          </a:ln>
        </p:spPr>
        <p:txBody>
          <a:bodyPr/>
          <a:p/>
        </p:txBody>
      </p:sp>
      <p:sp>
        <p:nvSpPr>
          <p:cNvPr id="13" name="Text 11"/>
          <p:cNvSpPr/>
          <p:nvPr/>
        </p:nvSpPr>
        <p:spPr>
          <a:xfrm>
            <a:off x="812800" y="2438251"/>
            <a:ext cx="544169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Latin digits for technical identifiers</a:t>
            </a:r>
            <a:endParaRPr lang="en-US" sz="1300" dirty="0"/>
          </a:p>
        </p:txBody>
      </p:sp>
      <p:sp>
        <p:nvSpPr>
          <p:cNvPr id="14" name="Shape 12"/>
          <p:cNvSpPr/>
          <p:nvPr/>
        </p:nvSpPr>
        <p:spPr>
          <a:xfrm>
            <a:off x="6096000" y="2358876"/>
            <a:ext cx="5283200" cy="0"/>
          </a:xfrm>
          <a:prstGeom prst="line">
            <a:avLst/>
          </a:prstGeom>
          <a:noFill/>
          <a:ln w="6350">
            <a:solidFill>
              <a:srgbClr val="12171D"/>
            </a:solidFill>
            <a:prstDash val="solid"/>
          </a:ln>
        </p:spPr>
        <p:txBody>
          <a:bodyPr/>
          <a:p/>
        </p:txBody>
      </p:sp>
      <p:sp>
        <p:nvSpPr>
          <p:cNvPr id="15" name="Text 13"/>
          <p:cNvSpPr/>
          <p:nvPr/>
        </p:nvSpPr>
        <p:spPr>
          <a:xfrm>
            <a:off x="6096000" y="2438251"/>
            <a:ext cx="5441696"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Approved numeral policy for guest-facing Arabic [PENDING VALIDATION]</a:t>
            </a:r>
            <a:endParaRPr lang="en-US" sz="1300" dirty="0"/>
          </a:p>
        </p:txBody>
      </p:sp>
      <p:sp>
        <p:nvSpPr>
          <p:cNvPr id="16" name="Shape 14"/>
          <p:cNvSpPr/>
          <p:nvPr/>
        </p:nvSpPr>
        <p:spPr>
          <a:xfrm>
            <a:off x="812800" y="2887117"/>
            <a:ext cx="5283200" cy="0"/>
          </a:xfrm>
          <a:prstGeom prst="line">
            <a:avLst/>
          </a:prstGeom>
          <a:noFill/>
          <a:ln w="6350">
            <a:solidFill>
              <a:srgbClr val="12171D"/>
            </a:solidFill>
            <a:prstDash val="solid"/>
          </a:ln>
        </p:spPr>
        <p:txBody>
          <a:bodyPr/>
          <a:p/>
        </p:txBody>
      </p:sp>
      <p:sp>
        <p:nvSpPr>
          <p:cNvPr id="17" name="Text 15"/>
          <p:cNvSpPr/>
          <p:nvPr/>
        </p:nvSpPr>
        <p:spPr>
          <a:xfrm>
            <a:off x="812800" y="2966492"/>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Native Arabic proof review before release</a:t>
            </a:r>
            <a:endParaRPr lang="en-US" sz="1300" dirty="0"/>
          </a:p>
        </p:txBody>
      </p:sp>
      <p:sp>
        <p:nvSpPr>
          <p:cNvPr id="18" name="Shape 16"/>
          <p:cNvSpPr/>
          <p:nvPr/>
        </p:nvSpPr>
        <p:spPr>
          <a:xfrm>
            <a:off x="6096000" y="2887117"/>
            <a:ext cx="5283200" cy="0"/>
          </a:xfrm>
          <a:prstGeom prst="line">
            <a:avLst/>
          </a:prstGeom>
          <a:noFill/>
          <a:ln w="6350">
            <a:solidFill>
              <a:srgbClr val="12171D"/>
            </a:solidFill>
            <a:prstDash val="solid"/>
          </a:ln>
        </p:spPr>
        <p:txBody>
          <a:bodyPr/>
          <a:p/>
        </p:txBody>
      </p:sp>
      <p:sp>
        <p:nvSpPr>
          <p:cNvPr id="19" name="Text 17"/>
          <p:cNvSpPr/>
          <p:nvPr/>
        </p:nvSpPr>
        <p:spPr>
          <a:xfrm>
            <a:off x="6096000" y="2966492"/>
            <a:ext cx="5441696" cy="248245"/>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Never outline malformed Arabic text</a:t>
            </a:r>
            <a:endParaRPr lang="en-US" sz="1300" dirty="0"/>
          </a:p>
        </p:txBody>
      </p:sp>
      <p:sp>
        <p:nvSpPr>
          <p:cNvPr id="20" name="Text 18"/>
          <p:cNvSpPr/>
          <p:nvPr/>
        </p:nvSpPr>
        <p:spPr>
          <a:xfrm>
            <a:off x="819150" y="3373487"/>
            <a:ext cx="10553700" cy="694630"/>
          </a:xfrm>
          <a:prstGeom prst="rect">
            <a:avLst/>
          </a:prstGeom>
          <a:noFill/>
          <a:ln w="12700">
            <a:solidFill>
              <a:srgbClr val="12171D"/>
            </a:solidFill>
            <a:prstDash val="dash"/>
          </a:ln>
        </p:spPr>
        <p:txBody>
          <a:bodyPr wrap="square" lIns="146050" tIns="107950" rIns="0" bIns="82550" rtlCol="0" anchor="t">
            <a:normAutofit/>
          </a:bodyPr>
          <a:lstStyle/>
          <a:p>
            <a:pPr algn="l" indent="0" marL="0">
              <a:lnSpc>
                <a:spcPts val="1885"/>
              </a:lnSpc>
              <a:buNone/>
            </a:pPr>
            <a:r>
              <a:rPr lang="en-US" sz="1300" dirty="0">
                <a:solidFill>
                  <a:srgbClr val="12171D"/>
                </a:solidFill>
                <a:latin typeface="Inter" pitchFamily="34" charset="0"/>
                <a:ea typeface="Inter" pitchFamily="34" charset="-122"/>
                <a:cs typeface="Inter" pitchFamily="34" charset="-120"/>
              </a:rPr>
              <a:t>Working Arabic copy is not approved copy. The tagline stays English only until an Arabic version is explicitly approved. The logo is never mirrored.</a:t>
            </a:r>
            <a:endParaRPr lang="en-US" sz="13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TYPOGRAPHY</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17</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02</a:t>
            </a:r>
            <a:endParaRPr lang="en-US" sz="1400" dirty="0"/>
          </a:p>
        </p:txBody>
      </p:sp>
      <p:sp>
        <p:nvSpPr>
          <p:cNvPr id="4" name="Text 1"/>
          <p:cNvSpPr/>
          <p:nvPr>
            <p:ph type="title"/>
          </p:nvPr>
        </p:nvSpPr>
        <p:spPr>
          <a:xfrm>
            <a:off x="812800" y="2540000"/>
            <a:ext cx="10883392" cy="612130"/>
          </a:xfrm>
          <a:prstGeom prst="rect">
            <a:avLst/>
          </a:prstGeom>
          <a:noFill/>
          <a:ln/>
        </p:spPr>
        <p:txBody>
          <a:bodyPr wrap="square" lIns="0" tIns="0" rIns="0" bIns="0" rtlCol="0" anchor="t">
            <a:normAutofit/>
          </a:bodyPr>
          <a:lstStyle/>
          <a:p>
            <a:pPr algn="l" indent="0" marL="0">
              <a:lnSpc>
                <a:spcPts val="4620"/>
              </a:lnSpc>
              <a:buNone/>
            </a:pPr>
            <a:r>
              <a:rPr lang="en-US" sz="4400" b="0" i="0" spc="350" kern="0" dirty="0">
                <a:solidFill>
                  <a:srgbClr val="FFFFFF"/>
                </a:solidFill>
                <a:latin typeface="Jost" pitchFamily="34" charset="0"/>
                <a:ea typeface="Jost" pitchFamily="34" charset="-122"/>
                <a:cs typeface="Jost" pitchFamily="34" charset="-120"/>
              </a:rPr>
              <a:t>ARTWORK &amp; MATERIALS</a:t>
            </a:r>
            <a:endParaRPr lang="en-US" sz="4400" dirty="0"/>
          </a:p>
        </p:txBody>
      </p:sp>
      <p:sp>
        <p:nvSpPr>
          <p:cNvPr id="5" name="Text 2"/>
          <p:cNvSpPr/>
          <p:nvPr/>
        </p:nvSpPr>
        <p:spPr>
          <a:xfrm>
            <a:off x="812800" y="3683000"/>
            <a:ext cx="65405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Preflight, export, print principles, stock and finishes.</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18</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17 · ARTWORK PREFLIGHT CHECKLIST</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production file passes eighteen checks.</a:t>
            </a:r>
            <a:endParaRPr lang="en-US" sz="2400" dirty="0"/>
          </a:p>
        </p:txBody>
      </p:sp>
      <p:sp>
        <p:nvSpPr>
          <p:cNvPr id="4" name="Shape 2"/>
          <p:cNvSpPr/>
          <p:nvPr/>
        </p:nvSpPr>
        <p:spPr>
          <a:xfrm>
            <a:off x="819150" y="1672530"/>
            <a:ext cx="139700" cy="139700"/>
          </a:xfrm>
          <a:prstGeom prst="rect">
            <a:avLst/>
          </a:prstGeom>
          <a:noFill/>
          <a:ln w="12700">
            <a:solidFill>
              <a:srgbClr val="12171D"/>
            </a:solidFill>
            <a:prstDash val="solid"/>
          </a:ln>
        </p:spPr>
        <p:txBody>
          <a:bodyPr/>
          <a:p/>
        </p:txBody>
      </p:sp>
      <p:sp>
        <p:nvSpPr>
          <p:cNvPr id="5" name="Text 3"/>
          <p:cNvSpPr/>
          <p:nvPr/>
        </p:nvSpPr>
        <p:spPr>
          <a:xfrm>
            <a:off x="1054100" y="1666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master asset</a:t>
            </a:r>
            <a:endParaRPr lang="en-US" sz="1200" dirty="0"/>
          </a:p>
        </p:txBody>
      </p:sp>
      <p:sp>
        <p:nvSpPr>
          <p:cNvPr id="6" name="Shape 4"/>
          <p:cNvSpPr/>
          <p:nvPr/>
        </p:nvSpPr>
        <p:spPr>
          <a:xfrm>
            <a:off x="4341267" y="1672530"/>
            <a:ext cx="139700" cy="139700"/>
          </a:xfrm>
          <a:prstGeom prst="rect">
            <a:avLst/>
          </a:prstGeom>
          <a:noFill/>
          <a:ln w="12700">
            <a:solidFill>
              <a:srgbClr val="12171D"/>
            </a:solidFill>
            <a:prstDash val="solid"/>
          </a:ln>
        </p:spPr>
        <p:txBody>
          <a:bodyPr/>
          <a:p/>
        </p:txBody>
      </p:sp>
      <p:sp>
        <p:nvSpPr>
          <p:cNvPr id="7" name="Text 5"/>
          <p:cNvSpPr/>
          <p:nvPr/>
        </p:nvSpPr>
        <p:spPr>
          <a:xfrm>
            <a:off x="4576217" y="1666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version</a:t>
            </a:r>
            <a:endParaRPr lang="en-US" sz="1200" dirty="0"/>
          </a:p>
        </p:txBody>
      </p:sp>
      <p:sp>
        <p:nvSpPr>
          <p:cNvPr id="8" name="Shape 6"/>
          <p:cNvSpPr/>
          <p:nvPr/>
        </p:nvSpPr>
        <p:spPr>
          <a:xfrm>
            <a:off x="7863384" y="1672530"/>
            <a:ext cx="139700" cy="139700"/>
          </a:xfrm>
          <a:prstGeom prst="rect">
            <a:avLst/>
          </a:prstGeom>
          <a:noFill/>
          <a:ln w="12700">
            <a:solidFill>
              <a:srgbClr val="12171D"/>
            </a:solidFill>
            <a:prstDash val="solid"/>
          </a:ln>
        </p:spPr>
        <p:txBody>
          <a:bodyPr/>
          <a:p/>
        </p:txBody>
      </p:sp>
      <p:sp>
        <p:nvSpPr>
          <p:cNvPr id="9" name="Text 7"/>
          <p:cNvSpPr/>
          <p:nvPr/>
        </p:nvSpPr>
        <p:spPr>
          <a:xfrm>
            <a:off x="8098334" y="1666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colour mode</a:t>
            </a:r>
            <a:endParaRPr lang="en-US" sz="1200" dirty="0"/>
          </a:p>
        </p:txBody>
      </p:sp>
      <p:sp>
        <p:nvSpPr>
          <p:cNvPr id="10" name="Shape 8"/>
          <p:cNvSpPr/>
          <p:nvPr/>
        </p:nvSpPr>
        <p:spPr>
          <a:xfrm>
            <a:off x="819150" y="1863030"/>
            <a:ext cx="139700" cy="139700"/>
          </a:xfrm>
          <a:prstGeom prst="rect">
            <a:avLst/>
          </a:prstGeom>
          <a:noFill/>
          <a:ln w="12700">
            <a:solidFill>
              <a:srgbClr val="12171D"/>
            </a:solidFill>
            <a:prstDash val="solid"/>
          </a:ln>
        </p:spPr>
        <p:txBody>
          <a:bodyPr/>
          <a:p/>
        </p:txBody>
      </p:sp>
      <p:sp>
        <p:nvSpPr>
          <p:cNvPr id="11" name="Text 9"/>
          <p:cNvSpPr/>
          <p:nvPr/>
        </p:nvSpPr>
        <p:spPr>
          <a:xfrm>
            <a:off x="1054100" y="1856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Correct bleed</a:t>
            </a:r>
            <a:endParaRPr lang="en-US" sz="1200" dirty="0"/>
          </a:p>
        </p:txBody>
      </p:sp>
      <p:sp>
        <p:nvSpPr>
          <p:cNvPr id="12" name="Shape 10"/>
          <p:cNvSpPr/>
          <p:nvPr/>
        </p:nvSpPr>
        <p:spPr>
          <a:xfrm>
            <a:off x="4341267" y="1863030"/>
            <a:ext cx="139700" cy="139700"/>
          </a:xfrm>
          <a:prstGeom prst="rect">
            <a:avLst/>
          </a:prstGeom>
          <a:noFill/>
          <a:ln w="12700">
            <a:solidFill>
              <a:srgbClr val="12171D"/>
            </a:solidFill>
            <a:prstDash val="solid"/>
          </a:ln>
        </p:spPr>
        <p:txBody>
          <a:bodyPr/>
          <a:p/>
        </p:txBody>
      </p:sp>
      <p:sp>
        <p:nvSpPr>
          <p:cNvPr id="13" name="Text 11"/>
          <p:cNvSpPr/>
          <p:nvPr/>
        </p:nvSpPr>
        <p:spPr>
          <a:xfrm>
            <a:off x="4576217" y="1856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Safe area</a:t>
            </a:r>
            <a:endParaRPr lang="en-US" sz="1200" dirty="0"/>
          </a:p>
        </p:txBody>
      </p:sp>
      <p:sp>
        <p:nvSpPr>
          <p:cNvPr id="14" name="Shape 12"/>
          <p:cNvSpPr/>
          <p:nvPr/>
        </p:nvSpPr>
        <p:spPr>
          <a:xfrm>
            <a:off x="7863384" y="1863030"/>
            <a:ext cx="139700" cy="139700"/>
          </a:xfrm>
          <a:prstGeom prst="rect">
            <a:avLst/>
          </a:prstGeom>
          <a:noFill/>
          <a:ln w="12700">
            <a:solidFill>
              <a:srgbClr val="12171D"/>
            </a:solidFill>
            <a:prstDash val="solid"/>
          </a:ln>
        </p:spPr>
        <p:txBody>
          <a:bodyPr/>
          <a:p/>
        </p:txBody>
      </p:sp>
      <p:sp>
        <p:nvSpPr>
          <p:cNvPr id="15" name="Text 13"/>
          <p:cNvSpPr/>
          <p:nvPr/>
        </p:nvSpPr>
        <p:spPr>
          <a:xfrm>
            <a:off x="8098334" y="1856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Dieline visibility</a:t>
            </a:r>
            <a:endParaRPr lang="en-US" sz="1200" dirty="0"/>
          </a:p>
        </p:txBody>
      </p:sp>
      <p:sp>
        <p:nvSpPr>
          <p:cNvPr id="16" name="Shape 14"/>
          <p:cNvSpPr/>
          <p:nvPr/>
        </p:nvSpPr>
        <p:spPr>
          <a:xfrm>
            <a:off x="819150" y="2053530"/>
            <a:ext cx="139700" cy="139700"/>
          </a:xfrm>
          <a:prstGeom prst="rect">
            <a:avLst/>
          </a:prstGeom>
          <a:noFill/>
          <a:ln w="12700">
            <a:solidFill>
              <a:srgbClr val="12171D"/>
            </a:solidFill>
            <a:prstDash val="solid"/>
          </a:ln>
        </p:spPr>
        <p:txBody>
          <a:bodyPr/>
          <a:p/>
        </p:txBody>
      </p:sp>
      <p:sp>
        <p:nvSpPr>
          <p:cNvPr id="17" name="Text 15"/>
          <p:cNvSpPr/>
          <p:nvPr/>
        </p:nvSpPr>
        <p:spPr>
          <a:xfrm>
            <a:off x="1054100" y="2047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Overprint</a:t>
            </a:r>
            <a:endParaRPr lang="en-US" sz="1200" dirty="0"/>
          </a:p>
        </p:txBody>
      </p:sp>
      <p:sp>
        <p:nvSpPr>
          <p:cNvPr id="18" name="Shape 16"/>
          <p:cNvSpPr/>
          <p:nvPr/>
        </p:nvSpPr>
        <p:spPr>
          <a:xfrm>
            <a:off x="4341267" y="2053530"/>
            <a:ext cx="139700" cy="139700"/>
          </a:xfrm>
          <a:prstGeom prst="rect">
            <a:avLst/>
          </a:prstGeom>
          <a:noFill/>
          <a:ln w="12700">
            <a:solidFill>
              <a:srgbClr val="12171D"/>
            </a:solidFill>
            <a:prstDash val="solid"/>
          </a:ln>
        </p:spPr>
        <p:txBody>
          <a:bodyPr/>
          <a:p/>
        </p:txBody>
      </p:sp>
      <p:sp>
        <p:nvSpPr>
          <p:cNvPr id="19" name="Text 17"/>
          <p:cNvSpPr/>
          <p:nvPr/>
        </p:nvSpPr>
        <p:spPr>
          <a:xfrm>
            <a:off x="4576217" y="2047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Transparency</a:t>
            </a:r>
            <a:endParaRPr lang="en-US" sz="1200" dirty="0"/>
          </a:p>
        </p:txBody>
      </p:sp>
      <p:sp>
        <p:nvSpPr>
          <p:cNvPr id="20" name="Shape 18"/>
          <p:cNvSpPr/>
          <p:nvPr/>
        </p:nvSpPr>
        <p:spPr>
          <a:xfrm>
            <a:off x="7863384" y="2053530"/>
            <a:ext cx="139700" cy="139700"/>
          </a:xfrm>
          <a:prstGeom prst="rect">
            <a:avLst/>
          </a:prstGeom>
          <a:noFill/>
          <a:ln w="12700">
            <a:solidFill>
              <a:srgbClr val="12171D"/>
            </a:solidFill>
            <a:prstDash val="solid"/>
          </a:ln>
        </p:spPr>
        <p:txBody>
          <a:bodyPr/>
          <a:p/>
        </p:txBody>
      </p:sp>
      <p:sp>
        <p:nvSpPr>
          <p:cNvPr id="21" name="Text 19"/>
          <p:cNvSpPr/>
          <p:nvPr/>
        </p:nvSpPr>
        <p:spPr>
          <a:xfrm>
            <a:off x="8098334" y="2047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Image resolution</a:t>
            </a:r>
            <a:endParaRPr lang="en-US" sz="1200" dirty="0"/>
          </a:p>
        </p:txBody>
      </p:sp>
      <p:sp>
        <p:nvSpPr>
          <p:cNvPr id="22" name="Shape 20"/>
          <p:cNvSpPr/>
          <p:nvPr/>
        </p:nvSpPr>
        <p:spPr>
          <a:xfrm>
            <a:off x="819150" y="2244030"/>
            <a:ext cx="139700" cy="139700"/>
          </a:xfrm>
          <a:prstGeom prst="rect">
            <a:avLst/>
          </a:prstGeom>
          <a:noFill/>
          <a:ln w="12700">
            <a:solidFill>
              <a:srgbClr val="12171D"/>
            </a:solidFill>
            <a:prstDash val="solid"/>
          </a:ln>
        </p:spPr>
        <p:txBody>
          <a:bodyPr/>
          <a:p/>
        </p:txBody>
      </p:sp>
      <p:sp>
        <p:nvSpPr>
          <p:cNvPr id="23" name="Text 21"/>
          <p:cNvSpPr/>
          <p:nvPr/>
        </p:nvSpPr>
        <p:spPr>
          <a:xfrm>
            <a:off x="1054100" y="2237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Linked assets</a:t>
            </a:r>
            <a:endParaRPr lang="en-US" sz="1200" dirty="0"/>
          </a:p>
        </p:txBody>
      </p:sp>
      <p:sp>
        <p:nvSpPr>
          <p:cNvPr id="24" name="Shape 22"/>
          <p:cNvSpPr/>
          <p:nvPr/>
        </p:nvSpPr>
        <p:spPr>
          <a:xfrm>
            <a:off x="4341267" y="2244030"/>
            <a:ext cx="139700" cy="139700"/>
          </a:xfrm>
          <a:prstGeom prst="rect">
            <a:avLst/>
          </a:prstGeom>
          <a:noFill/>
          <a:ln w="12700">
            <a:solidFill>
              <a:srgbClr val="12171D"/>
            </a:solidFill>
            <a:prstDash val="solid"/>
          </a:ln>
        </p:spPr>
        <p:txBody>
          <a:bodyPr/>
          <a:p/>
        </p:txBody>
      </p:sp>
      <p:sp>
        <p:nvSpPr>
          <p:cNvPr id="25" name="Text 23"/>
          <p:cNvSpPr/>
          <p:nvPr/>
        </p:nvSpPr>
        <p:spPr>
          <a:xfrm>
            <a:off x="4576217" y="2237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Fonts</a:t>
            </a:r>
            <a:endParaRPr lang="en-US" sz="1200" dirty="0"/>
          </a:p>
        </p:txBody>
      </p:sp>
      <p:sp>
        <p:nvSpPr>
          <p:cNvPr id="26" name="Shape 24"/>
          <p:cNvSpPr/>
          <p:nvPr/>
        </p:nvSpPr>
        <p:spPr>
          <a:xfrm>
            <a:off x="7863384" y="2244030"/>
            <a:ext cx="139700" cy="139700"/>
          </a:xfrm>
          <a:prstGeom prst="rect">
            <a:avLst/>
          </a:prstGeom>
          <a:noFill/>
          <a:ln w="12700">
            <a:solidFill>
              <a:srgbClr val="12171D"/>
            </a:solidFill>
            <a:prstDash val="solid"/>
          </a:ln>
        </p:spPr>
        <p:txBody>
          <a:bodyPr/>
          <a:p/>
        </p:txBody>
      </p:sp>
      <p:sp>
        <p:nvSpPr>
          <p:cNvPr id="27" name="Text 25"/>
          <p:cNvSpPr/>
          <p:nvPr/>
        </p:nvSpPr>
        <p:spPr>
          <a:xfrm>
            <a:off x="8098334" y="2237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Barcode or QR integrity, if used</a:t>
            </a:r>
            <a:endParaRPr lang="en-US" sz="1200" dirty="0"/>
          </a:p>
        </p:txBody>
      </p:sp>
      <p:sp>
        <p:nvSpPr>
          <p:cNvPr id="28" name="Shape 26"/>
          <p:cNvSpPr/>
          <p:nvPr/>
        </p:nvSpPr>
        <p:spPr>
          <a:xfrm>
            <a:off x="819150" y="2434530"/>
            <a:ext cx="139700" cy="139700"/>
          </a:xfrm>
          <a:prstGeom prst="rect">
            <a:avLst/>
          </a:prstGeom>
          <a:noFill/>
          <a:ln w="12700">
            <a:solidFill>
              <a:srgbClr val="12171D"/>
            </a:solidFill>
            <a:prstDash val="solid"/>
          </a:ln>
        </p:spPr>
        <p:txBody>
          <a:bodyPr/>
          <a:p/>
        </p:txBody>
      </p:sp>
      <p:sp>
        <p:nvSpPr>
          <p:cNvPr id="29" name="Text 27"/>
          <p:cNvSpPr/>
          <p:nvPr/>
        </p:nvSpPr>
        <p:spPr>
          <a:xfrm>
            <a:off x="1054100" y="2428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Spelling</a:t>
            </a:r>
            <a:endParaRPr lang="en-US" sz="1200" dirty="0"/>
          </a:p>
        </p:txBody>
      </p:sp>
      <p:sp>
        <p:nvSpPr>
          <p:cNvPr id="30" name="Shape 28"/>
          <p:cNvSpPr/>
          <p:nvPr/>
        </p:nvSpPr>
        <p:spPr>
          <a:xfrm>
            <a:off x="4341267" y="2434530"/>
            <a:ext cx="139700" cy="139700"/>
          </a:xfrm>
          <a:prstGeom prst="rect">
            <a:avLst/>
          </a:prstGeom>
          <a:noFill/>
          <a:ln w="12700">
            <a:solidFill>
              <a:srgbClr val="12171D"/>
            </a:solidFill>
            <a:prstDash val="solid"/>
          </a:ln>
        </p:spPr>
        <p:txBody>
          <a:bodyPr/>
          <a:p/>
        </p:txBody>
      </p:sp>
      <p:sp>
        <p:nvSpPr>
          <p:cNvPr id="31" name="Text 29"/>
          <p:cNvSpPr/>
          <p:nvPr/>
        </p:nvSpPr>
        <p:spPr>
          <a:xfrm>
            <a:off x="4576217" y="24281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shaping</a:t>
            </a:r>
            <a:endParaRPr lang="en-US" sz="1200" dirty="0"/>
          </a:p>
        </p:txBody>
      </p:sp>
      <p:sp>
        <p:nvSpPr>
          <p:cNvPr id="32" name="Shape 30"/>
          <p:cNvSpPr/>
          <p:nvPr/>
        </p:nvSpPr>
        <p:spPr>
          <a:xfrm>
            <a:off x="7863384" y="2434530"/>
            <a:ext cx="139700" cy="139700"/>
          </a:xfrm>
          <a:prstGeom prst="rect">
            <a:avLst/>
          </a:prstGeom>
          <a:noFill/>
          <a:ln w="12700">
            <a:solidFill>
              <a:srgbClr val="12171D"/>
            </a:solidFill>
            <a:prstDash val="solid"/>
          </a:ln>
        </p:spPr>
        <p:txBody>
          <a:bodyPr/>
          <a:p/>
        </p:txBody>
      </p:sp>
      <p:sp>
        <p:nvSpPr>
          <p:cNvPr id="33" name="Text 31"/>
          <p:cNvSpPr/>
          <p:nvPr/>
        </p:nvSpPr>
        <p:spPr>
          <a:xfrm>
            <a:off x="8098334" y="24281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Regulatory copy</a:t>
            </a:r>
            <a:endParaRPr lang="en-US" sz="1200" dirty="0"/>
          </a:p>
        </p:txBody>
      </p:sp>
      <p:sp>
        <p:nvSpPr>
          <p:cNvPr id="34" name="Shape 32"/>
          <p:cNvSpPr/>
          <p:nvPr/>
        </p:nvSpPr>
        <p:spPr>
          <a:xfrm>
            <a:off x="819150" y="2625030"/>
            <a:ext cx="139700" cy="139700"/>
          </a:xfrm>
          <a:prstGeom prst="rect">
            <a:avLst/>
          </a:prstGeom>
          <a:noFill/>
          <a:ln w="12700">
            <a:solidFill>
              <a:srgbClr val="12171D"/>
            </a:solidFill>
            <a:prstDash val="solid"/>
          </a:ln>
        </p:spPr>
        <p:txBody>
          <a:bodyPr/>
          <a:p/>
        </p:txBody>
      </p:sp>
      <p:sp>
        <p:nvSpPr>
          <p:cNvPr id="35" name="Text 33"/>
          <p:cNvSpPr/>
          <p:nvPr/>
        </p:nvSpPr>
        <p:spPr>
          <a:xfrm>
            <a:off x="1054100" y="2618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Hidden objects</a:t>
            </a:r>
            <a:endParaRPr lang="en-US" sz="1200" dirty="0"/>
          </a:p>
        </p:txBody>
      </p:sp>
      <p:sp>
        <p:nvSpPr>
          <p:cNvPr id="36" name="Shape 34"/>
          <p:cNvSpPr/>
          <p:nvPr/>
        </p:nvSpPr>
        <p:spPr>
          <a:xfrm>
            <a:off x="4341267" y="2625030"/>
            <a:ext cx="139700" cy="139700"/>
          </a:xfrm>
          <a:prstGeom prst="rect">
            <a:avLst/>
          </a:prstGeom>
          <a:noFill/>
          <a:ln w="12700">
            <a:solidFill>
              <a:srgbClr val="12171D"/>
            </a:solidFill>
            <a:prstDash val="solid"/>
          </a:ln>
        </p:spPr>
        <p:txBody>
          <a:bodyPr/>
          <a:p/>
        </p:txBody>
      </p:sp>
      <p:sp>
        <p:nvSpPr>
          <p:cNvPr id="37" name="Text 35"/>
          <p:cNvSpPr/>
          <p:nvPr/>
        </p:nvSpPr>
        <p:spPr>
          <a:xfrm>
            <a:off x="4576217" y="2618680"/>
            <a:ext cx="337924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Non-printing guides</a:t>
            </a:r>
            <a:endParaRPr lang="en-US" sz="1200" dirty="0"/>
          </a:p>
        </p:txBody>
      </p:sp>
      <p:sp>
        <p:nvSpPr>
          <p:cNvPr id="38" name="Shape 36"/>
          <p:cNvSpPr/>
          <p:nvPr/>
        </p:nvSpPr>
        <p:spPr>
          <a:xfrm>
            <a:off x="7863384" y="2625030"/>
            <a:ext cx="139700" cy="139700"/>
          </a:xfrm>
          <a:prstGeom prst="rect">
            <a:avLst/>
          </a:prstGeom>
          <a:noFill/>
          <a:ln w="12700">
            <a:solidFill>
              <a:srgbClr val="12171D"/>
            </a:solidFill>
            <a:prstDash val="solid"/>
          </a:ln>
        </p:spPr>
        <p:txBody>
          <a:bodyPr/>
          <a:p/>
        </p:txBody>
      </p:sp>
      <p:sp>
        <p:nvSpPr>
          <p:cNvPr id="39" name="Text 37"/>
          <p:cNvSpPr/>
          <p:nvPr/>
        </p:nvSpPr>
        <p:spPr>
          <a:xfrm>
            <a:off x="8098334" y="2618680"/>
            <a:ext cx="337929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Output intent and profile</a:t>
            </a:r>
            <a:endParaRPr lang="en-US" sz="1200" dirty="0"/>
          </a:p>
        </p:txBody>
      </p:sp>
      <p:sp>
        <p:nvSpPr>
          <p:cNvPr id="40" name="Text 38"/>
          <p:cNvSpPr/>
          <p:nvPr/>
        </p:nvSpPr>
        <p:spPr>
          <a:xfrm>
            <a:off x="812800" y="2961580"/>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Supplier-ready form: appendix C. A file with any open check is not sent.</a:t>
            </a:r>
            <a:endParaRPr lang="en-US" sz="1200" dirty="0"/>
          </a:p>
        </p:txBody>
      </p:sp>
      <p:sp>
        <p:nvSpPr>
          <p:cNvPr id="41" name="Text 3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ARTWORK</a:t>
            </a:r>
            <a:endParaRPr lang="en-US" sz="1200" dirty="0"/>
          </a:p>
        </p:txBody>
      </p:sp>
      <p:sp>
        <p:nvSpPr>
          <p:cNvPr id="42" name="Text 4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19</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1394520"/>
            <a:ext cx="457835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18 · BLEED AND SAFE AREA</a:t>
            </a:r>
            <a:endParaRPr lang="en-US" sz="1200" dirty="0"/>
          </a:p>
        </p:txBody>
      </p:sp>
      <p:pic>
        <p:nvPicPr>
          <p:cNvPr id="3" name="Image 0" descr="Bleed, trim and safe-area schematic: dashed outer bleed, solid trim, dotted inner brand safe area. Not to scale." title="Bleed, trim and safe-area schematic: dashed outer bleed, sol">    </p:cNvPr>
          <p:cNvPicPr>
            <a:picLocks noChangeAspect="1"/>
          </p:cNvPicPr>
          <p:nvPr/>
        </p:nvPicPr>
        <p:blipFill>
          <a:blip r:embed="rId1"/>
          <a:srcRect l="0" r="0" t="0" b="0"/>
          <a:stretch/>
        </p:blipFill>
        <p:spPr>
          <a:xfrm>
            <a:off x="812800" y="1760240"/>
            <a:ext cx="4064000" cy="2921000"/>
          </a:xfrm>
          <a:prstGeom prst="rect">
            <a:avLst/>
          </a:prstGeom>
        </p:spPr>
      </p:pic>
      <p:sp>
        <p:nvSpPr>
          <p:cNvPr id="4" name="Text 1"/>
          <p:cNvSpPr/>
          <p:nvPr/>
        </p:nvSpPr>
        <p:spPr>
          <a:xfrm>
            <a:off x="812800" y="4833640"/>
            <a:ext cx="4578350" cy="452041"/>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Dashed outer: bleed · Solid: trim · Dotted inner: brand safe area</a:t>
            </a:r>
            <a:endParaRPr lang="en-US" sz="1200" dirty="0"/>
          </a:p>
        </p:txBody>
      </p:sp>
      <p:sp>
        <p:nvSpPr>
          <p:cNvPr id="5" name="Text 2"/>
          <p:cNvSpPr/>
          <p:nvPr>
            <p:ph type="title"/>
          </p:nvPr>
        </p:nvSpPr>
        <p:spPr>
          <a:xfrm>
            <a:off x="5867400" y="2080964"/>
            <a:ext cx="5677154"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The supplier dieline governs bleed and trim.</a:t>
            </a:r>
            <a:endParaRPr lang="en-US" sz="2600" dirty="0"/>
          </a:p>
        </p:txBody>
      </p:sp>
      <p:sp>
        <p:nvSpPr>
          <p:cNvPr id="6" name="Shape 3"/>
          <p:cNvSpPr/>
          <p:nvPr/>
        </p:nvSpPr>
        <p:spPr>
          <a:xfrm>
            <a:off x="5867400" y="2950220"/>
            <a:ext cx="5511800" cy="0"/>
          </a:xfrm>
          <a:prstGeom prst="line">
            <a:avLst/>
          </a:prstGeom>
          <a:noFill/>
          <a:ln w="6350">
            <a:solidFill>
              <a:srgbClr val="BCACA7"/>
            </a:solidFill>
            <a:prstDash val="solid"/>
          </a:ln>
        </p:spPr>
        <p:txBody>
          <a:bodyPr/>
          <a:p/>
        </p:txBody>
      </p:sp>
      <p:sp>
        <p:nvSpPr>
          <p:cNvPr id="7" name="Text 4"/>
          <p:cNvSpPr/>
          <p:nvPr/>
        </p:nvSpPr>
        <p:spPr>
          <a:xfrm>
            <a:off x="5867400" y="3029595"/>
            <a:ext cx="5677154" cy="457200"/>
          </a:xfrm>
          <a:prstGeom prst="rect">
            <a:avLst/>
          </a:prstGeom>
          <a:noFill/>
          <a:ln/>
        </p:spPr>
        <p:txBody>
          <a:bodyPr wrap="square" lIns="0" tIns="0" rIns="0" bIns="0" rtlCol="0" anchor="t"/>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Safe-zone and bleed roles are standardised (T13); their dimensions come from the supplier dieline, never from this standard.</a:t>
            </a:r>
            <a:endParaRPr lang="en-US" sz="1400" dirty="0"/>
          </a:p>
        </p:txBody>
      </p:sp>
      <p:sp>
        <p:nvSpPr>
          <p:cNvPr id="8" name="Shape 5"/>
          <p:cNvSpPr/>
          <p:nvPr/>
        </p:nvSpPr>
        <p:spPr>
          <a:xfrm>
            <a:off x="5867400" y="3622528"/>
            <a:ext cx="5511800" cy="0"/>
          </a:xfrm>
          <a:prstGeom prst="line">
            <a:avLst/>
          </a:prstGeom>
          <a:noFill/>
          <a:ln w="6350">
            <a:solidFill>
              <a:srgbClr val="BCACA7"/>
            </a:solidFill>
            <a:prstDash val="solid"/>
          </a:ln>
        </p:spPr>
        <p:txBody>
          <a:bodyPr/>
          <a:p/>
        </p:txBody>
      </p:sp>
      <p:sp>
        <p:nvSpPr>
          <p:cNvPr id="9" name="Text 6"/>
          <p:cNvSpPr/>
          <p:nvPr/>
        </p:nvSpPr>
        <p:spPr>
          <a:xfrm>
            <a:off x="5867400" y="3701903"/>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Brand safe areas stay separate from structural tolerances.</a:t>
            </a:r>
            <a:endParaRPr lang="en-US" sz="1400" dirty="0"/>
          </a:p>
        </p:txBody>
      </p:sp>
      <p:sp>
        <p:nvSpPr>
          <p:cNvPr id="10" name="Shape 7"/>
          <p:cNvSpPr/>
          <p:nvPr/>
        </p:nvSpPr>
        <p:spPr>
          <a:xfrm>
            <a:off x="5867400" y="4093668"/>
            <a:ext cx="5511800" cy="0"/>
          </a:xfrm>
          <a:prstGeom prst="line">
            <a:avLst/>
          </a:prstGeom>
          <a:noFill/>
          <a:ln w="6350">
            <a:solidFill>
              <a:srgbClr val="BCACA7"/>
            </a:solidFill>
            <a:prstDash val="solid"/>
          </a:ln>
        </p:spPr>
        <p:txBody>
          <a:bodyPr/>
          <a:p/>
        </p:txBody>
      </p:sp>
      <p:sp>
        <p:nvSpPr>
          <p:cNvPr id="11" name="Text 8"/>
          <p:cNvSpPr/>
          <p:nvPr/>
        </p:nvSpPr>
        <p:spPr>
          <a:xfrm>
            <a:off x="5867400" y="4173043"/>
            <a:ext cx="567715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Every dieline is approved before artwork preparation.</a:t>
            </a:r>
            <a:endParaRPr lang="en-US" sz="1400" dirty="0"/>
          </a:p>
        </p:txBody>
      </p:sp>
      <p:sp>
        <p:nvSpPr>
          <p:cNvPr id="12" name="Text 9"/>
          <p:cNvSpPr/>
          <p:nvPr/>
        </p:nvSpPr>
        <p:spPr>
          <a:xfrm>
            <a:off x="5867400" y="4561634"/>
            <a:ext cx="567715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Values: [REQUIRES SUPPLIER] · Diagram not to scale</a:t>
            </a:r>
            <a:endParaRPr lang="en-US" sz="1200" dirty="0"/>
          </a:p>
        </p:txBody>
      </p:sp>
      <p:sp>
        <p:nvSpPr>
          <p:cNvPr id="13"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ARTWORK</a:t>
            </a:r>
            <a:endParaRPr lang="en-US" sz="1200" dirty="0"/>
          </a:p>
        </p:txBody>
      </p:sp>
      <p:sp>
        <p:nvSpPr>
          <p:cNvPr id="14"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20</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19 · PRODUCTION PDF STANDARD · PENDING PREPRESS STANDARD</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The export follows the printer's actual workflow.</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994124"/>
        </p:xfrm>
        <a:graphic>
          <a:graphicData uri="http://schemas.openxmlformats.org/drawingml/2006/table">
            <a:tbl>
              <a:tblPr/>
              <a:tblGrid>
                <a:gridCol w="3799332"/>
                <a:gridCol w="6754368"/>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Export 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PDF standard and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Embedded profile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Output intent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Fonts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Embedded or outlined, as the supplier requires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Transparencies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PREPRESS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Trim and bleed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Set from the approved supplier dieline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layer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Separate, named, non-printing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Varnish, foil, emboss layers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Named spot layers where the job uses them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749205"/>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PDF/X version is chosen until the printer workflow is known.</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ARTWORK</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21</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20 · PRINT PRINCIPLES</a:t>
            </a:r>
            <a:endParaRPr lang="en-US" sz="1200" dirty="0"/>
          </a:p>
        </p:txBody>
      </p:sp>
      <p:sp>
        <p:nvSpPr>
          <p:cNvPr id="3" name="Text 1"/>
          <p:cNvSpPr/>
          <p:nvPr>
            <p:ph type="title"/>
          </p:nvPr>
        </p:nvSpPr>
        <p:spPr>
          <a:xfrm>
            <a:off x="812800" y="12293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FFFFFF"/>
                </a:solidFill>
                <a:latin typeface="Jost" pitchFamily="34" charset="0"/>
                <a:ea typeface="Jost" pitchFamily="34" charset="-122"/>
                <a:cs typeface="Jost" pitchFamily="34" charset="-120"/>
              </a:rPr>
              <a:t>Tactile, restrained, exact.</a:t>
            </a:r>
            <a:endParaRPr lang="en-US" sz="2800" dirty="0"/>
          </a:p>
        </p:txBody>
      </p:sp>
      <p:sp>
        <p:nvSpPr>
          <p:cNvPr id="4" name="Shape 2"/>
          <p:cNvSpPr/>
          <p:nvPr/>
        </p:nvSpPr>
        <p:spPr>
          <a:xfrm>
            <a:off x="812800" y="1823641"/>
            <a:ext cx="5207000" cy="4018359"/>
          </a:xfrm>
          <a:prstGeom prst="rect">
            <a:avLst/>
          </a:prstGeom>
          <a:solidFill>
            <a:srgbClr val="BCACA7"/>
          </a:solidFill>
          <a:ln/>
        </p:spPr>
        <p:txBody>
          <a:bodyPr/>
          <a:p/>
        </p:txBody>
      </p:sp>
      <p:sp>
        <p:nvSpPr>
          <p:cNvPr id="5" name="Text 3"/>
          <p:cNvSpPr/>
          <p:nvPr/>
        </p:nvSpPr>
        <p:spPr>
          <a:xfrm>
            <a:off x="1041400" y="2052241"/>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PRIORITISE</a:t>
            </a:r>
            <a:endParaRPr lang="en-US" sz="1200" dirty="0"/>
          </a:p>
        </p:txBody>
      </p:sp>
      <p:sp>
        <p:nvSpPr>
          <p:cNvPr id="6" name="Text 4"/>
          <p:cNvSpPr/>
          <p:nvPr/>
        </p:nvSpPr>
        <p:spPr>
          <a:xfrm>
            <a:off x="1041400" y="236716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Tactile quality</a:t>
            </a:r>
            <a:endParaRPr lang="en-US" sz="1400" dirty="0"/>
          </a:p>
        </p:txBody>
      </p:sp>
      <p:sp>
        <p:nvSpPr>
          <p:cNvPr id="7" name="Text 5"/>
          <p:cNvSpPr/>
          <p:nvPr/>
        </p:nvSpPr>
        <p:spPr>
          <a:xfrm>
            <a:off x="1041400" y="271765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Restraint</a:t>
            </a:r>
            <a:endParaRPr lang="en-US" sz="1400" dirty="0"/>
          </a:p>
        </p:txBody>
      </p:sp>
      <p:sp>
        <p:nvSpPr>
          <p:cNvPr id="8" name="Text 6"/>
          <p:cNvSpPr/>
          <p:nvPr/>
        </p:nvSpPr>
        <p:spPr>
          <a:xfrm>
            <a:off x="1041400" y="306814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Accurate colour</a:t>
            </a:r>
            <a:endParaRPr lang="en-US" sz="1400" dirty="0"/>
          </a:p>
        </p:txBody>
      </p:sp>
      <p:sp>
        <p:nvSpPr>
          <p:cNvPr id="9" name="Text 7"/>
          <p:cNvSpPr/>
          <p:nvPr/>
        </p:nvSpPr>
        <p:spPr>
          <a:xfrm>
            <a:off x="1041400" y="341863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Matte, controlled surfaces</a:t>
            </a:r>
            <a:endParaRPr lang="en-US" sz="1400" dirty="0"/>
          </a:p>
        </p:txBody>
      </p:sp>
      <p:sp>
        <p:nvSpPr>
          <p:cNvPr id="10" name="Text 8"/>
          <p:cNvSpPr/>
          <p:nvPr/>
        </p:nvSpPr>
        <p:spPr>
          <a:xfrm>
            <a:off x="1041400" y="376912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Precision</a:t>
            </a:r>
            <a:endParaRPr lang="en-US" sz="1400" dirty="0"/>
          </a:p>
        </p:txBody>
      </p:sp>
      <p:sp>
        <p:nvSpPr>
          <p:cNvPr id="11" name="Text 9"/>
          <p:cNvSpPr/>
          <p:nvPr/>
        </p:nvSpPr>
        <p:spPr>
          <a:xfrm>
            <a:off x="1041400" y="411961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Durable execution</a:t>
            </a:r>
            <a:endParaRPr lang="en-US" sz="1400" dirty="0"/>
          </a:p>
        </p:txBody>
      </p:sp>
      <p:sp>
        <p:nvSpPr>
          <p:cNvPr id="12" name="Shape 10"/>
          <p:cNvSpPr/>
          <p:nvPr/>
        </p:nvSpPr>
        <p:spPr>
          <a:xfrm>
            <a:off x="6153150" y="1829991"/>
            <a:ext cx="5219700" cy="4005659"/>
          </a:xfrm>
          <a:prstGeom prst="rect">
            <a:avLst/>
          </a:prstGeom>
          <a:noFill/>
          <a:ln w="12700">
            <a:solidFill>
              <a:srgbClr val="BCACA7"/>
            </a:solidFill>
            <a:prstDash val="dash"/>
          </a:ln>
        </p:spPr>
        <p:txBody>
          <a:bodyPr/>
          <a:p/>
        </p:txBody>
      </p:sp>
      <p:sp>
        <p:nvSpPr>
          <p:cNvPr id="13" name="Text 11"/>
          <p:cNvSpPr/>
          <p:nvPr/>
        </p:nvSpPr>
        <p:spPr>
          <a:xfrm>
            <a:off x="6388100" y="2064941"/>
            <a:ext cx="4892294"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AVOID</a:t>
            </a:r>
            <a:endParaRPr lang="en-US" sz="1200" dirty="0"/>
          </a:p>
        </p:txBody>
      </p:sp>
      <p:sp>
        <p:nvSpPr>
          <p:cNvPr id="14" name="Text 12"/>
          <p:cNvSpPr/>
          <p:nvPr/>
        </p:nvSpPr>
        <p:spPr>
          <a:xfrm>
            <a:off x="6388100" y="237986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Decorative gold as a default</a:t>
            </a:r>
            <a:endParaRPr lang="en-US" sz="1400" dirty="0"/>
          </a:p>
        </p:txBody>
      </p:sp>
      <p:sp>
        <p:nvSpPr>
          <p:cNvPr id="15" name="Text 13"/>
          <p:cNvSpPr/>
          <p:nvPr/>
        </p:nvSpPr>
        <p:spPr>
          <a:xfrm>
            <a:off x="6388100" y="273035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Chrome</a:t>
            </a:r>
            <a:endParaRPr lang="en-US" sz="1400" dirty="0"/>
          </a:p>
        </p:txBody>
      </p:sp>
      <p:sp>
        <p:nvSpPr>
          <p:cNvPr id="16" name="Text 14"/>
          <p:cNvSpPr/>
          <p:nvPr/>
        </p:nvSpPr>
        <p:spPr>
          <a:xfrm>
            <a:off x="6388100" y="3080841"/>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Holographic effects</a:t>
            </a:r>
            <a:endParaRPr lang="en-US" sz="1400" dirty="0"/>
          </a:p>
        </p:txBody>
      </p:sp>
      <p:sp>
        <p:nvSpPr>
          <p:cNvPr id="17" name="Text 15"/>
          <p:cNvSpPr/>
          <p:nvPr/>
        </p:nvSpPr>
        <p:spPr>
          <a:xfrm>
            <a:off x="6388100" y="343133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Excessive foil</a:t>
            </a:r>
            <a:endParaRPr lang="en-US" sz="1400" dirty="0"/>
          </a:p>
        </p:txBody>
      </p:sp>
      <p:sp>
        <p:nvSpPr>
          <p:cNvPr id="18" name="Text 16"/>
          <p:cNvSpPr/>
          <p:nvPr/>
        </p:nvSpPr>
        <p:spPr>
          <a:xfrm>
            <a:off x="6388100" y="378182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Heavy gloss</a:t>
            </a:r>
            <a:endParaRPr lang="en-US" sz="1400" dirty="0"/>
          </a:p>
        </p:txBody>
      </p:sp>
      <p:sp>
        <p:nvSpPr>
          <p:cNvPr id="19" name="Text 17"/>
          <p:cNvSpPr/>
          <p:nvPr/>
        </p:nvSpPr>
        <p:spPr>
          <a:xfrm>
            <a:off x="6388100" y="4132312"/>
            <a:ext cx="4892294"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Unnecessary effects</a:t>
            </a:r>
            <a:endParaRPr lang="en-US" sz="1400" dirty="0"/>
          </a:p>
        </p:txBody>
      </p:sp>
      <p:sp>
        <p:nvSpPr>
          <p:cNvPr id="20" name="Text 1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PRINT</a:t>
            </a:r>
            <a:endParaRPr lang="en-US" sz="1200" dirty="0"/>
          </a:p>
        </p:txBody>
      </p:sp>
      <p:sp>
        <p:nvSpPr>
          <p:cNvPr id="21" name="Text 1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22</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21 · PAPER AND BOARD</a:t>
            </a:r>
            <a:endParaRPr lang="en-US" sz="1200" dirty="0"/>
          </a:p>
        </p:txBody>
      </p:sp>
      <p:sp>
        <p:nvSpPr>
          <p:cNvPr id="3" name="Text 1"/>
          <p:cNvSpPr/>
          <p:nvPr>
            <p:ph type="title"/>
          </p:nvPr>
        </p:nvSpPr>
        <p:spPr>
          <a:xfrm>
            <a:off x="812800" y="1178520"/>
            <a:ext cx="418592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Direction is set. Specification is not.</a:t>
            </a:r>
            <a:endParaRPr lang="en-US" sz="2600" dirty="0"/>
          </a:p>
        </p:txBody>
      </p:sp>
      <p:sp>
        <p:nvSpPr>
          <p:cNvPr id="4" name="Text 2"/>
          <p:cNvSpPr/>
          <p:nvPr/>
        </p:nvSpPr>
        <p:spPr>
          <a:xfrm>
            <a:off x="812800" y="510292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BRAND DIRECTION · PART A</a:t>
            </a:r>
            <a:endParaRPr lang="en-US" sz="1200" dirty="0"/>
          </a:p>
        </p:txBody>
      </p:sp>
      <p:sp>
        <p:nvSpPr>
          <p:cNvPr id="5" name="Text 3"/>
          <p:cNvSpPr/>
          <p:nvPr/>
        </p:nvSpPr>
        <p:spPr>
          <a:xfrm>
            <a:off x="812800" y="5379740"/>
            <a:ext cx="418592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Warm uncoated stock · Ink board · Beige · premium matte surfaces</a:t>
            </a:r>
            <a:endParaRPr lang="en-US" sz="1300" dirty="0"/>
          </a:p>
        </p:txBody>
      </p:sp>
      <p:sp>
        <p:nvSpPr>
          <p:cNvPr id="6" name="Text 4"/>
          <p:cNvSpPr/>
          <p:nvPr/>
        </p:nvSpPr>
        <p:spPr>
          <a:xfrm>
            <a:off x="5384800" y="1832868"/>
            <a:ext cx="617423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REMAIN OPEN UNTIL APPROVED SAMPLES EXIST</a:t>
            </a:r>
            <a:endParaRPr lang="en-US" sz="1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397500" y="2160488"/>
          <a:ext cx="5981700" cy="2661444"/>
        </p:xfrm>
        <a:graphic>
          <a:graphicData uri="http://schemas.openxmlformats.org/drawingml/2006/table">
            <a:tbl>
              <a:tblPr/>
              <a:tblGrid>
                <a:gridCol w="2691765"/>
                <a:gridCol w="3289935"/>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Attribute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Value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Manufacturer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GSM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Caliper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Recycled content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Coating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Grain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 /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8" name="Text 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MATERIALS</a:t>
            </a:r>
            <a:endParaRPr lang="en-US" sz="1200" dirty="0"/>
          </a:p>
        </p:txBody>
      </p:sp>
      <p:sp>
        <p:nvSpPr>
          <p:cNvPr id="9" name="Text 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23</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22 · SPECIAL FINISHES · PENDING PHYSICAL PROOF</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Four approved directions. Each needs a physical test.</a:t>
            </a:r>
            <a:endParaRPr lang="en-US" sz="2600" dirty="0"/>
          </a:p>
        </p:txBody>
      </p:sp>
      <p:sp>
        <p:nvSpPr>
          <p:cNvPr id="4" name="Shape 2"/>
          <p:cNvSpPr/>
          <p:nvPr/>
        </p:nvSpPr>
        <p:spPr>
          <a:xfrm>
            <a:off x="819150" y="1751261"/>
            <a:ext cx="2552700" cy="927050"/>
          </a:xfrm>
          <a:prstGeom prst="rect">
            <a:avLst/>
          </a:prstGeom>
          <a:noFill/>
          <a:ln w="12700">
            <a:solidFill>
              <a:srgbClr val="BCACA7"/>
            </a:solidFill>
            <a:prstDash val="solid"/>
          </a:ln>
        </p:spPr>
        <p:txBody>
          <a:bodyPr/>
          <a:p/>
        </p:txBody>
      </p:sp>
      <p:sp>
        <p:nvSpPr>
          <p:cNvPr id="5" name="Text 3"/>
          <p:cNvSpPr/>
          <p:nvPr/>
        </p:nvSpPr>
        <p:spPr>
          <a:xfrm>
            <a:off x="990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Deboss</a:t>
            </a:r>
            <a:endParaRPr lang="en-US" sz="1800" dirty="0"/>
          </a:p>
        </p:txBody>
      </p:sp>
      <p:sp>
        <p:nvSpPr>
          <p:cNvPr id="6" name="Text 4"/>
          <p:cNvSpPr/>
          <p:nvPr/>
        </p:nvSpPr>
        <p:spPr>
          <a:xfrm>
            <a:off x="990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7" name="Shape 5"/>
          <p:cNvSpPr/>
          <p:nvPr/>
        </p:nvSpPr>
        <p:spPr>
          <a:xfrm>
            <a:off x="3486150" y="1751261"/>
            <a:ext cx="2552700" cy="927050"/>
          </a:xfrm>
          <a:prstGeom prst="rect">
            <a:avLst/>
          </a:prstGeom>
          <a:noFill/>
          <a:ln w="12700">
            <a:solidFill>
              <a:srgbClr val="BCACA7"/>
            </a:solidFill>
            <a:prstDash val="solid"/>
          </a:ln>
        </p:spPr>
        <p:txBody>
          <a:bodyPr/>
          <a:p/>
        </p:txBody>
      </p:sp>
      <p:sp>
        <p:nvSpPr>
          <p:cNvPr id="8" name="Text 6"/>
          <p:cNvSpPr/>
          <p:nvPr/>
        </p:nvSpPr>
        <p:spPr>
          <a:xfrm>
            <a:off x="3657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Blind emboss</a:t>
            </a:r>
            <a:endParaRPr lang="en-US" sz="1800" dirty="0"/>
          </a:p>
        </p:txBody>
      </p:sp>
      <p:sp>
        <p:nvSpPr>
          <p:cNvPr id="9" name="Text 7"/>
          <p:cNvSpPr/>
          <p:nvPr/>
        </p:nvSpPr>
        <p:spPr>
          <a:xfrm>
            <a:off x="3657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0" name="Shape 8"/>
          <p:cNvSpPr/>
          <p:nvPr/>
        </p:nvSpPr>
        <p:spPr>
          <a:xfrm>
            <a:off x="6153150" y="1751261"/>
            <a:ext cx="2552700" cy="927050"/>
          </a:xfrm>
          <a:prstGeom prst="rect">
            <a:avLst/>
          </a:prstGeom>
          <a:noFill/>
          <a:ln w="12700">
            <a:solidFill>
              <a:srgbClr val="BCACA7"/>
            </a:solidFill>
            <a:prstDash val="solid"/>
          </a:ln>
        </p:spPr>
        <p:txBody>
          <a:bodyPr/>
          <a:p/>
        </p:txBody>
      </p:sp>
      <p:sp>
        <p:nvSpPr>
          <p:cNvPr id="11" name="Text 9"/>
          <p:cNvSpPr/>
          <p:nvPr/>
        </p:nvSpPr>
        <p:spPr>
          <a:xfrm>
            <a:off x="6324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Soft-touch</a:t>
            </a:r>
            <a:endParaRPr lang="en-US" sz="1800" dirty="0"/>
          </a:p>
        </p:txBody>
      </p:sp>
      <p:sp>
        <p:nvSpPr>
          <p:cNvPr id="12" name="Text 10"/>
          <p:cNvSpPr/>
          <p:nvPr/>
        </p:nvSpPr>
        <p:spPr>
          <a:xfrm>
            <a:off x="6324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3" name="Shape 11"/>
          <p:cNvSpPr/>
          <p:nvPr/>
        </p:nvSpPr>
        <p:spPr>
          <a:xfrm>
            <a:off x="8820150" y="1751261"/>
            <a:ext cx="2552700" cy="927050"/>
          </a:xfrm>
          <a:prstGeom prst="rect">
            <a:avLst/>
          </a:prstGeom>
          <a:noFill/>
          <a:ln w="12700">
            <a:solidFill>
              <a:srgbClr val="BCACA7"/>
            </a:solidFill>
            <a:prstDash val="solid"/>
          </a:ln>
        </p:spPr>
        <p:txBody>
          <a:bodyPr/>
          <a:p/>
        </p:txBody>
      </p:sp>
      <p:sp>
        <p:nvSpPr>
          <p:cNvPr id="14" name="Text 12"/>
          <p:cNvSpPr/>
          <p:nvPr/>
        </p:nvSpPr>
        <p:spPr>
          <a:xfrm>
            <a:off x="8991600" y="1922711"/>
            <a:ext cx="2276094" cy="345430"/>
          </a:xfrm>
          <a:prstGeom prst="rect">
            <a:avLst/>
          </a:prstGeom>
          <a:noFill/>
          <a:ln/>
        </p:spPr>
        <p:txBody>
          <a:bodyPr wrap="square" lIns="0" tIns="0" rIns="0" bIns="0" rtlCol="0" anchor="t">
            <a:normAutofit/>
          </a:bodyPr>
          <a:lstStyle/>
          <a:p>
            <a:pPr algn="l" indent="0" marL="0">
              <a:lnSpc>
                <a:spcPts val="2520"/>
              </a:lnSpc>
              <a:buNone/>
            </a:pPr>
            <a:r>
              <a:rPr lang="en-US" sz="1800" spc="35" kern="0" dirty="0">
                <a:solidFill>
                  <a:srgbClr val="FFFFFF"/>
                </a:solidFill>
                <a:latin typeface="Jost" pitchFamily="34" charset="0"/>
                <a:ea typeface="Jost" pitchFamily="34" charset="-122"/>
                <a:cs typeface="Jost" pitchFamily="34" charset="-120"/>
              </a:rPr>
              <a:t>Precision die-cut</a:t>
            </a:r>
            <a:endParaRPr lang="en-US" sz="1800" dirty="0"/>
          </a:p>
        </p:txBody>
      </p:sp>
      <p:sp>
        <p:nvSpPr>
          <p:cNvPr id="15" name="Text 13"/>
          <p:cNvSpPr/>
          <p:nvPr/>
        </p:nvSpPr>
        <p:spPr>
          <a:xfrm>
            <a:off x="8991600" y="2293541"/>
            <a:ext cx="227609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Direction · test required</a:t>
            </a:r>
            <a:endParaRPr lang="en-US" sz="1200" dirty="0"/>
          </a:p>
        </p:txBody>
      </p:sp>
      <p:sp>
        <p:nvSpPr>
          <p:cNvPr id="16" name="Text 14"/>
          <p:cNvSpPr/>
          <p:nvPr/>
        </p:nvSpPr>
        <p:spPr>
          <a:xfrm>
            <a:off x="812800" y="286246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NOT DEFINED UNTIL SUPPLIER TRIALS ARE COMPLETE</a:t>
            </a:r>
            <a:endParaRPr lang="en-US" sz="1200" dirty="0"/>
          </a:p>
        </p:txBody>
      </p:sp>
      <p:sp>
        <p:nvSpPr>
          <p:cNvPr id="17" name="Text 15"/>
          <p:cNvSpPr/>
          <p:nvPr/>
        </p:nvSpPr>
        <p:spPr>
          <a:xfrm>
            <a:off x="819150" y="3158331"/>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Depth</a:t>
            </a:r>
            <a:endParaRPr lang="en-US" sz="1200" dirty="0"/>
          </a:p>
        </p:txBody>
      </p:sp>
      <p:sp>
        <p:nvSpPr>
          <p:cNvPr id="18" name="Text 16"/>
          <p:cNvSpPr/>
          <p:nvPr/>
        </p:nvSpPr>
        <p:spPr>
          <a:xfrm>
            <a:off x="4366667" y="3158331"/>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Pressure</a:t>
            </a:r>
            <a:endParaRPr lang="en-US" sz="1200" dirty="0"/>
          </a:p>
        </p:txBody>
      </p:sp>
      <p:sp>
        <p:nvSpPr>
          <p:cNvPr id="19" name="Text 17"/>
          <p:cNvSpPr/>
          <p:nvPr/>
        </p:nvSpPr>
        <p:spPr>
          <a:xfrm>
            <a:off x="7914184" y="3158331"/>
            <a:ext cx="3458666" cy="378420"/>
          </a:xfrm>
          <a:prstGeom prst="rect">
            <a:avLst/>
          </a:prstGeom>
          <a:noFill/>
          <a:ln w="12700">
            <a:solidFill>
              <a:srgbClr val="BCACA7"/>
            </a:solidFill>
            <a:prstDash val="dash"/>
          </a:ln>
        </p:spPr>
        <p:txBody>
          <a:bodyPr wrap="square" lIns="107950" tIns="82550" rIns="10667"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Plate specification</a:t>
            </a:r>
            <a:endParaRPr lang="en-US" sz="1200" dirty="0"/>
          </a:p>
        </p:txBody>
      </p:sp>
      <p:sp>
        <p:nvSpPr>
          <p:cNvPr id="20" name="Text 18"/>
          <p:cNvSpPr/>
          <p:nvPr/>
        </p:nvSpPr>
        <p:spPr>
          <a:xfrm>
            <a:off x="819150" y="3625652"/>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Minimum feature size</a:t>
            </a:r>
            <a:endParaRPr lang="en-US" sz="1200" dirty="0"/>
          </a:p>
        </p:txBody>
      </p:sp>
      <p:sp>
        <p:nvSpPr>
          <p:cNvPr id="21" name="Text 19"/>
          <p:cNvSpPr/>
          <p:nvPr/>
        </p:nvSpPr>
        <p:spPr>
          <a:xfrm>
            <a:off x="4366667" y="3625652"/>
            <a:ext cx="3458617" cy="378420"/>
          </a:xfrm>
          <a:prstGeom prst="rect">
            <a:avLst/>
          </a:prstGeom>
          <a:noFill/>
          <a:ln w="12700">
            <a:solidFill>
              <a:srgbClr val="BCACA7"/>
            </a:solidFill>
            <a:prstDash val="dash"/>
          </a:ln>
        </p:spPr>
        <p:txBody>
          <a:bodyPr wrap="square" lIns="107950" tIns="82550" rIns="10668"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Registration tolerance</a:t>
            </a:r>
            <a:endParaRPr lang="en-US" sz="1200" dirty="0"/>
          </a:p>
        </p:txBody>
      </p:sp>
      <p:sp>
        <p:nvSpPr>
          <p:cNvPr id="22" name="Text 20"/>
          <p:cNvSpPr/>
          <p:nvPr/>
        </p:nvSpPr>
        <p:spPr>
          <a:xfrm>
            <a:off x="7914184" y="3625652"/>
            <a:ext cx="3458666" cy="378420"/>
          </a:xfrm>
          <a:prstGeom prst="rect">
            <a:avLst/>
          </a:prstGeom>
          <a:noFill/>
          <a:ln w="12700">
            <a:solidFill>
              <a:srgbClr val="BCACA7"/>
            </a:solidFill>
            <a:prstDash val="dash"/>
          </a:ln>
        </p:spPr>
        <p:txBody>
          <a:bodyPr wrap="square" lIns="107950" tIns="82550" rIns="10667"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Tooling</a:t>
            </a:r>
            <a:endParaRPr lang="en-US" sz="1200" dirty="0"/>
          </a:p>
        </p:txBody>
      </p:sp>
      <p:sp>
        <p:nvSpPr>
          <p:cNvPr id="23" name="Text 2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MATERIALS</a:t>
            </a:r>
            <a:endParaRPr lang="en-US" sz="1200" dirty="0"/>
          </a:p>
        </p:txBody>
      </p:sp>
      <p:sp>
        <p:nvSpPr>
          <p:cNvPr id="24" name="Text 2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24</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23 · FOIL AND METALLIC USE</a:t>
            </a:r>
            <a:endParaRPr lang="en-US" sz="1200" dirty="0"/>
          </a:p>
        </p:txBody>
      </p:sp>
      <p:sp>
        <p:nvSpPr>
          <p:cNvPr id="3" name="Text 1"/>
          <p:cNvSpPr/>
          <p:nvPr>
            <p:ph type="title"/>
          </p:nvPr>
        </p:nvSpPr>
        <p:spPr>
          <a:xfrm>
            <a:off x="812800" y="1254720"/>
            <a:ext cx="11379200" cy="584200"/>
          </a:xfrm>
          <a:prstGeom prst="rect">
            <a:avLst/>
          </a:prstGeom>
          <a:noFill/>
          <a:ln/>
        </p:spPr>
        <p:txBody>
          <a:bodyPr wrap="square" lIns="0" tIns="0" rIns="0" bIns="0" rtlCol="0" anchor="t">
            <a:normAutofit/>
          </a:bodyPr>
          <a:lstStyle/>
          <a:p>
            <a:pPr algn="l" indent="0" marL="0">
              <a:lnSpc>
                <a:spcPts val="4400"/>
              </a:lnSpc>
              <a:buNone/>
            </a:pPr>
            <a:r>
              <a:rPr lang="en-US" sz="4000" b="0" i="0" spc="80" kern="0" dirty="0">
                <a:solidFill>
                  <a:srgbClr val="12171D"/>
                </a:solidFill>
                <a:latin typeface="Jost" pitchFamily="34" charset="0"/>
                <a:ea typeface="Jost" pitchFamily="34" charset="-122"/>
                <a:cs typeface="Jost" pitchFamily="34" charset="-120"/>
              </a:rPr>
              <a:t>Gold is not a GEM colour. Foil is not a default.</a:t>
            </a:r>
            <a:endParaRPr lang="en-US" sz="4000" dirty="0"/>
          </a:p>
        </p:txBody>
      </p:sp>
      <p:sp>
        <p:nvSpPr>
          <p:cNvPr id="4" name="Text 2"/>
          <p:cNvSpPr/>
          <p:nvPr/>
        </p:nvSpPr>
        <p:spPr>
          <a:xfrm>
            <a:off x="812800" y="502037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IF A PROJECT REQUIRES METALLIC PRODUCTION</a:t>
            </a:r>
            <a:endParaRPr lang="en-US" sz="1200" dirty="0"/>
          </a:p>
        </p:txBody>
      </p:sp>
      <p:sp>
        <p:nvSpPr>
          <p:cNvPr id="5" name="Text 3"/>
          <p:cNvSpPr/>
          <p:nvPr/>
        </p:nvSpPr>
        <p:spPr>
          <a:xfrm>
            <a:off x="819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1 · Brand Owner approval</a:t>
            </a:r>
            <a:endParaRPr lang="en-US" sz="1400" dirty="0"/>
          </a:p>
        </p:txBody>
      </p:sp>
      <p:sp>
        <p:nvSpPr>
          <p:cNvPr id="6" name="Text 4"/>
          <p:cNvSpPr/>
          <p:nvPr/>
        </p:nvSpPr>
        <p:spPr>
          <a:xfrm>
            <a:off x="4375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2 · Physical proof</a:t>
            </a:r>
            <a:endParaRPr lang="en-US" sz="1400" dirty="0"/>
          </a:p>
        </p:txBody>
      </p:sp>
      <p:sp>
        <p:nvSpPr>
          <p:cNvPr id="7" name="Text 5"/>
          <p:cNvSpPr/>
          <p:nvPr/>
        </p:nvSpPr>
        <p:spPr>
          <a:xfrm>
            <a:off x="7931150" y="5328940"/>
            <a:ext cx="3441700" cy="506710"/>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890"/>
              </a:lnSpc>
              <a:buNone/>
            </a:pPr>
            <a:r>
              <a:rPr lang="en-US" sz="1400" dirty="0">
                <a:solidFill>
                  <a:srgbClr val="12171D"/>
                </a:solidFill>
                <a:latin typeface="Inter" pitchFamily="34" charset="0"/>
                <a:ea typeface="Inter" pitchFamily="34" charset="-122"/>
                <a:cs typeface="Inter" pitchFamily="34" charset="-120"/>
              </a:rPr>
              <a:t>3 · A project-specific standard</a:t>
            </a:r>
            <a:endParaRPr lang="en-US" sz="1400" dirty="0"/>
          </a:p>
        </p:txBody>
      </p:sp>
      <p:sp>
        <p:nvSpPr>
          <p:cNvPr id="8"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MATERIALS</a:t>
            </a:r>
            <a:endParaRPr lang="en-US" sz="1200" dirty="0"/>
          </a:p>
        </p:txBody>
      </p:sp>
      <p:sp>
        <p:nvSpPr>
          <p:cNvPr id="9"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25</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03</a:t>
            </a:r>
            <a:endParaRPr lang="en-US" sz="1400" dirty="0"/>
          </a:p>
        </p:txBody>
      </p:sp>
      <p:sp>
        <p:nvSpPr>
          <p:cNvPr id="4" name="Text 1"/>
          <p:cNvSpPr/>
          <p:nvPr>
            <p:ph type="title"/>
          </p:nvPr>
        </p:nvSpPr>
        <p:spPr>
          <a:xfrm>
            <a:off x="812800" y="2540000"/>
            <a:ext cx="85026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PACKAGING</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Governance, SKU record, dielines, regulatory copy, codes and proof.</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26</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24 · PACKAGING GOVERNANCE · CONDITIONAL</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One packaging system. Three tiers. Nothing invented.</a:t>
            </a:r>
            <a:endParaRPr lang="en-US" sz="2600" dirty="0"/>
          </a:p>
        </p:txBody>
      </p:sp>
      <p:sp>
        <p:nvSpPr>
          <p:cNvPr id="4" name="Shape 2"/>
          <p:cNvSpPr/>
          <p:nvPr/>
        </p:nvSpPr>
        <p:spPr>
          <a:xfrm>
            <a:off x="819150" y="1700461"/>
            <a:ext cx="3441700" cy="909241"/>
          </a:xfrm>
          <a:prstGeom prst="rect">
            <a:avLst/>
          </a:prstGeom>
          <a:noFill/>
          <a:ln w="12700">
            <a:solidFill>
              <a:srgbClr val="12171D"/>
            </a:solidFill>
            <a:prstDash val="solid"/>
          </a:ln>
        </p:spPr>
        <p:txBody>
          <a:bodyPr/>
          <a:p/>
        </p:txBody>
      </p:sp>
      <p:sp>
        <p:nvSpPr>
          <p:cNvPr id="5" name="Text 3"/>
          <p:cNvSpPr/>
          <p:nvPr/>
        </p:nvSpPr>
        <p:spPr>
          <a:xfrm>
            <a:off x="990600" y="1871911"/>
            <a:ext cx="3191764" cy="327620"/>
          </a:xfrm>
          <a:prstGeom prst="rect">
            <a:avLst/>
          </a:prstGeom>
          <a:noFill/>
          <a:ln/>
        </p:spPr>
        <p:txBody>
          <a:bodyPr wrap="square" lIns="0" tIns="0" rIns="0" bIns="0" rtlCol="0" anchor="t"/>
          <a:lstStyle/>
          <a:p>
            <a:pPr algn="l" indent="0" marL="0">
              <a:lnSpc>
                <a:spcPts val="2380"/>
              </a:lnSpc>
              <a:buNone/>
            </a:pPr>
            <a:r>
              <a:rPr lang="en-US" sz="1300" spc="35" kern="0" dirty="0">
                <a:solidFill>
                  <a:srgbClr val="12171D"/>
                </a:solidFill>
                <a:latin typeface="Jost" pitchFamily="34" charset="0"/>
                <a:ea typeface="Jost" pitchFamily="34" charset="-122"/>
                <a:cs typeface="Jost" pitchFamily="34" charset="-120"/>
              </a:rPr>
              <a:t>Core Collection [REQUIRES OWNER]</a:t>
            </a:r>
            <a:endParaRPr lang="en-US" sz="1700" dirty="0"/>
          </a:p>
        </p:txBody>
      </p:sp>
      <p:sp>
        <p:nvSpPr>
          <p:cNvPr id="6" name="Text 4"/>
          <p:cNvSpPr/>
          <p:nvPr/>
        </p:nvSpPr>
        <p:spPr>
          <a:xfrm>
            <a:off x="990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7" name="Shape 5"/>
          <p:cNvSpPr/>
          <p:nvPr/>
        </p:nvSpPr>
        <p:spPr>
          <a:xfrm>
            <a:off x="4375150" y="1700461"/>
            <a:ext cx="3441700" cy="909241"/>
          </a:xfrm>
          <a:prstGeom prst="rect">
            <a:avLst/>
          </a:prstGeom>
          <a:noFill/>
          <a:ln w="12700">
            <a:solidFill>
              <a:srgbClr val="12171D"/>
            </a:solidFill>
            <a:prstDash val="solid"/>
          </a:ln>
        </p:spPr>
        <p:txBody>
          <a:bodyPr/>
          <a:p/>
        </p:txBody>
      </p:sp>
      <p:sp>
        <p:nvSpPr>
          <p:cNvPr id="8" name="Text 6"/>
          <p:cNvSpPr/>
          <p:nvPr/>
        </p:nvSpPr>
        <p:spPr>
          <a:xfrm>
            <a:off x="4546600" y="18719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spc="35" kern="0" dirty="0">
                <a:solidFill>
                  <a:srgbClr val="12171D"/>
                </a:solidFill>
                <a:latin typeface="Jost" pitchFamily="34" charset="0"/>
                <a:ea typeface="Jost" pitchFamily="34" charset="-122"/>
                <a:cs typeface="Jost" pitchFamily="34" charset="-120"/>
              </a:rPr>
              <a:t>Property Edition</a:t>
            </a:r>
            <a:endParaRPr lang="en-US" sz="1700" dirty="0"/>
          </a:p>
        </p:txBody>
      </p:sp>
      <p:sp>
        <p:nvSpPr>
          <p:cNvPr id="9" name="Text 7"/>
          <p:cNvSpPr/>
          <p:nvPr/>
        </p:nvSpPr>
        <p:spPr>
          <a:xfrm>
            <a:off x="4546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10" name="Shape 8"/>
          <p:cNvSpPr/>
          <p:nvPr/>
        </p:nvSpPr>
        <p:spPr>
          <a:xfrm>
            <a:off x="7931150" y="1700461"/>
            <a:ext cx="3441700" cy="909241"/>
          </a:xfrm>
          <a:prstGeom prst="rect">
            <a:avLst/>
          </a:prstGeom>
          <a:noFill/>
          <a:ln w="12700">
            <a:solidFill>
              <a:srgbClr val="12171D"/>
            </a:solidFill>
            <a:prstDash val="solid"/>
          </a:ln>
        </p:spPr>
        <p:txBody>
          <a:bodyPr/>
          <a:p/>
        </p:txBody>
      </p:sp>
      <p:sp>
        <p:nvSpPr>
          <p:cNvPr id="11" name="Text 9"/>
          <p:cNvSpPr/>
          <p:nvPr/>
        </p:nvSpPr>
        <p:spPr>
          <a:xfrm>
            <a:off x="8102600" y="18719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spc="35" kern="0" dirty="0">
                <a:solidFill>
                  <a:srgbClr val="12171D"/>
                </a:solidFill>
                <a:latin typeface="Jost" pitchFamily="34" charset="0"/>
                <a:ea typeface="Jost" pitchFamily="34" charset="-122"/>
                <a:cs typeface="Jost" pitchFamily="34" charset="-120"/>
              </a:rPr>
              <a:t>Bespoke Programme</a:t>
            </a:r>
            <a:endParaRPr lang="en-US" sz="1700" dirty="0"/>
          </a:p>
        </p:txBody>
      </p:sp>
      <p:sp>
        <p:nvSpPr>
          <p:cNvPr id="12" name="Text 10"/>
          <p:cNvSpPr/>
          <p:nvPr/>
        </p:nvSpPr>
        <p:spPr>
          <a:xfrm>
            <a:off x="8102600" y="22249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CONDITIONAL · AC03 / VAL-01</a:t>
            </a:r>
            <a:endParaRPr lang="en-US" sz="1200" dirty="0"/>
          </a:p>
        </p:txBody>
      </p:sp>
      <p:sp>
        <p:nvSpPr>
          <p:cNvPr id="13" name="Text 11"/>
          <p:cNvSpPr/>
          <p:nvPr/>
        </p:nvSpPr>
        <p:spPr>
          <a:xfrm>
            <a:off x="812800" y="276845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GEM™ — AMENITIES &amp; PACKAGING IS A DESCRIPTIVE STREAM</a:t>
            </a:r>
            <a:endParaRPr lang="en-US" sz="1200" dirty="0"/>
          </a:p>
        </p:txBody>
      </p:sp>
      <p:sp>
        <p:nvSpPr>
          <p:cNvPr id="14" name="Text 12"/>
          <p:cNvSpPr/>
          <p:nvPr/>
        </p:nvSpPr>
        <p:spPr>
          <a:xfrm>
            <a:off x="812800" y="3134171"/>
            <a:ext cx="10883392" cy="640080"/>
          </a:xfrm>
          <a:prstGeom prst="rect">
            <a:avLst/>
          </a:prstGeom>
          <a:noFill/>
          <a:ln/>
        </p:spPr>
        <p:txBody>
          <a:bodyPr wrap="square" lIns="0" tIns="0" rIns="0" bIns="0" rtlCol="0" anchor="t"/>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It is not a separate brand, symbol or colour system. Every pack carries the one GEM identity. All tiers are CONDITIONAL until commercial scope closes (AC03, VAL-01). The register names Property Edition and Bespoke programmes (E14); it does not name Core Collection.</a:t>
            </a:r>
            <a:endParaRPr lang="en-US" sz="1400" dirty="0"/>
          </a:p>
        </p:txBody>
      </p:sp>
      <p:sp>
        <p:nvSpPr>
          <p:cNvPr id="15" name="Text 13"/>
          <p:cNvSpPr/>
          <p:nvPr/>
        </p:nvSpPr>
        <p:spPr>
          <a:xfrm>
            <a:off x="819150" y="3977639"/>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Packaging owner · [REQUIRES OWNER]</a:t>
            </a:r>
            <a:endParaRPr lang="en-US" sz="1200" dirty="0"/>
          </a:p>
        </p:txBody>
      </p:sp>
      <p:sp>
        <p:nvSpPr>
          <p:cNvPr id="16" name="Text 14"/>
          <p:cNvSpPr/>
          <p:nvPr/>
        </p:nvSpPr>
        <p:spPr>
          <a:xfrm>
            <a:off x="6140450" y="3977639"/>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reviewer · [REQUIRES OWNER]</a:t>
            </a:r>
            <a:endParaRPr lang="en-US" sz="1200" dirty="0"/>
          </a:p>
        </p:txBody>
      </p:sp>
      <p:sp>
        <p:nvSpPr>
          <p:cNvPr id="17" name="Text 15"/>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8" name="Text 16"/>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27</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25 · PILOT FAMILY · PENDING PRODUCTION MASTER</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Five products define the pilot.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1996083"/>
        </p:xfrm>
        <a:graphic>
          <a:graphicData uri="http://schemas.openxmlformats.org/drawingml/2006/table">
            <a:tbl>
              <a:tblPr/>
              <a:tblGrid>
                <a:gridCol w="2532888"/>
                <a:gridCol w="2005203"/>
                <a:gridCol w="2005203"/>
                <a:gridCol w="2005203"/>
                <a:gridCol w="2005203"/>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Product</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Format</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Volume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Closure</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Shampoo</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Conditioner</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Body Wash</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Body Lotion</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Hand Wash</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5" name="Text 2"/>
          <p:cNvSpPr/>
          <p:nvPr/>
        </p:nvSpPr>
        <p:spPr>
          <a:xfrm>
            <a:off x="812800" y="3855293"/>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No formulation, ingredient, claim, origin, supplier, MOQ or price is stated in this standard.</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28</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418592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26 · INFORMATION HIERARCHY</a:t>
            </a:r>
            <a:endParaRPr lang="en-US" sz="1200" dirty="0"/>
          </a:p>
        </p:txBody>
      </p:sp>
      <p:sp>
        <p:nvSpPr>
          <p:cNvPr id="3" name="Text 1"/>
          <p:cNvSpPr/>
          <p:nvPr>
            <p:ph type="title"/>
          </p:nvPr>
        </p:nvSpPr>
        <p:spPr>
          <a:xfrm>
            <a:off x="812800" y="1178520"/>
            <a:ext cx="418592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Six levels, always in this order.</a:t>
            </a:r>
            <a:endParaRPr lang="en-US" sz="2600" dirty="0"/>
          </a:p>
        </p:txBody>
      </p:sp>
      <p:sp>
        <p:nvSpPr>
          <p:cNvPr id="4" name="Text 2"/>
          <p:cNvSpPr/>
          <p:nvPr/>
        </p:nvSpPr>
        <p:spPr>
          <a:xfrm>
            <a:off x="812800" y="5415359"/>
            <a:ext cx="4185920" cy="640080"/>
          </a:xfrm>
          <a:prstGeom prst="rect">
            <a:avLst/>
          </a:prstGeom>
          <a:noFill/>
          <a:ln/>
        </p:spPr>
        <p:txBody>
          <a:bodyPr wrap="square" lIns="0" tIns="0" rIns="0" bIns="0" rtlCol="0" anchor="t"/>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Top to bottom is the order of visual weight. The layout may flex; the order may not. Six levels as approved (T05); Part A slide 61 states the same.</a:t>
            </a:r>
            <a:endParaRPr lang="en-US" sz="1200" dirty="0"/>
          </a:p>
        </p:txBody>
      </p:sp>
      <p:sp>
        <p:nvSpPr>
          <p:cNvPr id="5" name="Text 3"/>
          <p:cNvSpPr/>
          <p:nvPr/>
        </p:nvSpPr>
        <p:spPr>
          <a:xfrm>
            <a:off x="5391150" y="1560909"/>
            <a:ext cx="5981700" cy="439390"/>
          </a:xfrm>
          <a:prstGeom prst="rect">
            <a:avLst/>
          </a:prstGeom>
          <a:solidFill>
            <a:srgbClr val="12171D"/>
          </a:solid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1 · GEM</a:t>
            </a:r>
            <a:endParaRPr lang="en-US" sz="1400" dirty="0"/>
          </a:p>
        </p:txBody>
      </p:sp>
      <p:sp>
        <p:nvSpPr>
          <p:cNvPr id="6" name="Text 4"/>
          <p:cNvSpPr/>
          <p:nvPr/>
        </p:nvSpPr>
        <p:spPr>
          <a:xfrm>
            <a:off x="5391150" y="2076500"/>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2 · Collection / tier</a:t>
            </a:r>
            <a:endParaRPr lang="en-US" sz="1400" dirty="0"/>
          </a:p>
        </p:txBody>
      </p:sp>
      <p:sp>
        <p:nvSpPr>
          <p:cNvPr id="7" name="Text 5"/>
          <p:cNvSpPr/>
          <p:nvPr/>
        </p:nvSpPr>
        <p:spPr>
          <a:xfrm>
            <a:off x="5391150" y="2592090"/>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3 · Product / function</a:t>
            </a:r>
            <a:endParaRPr lang="en-US" sz="1400" dirty="0"/>
          </a:p>
        </p:txBody>
      </p:sp>
      <p:sp>
        <p:nvSpPr>
          <p:cNvPr id="9" name="Text 7"/>
          <p:cNvSpPr/>
          <p:nvPr/>
        </p:nvSpPr>
        <p:spPr>
          <a:xfrm>
            <a:off x="5391150" y="3106635"/>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4 · Quantity / size</a:t>
            </a:r>
            <a:endParaRPr lang="en-US" sz="1400" dirty="0"/>
          </a:p>
        </p:txBody>
      </p:sp>
      <p:sp>
        <p:nvSpPr>
          <p:cNvPr id="10" name="Text 8"/>
          <p:cNvSpPr/>
          <p:nvPr/>
        </p:nvSpPr>
        <p:spPr>
          <a:xfrm>
            <a:off x="5391150" y="3622226"/>
            <a:ext cx="5981700" cy="439390"/>
          </a:xfrm>
          <a:prstGeom prst="rect">
            <a:avLst/>
          </a:prstGeom>
          <a:noFill/>
          <a:ln w="12700">
            <a:solidFill>
              <a:srgbClr val="12171D"/>
            </a:solidFill>
            <a:prstDash val="solid"/>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5 · Instructions / market information</a:t>
            </a:r>
            <a:endParaRPr lang="en-US" sz="1400" dirty="0"/>
          </a:p>
        </p:txBody>
      </p:sp>
      <p:sp>
        <p:nvSpPr>
          <p:cNvPr id="11" name="Text 9"/>
          <p:cNvSpPr/>
          <p:nvPr/>
        </p:nvSpPr>
        <p:spPr>
          <a:xfrm>
            <a:off x="5391150" y="4137816"/>
            <a:ext cx="5981700" cy="439390"/>
          </a:xfrm>
          <a:prstGeom prst="rect">
            <a:avLst/>
          </a:prstGeom>
          <a:noFill/>
          <a:ln w="12700">
            <a:solidFill>
              <a:srgbClr val="12171D"/>
            </a:solidFill>
            <a:prstDash val="dash"/>
          </a:ln>
        </p:spPr>
        <p:txBody>
          <a:bodyPr wrap="square" lIns="146050" tIns="95250" rIns="0" bIns="6985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6 · SKU / artwork version · [PENDING]</a:t>
            </a:r>
            <a:endParaRPr lang="en-US" sz="1400" dirty="0"/>
          </a:p>
        </p:txBody>
      </p:sp>
      <p:sp>
        <p:nvSpPr>
          <p:cNvPr id="12"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3"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29</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27 · SKU MASTER RECORD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One record per SKU. Artwork follows the record.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3326805"/>
        </p:xfrm>
        <a:graphic>
          <a:graphicData uri="http://schemas.openxmlformats.org/drawingml/2006/table">
            <a:tbl>
              <a:tblPr/>
              <a:tblGrid>
                <a:gridCol w="3588258"/>
                <a:gridCol w="6965442"/>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code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Collection / tier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and function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 and unit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and secondary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 status label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4578350" cy="452041"/>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28 · DIELINE CONTROL · PENDING PRODUCTION MASTER</a:t>
            </a:r>
            <a:endParaRPr lang="en-US" sz="1200" dirty="0"/>
          </a:p>
        </p:txBody>
      </p:sp>
      <p:sp>
        <p:nvSpPr>
          <p:cNvPr id="3" name="Text 1"/>
          <p:cNvSpPr/>
          <p:nvPr>
            <p:ph type="title"/>
          </p:nvPr>
        </p:nvSpPr>
        <p:spPr>
          <a:xfrm>
            <a:off x="812800" y="1391841"/>
            <a:ext cx="4578350" cy="75178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The supplier dieline is the only dieline.</a:t>
            </a:r>
            <a:endParaRPr lang="en-US" sz="2600" dirty="0"/>
          </a:p>
        </p:txBody>
      </p:sp>
      <p:sp>
        <p:nvSpPr>
          <p:cNvPr id="4" name="Text 2"/>
          <p:cNvSpPr/>
          <p:nvPr/>
        </p:nvSpPr>
        <p:spPr>
          <a:xfrm>
            <a:off x="812800" y="2270621"/>
            <a:ext cx="4578350" cy="48766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BCACA7"/>
                </a:solidFill>
                <a:latin typeface="Inter" pitchFamily="34" charset="0"/>
                <a:ea typeface="Inter" pitchFamily="34" charset="-122"/>
                <a:cs typeface="Inter" pitchFamily="34" charset="-120"/>
              </a:rPr>
              <a:t>GEM artwork is built onto a supplier-issued dieline. No dimension is set in this standard.</a:t>
            </a:r>
            <a:endParaRPr lang="en-US" sz="1300" dirty="0"/>
          </a:p>
        </p:txBody>
      </p:sp>
      <p:sp>
        <p:nvSpPr>
          <p:cNvPr id="5" name="Text 3"/>
          <p:cNvSpPr/>
          <p:nvPr/>
        </p:nvSpPr>
        <p:spPr>
          <a:xfrm>
            <a:off x="819150" y="2891631"/>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Trim size</a:t>
            </a:r>
            <a:endParaRPr lang="en-US" sz="1200" dirty="0"/>
          </a:p>
        </p:txBody>
      </p:sp>
      <p:sp>
        <p:nvSpPr>
          <p:cNvPr id="6" name="Text 4"/>
          <p:cNvSpPr/>
          <p:nvPr/>
        </p:nvSpPr>
        <p:spPr>
          <a:xfrm>
            <a:off x="3079750" y="2891631"/>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Bleed</a:t>
            </a:r>
            <a:endParaRPr lang="en-US" sz="1200" dirty="0"/>
          </a:p>
        </p:txBody>
      </p:sp>
      <p:sp>
        <p:nvSpPr>
          <p:cNvPr id="7" name="Text 5"/>
          <p:cNvSpPr/>
          <p:nvPr/>
        </p:nvSpPr>
        <p:spPr>
          <a:xfrm>
            <a:off x="819150" y="3358952"/>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Safe area</a:t>
            </a:r>
            <a:endParaRPr lang="en-US" sz="1200" dirty="0"/>
          </a:p>
        </p:txBody>
      </p:sp>
      <p:sp>
        <p:nvSpPr>
          <p:cNvPr id="8" name="Text 6"/>
          <p:cNvSpPr/>
          <p:nvPr/>
        </p:nvSpPr>
        <p:spPr>
          <a:xfrm>
            <a:off x="3079750" y="3358952"/>
            <a:ext cx="2171700" cy="378420"/>
          </a:xfrm>
          <a:prstGeom prst="rect">
            <a:avLst/>
          </a:prstGeom>
          <a:noFill/>
          <a:ln w="12700">
            <a:solidFill>
              <a:srgbClr val="BCACA7"/>
            </a:solidFill>
            <a:prstDash val="dash"/>
          </a:ln>
        </p:spPr>
        <p:txBody>
          <a:bodyPr wrap="square" lIns="107950" tIns="82550" rIns="49276"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Glue flap</a:t>
            </a:r>
            <a:endParaRPr lang="en-US" sz="1200" dirty="0"/>
          </a:p>
        </p:txBody>
      </p:sp>
      <p:pic>
        <p:nvPicPr>
          <p:cNvPr id="9" name="Image 0" descr="Dieline schematic showing the roles of trim, bleed, safe area and glue flap. No dimensions." title="Dieline schematic showing the roles of trim, bleed, safe are">    </p:cNvPr>
          <p:cNvPicPr>
            <a:picLocks noChangeAspect="1"/>
          </p:cNvPicPr>
          <p:nvPr/>
        </p:nvPicPr>
        <p:blipFill>
          <a:blip r:embed="rId1"/>
          <a:srcRect l="0" r="0" t="0" b="0"/>
          <a:stretch/>
        </p:blipFill>
        <p:spPr>
          <a:xfrm>
            <a:off x="5727700" y="1295400"/>
            <a:ext cx="5588000" cy="4064000"/>
          </a:xfrm>
          <a:prstGeom prst="rect">
            <a:avLst/>
          </a:prstGeom>
        </p:spPr>
      </p:pic>
      <p:sp>
        <p:nvSpPr>
          <p:cNvPr id="10"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PACKAGING</a:t>
            </a:r>
            <a:endParaRPr lang="en-US" sz="1200" dirty="0"/>
          </a:p>
        </p:txBody>
      </p:sp>
      <p:sp>
        <p:nvSpPr>
          <p:cNvPr id="11"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31</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29 · STRUCTURAL FRAMEWORK · REQUIRES SUPPLIER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Structure is a supplier decision, tested before release.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661444"/>
        </p:xfrm>
        <a:graphic>
          <a:graphicData uri="http://schemas.openxmlformats.org/drawingml/2006/table">
            <a:tbl>
              <a:tblPr/>
              <a:tblGrid>
                <a:gridCol w="3588258"/>
                <a:gridCol w="6965442"/>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Element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Bottle or tube format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Resin / 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Decoration method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[TO BE VERIFIED BY PROCESS TEST]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Carton and inner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Compatibility and durability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Recyclability claim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416524"/>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Brand direction asks for matte, restrained surfaces. It does not choose a material.</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32</a:t>
            </a:r>
            <a:endParaRPr lang="en-US" sz="12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30 · REGULATORY COPY · REGULATORY REVIEW REQUIRED</a:t>
            </a:r>
            <a:endParaRPr lang="en-US" sz="1200" dirty="0"/>
          </a:p>
        </p:txBody>
      </p:sp>
      <p:sp>
        <p:nvSpPr>
          <p:cNvPr id="3" name="Text 1"/>
          <p:cNvSpPr/>
          <p:nvPr>
            <p:ph type="title"/>
          </p:nvPr>
        </p:nvSpPr>
        <p:spPr>
          <a:xfrm>
            <a:off x="812800" y="1229320"/>
            <a:ext cx="10883392" cy="444500"/>
          </a:xfrm>
          <a:prstGeom prst="rect">
            <a:avLst/>
          </a:prstGeom>
          <a:noFill/>
          <a:ln/>
        </p:spPr>
        <p:txBody>
          <a:bodyPr wrap="square" lIns="0" tIns="0" rIns="0" bIns="0" rtlCol="0" anchor="t">
            <a:normAutofit/>
          </a:bodyPr>
          <a:lstStyle/>
          <a:p>
            <a:pPr algn="l" indent="0" marL="0">
              <a:lnSpc>
                <a:spcPts val="3300"/>
              </a:lnSpc>
              <a:buNone/>
            </a:pPr>
            <a:r>
              <a:rPr lang="en-US" sz="3000" b="0" i="0" spc="60" kern="0" dirty="0">
                <a:solidFill>
                  <a:srgbClr val="12171D"/>
                </a:solidFill>
                <a:latin typeface="Jost" pitchFamily="34" charset="0"/>
                <a:ea typeface="Jost" pitchFamily="34" charset="-122"/>
                <a:cs typeface="Jost" pitchFamily="34" charset="-120"/>
              </a:rPr>
              <a:t>Brand does not write regulatory copy.</a:t>
            </a:r>
            <a:endParaRPr lang="en-US" sz="3000" dirty="0"/>
          </a:p>
        </p:txBody>
      </p:sp>
      <p:sp>
        <p:nvSpPr>
          <p:cNvPr id="4" name="Text 2"/>
          <p:cNvSpPr/>
          <p:nvPr/>
        </p:nvSpPr>
        <p:spPr>
          <a:xfrm>
            <a:off x="812800" y="1851620"/>
            <a:ext cx="85026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Ingredients, origin, claims, warnings, batch and expiry text are supplied by an accountable owner and reviewed per market before artwork is released.</a:t>
            </a:r>
            <a:endParaRPr lang="en-US" sz="1500" dirty="0"/>
          </a:p>
        </p:txBody>
      </p:sp>
      <p:sp>
        <p:nvSpPr>
          <p:cNvPr id="5" name="Text 3"/>
          <p:cNvSpPr/>
          <p:nvPr/>
        </p:nvSpPr>
        <p:spPr>
          <a:xfrm>
            <a:off x="819150" y="2594570"/>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Ingredients</a:t>
            </a:r>
            <a:endParaRPr lang="en-US" sz="1200" dirty="0"/>
          </a:p>
        </p:txBody>
      </p:sp>
      <p:sp>
        <p:nvSpPr>
          <p:cNvPr id="6" name="Text 4"/>
          <p:cNvSpPr/>
          <p:nvPr/>
        </p:nvSpPr>
        <p:spPr>
          <a:xfrm>
            <a:off x="4366667" y="2594570"/>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Origin</a:t>
            </a:r>
            <a:endParaRPr lang="en-US" sz="1200" dirty="0"/>
          </a:p>
        </p:txBody>
      </p:sp>
      <p:sp>
        <p:nvSpPr>
          <p:cNvPr id="7" name="Text 5"/>
          <p:cNvSpPr/>
          <p:nvPr/>
        </p:nvSpPr>
        <p:spPr>
          <a:xfrm>
            <a:off x="7914184" y="2594570"/>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Claims</a:t>
            </a:r>
            <a:endParaRPr lang="en-US" sz="1200" dirty="0"/>
          </a:p>
        </p:txBody>
      </p:sp>
      <p:sp>
        <p:nvSpPr>
          <p:cNvPr id="8" name="Text 6"/>
          <p:cNvSpPr/>
          <p:nvPr/>
        </p:nvSpPr>
        <p:spPr>
          <a:xfrm>
            <a:off x="819150" y="30872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Warnings</a:t>
            </a:r>
            <a:endParaRPr lang="en-US" sz="1200" dirty="0"/>
          </a:p>
        </p:txBody>
      </p:sp>
      <p:sp>
        <p:nvSpPr>
          <p:cNvPr id="9" name="Text 7"/>
          <p:cNvSpPr/>
          <p:nvPr/>
        </p:nvSpPr>
        <p:spPr>
          <a:xfrm>
            <a:off x="4366667" y="30872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Batch and expiry</a:t>
            </a:r>
            <a:endParaRPr lang="en-US" sz="1200" dirty="0"/>
          </a:p>
        </p:txBody>
      </p:sp>
      <p:sp>
        <p:nvSpPr>
          <p:cNvPr id="10" name="Text 8"/>
          <p:cNvSpPr/>
          <p:nvPr/>
        </p:nvSpPr>
        <p:spPr>
          <a:xfrm>
            <a:off x="7914184" y="308729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Market labelling</a:t>
            </a:r>
            <a:endParaRPr lang="en-US" sz="1200" dirty="0"/>
          </a:p>
        </p:txBody>
      </p:sp>
      <p:sp>
        <p:nvSpPr>
          <p:cNvPr id="11" name="Text 9"/>
          <p:cNvSpPr/>
          <p:nvPr/>
        </p:nvSpPr>
        <p:spPr>
          <a:xfrm>
            <a:off x="812800" y="3700661"/>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Typographic treatment follows GEM type rules. The words belong to the regulatory owner.</a:t>
            </a:r>
            <a:endParaRPr lang="en-US" sz="1200" dirty="0"/>
          </a:p>
        </p:txBody>
      </p:sp>
      <p:sp>
        <p:nvSpPr>
          <p:cNvPr id="12" name="Text 1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3" name="Text 1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33</a:t>
            </a:r>
            <a:endParaRPr lang="en-US" sz="1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31 · BARCODES AND QR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Codes are scanned, not styled.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661444"/>
        </p:xfrm>
        <a:graphic>
          <a:graphicData uri="http://schemas.openxmlformats.org/drawingml/2006/table">
            <a:tbl>
              <a:tblPr/>
              <a:tblGrid>
                <a:gridCol w="3588258"/>
                <a:gridCol w="6965442"/>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Rule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Requirement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Symbology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Size and magnification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Quiet zone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Dark on light. Never beige on white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Recolouring or logo overlay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permitted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Latin digits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Scan verification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4416524"/>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Code data and placement are issued by the owner. GEM never generates or alters them.</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34</a:t>
            </a:r>
            <a:endParaRPr lang="en-US" sz="1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32 · PACKAGING LANGUAGE · ARABIC PENDING VALIDATION</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Short, exact, measured.</a:t>
            </a:r>
            <a:endParaRPr lang="en-US" sz="2600" dirty="0"/>
          </a:p>
        </p:txBody>
      </p:sp>
      <p:sp>
        <p:nvSpPr>
          <p:cNvPr id="4" name="Shape 2"/>
          <p:cNvSpPr/>
          <p:nvPr/>
        </p:nvSpPr>
        <p:spPr>
          <a:xfrm>
            <a:off x="812800" y="1744911"/>
            <a:ext cx="5207000" cy="1658491"/>
          </a:xfrm>
          <a:prstGeom prst="rect">
            <a:avLst/>
          </a:prstGeom>
          <a:solidFill>
            <a:srgbClr val="BCACA7"/>
          </a:solidFill>
          <a:ln/>
        </p:spPr>
        <p:txBody>
          <a:bodyPr/>
          <a:p/>
        </p:txBody>
      </p:sp>
      <p:sp>
        <p:nvSpPr>
          <p:cNvPr id="5" name="Text 3"/>
          <p:cNvSpPr/>
          <p:nvPr/>
        </p:nvSpPr>
        <p:spPr>
          <a:xfrm>
            <a:off x="1016000" y="1948111"/>
            <a:ext cx="494461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USE</a:t>
            </a:r>
            <a:endParaRPr lang="en-US" sz="1200" dirty="0"/>
          </a:p>
        </p:txBody>
      </p:sp>
      <p:sp>
        <p:nvSpPr>
          <p:cNvPr id="6" name="Text 4"/>
          <p:cNvSpPr/>
          <p:nvPr/>
        </p:nvSpPr>
        <p:spPr>
          <a:xfrm>
            <a:off x="1016000" y="225033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Plain product and function names</a:t>
            </a:r>
            <a:endParaRPr lang="en-US" sz="1400" dirty="0"/>
          </a:p>
        </p:txBody>
      </p:sp>
      <p:sp>
        <p:nvSpPr>
          <p:cNvPr id="7" name="Text 5"/>
          <p:cNvSpPr/>
          <p:nvPr/>
        </p:nvSpPr>
        <p:spPr>
          <a:xfrm>
            <a:off x="1016000" y="258812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Verified quantities and units</a:t>
            </a:r>
            <a:endParaRPr lang="en-US" sz="1400" dirty="0"/>
          </a:p>
        </p:txBody>
      </p:sp>
      <p:sp>
        <p:nvSpPr>
          <p:cNvPr id="8" name="Text 6"/>
          <p:cNvSpPr/>
          <p:nvPr/>
        </p:nvSpPr>
        <p:spPr>
          <a:xfrm>
            <a:off x="1016000" y="292591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Sentence-case information lines</a:t>
            </a:r>
            <a:endParaRPr lang="en-US" sz="1400" dirty="0"/>
          </a:p>
        </p:txBody>
      </p:sp>
      <p:sp>
        <p:nvSpPr>
          <p:cNvPr id="9" name="Shape 7"/>
          <p:cNvSpPr/>
          <p:nvPr/>
        </p:nvSpPr>
        <p:spPr>
          <a:xfrm>
            <a:off x="6153150" y="1751261"/>
            <a:ext cx="5219700" cy="1645791"/>
          </a:xfrm>
          <a:prstGeom prst="rect">
            <a:avLst/>
          </a:prstGeom>
          <a:noFill/>
          <a:ln w="12700">
            <a:solidFill>
              <a:srgbClr val="BCACA7"/>
            </a:solidFill>
            <a:prstDash val="dash"/>
          </a:ln>
        </p:spPr>
        <p:txBody>
          <a:bodyPr/>
          <a:p/>
        </p:txBody>
      </p:sp>
      <p:sp>
        <p:nvSpPr>
          <p:cNvPr id="10" name="Text 8"/>
          <p:cNvSpPr/>
          <p:nvPr/>
        </p:nvSpPr>
        <p:spPr>
          <a:xfrm>
            <a:off x="6362700" y="1960811"/>
            <a:ext cx="4944618"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AVOID</a:t>
            </a:r>
            <a:endParaRPr lang="en-US" sz="1200" dirty="0"/>
          </a:p>
        </p:txBody>
      </p:sp>
      <p:sp>
        <p:nvSpPr>
          <p:cNvPr id="11" name="Text 9"/>
          <p:cNvSpPr/>
          <p:nvPr/>
        </p:nvSpPr>
        <p:spPr>
          <a:xfrm>
            <a:off x="6362700" y="226303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Superlatives and effusive claims</a:t>
            </a:r>
            <a:endParaRPr lang="en-US" sz="1400" dirty="0"/>
          </a:p>
        </p:txBody>
      </p:sp>
      <p:sp>
        <p:nvSpPr>
          <p:cNvPr id="12" name="Text 10"/>
          <p:cNvSpPr/>
          <p:nvPr/>
        </p:nvSpPr>
        <p:spPr>
          <a:xfrm>
            <a:off x="6362700" y="260082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Unverified benefits</a:t>
            </a:r>
            <a:endParaRPr lang="en-US" sz="1400" dirty="0"/>
          </a:p>
        </p:txBody>
      </p:sp>
      <p:sp>
        <p:nvSpPr>
          <p:cNvPr id="13" name="Text 11"/>
          <p:cNvSpPr/>
          <p:nvPr/>
        </p:nvSpPr>
        <p:spPr>
          <a:xfrm>
            <a:off x="6362700" y="2938611"/>
            <a:ext cx="4944618"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FFFFFF"/>
                </a:solidFill>
                <a:latin typeface="Inter" pitchFamily="34" charset="0"/>
                <a:ea typeface="Inter" pitchFamily="34" charset="-122"/>
                <a:cs typeface="Inter" pitchFamily="34" charset="-120"/>
              </a:rPr>
              <a:t>Translated tagline</a:t>
            </a:r>
            <a:endParaRPr lang="en-US" sz="1400" dirty="0"/>
          </a:p>
        </p:txBody>
      </p:sp>
      <p:sp>
        <p:nvSpPr>
          <p:cNvPr id="14" name="Text 12"/>
          <p:cNvSpPr/>
          <p:nvPr/>
        </p:nvSpPr>
        <p:spPr>
          <a:xfrm>
            <a:off x="812800" y="3581202"/>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Arabic pack copy is a working placeholder until native QA is complete. Never tracked, never mirrored.</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PACKAGING</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35</a:t>
            </a:r>
            <a:endParaRPr lang="en-US" sz="12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33 · PACKAGING PHYSICAL PROOF · PENDING PHYSICAL PROOF</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No pack is released from a screen.</a:t>
            </a:r>
            <a:endParaRPr lang="en-US" sz="2400" dirty="0"/>
          </a:p>
        </p:txBody>
      </p:sp>
      <p:sp>
        <p:nvSpPr>
          <p:cNvPr id="4" name="Text 2"/>
          <p:cNvSpPr/>
          <p:nvPr/>
        </p:nvSpPr>
        <p:spPr>
          <a:xfrm>
            <a:off x="819150" y="1672530"/>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Colour against the physical standard</a:t>
            </a:r>
            <a:endParaRPr lang="en-US" sz="1300" dirty="0"/>
          </a:p>
        </p:txBody>
      </p:sp>
      <p:sp>
        <p:nvSpPr>
          <p:cNvPr id="5" name="Text 3"/>
          <p:cNvSpPr/>
          <p:nvPr/>
        </p:nvSpPr>
        <p:spPr>
          <a:xfrm>
            <a:off x="6146800" y="1672530"/>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Logo and type reproduction</a:t>
            </a:r>
            <a:endParaRPr lang="en-US" sz="1300" dirty="0"/>
          </a:p>
        </p:txBody>
      </p:sp>
      <p:sp>
        <p:nvSpPr>
          <p:cNvPr id="6" name="Text 4"/>
          <p:cNvSpPr/>
          <p:nvPr/>
        </p:nvSpPr>
        <p:spPr>
          <a:xfrm>
            <a:off x="819150" y="222116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Finish and surface feel</a:t>
            </a:r>
            <a:endParaRPr lang="en-US" sz="1300" dirty="0"/>
          </a:p>
        </p:txBody>
      </p:sp>
      <p:sp>
        <p:nvSpPr>
          <p:cNvPr id="7" name="Text 5"/>
          <p:cNvSpPr/>
          <p:nvPr/>
        </p:nvSpPr>
        <p:spPr>
          <a:xfrm>
            <a:off x="6146800" y="222116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Dieline fit and fold</a:t>
            </a:r>
            <a:endParaRPr lang="en-US" sz="1300" dirty="0"/>
          </a:p>
        </p:txBody>
      </p:sp>
      <p:sp>
        <p:nvSpPr>
          <p:cNvPr id="8" name="Text 6"/>
          <p:cNvSpPr/>
          <p:nvPr/>
        </p:nvSpPr>
        <p:spPr>
          <a:xfrm>
            <a:off x="819150" y="276979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Regulatory copy legibility</a:t>
            </a:r>
            <a:endParaRPr lang="en-US" sz="1300" dirty="0"/>
          </a:p>
        </p:txBody>
      </p:sp>
      <p:sp>
        <p:nvSpPr>
          <p:cNvPr id="9" name="Text 7"/>
          <p:cNvSpPr/>
          <p:nvPr/>
        </p:nvSpPr>
        <p:spPr>
          <a:xfrm>
            <a:off x="6146800" y="2769791"/>
            <a:ext cx="5226050" cy="447030"/>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Barcode scan result</a:t>
            </a:r>
            <a:endParaRPr lang="en-US" sz="1300" dirty="0"/>
          </a:p>
        </p:txBody>
      </p:sp>
      <p:sp>
        <p:nvSpPr>
          <p:cNvPr id="10" name="Text 8"/>
          <p:cNvSpPr/>
          <p:nvPr/>
        </p:nvSpPr>
        <p:spPr>
          <a:xfrm>
            <a:off x="819150" y="3318421"/>
            <a:ext cx="5226050" cy="447030"/>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Durability and compatibility · [PENDING]</a:t>
            </a:r>
            <a:endParaRPr lang="en-US" sz="1300" dirty="0"/>
          </a:p>
        </p:txBody>
      </p:sp>
      <p:sp>
        <p:nvSpPr>
          <p:cNvPr id="11" name="Text 9"/>
          <p:cNvSpPr/>
          <p:nvPr/>
        </p:nvSpPr>
        <p:spPr>
          <a:xfrm>
            <a:off x="6146800" y="3318421"/>
            <a:ext cx="5226050" cy="447030"/>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820"/>
              </a:lnSpc>
              <a:buNone/>
            </a:pPr>
            <a:r>
              <a:rPr lang="en-US" sz="1300" dirty="0">
                <a:solidFill>
                  <a:srgbClr val="12171D"/>
                </a:solidFill>
                <a:latin typeface="Inter" pitchFamily="34" charset="0"/>
                <a:ea typeface="Inter" pitchFamily="34" charset="-122"/>
                <a:cs typeface="Inter" pitchFamily="34" charset="-120"/>
              </a:rPr>
              <a:t>Sign-off holder · [REQUIRES OWNER]</a:t>
            </a:r>
            <a:endParaRPr lang="en-US" sz="1300" dirty="0"/>
          </a:p>
        </p:txBody>
      </p:sp>
      <p:sp>
        <p:nvSpPr>
          <p:cNvPr id="12" name="Text 10"/>
          <p:cNvSpPr/>
          <p:nvPr/>
        </p:nvSpPr>
        <p:spPr>
          <a:xfrm>
            <a:off x="812800" y="3924201"/>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The approved sample enters the golden sample register and becomes the production reference.</a:t>
            </a:r>
            <a:endParaRPr lang="en-US" sz="1200" dirty="0"/>
          </a:p>
        </p:txBody>
      </p:sp>
      <p:sp>
        <p:nvSpPr>
          <p:cNvPr id="13" name="Text 11"/>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PACKAGING</a:t>
            </a:r>
            <a:endParaRPr lang="en-US" sz="1200" dirty="0"/>
          </a:p>
        </p:txBody>
      </p:sp>
      <p:sp>
        <p:nvSpPr>
          <p:cNvPr id="14" name="Text 12"/>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36</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04</a:t>
            </a:r>
            <a:endParaRPr lang="en-US" sz="1400" dirty="0"/>
          </a:p>
        </p:txBody>
      </p:sp>
      <p:sp>
        <p:nvSpPr>
          <p:cNvPr id="4" name="Text 1"/>
          <p:cNvSpPr/>
          <p:nvPr>
            <p:ph type="title"/>
          </p:nvPr>
        </p:nvSpPr>
        <p:spPr>
          <a:xfrm>
            <a:off x="812800" y="2540000"/>
            <a:ext cx="85026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ENVIRONMENT</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Signage, bilingual artwork, tactile, fabrication, corporate and large format.</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37</a:t>
            </a:r>
            <a:endParaRPr lang="en-US" sz="12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34 · ENVIRONMENTAL PRODUCTION · PROJECT-SPECIFIC</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Principles are brand. Fabrication is the site's.</a:t>
            </a:r>
            <a:endParaRPr lang="en-US" sz="2600" dirty="0"/>
          </a:p>
        </p:txBody>
      </p:sp>
      <p:sp>
        <p:nvSpPr>
          <p:cNvPr id="4" name="Shape 2"/>
          <p:cNvSpPr/>
          <p:nvPr/>
        </p:nvSpPr>
        <p:spPr>
          <a:xfrm>
            <a:off x="819150" y="1700461"/>
            <a:ext cx="5207000" cy="1620391"/>
          </a:xfrm>
          <a:prstGeom prst="rect">
            <a:avLst/>
          </a:prstGeom>
          <a:noFill/>
          <a:ln w="12700">
            <a:solidFill>
              <a:srgbClr val="12171D"/>
            </a:solidFill>
            <a:prstDash val="solid"/>
          </a:ln>
        </p:spPr>
        <p:txBody>
          <a:bodyPr/>
          <a:p/>
        </p:txBody>
      </p:sp>
      <p:sp>
        <p:nvSpPr>
          <p:cNvPr id="5" name="Text 3"/>
          <p:cNvSpPr/>
          <p:nvPr/>
        </p:nvSpPr>
        <p:spPr>
          <a:xfrm>
            <a:off x="1016000" y="1897311"/>
            <a:ext cx="495769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FIXED BY GEM</a:t>
            </a:r>
            <a:endParaRPr lang="en-US" sz="1200" dirty="0"/>
          </a:p>
        </p:txBody>
      </p:sp>
      <p:sp>
        <p:nvSpPr>
          <p:cNvPr id="6" name="Text 4"/>
          <p:cNvSpPr/>
          <p:nvPr/>
        </p:nvSpPr>
        <p:spPr>
          <a:xfrm>
            <a:off x="1016000" y="219953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Palette and contrast</a:t>
            </a:r>
            <a:endParaRPr lang="en-US" sz="1400" dirty="0"/>
          </a:p>
        </p:txBody>
      </p:sp>
      <p:sp>
        <p:nvSpPr>
          <p:cNvPr id="7" name="Text 5"/>
          <p:cNvSpPr/>
          <p:nvPr/>
        </p:nvSpPr>
        <p:spPr>
          <a:xfrm>
            <a:off x="1016000" y="253732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Type hierarchy and glyph language</a:t>
            </a:r>
            <a:endParaRPr lang="en-US" sz="1400" dirty="0"/>
          </a:p>
        </p:txBody>
      </p:sp>
      <p:sp>
        <p:nvSpPr>
          <p:cNvPr id="8" name="Text 6"/>
          <p:cNvSpPr/>
          <p:nvPr/>
        </p:nvSpPr>
        <p:spPr>
          <a:xfrm>
            <a:off x="1016000" y="287511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Logo rules and clearspace</a:t>
            </a:r>
            <a:endParaRPr lang="en-US" sz="1400" dirty="0"/>
          </a:p>
        </p:txBody>
      </p:sp>
      <p:sp>
        <p:nvSpPr>
          <p:cNvPr id="9" name="Shape 7"/>
          <p:cNvSpPr/>
          <p:nvPr/>
        </p:nvSpPr>
        <p:spPr>
          <a:xfrm>
            <a:off x="6165850" y="1700461"/>
            <a:ext cx="5207000" cy="1620391"/>
          </a:xfrm>
          <a:prstGeom prst="rect">
            <a:avLst/>
          </a:prstGeom>
          <a:noFill/>
          <a:ln w="12700">
            <a:solidFill>
              <a:srgbClr val="12171D"/>
            </a:solidFill>
            <a:prstDash val="dash"/>
          </a:ln>
        </p:spPr>
        <p:txBody>
          <a:bodyPr/>
          <a:p/>
        </p:txBody>
      </p:sp>
      <p:sp>
        <p:nvSpPr>
          <p:cNvPr id="10" name="Text 8"/>
          <p:cNvSpPr/>
          <p:nvPr/>
        </p:nvSpPr>
        <p:spPr>
          <a:xfrm>
            <a:off x="6362700" y="1897311"/>
            <a:ext cx="4957699"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SET PER SITE · REQUIRES SITE VALIDATION</a:t>
            </a:r>
            <a:endParaRPr lang="en-US" sz="1200" dirty="0"/>
          </a:p>
        </p:txBody>
      </p:sp>
      <p:sp>
        <p:nvSpPr>
          <p:cNvPr id="11" name="Text 9"/>
          <p:cNvSpPr/>
          <p:nvPr/>
        </p:nvSpPr>
        <p:spPr>
          <a:xfrm>
            <a:off x="6362700" y="219953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Dimensions and mounting</a:t>
            </a:r>
            <a:endParaRPr lang="en-US" sz="1400" dirty="0"/>
          </a:p>
        </p:txBody>
      </p:sp>
      <p:sp>
        <p:nvSpPr>
          <p:cNvPr id="12" name="Text 10"/>
          <p:cNvSpPr/>
          <p:nvPr/>
        </p:nvSpPr>
        <p:spPr>
          <a:xfrm>
            <a:off x="6362700" y="253732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Material and illumination</a:t>
            </a:r>
            <a:endParaRPr lang="en-US" sz="1400" dirty="0"/>
          </a:p>
        </p:txBody>
      </p:sp>
      <p:sp>
        <p:nvSpPr>
          <p:cNvPr id="13" name="Text 11"/>
          <p:cNvSpPr/>
          <p:nvPr/>
        </p:nvSpPr>
        <p:spPr>
          <a:xfrm>
            <a:off x="6362700" y="2875111"/>
            <a:ext cx="4957699" cy="274290"/>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12171D"/>
                </a:solidFill>
                <a:latin typeface="Inter" pitchFamily="34" charset="0"/>
                <a:ea typeface="Inter" pitchFamily="34" charset="-122"/>
                <a:cs typeface="Inter" pitchFamily="34" charset="-120"/>
              </a:rPr>
              <a:t>Viewing distance and tolerance</a:t>
            </a:r>
            <a:endParaRPr lang="en-US" sz="1400" dirty="0"/>
          </a:p>
        </p:txBody>
      </p:sp>
      <p:sp>
        <p:nvSpPr>
          <p:cNvPr id="14" name="Text 12"/>
          <p:cNvSpPr/>
          <p:nvPr/>
        </p:nvSpPr>
        <p:spPr>
          <a:xfrm>
            <a:off x="812800" y="3479602"/>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 site dimension, illumination level, mounting method or fabrication tolerance is set in this standard.</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38</a:t>
            </a:r>
            <a:endParaRPr lang="en-US" sz="12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35 · SIGN TYPE REGISTER · PROJECT-SPECIFIC</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sign type is registered before it is made.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a:tblGrid>
                <a:gridCol w="2321814"/>
                <a:gridCol w="2743962"/>
                <a:gridCol w="2743962"/>
                <a:gridCol w="2743962"/>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Role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Size and material</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Identification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Names a space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Directional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Guides movement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Room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Identifies a door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Amenity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Marks a service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Safety and code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External / building identification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Names the property from outside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Deferred (S02)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39</a:t>
            </a:r>
            <a:endParaRPr lang="en-US" sz="12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6278880"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36 · SIGNAGE ARTWORK · SUPPLIER SCALING</a:t>
            </a:r>
            <a:endParaRPr lang="en-US" sz="1200" dirty="0"/>
          </a:p>
        </p:txBody>
      </p:sp>
      <p:sp>
        <p:nvSpPr>
          <p:cNvPr id="3" name="Text 1"/>
          <p:cNvSpPr/>
          <p:nvPr>
            <p:ph type="title"/>
          </p:nvPr>
        </p:nvSpPr>
        <p:spPr>
          <a:xfrm>
            <a:off x="812800" y="1153120"/>
            <a:ext cx="6278880"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FFFFFF"/>
                </a:solidFill>
                <a:latin typeface="Jost" pitchFamily="34" charset="0"/>
                <a:ea typeface="Jost" pitchFamily="34" charset="-122"/>
                <a:cs typeface="Jost" pitchFamily="34" charset="-120"/>
              </a:rPr>
              <a:t>Scaled proportionally. Never redrawn.</a:t>
            </a:r>
            <a:endParaRPr lang="en-US" sz="2400" dirty="0"/>
          </a:p>
        </p:txBody>
      </p:sp>
      <p:sp>
        <p:nvSpPr>
          <p:cNvPr id="4" name="Text 2"/>
          <p:cNvSpPr/>
          <p:nvPr/>
        </p:nvSpPr>
        <p:spPr>
          <a:xfrm>
            <a:off x="812800" y="1615380"/>
            <a:ext cx="6278880" cy="718790"/>
          </a:xfrm>
          <a:prstGeom prst="rect">
            <a:avLst/>
          </a:prstGeom>
          <a:noFill/>
          <a:ln/>
        </p:spPr>
        <p:txBody>
          <a:bodyPr wrap="square" lIns="0" tIns="0" rIns="0" bIns="0" rtlCol="0" anchor="t">
            <a:normAutofit/>
          </a:bodyPr>
          <a:lstStyle/>
          <a:p>
            <a:pPr algn="l" indent="0" marL="0">
              <a:lnSpc>
                <a:spcPts val="1820"/>
              </a:lnSpc>
              <a:buNone/>
            </a:pPr>
            <a:r>
              <a:rPr lang="en-US" sz="1300" dirty="0">
                <a:solidFill>
                  <a:srgbClr val="FFFFFF"/>
                </a:solidFill>
                <a:latin typeface="Inter" pitchFamily="34" charset="0"/>
                <a:ea typeface="Inter" pitchFamily="34" charset="-122"/>
                <a:cs typeface="Inter" pitchFamily="34" charset="-120"/>
              </a:rPr>
              <a:t>Released vector artwork may be scaled proportionally by the supplier to the approved fabrication size. The artwork must not be redrawn, reshaped, re-spaced, stretched, compressed or reconstructed.</a:t>
            </a:r>
            <a:endParaRPr lang="en-US" sz="1300" dirty="0"/>
          </a:p>
        </p:txBody>
      </p:sp>
      <p:sp>
        <p:nvSpPr>
          <p:cNvPr id="5" name="Text 3"/>
          <p:cNvSpPr/>
          <p:nvPr/>
        </p:nvSpPr>
        <p:spPr>
          <a:xfrm>
            <a:off x="819150" y="2442121"/>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GEM master geometry remains unchanged</a:t>
            </a:r>
            <a:endParaRPr lang="en-US" sz="1200" dirty="0"/>
          </a:p>
        </p:txBody>
      </p:sp>
      <p:sp>
        <p:nvSpPr>
          <p:cNvPr id="6" name="Text 4"/>
          <p:cNvSpPr/>
          <p:nvPr/>
        </p:nvSpPr>
        <p:spPr>
          <a:xfrm>
            <a:off x="819150" y="2856111"/>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Supplier scaling is proportional only</a:t>
            </a:r>
            <a:endParaRPr lang="en-US" sz="1200" dirty="0"/>
          </a:p>
        </p:txBody>
      </p:sp>
      <p:sp>
        <p:nvSpPr>
          <p:cNvPr id="7" name="Text 5"/>
          <p:cNvSpPr/>
          <p:nvPr/>
        </p:nvSpPr>
        <p:spPr>
          <a:xfrm>
            <a:off x="819150" y="3270101"/>
            <a:ext cx="6083300" cy="337790"/>
          </a:xfrm>
          <a:prstGeom prst="rect">
            <a:avLst/>
          </a:prstGeom>
          <a:noFill/>
          <a:ln w="12700">
            <a:solidFill>
              <a:srgbClr val="BCACA7"/>
            </a:solidFill>
            <a:prstDash val="dash"/>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Minimum physical feature sizes · [TO BE VERIFIED BY PROCESS TEST]</a:t>
            </a:r>
            <a:endParaRPr lang="en-US" sz="1200" dirty="0"/>
          </a:p>
        </p:txBody>
      </p:sp>
      <p:sp>
        <p:nvSpPr>
          <p:cNvPr id="8" name="Text 6"/>
          <p:cNvSpPr/>
          <p:nvPr/>
        </p:nvSpPr>
        <p:spPr>
          <a:xfrm>
            <a:off x="819150" y="3684091"/>
            <a:ext cx="6083300" cy="53588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A limitation exposed by scaling goes to a deviation request (appendix K), never an independent change</a:t>
            </a:r>
            <a:endParaRPr lang="en-US" sz="1200" dirty="0"/>
          </a:p>
        </p:txBody>
      </p:sp>
      <p:sp>
        <p:nvSpPr>
          <p:cNvPr id="9" name="Text 7"/>
          <p:cNvSpPr/>
          <p:nvPr/>
        </p:nvSpPr>
        <p:spPr>
          <a:xfrm>
            <a:off x="819150" y="4296172"/>
            <a:ext cx="6083300" cy="337790"/>
          </a:xfrm>
          <a:prstGeom prst="rect">
            <a:avLst/>
          </a:prstGeom>
          <a:noFill/>
          <a:ln w="12700">
            <a:solidFill>
              <a:srgbClr val="BCACA7"/>
            </a:solidFill>
            <a:prstDash val="solid"/>
          </a:ln>
        </p:spPr>
        <p:txBody>
          <a:bodyPr wrap="square" lIns="120650" tIns="69850" rIns="0" bIns="44450" rtlCol="0" anchor="t">
            <a:normAutofit/>
          </a:bodyPr>
          <a:lstStyle/>
          <a:p>
            <a:pPr algn="l" indent="0" marL="0">
              <a:lnSpc>
                <a:spcPts val="1560"/>
              </a:lnSpc>
              <a:buNone/>
            </a:pPr>
            <a:r>
              <a:rPr lang="en-US" sz="1200" dirty="0">
                <a:solidFill>
                  <a:srgbClr val="FFFFFF"/>
                </a:solidFill>
                <a:latin typeface="Inter" pitchFamily="34" charset="0"/>
                <a:ea typeface="Inter" pitchFamily="34" charset="-122"/>
                <a:cs typeface="Inter" pitchFamily="34" charset="-120"/>
              </a:rPr>
              <a:t>Any fabrication-specific adaptation needs written approval</a:t>
            </a:r>
            <a:endParaRPr lang="en-US" sz="1200" dirty="0"/>
          </a:p>
        </p:txBody>
      </p:sp>
      <p:pic>
        <p:nvPicPr>
          <p:cNvPr id="10" name="Image 0" descr="Signage artwork zone schematic: symbol zone and text lines. No sizes." title="Signage artwork zone schematic: symbol zone and text lines. ">    </p:cNvPr>
          <p:cNvPicPr>
            <a:picLocks noChangeAspect="1"/>
          </p:cNvPicPr>
          <p:nvPr/>
        </p:nvPicPr>
        <p:blipFill>
          <a:blip r:embed="rId1"/>
          <a:srcRect l="0" r="0" t="0" b="0"/>
          <a:stretch/>
        </p:blipFill>
        <p:spPr>
          <a:xfrm>
            <a:off x="7315200" y="1803400"/>
            <a:ext cx="4064000" cy="3048000"/>
          </a:xfrm>
          <a:prstGeom prst="rect">
            <a:avLst/>
          </a:prstGeom>
        </p:spPr>
      </p:pic>
      <p:sp>
        <p:nvSpPr>
          <p:cNvPr id="11"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2"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40</a:t>
            </a:r>
            <a:endParaRPr lang="en-US" sz="12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37 · ARABIC AND BILINGUAL SIGNAGE · PENDING VALIDATION</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Arabic is set natively, never mirrored from Latin.</a:t>
            </a:r>
            <a:endParaRPr lang="en-US" sz="2400" dirty="0"/>
          </a:p>
        </p:txBody>
      </p:sp>
      <p:sp>
        <p:nvSpPr>
          <p:cNvPr id="4" name="Text 2"/>
          <p:cNvSpPr/>
          <p:nvPr/>
        </p:nvSpPr>
        <p:spPr>
          <a:xfrm>
            <a:off x="819150" y="1672530"/>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text reads right to left and is never letter-spaced</a:t>
            </a:r>
            <a:endParaRPr lang="en-US" sz="1300" dirty="0"/>
          </a:p>
        </p:txBody>
      </p:sp>
      <p:sp>
        <p:nvSpPr>
          <p:cNvPr id="5" name="Text 3"/>
          <p:cNvSpPr/>
          <p:nvPr/>
        </p:nvSpPr>
        <p:spPr>
          <a:xfrm>
            <a:off x="6146800" y="1672530"/>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The logo is never mirrored</a:t>
            </a:r>
            <a:endParaRPr lang="en-US" sz="1300" dirty="0"/>
          </a:p>
        </p:txBody>
      </p:sp>
      <p:sp>
        <p:nvSpPr>
          <p:cNvPr id="6" name="Text 4"/>
          <p:cNvSpPr/>
          <p:nvPr/>
        </p:nvSpPr>
        <p:spPr>
          <a:xfrm>
            <a:off x="819150" y="2212876"/>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Both languages carry equal legibility</a:t>
            </a:r>
            <a:endParaRPr lang="en-US" sz="1300" dirty="0"/>
          </a:p>
        </p:txBody>
      </p:sp>
      <p:sp>
        <p:nvSpPr>
          <p:cNvPr id="7" name="Text 5"/>
          <p:cNvSpPr/>
          <p:nvPr/>
        </p:nvSpPr>
        <p:spPr>
          <a:xfrm>
            <a:off x="6146800" y="2212876"/>
            <a:ext cx="5226050" cy="438745"/>
          </a:xfrm>
          <a:prstGeom prst="rect">
            <a:avLst/>
          </a:prstGeom>
          <a:noFill/>
          <a:ln w="12700">
            <a:solidFill>
              <a:srgbClr val="12171D"/>
            </a:solidFill>
            <a:prstDash val="solid"/>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Room and technical numbers use Latin digits</a:t>
            </a:r>
            <a:endParaRPr lang="en-US" sz="1300" dirty="0"/>
          </a:p>
        </p:txBody>
      </p:sp>
      <p:sp>
        <p:nvSpPr>
          <p:cNvPr id="8" name="Text 6"/>
          <p:cNvSpPr/>
          <p:nvPr/>
        </p:nvSpPr>
        <p:spPr>
          <a:xfrm>
            <a:off x="819150" y="2753221"/>
            <a:ext cx="5226050" cy="438745"/>
          </a:xfrm>
          <a:prstGeom prst="rect">
            <a:avLst/>
          </a:prstGeom>
          <a:noFill/>
          <a:ln w="12700">
            <a:solidFill>
              <a:srgbClr val="12171D"/>
            </a:solidFill>
            <a:prstDash val="dash"/>
          </a:ln>
        </p:spPr>
        <p:txBody>
          <a:bodyPr wrap="square" lIns="133350" tIns="107950" rIns="0" bIns="82550" rtlCol="0" anchor="t"/>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leads by default · Saudi/GCC (S07)</a:t>
            </a:r>
            <a:endParaRPr lang="en-US" sz="1300" dirty="0"/>
          </a:p>
        </p:txBody>
      </p:sp>
      <p:sp>
        <p:nvSpPr>
          <p:cNvPr id="9" name="Text 7"/>
          <p:cNvSpPr/>
          <p:nvPr/>
        </p:nvSpPr>
        <p:spPr>
          <a:xfrm>
            <a:off x="6146800" y="2753221"/>
            <a:ext cx="5226050" cy="438745"/>
          </a:xfrm>
          <a:prstGeom prst="rect">
            <a:avLst/>
          </a:prstGeom>
          <a:noFill/>
          <a:ln w="12700">
            <a:solidFill>
              <a:srgbClr val="12171D"/>
            </a:solidFill>
            <a:prstDash val="dash"/>
          </a:ln>
        </p:spPr>
        <p:txBody>
          <a:bodyPr wrap="square" lIns="133350" tIns="107950" rIns="0" bIns="825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Arabic wording · [REQUIRES OWNER]</a:t>
            </a:r>
            <a:endParaRPr lang="en-US" sz="1300" dirty="0"/>
          </a:p>
        </p:txBody>
      </p:sp>
      <p:sp>
        <p:nvSpPr>
          <p:cNvPr id="10" name="Text 8"/>
          <p:cNvSpPr/>
          <p:nvPr/>
        </p:nvSpPr>
        <p:spPr>
          <a:xfrm>
            <a:off x="812800" y="3350716"/>
            <a:ext cx="10883392" cy="45720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Noto Sans Arabic is interim. Native review is required before any sign is fabricated. Any exception to the Arabic-first default is a documented project-specific deviation (Appendix K), only where regulation or operations require it.</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41</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38 · TACTILE AND BRAILLE · REGULATORY REVIEW REQUIRED</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Tactile content follows the code, not the brand.</a:t>
            </a:r>
            <a:endParaRPr lang="en-US" sz="2800" dirty="0"/>
          </a:p>
        </p:txBody>
      </p:sp>
      <p:sp>
        <p:nvSpPr>
          <p:cNvPr id="4" name="Text 2"/>
          <p:cNvSpPr/>
          <p:nvPr/>
        </p:nvSpPr>
        <p:spPr>
          <a:xfrm>
            <a:off x="812800" y="1772841"/>
            <a:ext cx="8502650" cy="558800"/>
          </a:xfrm>
          <a:prstGeom prst="rect">
            <a:avLst/>
          </a:prstGeom>
          <a:noFill/>
          <a:ln/>
        </p:spPr>
        <p:txBody>
          <a:bodyPr wrap="square" lIns="0" tIns="0" rIns="0" bIns="0" rtlCol="0" anchor="t">
            <a:normAutofit/>
          </a:bodyPr>
          <a:lstStyle/>
          <a:p>
            <a:pPr algn="l" indent="0" marL="0">
              <a:lnSpc>
                <a:spcPts val="2100"/>
              </a:lnSpc>
              <a:buNone/>
            </a:pPr>
            <a:r>
              <a:rPr lang="en-US" sz="1500" dirty="0">
                <a:solidFill>
                  <a:srgbClr val="12171D"/>
                </a:solidFill>
                <a:latin typeface="Inter" pitchFamily="34" charset="0"/>
                <a:ea typeface="Inter" pitchFamily="34" charset="-122"/>
                <a:cs typeface="Inter" pitchFamily="34" charset="-120"/>
              </a:rPr>
              <a:t>Where tactile characters or Braille are required, the applicable accessibility code governs size, spacing, height, contrast and placement.</a:t>
            </a:r>
            <a:endParaRPr lang="en-US" sz="1500" dirty="0"/>
          </a:p>
        </p:txBody>
      </p:sp>
      <p:sp>
        <p:nvSpPr>
          <p:cNvPr id="5" name="Text 3"/>
          <p:cNvSpPr/>
          <p:nvPr/>
        </p:nvSpPr>
        <p:spPr>
          <a:xfrm>
            <a:off x="819150" y="24903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Governing code · [PENDING]</a:t>
            </a:r>
            <a:endParaRPr lang="en-US" sz="1200" dirty="0"/>
          </a:p>
        </p:txBody>
      </p:sp>
      <p:sp>
        <p:nvSpPr>
          <p:cNvPr id="6" name="Text 4"/>
          <p:cNvSpPr/>
          <p:nvPr/>
        </p:nvSpPr>
        <p:spPr>
          <a:xfrm>
            <a:off x="4366667" y="249039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Braille grade · [PENDING]</a:t>
            </a:r>
            <a:endParaRPr lang="en-US" sz="1200" dirty="0"/>
          </a:p>
        </p:txBody>
      </p:sp>
      <p:sp>
        <p:nvSpPr>
          <p:cNvPr id="7" name="Text 5"/>
          <p:cNvSpPr/>
          <p:nvPr/>
        </p:nvSpPr>
        <p:spPr>
          <a:xfrm>
            <a:off x="7914184" y="249039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Character height · [PENDING]</a:t>
            </a:r>
            <a:endParaRPr lang="en-US" sz="1200" dirty="0"/>
          </a:p>
        </p:txBody>
      </p:sp>
      <p:sp>
        <p:nvSpPr>
          <p:cNvPr id="8" name="Text 6"/>
          <p:cNvSpPr/>
          <p:nvPr/>
        </p:nvSpPr>
        <p:spPr>
          <a:xfrm>
            <a:off x="819150" y="298311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Mounting height · [PENDING]</a:t>
            </a:r>
            <a:endParaRPr lang="en-US" sz="1200" dirty="0"/>
          </a:p>
        </p:txBody>
      </p:sp>
      <p:sp>
        <p:nvSpPr>
          <p:cNvPr id="9" name="Text 7"/>
          <p:cNvSpPr/>
          <p:nvPr/>
        </p:nvSpPr>
        <p:spPr>
          <a:xfrm>
            <a:off x="4366667" y="2983111"/>
            <a:ext cx="3458617" cy="403820"/>
          </a:xfrm>
          <a:prstGeom prst="rect">
            <a:avLst/>
          </a:prstGeom>
          <a:noFill/>
          <a:ln w="12700">
            <a:solidFill>
              <a:srgbClr val="12171D"/>
            </a:solidFill>
            <a:prstDash val="dash"/>
          </a:ln>
        </p:spPr>
        <p:txBody>
          <a:bodyPr wrap="square" lIns="120650" tIns="95250" rIns="24130"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Arabic Braille · [PENDING]</a:t>
            </a:r>
            <a:endParaRPr lang="en-US" sz="1200" dirty="0"/>
          </a:p>
        </p:txBody>
      </p:sp>
      <p:sp>
        <p:nvSpPr>
          <p:cNvPr id="10" name="Text 8"/>
          <p:cNvSpPr/>
          <p:nvPr/>
        </p:nvSpPr>
        <p:spPr>
          <a:xfrm>
            <a:off x="7914184" y="2983111"/>
            <a:ext cx="3458666" cy="403820"/>
          </a:xfrm>
          <a:prstGeom prst="rect">
            <a:avLst/>
          </a:prstGeom>
          <a:noFill/>
          <a:ln w="12700">
            <a:solidFill>
              <a:srgbClr val="12171D"/>
            </a:solidFill>
            <a:prstDash val="dash"/>
          </a:ln>
        </p:spPr>
        <p:txBody>
          <a:bodyPr wrap="square" lIns="120650" tIns="95250" rIns="24129" bIns="698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Method · [REQUIRES SUPPLIER]</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42</a:t>
            </a:r>
            <a:endParaRPr lang="en-US" sz="12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39 · MATERIAL AND FABRICATION SAMPLE · PENDING PHYSICAL PROOF</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sample is approved in place, under site light.</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78880"/>
          <a:ext cx="10553700" cy="2328763"/>
        </p:xfrm>
        <a:graphic>
          <a:graphicData uri="http://schemas.openxmlformats.org/drawingml/2006/table">
            <a:tbl>
              <a:tblPr/>
              <a:tblGrid>
                <a:gridCol w="3799332"/>
                <a:gridCol w="6754368"/>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against standard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Edge, finish and surface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Glyph and letter accuracy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 from real distance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[PROJECT-SPECIFIC]</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Mounting and tolerance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ENVIRONMENT</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43</a:t>
            </a:r>
            <a:endParaRPr lang="en-US" sz="12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40 · CORPORATE PRINT · PENDING PRODUCTION MASTER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Quiet stationery, produced from approved masters.</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1996083"/>
        </p:xfrm>
        <a:graphic>
          <a:graphicData uri="http://schemas.openxmlformats.org/drawingml/2006/table">
            <a:tbl>
              <a:tblPr/>
              <a:tblGrid>
                <a:gridCol w="2955036"/>
                <a:gridCol w="3799332"/>
                <a:gridCol w="3799332"/>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Format and stock</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Template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Letterhead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Business card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Proposal and quotation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sheet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Envelope and folder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PRODUCTION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3751163"/>
            <a:ext cx="10883392" cy="231130"/>
          </a:xfrm>
          <a:prstGeom prst="rect">
            <a:avLst/>
          </a:prstGeom>
          <a:noFill/>
          <a:ln/>
        </p:spPr>
        <p:txBody>
          <a:bodyPr wrap="square" lIns="0" tIns="0" rIns="0" bIns="0" rtlCol="0" anchor="t"/>
          <a:lstStyle/>
          <a:p>
            <a:pPr algn="l" indent="0" marL="0">
              <a:lnSpc>
                <a:spcPts val="1620"/>
              </a:lnSpc>
              <a:buNone/>
            </a:pPr>
            <a:r>
              <a:rPr lang="en-US" sz="1200" dirty="0">
                <a:solidFill>
                  <a:srgbClr val="12171D"/>
                </a:solidFill>
                <a:latin typeface="Inter" pitchFamily="34" charset="0"/>
                <a:ea typeface="Inter" pitchFamily="34" charset="-122"/>
                <a:cs typeface="Inter" pitchFamily="34" charset="-120"/>
              </a:rPr>
              <a:t>Layout follows Part A. Print process and stock follow the print and materials standards. Templates are an OPEN DELIVERABLE (AB10, AB11, W01–W10): none exists yet.</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APPLICATIONS</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44</a:t>
            </a:r>
            <a:endParaRPr lang="en-US" sz="12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41 · LARGE FORMAT · PROJECT-SPECIFIC</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Scale changes the rules. It does not change the identity.</a:t>
            </a:r>
            <a:endParaRPr lang="en-US" sz="2600" dirty="0"/>
          </a:p>
        </p:txBody>
      </p:sp>
      <p:sp>
        <p:nvSpPr>
          <p:cNvPr id="4" name="Text 2"/>
          <p:cNvSpPr/>
          <p:nvPr/>
        </p:nvSpPr>
        <p:spPr>
          <a:xfrm>
            <a:off x="819150" y="1700461"/>
            <a:ext cx="5226050" cy="661591"/>
          </a:xfrm>
          <a:prstGeom prst="rect">
            <a:avLst/>
          </a:prstGeom>
          <a:noFill/>
          <a:ln w="12700">
            <a:solidFill>
              <a:srgbClr val="BCACA7"/>
            </a:solidFill>
            <a:prstDash val="solid"/>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Vector artwork only</a:t>
            </a:r>
            <a:endParaRPr lang="en-US" sz="1300" dirty="0"/>
          </a:p>
        </p:txBody>
      </p:sp>
      <p:sp>
        <p:nvSpPr>
          <p:cNvPr id="5" name="Text 3"/>
          <p:cNvSpPr/>
          <p:nvPr/>
        </p:nvSpPr>
        <p:spPr>
          <a:xfrm>
            <a:off x="6146800" y="1700461"/>
            <a:ext cx="5226050" cy="661591"/>
          </a:xfrm>
          <a:prstGeom prst="rect">
            <a:avLst/>
          </a:prstGeom>
          <a:noFill/>
          <a:ln w="12700">
            <a:solidFill>
              <a:srgbClr val="BCACA7"/>
            </a:solidFill>
            <a:prstDash val="solid"/>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Geometry may be cropped or scaled proportionally, never redrawn</a:t>
            </a:r>
            <a:endParaRPr lang="en-US" sz="1300" dirty="0"/>
          </a:p>
        </p:txBody>
      </p:sp>
      <p:sp>
        <p:nvSpPr>
          <p:cNvPr id="6" name="Text 4"/>
          <p:cNvSpPr/>
          <p:nvPr/>
        </p:nvSpPr>
        <p:spPr>
          <a:xfrm>
            <a:off x="819150" y="2463651"/>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Resolution at viewing distance · [PENDING]</a:t>
            </a:r>
            <a:endParaRPr lang="en-US" sz="1300" dirty="0"/>
          </a:p>
        </p:txBody>
      </p:sp>
      <p:sp>
        <p:nvSpPr>
          <p:cNvPr id="7" name="Text 5"/>
          <p:cNvSpPr/>
          <p:nvPr/>
        </p:nvSpPr>
        <p:spPr>
          <a:xfrm>
            <a:off x="6146800" y="2463651"/>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Substrate and ink · [REQUIRES SUPPLIER]</a:t>
            </a:r>
            <a:endParaRPr lang="en-US" sz="1300" dirty="0"/>
          </a:p>
        </p:txBody>
      </p:sp>
      <p:sp>
        <p:nvSpPr>
          <p:cNvPr id="8" name="Text 6"/>
          <p:cNvSpPr/>
          <p:nvPr/>
        </p:nvSpPr>
        <p:spPr>
          <a:xfrm>
            <a:off x="819150" y="3003996"/>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Colour match to standard · [PENDING PHYSICAL PROOF]</a:t>
            </a:r>
            <a:endParaRPr lang="en-US" sz="1300" dirty="0"/>
          </a:p>
        </p:txBody>
      </p:sp>
      <p:sp>
        <p:nvSpPr>
          <p:cNvPr id="9" name="Text 7"/>
          <p:cNvSpPr/>
          <p:nvPr/>
        </p:nvSpPr>
        <p:spPr>
          <a:xfrm>
            <a:off x="6146800" y="3003996"/>
            <a:ext cx="5226050" cy="438745"/>
          </a:xfrm>
          <a:prstGeom prst="rect">
            <a:avLst/>
          </a:prstGeom>
          <a:noFill/>
          <a:ln w="12700">
            <a:solidFill>
              <a:srgbClr val="BCACA7"/>
            </a:solidFill>
            <a:prstDash val="dash"/>
          </a:ln>
        </p:spPr>
        <p:txBody>
          <a:bodyPr wrap="square" lIns="133350" tIns="107950" rIns="0" bIns="82550" rtlCol="0" anchor="t">
            <a:normAutofit/>
          </a:bodyPr>
          <a:lstStyle/>
          <a:p>
            <a:pPr algn="l" indent="0" marL="0">
              <a:lnSpc>
                <a:spcPts val="1755"/>
              </a:lnSpc>
              <a:buNone/>
            </a:pPr>
            <a:r>
              <a:rPr lang="en-US" sz="1300" dirty="0">
                <a:solidFill>
                  <a:srgbClr val="FFFFFF"/>
                </a:solidFill>
                <a:latin typeface="Inter" pitchFamily="34" charset="0"/>
                <a:ea typeface="Inter" pitchFamily="34" charset="-122"/>
                <a:cs typeface="Inter" pitchFamily="34" charset="-120"/>
              </a:rPr>
              <a:t>Installation tolerance · [PROJECT-SPECIFIC]</a:t>
            </a:r>
            <a:endParaRPr lang="en-US" sz="1300" dirty="0"/>
          </a:p>
        </p:txBody>
      </p:sp>
      <p:sp>
        <p:nvSpPr>
          <p:cNvPr id="10" name="Text 8"/>
          <p:cNvSpPr/>
          <p:nvPr/>
        </p:nvSpPr>
        <p:spPr>
          <a:xfrm>
            <a:off x="812800" y="3601492"/>
            <a:ext cx="10883392" cy="231130"/>
          </a:xfrm>
          <a:prstGeom prst="rect">
            <a:avLst/>
          </a:prstGeom>
          <a:noFill/>
          <a:ln/>
        </p:spPr>
        <p:txBody>
          <a:bodyPr wrap="square" lIns="0" tIns="0" rIns="0" bIns="0" rtlCol="0" anchor="t">
            <a:normAutofit/>
          </a:bodyPr>
          <a:lstStyle/>
          <a:p>
            <a:pPr algn="l" indent="0" marL="0">
              <a:lnSpc>
                <a:spcPts val="1620"/>
              </a:lnSpc>
              <a:buNone/>
            </a:pPr>
            <a:r>
              <a:rPr lang="en-US" sz="1200" dirty="0">
                <a:solidFill>
                  <a:srgbClr val="BCACA7"/>
                </a:solidFill>
                <a:latin typeface="Inter" pitchFamily="34" charset="0"/>
                <a:ea typeface="Inter" pitchFamily="34" charset="-122"/>
                <a:cs typeface="Inter" pitchFamily="34" charset="-120"/>
              </a:rPr>
              <a:t>One spark per composition applies at every scale.</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APPLICATIONS</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45</a:t>
            </a:r>
            <a:endParaRPr lang="en-US" sz="12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05</a:t>
            </a:r>
            <a:endParaRPr lang="en-US" sz="1400" dirty="0"/>
          </a:p>
        </p:txBody>
      </p:sp>
      <p:sp>
        <p:nvSpPr>
          <p:cNvPr id="4" name="Text 1"/>
          <p:cNvSpPr/>
          <p:nvPr>
            <p:ph type="title"/>
          </p:nvPr>
        </p:nvSpPr>
        <p:spPr>
          <a:xfrm>
            <a:off x="812800" y="2540000"/>
            <a:ext cx="98107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SUPPLIER &amp; QA</a:t>
            </a:r>
            <a:endParaRPr lang="en-US" sz="6000" dirty="0"/>
          </a:p>
        </p:txBody>
      </p:sp>
      <p:sp>
        <p:nvSpPr>
          <p:cNvPr id="5" name="Text 2"/>
          <p:cNvSpPr/>
          <p:nvPr/>
        </p:nvSpPr>
        <p:spPr>
          <a:xfrm>
            <a:off x="812800" y="3556000"/>
            <a:ext cx="6540500" cy="629841"/>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Handoff, proof levels, golden sample, inspection and non-conformance.</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46</a:t>
            </a:r>
            <a:endParaRPr lang="en-US" sz="1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42 · SUPPLIER BRIEF</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supplier receives a complete package or none.</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994124"/>
        </p:xfrm>
        <a:graphic>
          <a:graphicData uri="http://schemas.openxmlformats.org/drawingml/2006/table">
            <a:tbl>
              <a:tblPr/>
              <a:tblGrid>
                <a:gridCol w="3799332"/>
                <a:gridCol w="6754368"/>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Included in the brief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Source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signed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artwork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master, versioned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 PHYSICAL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and finish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Part C, with open items marked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or site data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Issued by supplier or 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Scaling and adaptation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Proportional only; any change by deviation request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level and sample due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47</a:t>
            </a:r>
            <a:endParaRPr lang="en-US" sz="12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43 · SUPPLIER ACKNOWLEDGEMENT</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Silence is not acceptance.</a:t>
            </a:r>
            <a:endParaRPr lang="en-US" sz="2600" dirty="0"/>
          </a:p>
        </p:txBody>
      </p:sp>
      <p:sp>
        <p:nvSpPr>
          <p:cNvPr id="4" name="Shape 2"/>
          <p:cNvSpPr/>
          <p:nvPr/>
        </p:nvSpPr>
        <p:spPr>
          <a:xfrm>
            <a:off x="819150" y="1751261"/>
            <a:ext cx="3441700" cy="909241"/>
          </a:xfrm>
          <a:prstGeom prst="rect">
            <a:avLst/>
          </a:prstGeom>
          <a:noFill/>
          <a:ln w="12700">
            <a:solidFill>
              <a:srgbClr val="BCACA7"/>
            </a:solidFill>
            <a:prstDash val="solid"/>
          </a:ln>
        </p:spPr>
        <p:txBody>
          <a:bodyPr/>
          <a:p/>
        </p:txBody>
      </p:sp>
      <p:sp>
        <p:nvSpPr>
          <p:cNvPr id="5" name="Text 3"/>
          <p:cNvSpPr/>
          <p:nvPr/>
        </p:nvSpPr>
        <p:spPr>
          <a:xfrm>
            <a:off x="990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1 · Receive</a:t>
            </a:r>
            <a:endParaRPr lang="en-US" sz="1700" dirty="0"/>
          </a:p>
        </p:txBody>
      </p:sp>
      <p:sp>
        <p:nvSpPr>
          <p:cNvPr id="6" name="Text 4"/>
          <p:cNvSpPr/>
          <p:nvPr/>
        </p:nvSpPr>
        <p:spPr>
          <a:xfrm>
            <a:off x="990600" y="2275731"/>
            <a:ext cx="3263900"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Supplier confirms the package is complete</a:t>
            </a:r>
            <a:endParaRPr lang="en-US" sz="1200" dirty="0"/>
          </a:p>
        </p:txBody>
      </p:sp>
      <p:sp>
        <p:nvSpPr>
          <p:cNvPr id="7" name="Shape 5"/>
          <p:cNvSpPr/>
          <p:nvPr/>
        </p:nvSpPr>
        <p:spPr>
          <a:xfrm>
            <a:off x="4375150" y="1751261"/>
            <a:ext cx="3441700" cy="909241"/>
          </a:xfrm>
          <a:prstGeom prst="rect">
            <a:avLst/>
          </a:prstGeom>
          <a:noFill/>
          <a:ln w="12700">
            <a:solidFill>
              <a:srgbClr val="BCACA7"/>
            </a:solidFill>
            <a:prstDash val="solid"/>
          </a:ln>
        </p:spPr>
        <p:txBody>
          <a:bodyPr/>
          <a:p/>
        </p:txBody>
      </p:sp>
      <p:sp>
        <p:nvSpPr>
          <p:cNvPr id="8" name="Text 6"/>
          <p:cNvSpPr/>
          <p:nvPr/>
        </p:nvSpPr>
        <p:spPr>
          <a:xfrm>
            <a:off x="4546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2 · Declare</a:t>
            </a:r>
            <a:endParaRPr lang="en-US" sz="1700" dirty="0"/>
          </a:p>
        </p:txBody>
      </p:sp>
      <p:sp>
        <p:nvSpPr>
          <p:cNvPr id="9" name="Text 7"/>
          <p:cNvSpPr/>
          <p:nvPr/>
        </p:nvSpPr>
        <p:spPr>
          <a:xfrm>
            <a:off x="4546600" y="22757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Supplier flags any item it cannot meet</a:t>
            </a:r>
            <a:endParaRPr lang="en-US" sz="1200" dirty="0"/>
          </a:p>
        </p:txBody>
      </p:sp>
      <p:sp>
        <p:nvSpPr>
          <p:cNvPr id="10" name="Shape 8"/>
          <p:cNvSpPr/>
          <p:nvPr/>
        </p:nvSpPr>
        <p:spPr>
          <a:xfrm>
            <a:off x="7931150" y="1751261"/>
            <a:ext cx="3441700" cy="909241"/>
          </a:xfrm>
          <a:prstGeom prst="rect">
            <a:avLst/>
          </a:prstGeom>
          <a:noFill/>
          <a:ln w="12700">
            <a:solidFill>
              <a:srgbClr val="BCACA7"/>
            </a:solidFill>
            <a:prstDash val="solid"/>
          </a:ln>
        </p:spPr>
        <p:txBody>
          <a:bodyPr/>
          <a:p/>
        </p:txBody>
      </p:sp>
      <p:sp>
        <p:nvSpPr>
          <p:cNvPr id="11" name="Text 9"/>
          <p:cNvSpPr/>
          <p:nvPr/>
        </p:nvSpPr>
        <p:spPr>
          <a:xfrm>
            <a:off x="8102600" y="1922711"/>
            <a:ext cx="3191764"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FFFFFF"/>
                </a:solidFill>
                <a:latin typeface="Jost" pitchFamily="34" charset="0"/>
                <a:ea typeface="Jost" pitchFamily="34" charset="-122"/>
                <a:cs typeface="Jost" pitchFamily="34" charset="-120"/>
              </a:rPr>
              <a:t>3 · Sign</a:t>
            </a:r>
            <a:endParaRPr lang="en-US" sz="1700" dirty="0"/>
          </a:p>
        </p:txBody>
      </p:sp>
      <p:sp>
        <p:nvSpPr>
          <p:cNvPr id="12" name="Text 10"/>
          <p:cNvSpPr/>
          <p:nvPr/>
        </p:nvSpPr>
        <p:spPr>
          <a:xfrm>
            <a:off x="8102600" y="2275731"/>
            <a:ext cx="3191764"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Named signatory accepts in writing</a:t>
            </a:r>
            <a:endParaRPr lang="en-US" sz="1200" dirty="0"/>
          </a:p>
        </p:txBody>
      </p:sp>
      <p:sp>
        <p:nvSpPr>
          <p:cNvPr id="13" name="Text 11"/>
          <p:cNvSpPr/>
          <p:nvPr/>
        </p:nvSpPr>
        <p:spPr>
          <a:xfrm>
            <a:off x="819150" y="285100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Supplier signatory · [REQUIRES SUPPLIER]</a:t>
            </a:r>
            <a:endParaRPr lang="en-US" sz="1200" dirty="0"/>
          </a:p>
        </p:txBody>
      </p:sp>
      <p:sp>
        <p:nvSpPr>
          <p:cNvPr id="14" name="Text 12"/>
          <p:cNvSpPr/>
          <p:nvPr/>
        </p:nvSpPr>
        <p:spPr>
          <a:xfrm>
            <a:off x="6140450" y="285100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GEM countersignature · [REQUIRES OWNER]</a:t>
            </a:r>
            <a:endParaRPr lang="en-US" sz="1200" dirty="0"/>
          </a:p>
        </p:txBody>
      </p:sp>
      <p:sp>
        <p:nvSpPr>
          <p:cNvPr id="15" name="Text 1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SUPPLIER</a:t>
            </a:r>
            <a:endParaRPr lang="en-US" sz="1200" dirty="0"/>
          </a:p>
        </p:txBody>
      </p:sp>
      <p:sp>
        <p:nvSpPr>
          <p:cNvPr id="16" name="Text 1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48</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7112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44 · FIVE PROOF LEVELS</a:t>
            </a:r>
            <a:endParaRPr lang="en-US" sz="1200" dirty="0"/>
          </a:p>
        </p:txBody>
      </p:sp>
      <p:sp>
        <p:nvSpPr>
          <p:cNvPr id="3" name="Text 1"/>
          <p:cNvSpPr/>
          <p:nvPr>
            <p:ph type="title"/>
          </p:nvPr>
        </p:nvSpPr>
        <p:spPr>
          <a:xfrm>
            <a:off x="812800" y="10261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Each level proves something different.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447750"/>
          <a:ext cx="10553700" cy="2636044"/>
        </p:xfrm>
        <a:graphic>
          <a:graphicData uri="http://schemas.openxmlformats.org/drawingml/2006/table">
            <a:tbl>
              <a:tblPr/>
              <a:tblGrid>
                <a:gridCol w="738759"/>
                <a:gridCol w="1794129"/>
                <a:gridCol w="3799332"/>
                <a:gridCol w="4221480"/>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Level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Name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Proves</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Cannot prove / cannot replace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P1</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Digital preview</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Layout and content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substrate, finish,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54600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P2</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Separations and files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Does not replace a physical production-intent proof where physical characteristics matter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P3</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proof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intent only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finish, structure,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759321">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P4</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Required where material, finish, structure, fit, fabrication, tactile quality or surface behaviour matter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consistency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The signed reference for repeat production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a substitute for batch inspection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191744"/>
            <a:ext cx="10553700" cy="363190"/>
          </a:xfrm>
          <a:prstGeom prst="rect">
            <a:avLst/>
          </a:prstGeom>
          <a:noFill/>
          <a:ln w="12700">
            <a:solidFill>
              <a:srgbClr val="12171D"/>
            </a:solidFill>
            <a:prstDash val="solid"/>
          </a:ln>
        </p:spPr>
        <p:txBody>
          <a:bodyPr wrap="square" lIns="120650" tIns="82550" rIns="0" bIns="57150" rtlCol="0" anchor="t">
            <a:normAutofit/>
          </a:bodyPr>
          <a:lstStyle/>
          <a:p>
            <a:pPr algn="l" indent="0" marL="0">
              <a:lnSpc>
                <a:spcPts val="1560"/>
              </a:lnSpc>
              <a:buNone/>
            </a:pPr>
            <a:r>
              <a:rPr lang="en-US" sz="1200" dirty="0">
                <a:solidFill>
                  <a:srgbClr val="12171D"/>
                </a:solidFill>
                <a:latin typeface="Inter" pitchFamily="34" charset="0"/>
                <a:ea typeface="Inter" pitchFamily="34" charset="-122"/>
                <a:cs typeface="Inter" pitchFamily="34" charset="-120"/>
              </a:rPr>
              <a:t>No lower proof level may substitute for a higher level where the higher level proves a physical characteristic relevant to the job.</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49</a:t>
            </a:r>
            <a:endParaRPr lang="en-US" sz="12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45 · GOLDEN SAMPLE · PENDING PHYSICAL PROOF</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The golden sample is the reference. Nothing else is.</a:t>
            </a:r>
            <a:endParaRPr lang="en-US" sz="2800" dirty="0"/>
          </a:p>
        </p:txBody>
      </p:sp>
      <p:sp>
        <p:nvSpPr>
          <p:cNvPr id="4" name="Text 2"/>
          <p:cNvSpPr/>
          <p:nvPr/>
        </p:nvSpPr>
        <p:spPr>
          <a:xfrm>
            <a:off x="819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Approved and signed</a:t>
            </a:r>
            <a:endParaRPr lang="en-US" sz="1300" dirty="0"/>
          </a:p>
        </p:txBody>
      </p:sp>
      <p:sp>
        <p:nvSpPr>
          <p:cNvPr id="5" name="Text 3"/>
          <p:cNvSpPr/>
          <p:nvPr/>
        </p:nvSpPr>
        <p:spPr>
          <a:xfrm>
            <a:off x="4375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Uniquely identified and dated</a:t>
            </a:r>
            <a:endParaRPr lang="en-US" sz="1300" dirty="0"/>
          </a:p>
        </p:txBody>
      </p:sp>
      <p:sp>
        <p:nvSpPr>
          <p:cNvPr id="6" name="Text 4"/>
          <p:cNvSpPr/>
          <p:nvPr/>
        </p:nvSpPr>
        <p:spPr>
          <a:xfrm>
            <a:off x="7931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Held by GEM and by the supplier</a:t>
            </a:r>
            <a:endParaRPr lang="en-US" sz="1300" dirty="0"/>
          </a:p>
        </p:txBody>
      </p:sp>
      <p:sp>
        <p:nvSpPr>
          <p:cNvPr id="7" name="Text 5"/>
          <p:cNvSpPr/>
          <p:nvPr/>
        </p:nvSpPr>
        <p:spPr>
          <a:xfrm>
            <a:off x="8191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Storage conditions · [PENDING]</a:t>
            </a:r>
            <a:endParaRPr lang="en-US" sz="1200" dirty="0"/>
          </a:p>
        </p:txBody>
      </p:sp>
      <p:sp>
        <p:nvSpPr>
          <p:cNvPr id="8" name="Text 6"/>
          <p:cNvSpPr/>
          <p:nvPr/>
        </p:nvSpPr>
        <p:spPr>
          <a:xfrm>
            <a:off x="61404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Review interval · [PENDING]</a:t>
            </a:r>
            <a:endParaRPr lang="en-US" sz="1200" dirty="0"/>
          </a:p>
        </p:txBody>
      </p:sp>
      <p:sp>
        <p:nvSpPr>
          <p:cNvPr id="9" name="Text 7"/>
          <p:cNvSpPr/>
          <p:nvPr/>
        </p:nvSpPr>
        <p:spPr>
          <a:xfrm>
            <a:off x="819150" y="292655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Custodian · [REQUIRES OWNER]</a:t>
            </a:r>
            <a:endParaRPr lang="en-US" sz="1200" dirty="0"/>
          </a:p>
        </p:txBody>
      </p:sp>
      <p:sp>
        <p:nvSpPr>
          <p:cNvPr id="10" name="Text 8"/>
          <p:cNvSpPr/>
          <p:nvPr/>
        </p:nvSpPr>
        <p:spPr>
          <a:xfrm>
            <a:off x="6140450" y="292655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Replacement rule · [PENDING]</a:t>
            </a:r>
            <a:endParaRPr lang="en-US" sz="1200" dirty="0"/>
          </a:p>
        </p:txBody>
      </p:sp>
      <p:sp>
        <p:nvSpPr>
          <p:cNvPr id="11"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12"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50</a:t>
            </a:r>
            <a:endParaRPr lang="en-US" sz="12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46 · PRODUCTION DEVIATION</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A deviation is requested before it happens.</a:t>
            </a:r>
            <a:endParaRPr lang="en-US" sz="2400" dirty="0"/>
          </a:p>
        </p:txBody>
      </p:sp>
      <p:sp>
        <p:nvSpPr>
          <p:cNvPr id="4" name="Text 2"/>
          <p:cNvSpPr/>
          <p:nvPr/>
        </p:nvSpPr>
        <p:spPr>
          <a:xfrm>
            <a:off x="81915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Supplier requests in writing</a:t>
            </a:r>
            <a:endParaRPr lang="en-US" sz="1300" dirty="0"/>
          </a:p>
        </p:txBody>
      </p:sp>
      <p:sp>
        <p:nvSpPr>
          <p:cNvPr id="5" name="Text 3"/>
          <p:cNvSpPr/>
          <p:nvPr/>
        </p:nvSpPr>
        <p:spPr>
          <a:xfrm>
            <a:off x="347980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Impact is stated</a:t>
            </a:r>
            <a:endParaRPr lang="en-US" sz="1300" dirty="0"/>
          </a:p>
        </p:txBody>
      </p:sp>
      <p:sp>
        <p:nvSpPr>
          <p:cNvPr id="6" name="Text 4"/>
          <p:cNvSpPr/>
          <p:nvPr/>
        </p:nvSpPr>
        <p:spPr>
          <a:xfrm>
            <a:off x="614045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Brand Owner decides</a:t>
            </a:r>
            <a:endParaRPr lang="en-US" sz="1300" dirty="0"/>
          </a:p>
        </p:txBody>
      </p:sp>
      <p:sp>
        <p:nvSpPr>
          <p:cNvPr id="7" name="Text 5"/>
          <p:cNvSpPr/>
          <p:nvPr/>
        </p:nvSpPr>
        <p:spPr>
          <a:xfrm>
            <a:off x="8801100" y="1672530"/>
            <a:ext cx="2571750" cy="45591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Decision is logged</a:t>
            </a:r>
            <a:endParaRPr lang="en-US" sz="13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2299891"/>
          <a:ext cx="10553700" cy="1330722"/>
        </p:xfrm>
        <a:graphic>
          <a:graphicData uri="http://schemas.openxmlformats.org/drawingml/2006/table">
            <a:tbl>
              <a:tblPr/>
              <a:tblGrid>
                <a:gridCol w="3799332"/>
                <a:gridCol w="6754368"/>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Outcome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Effect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Accepted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Recorded on the change log; masters updated if needed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Rejected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Run continues to the approved specification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Not decided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does not proceed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9" name="Text 6"/>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SUPPLIER</a:t>
            </a:r>
            <a:endParaRPr lang="en-US" sz="1200" dirty="0"/>
          </a:p>
        </p:txBody>
      </p:sp>
      <p:sp>
        <p:nvSpPr>
          <p:cNvPr id="10" name="Text 7"/>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51</a:t>
            </a:r>
            <a:endParaRPr lang="en-US" sz="12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47 · INCOMING QA · PENDING</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Check what arrives against what was approved.</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06811"/>
          <a:ext cx="10553700" cy="2328763"/>
        </p:xfrm>
        <a:graphic>
          <a:graphicData uri="http://schemas.openxmlformats.org/drawingml/2006/table">
            <a:tbl>
              <a:tblPr/>
              <a:tblGrid>
                <a:gridCol w="3799332"/>
                <a:gridCol w="6754368"/>
              </a:tblGrid>
              <a:tr h="332680">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c>
                  <a:txBody>
                    <a:bodyPr/>
                    <a:lstStyle/>
                    <a:p>
                      <a:pPr indent="0" marL="0">
                        <a:lnSpc>
                          <a:spcPts val="1680"/>
                        </a:lnSpc>
                        <a:buNone/>
                      </a:pPr>
                      <a:r>
                        <a:rPr lang="en-US" sz="1200" b="1" dirty="0">
                          <a:solidFill>
                            <a:srgbClr val="12171D"/>
                          </a:solidFill>
                          <a:latin typeface="Inter" pitchFamily="34" charset="0"/>
                          <a:ea typeface="Inter" pitchFamily="34" charset="-122"/>
                          <a:cs typeface="Inter" pitchFamily="34" charset="-120"/>
                        </a:rPr>
                        <a:t>Standard</a:t>
                      </a:r>
                      <a:endParaRPr lang="en-US" sz="1200" dirty="0">
                        <a:latin typeface="Inter" charset="0"/>
                        <a:ea typeface="Inter" charset="0"/>
                        <a:cs typeface="Inter" charset="0"/>
                      </a:endParaRPr>
                    </a:p>
                  </a:txBody>
                  <a:tcPr marL="53340" marR="53340" marT="53340" marB="53340" anchor="t">
                    <a:lnL w="12700" cap="flat" cmpd="sng" algn="ctr">
                      <a:solidFill>
                        <a:srgbClr val="CABDB8"/>
                      </a:solidFill>
                      <a:prstDash val="solid"/>
                      <a:round/>
                      <a:headEnd type="none" w="med" len="med"/>
                      <a:tailEnd type="none" w="med" len="med"/>
                    </a:lnL>
                    <a:lnR w="12700" cap="flat" cmpd="sng" algn="ctr">
                      <a:solidFill>
                        <a:srgbClr val="CABDB8"/>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CABDB8"/>
                      </a:solidFill>
                      <a:prstDash val="solid"/>
                      <a:round/>
                      <a:headEnd type="none" w="med" len="med"/>
                      <a:tailEnd type="none" w="med" len="med"/>
                    </a:lnB>
                    <a:solidFill>
                      <a:srgbClr val="BCACA7"/>
                    </a:solidFill>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Identity</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Artwork version matches the release form</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CABDB8"/>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Colour</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golden sample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Dimensions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supplier dieline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Finish and defects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golden sample · [PENDING]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Regulatory copy and codes</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Against approved record</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r h="332680">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Sampling plan</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c>
                  <a:txBody>
                    <a:bodyPr/>
                    <a:lstStyle/>
                    <a:p>
                      <a:pPr indent="0" marL="0">
                        <a:lnSpc>
                          <a:spcPts val="1680"/>
                        </a:lnSpc>
                        <a:buNone/>
                      </a:pPr>
                      <a:r>
                        <a:rPr lang="en-US" sz="1200" dirty="0">
                          <a:solidFill>
                            <a:srgbClr val="FFFFFF"/>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45494D"/>
                      </a:solidFill>
                      <a:prstDash val="solid"/>
                      <a:round/>
                      <a:headEnd type="none" w="med" len="med"/>
                      <a:tailEnd type="none" w="med" len="med"/>
                    </a:lnL>
                    <a:lnR w="12700" cap="flat" cmpd="sng" algn="ctr">
                      <a:solidFill>
                        <a:srgbClr val="45494D"/>
                      </a:solidFill>
                      <a:prstDash val="solid"/>
                      <a:round/>
                      <a:headEnd type="none" w="med" len="med"/>
                      <a:tailEnd type="none" w="med" len="med"/>
                    </a:lnR>
                    <a:lnT w="12700" cap="flat" cmpd="sng" algn="ctr">
                      <a:solidFill>
                        <a:srgbClr val="45494D"/>
                      </a:solidFill>
                      <a:prstDash val="solid"/>
                      <a:round/>
                      <a:headEnd type="none" w="med" len="med"/>
                      <a:tailEnd type="none" w="med" len="med"/>
                    </a:lnT>
                    <a:lnB w="12700" cap="flat" cmpd="sng" algn="ctr">
                      <a:solidFill>
                        <a:srgbClr val="45494D"/>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QA</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52</a:t>
            </a:r>
            <a:endParaRPr lang="en-US" sz="1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48 · FIRST ARTICLE INSPECTION · PENDING</a:t>
            </a:r>
            <a:endParaRPr lang="en-US" sz="1200" dirty="0"/>
          </a:p>
        </p:txBody>
      </p:sp>
      <p:sp>
        <p:nvSpPr>
          <p:cNvPr id="3" name="Text 1"/>
          <p:cNvSpPr/>
          <p:nvPr>
            <p:ph type="title"/>
          </p:nvPr>
        </p:nvSpPr>
        <p:spPr>
          <a:xfrm>
            <a:off x="812800" y="11785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The first production piece is inspected before the run continues.</a:t>
            </a:r>
            <a:endParaRPr lang="en-US" sz="2400" dirty="0"/>
          </a:p>
        </p:txBody>
      </p:sp>
      <p:sp>
        <p:nvSpPr>
          <p:cNvPr id="4" name="Text 2"/>
          <p:cNvSpPr/>
          <p:nvPr/>
        </p:nvSpPr>
        <p:spPr>
          <a:xfrm>
            <a:off x="81915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1 · Pull first article from production</a:t>
            </a:r>
            <a:endParaRPr lang="en-US" sz="1300" dirty="0"/>
          </a:p>
        </p:txBody>
      </p:sp>
      <p:sp>
        <p:nvSpPr>
          <p:cNvPr id="5" name="Text 3"/>
          <p:cNvSpPr/>
          <p:nvPr/>
        </p:nvSpPr>
        <p:spPr>
          <a:xfrm>
            <a:off x="347980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2 · Compare to golden sample</a:t>
            </a:r>
            <a:endParaRPr lang="en-US" sz="1300" dirty="0"/>
          </a:p>
        </p:txBody>
      </p:sp>
      <p:sp>
        <p:nvSpPr>
          <p:cNvPr id="6" name="Text 4"/>
          <p:cNvSpPr/>
          <p:nvPr/>
        </p:nvSpPr>
        <p:spPr>
          <a:xfrm>
            <a:off x="614045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3 · Record result and photograph</a:t>
            </a:r>
            <a:endParaRPr lang="en-US" sz="1300" dirty="0"/>
          </a:p>
        </p:txBody>
      </p:sp>
      <p:sp>
        <p:nvSpPr>
          <p:cNvPr id="7" name="Text 5"/>
          <p:cNvSpPr/>
          <p:nvPr/>
        </p:nvSpPr>
        <p:spPr>
          <a:xfrm>
            <a:off x="8801100" y="1672530"/>
            <a:ext cx="2571750" cy="670520"/>
          </a:xfrm>
          <a:prstGeom prst="rect">
            <a:avLst/>
          </a:prstGeom>
          <a:noFill/>
          <a:ln w="12700">
            <a:solidFill>
              <a:srgbClr val="12171D"/>
            </a:solidFill>
            <a:prstDash val="solid"/>
          </a:ln>
        </p:spPr>
        <p:txBody>
          <a:bodyPr wrap="square" lIns="120650" tIns="120650" rIns="50737" bIns="95250" rtlCol="0" anchor="t">
            <a:normAutofit/>
          </a:bodyPr>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4 · GEM releases or rejects</a:t>
            </a:r>
            <a:endParaRPr lang="en-US" sz="1300" dirty="0"/>
          </a:p>
        </p:txBody>
      </p:sp>
      <p:sp>
        <p:nvSpPr>
          <p:cNvPr id="8" name="Text 6"/>
          <p:cNvSpPr/>
          <p:nvPr/>
        </p:nvSpPr>
        <p:spPr>
          <a:xfrm>
            <a:off x="819150" y="2508151"/>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Acceptance criteria · [PENDING]</a:t>
            </a:r>
            <a:endParaRPr lang="en-US" sz="1200" dirty="0"/>
          </a:p>
        </p:txBody>
      </p:sp>
      <p:sp>
        <p:nvSpPr>
          <p:cNvPr id="9" name="Text 7"/>
          <p:cNvSpPr/>
          <p:nvPr/>
        </p:nvSpPr>
        <p:spPr>
          <a:xfrm>
            <a:off x="6140450" y="2508151"/>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Inspector · [REQUIRES OWNER]</a:t>
            </a:r>
            <a:endParaRPr lang="en-US" sz="1200" dirty="0"/>
          </a:p>
        </p:txBody>
      </p:sp>
      <p:sp>
        <p:nvSpPr>
          <p:cNvPr id="10"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QA</a:t>
            </a:r>
            <a:endParaRPr lang="en-US" sz="1200" dirty="0"/>
          </a:p>
        </p:txBody>
      </p:sp>
      <p:sp>
        <p:nvSpPr>
          <p:cNvPr id="11"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53</a:t>
            </a:r>
            <a:endParaRPr lang="en-US" sz="12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49 · BATCH CONTROL · PENDING</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Every batch can be traced to its artwork.</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a:tblGrid>
                <a:gridCol w="3799332"/>
                <a:gridCol w="6754368"/>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Record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identifier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from the manifest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number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date and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Inspection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Pass / hold / reject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Retained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QA</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54</a:t>
            </a:r>
            <a:endParaRPr lang="en-US" sz="12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50 · NON-CONFORMANCE</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Hold, record, decide, close.</a:t>
            </a:r>
            <a:endParaRPr lang="en-US" sz="2600" dirty="0"/>
          </a:p>
        </p:txBody>
      </p:sp>
      <p:sp>
        <p:nvSpPr>
          <p:cNvPr id="4" name="Text 2"/>
          <p:cNvSpPr/>
          <p:nvPr/>
        </p:nvSpPr>
        <p:spPr>
          <a:xfrm>
            <a:off x="81915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HOLD · Stop the affected batch</a:t>
            </a:r>
            <a:endParaRPr lang="en-US" sz="1300" dirty="0"/>
          </a:p>
        </p:txBody>
      </p:sp>
      <p:sp>
        <p:nvSpPr>
          <p:cNvPr id="5" name="Text 3"/>
          <p:cNvSpPr/>
          <p:nvPr/>
        </p:nvSpPr>
        <p:spPr>
          <a:xfrm>
            <a:off x="347980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RECORD · Defect, evidence, quantity</a:t>
            </a:r>
            <a:endParaRPr lang="en-US" sz="1300" dirty="0"/>
          </a:p>
        </p:txBody>
      </p:sp>
      <p:sp>
        <p:nvSpPr>
          <p:cNvPr id="6" name="Text 4"/>
          <p:cNvSpPr/>
          <p:nvPr/>
        </p:nvSpPr>
        <p:spPr>
          <a:xfrm>
            <a:off x="614045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DECIDE · Rework, accept, scrap</a:t>
            </a:r>
            <a:endParaRPr lang="en-US" sz="1300" dirty="0"/>
          </a:p>
        </p:txBody>
      </p:sp>
      <p:sp>
        <p:nvSpPr>
          <p:cNvPr id="7" name="Text 5"/>
          <p:cNvSpPr/>
          <p:nvPr/>
        </p:nvSpPr>
        <p:spPr>
          <a:xfrm>
            <a:off x="8801100" y="1751261"/>
            <a:ext cx="2571750" cy="695920"/>
          </a:xfrm>
          <a:prstGeom prst="rect">
            <a:avLst/>
          </a:prstGeom>
          <a:noFill/>
          <a:ln w="12700">
            <a:solidFill>
              <a:srgbClr val="BCACA7"/>
            </a:solidFill>
            <a:prstDash val="solid"/>
          </a:ln>
        </p:spPr>
        <p:txBody>
          <a:bodyPr wrap="square" lIns="133350" tIns="133350" rIns="64199" bIns="1079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CLOSE · Cause and fix recorded</a:t>
            </a:r>
            <a:endParaRPr lang="en-US" sz="1300" dirty="0"/>
          </a:p>
        </p:txBody>
      </p:sp>
      <p:sp>
        <p:nvSpPr>
          <p:cNvPr id="8" name="Text 6"/>
          <p:cNvSpPr/>
          <p:nvPr/>
        </p:nvSpPr>
        <p:spPr>
          <a:xfrm>
            <a:off x="819150" y="263768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Severity classes · [PENDING]</a:t>
            </a:r>
            <a:endParaRPr lang="en-US" sz="1200" dirty="0"/>
          </a:p>
        </p:txBody>
      </p:sp>
      <p:sp>
        <p:nvSpPr>
          <p:cNvPr id="9" name="Text 7"/>
          <p:cNvSpPr/>
          <p:nvPr/>
        </p:nvSpPr>
        <p:spPr>
          <a:xfrm>
            <a:off x="6140450" y="2637681"/>
            <a:ext cx="5232400" cy="378420"/>
          </a:xfrm>
          <a:prstGeom prst="rect">
            <a:avLst/>
          </a:prstGeom>
          <a:noFill/>
          <a:ln w="12700">
            <a:solidFill>
              <a:srgbClr val="BCACA7"/>
            </a:solidFill>
            <a:prstDash val="dash"/>
          </a:ln>
        </p:spPr>
        <p:txBody>
          <a:bodyPr wrap="square" lIns="107950" tIns="82550" rIns="0" bIns="57150" rtlCol="0" anchor="t">
            <a:normAutofit/>
          </a:bodyPr>
          <a:lstStyle/>
          <a:p>
            <a:pPr algn="l" indent="0" marL="0">
              <a:lnSpc>
                <a:spcPts val="1680"/>
              </a:lnSpc>
              <a:buNone/>
            </a:pPr>
            <a:r>
              <a:rPr lang="en-US" sz="1200" dirty="0">
                <a:solidFill>
                  <a:srgbClr val="FFFFFF"/>
                </a:solidFill>
                <a:latin typeface="Inter" pitchFamily="34" charset="0"/>
                <a:ea typeface="Inter" pitchFamily="34" charset="-122"/>
                <a:cs typeface="Inter" pitchFamily="34" charset="-120"/>
              </a:rPr>
              <a:t>Decision holder · [REQUIRES OWNER]</a:t>
            </a:r>
            <a:endParaRPr lang="en-US" sz="1200" dirty="0"/>
          </a:p>
        </p:txBody>
      </p:sp>
      <p:sp>
        <p:nvSpPr>
          <p:cNvPr id="10" name="Text 8"/>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QA</a:t>
            </a:r>
            <a:endParaRPr lang="en-US" sz="1200" dirty="0"/>
          </a:p>
        </p:txBody>
      </p:sp>
      <p:sp>
        <p:nvSpPr>
          <p:cNvPr id="11" name="Text 9"/>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55</a:t>
            </a:r>
            <a:endParaRPr lang="en-US" sz="12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51 · FILE NAMING · APPROVED · REGISTER X12</a:t>
            </a:r>
            <a:endParaRPr lang="en-US" sz="1200" dirty="0"/>
          </a:p>
        </p:txBody>
      </p:sp>
      <p:sp>
        <p:nvSpPr>
          <p:cNvPr id="3" name="Text 1"/>
          <p:cNvSpPr/>
          <p:nvPr>
            <p:ph type="title"/>
          </p:nvPr>
        </p:nvSpPr>
        <p:spPr>
          <a:xfrm>
            <a:off x="812800" y="12039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One pattern. Every file.</a:t>
            </a:r>
            <a:endParaRPr lang="en-US" sz="2600" dirty="0"/>
          </a:p>
        </p:txBody>
      </p:sp>
      <p:sp>
        <p:nvSpPr>
          <p:cNvPr id="4" name="Text 2"/>
          <p:cNvSpPr/>
          <p:nvPr/>
        </p:nvSpPr>
        <p:spPr>
          <a:xfrm>
            <a:off x="819150" y="1751261"/>
            <a:ext cx="10553700" cy="759420"/>
          </a:xfrm>
          <a:prstGeom prst="rect">
            <a:avLst/>
          </a:prstGeom>
          <a:noFill/>
          <a:ln w="12700">
            <a:solidFill>
              <a:srgbClr val="BCACA7"/>
            </a:solidFill>
            <a:prstDash val="solid"/>
          </a:ln>
        </p:spPr>
        <p:txBody>
          <a:bodyPr wrap="square" lIns="209550" tIns="184150" rIns="0" bIns="158750" rtlCol="0" anchor="t">
            <a:normAutofit/>
          </a:bodyPr>
          <a:lstStyle/>
          <a:p>
            <a:pPr algn="l" indent="0" marL="0">
              <a:lnSpc>
                <a:spcPts val="3080"/>
              </a:lnSpc>
              <a:buNone/>
            </a:pPr>
            <a:r>
              <a:rPr lang="en-US" sz="2200" spc="45" kern="0" dirty="0">
                <a:solidFill>
                  <a:srgbClr val="FFFFFF"/>
                </a:solidFill>
                <a:latin typeface="Jost" pitchFamily="34" charset="0"/>
                <a:ea typeface="Jost" pitchFamily="34" charset="-122"/>
                <a:cs typeface="Jost" pitchFamily="34" charset="-120"/>
              </a:rPr>
              <a:t>GEM_[STREAM]_[ASSET]_[VARIANT]_vX.Y_YYYYMMDD.ext</a:t>
            </a:r>
            <a:endParaRPr lang="en-US" sz="2200" dirty="0"/>
          </a:p>
        </p:txBody>
      </p:sp>
      <p:sp>
        <p:nvSpPr>
          <p:cNvPr id="5" name="Text 3"/>
          <p:cNvSpPr/>
          <p:nvPr/>
        </p:nvSpPr>
        <p:spPr>
          <a:xfrm>
            <a:off x="819150" y="270118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Underscores separate fields; no spaces</a:t>
            </a:r>
            <a:endParaRPr lang="en-US" sz="1200" dirty="0"/>
          </a:p>
        </p:txBody>
      </p:sp>
      <p:sp>
        <p:nvSpPr>
          <p:cNvPr id="6" name="Text 4"/>
          <p:cNvSpPr/>
          <p:nvPr/>
        </p:nvSpPr>
        <p:spPr>
          <a:xfrm>
            <a:off x="6140450" y="270118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Latin letters and digits only</a:t>
            </a:r>
            <a:endParaRPr lang="en-US" sz="1200" dirty="0"/>
          </a:p>
        </p:txBody>
      </p:sp>
      <p:sp>
        <p:nvSpPr>
          <p:cNvPr id="7" name="Text 5"/>
          <p:cNvSpPr/>
          <p:nvPr/>
        </p:nvSpPr>
        <p:spPr>
          <a:xfrm>
            <a:off x="819150" y="318631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Version moves up; old versions archive</a:t>
            </a:r>
            <a:endParaRPr lang="en-US" sz="1200" dirty="0"/>
          </a:p>
        </p:txBody>
      </p:sp>
      <p:sp>
        <p:nvSpPr>
          <p:cNvPr id="8" name="Text 6"/>
          <p:cNvSpPr/>
          <p:nvPr/>
        </p:nvSpPr>
        <p:spPr>
          <a:xfrm>
            <a:off x="6140450" y="3186311"/>
            <a:ext cx="5232400" cy="396230"/>
          </a:xfrm>
          <a:prstGeom prst="rect">
            <a:avLst/>
          </a:prstGeom>
          <a:noFill/>
          <a:ln w="12700">
            <a:solidFill>
              <a:srgbClr val="BCACA7"/>
            </a:solidFill>
            <a:prstDash val="solid"/>
          </a:ln>
        </p:spPr>
        <p:txBody>
          <a:bodyPr wrap="square" lIns="120650" tIns="95250" rIns="0" bIns="69850" rtlCol="0" anchor="t">
            <a:normAutofit/>
          </a:bodyPr>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No “final”, “new” or “copy” in a name</a:t>
            </a:r>
            <a:endParaRPr lang="en-US" sz="1200" dirty="0"/>
          </a:p>
        </p:txBody>
      </p:sp>
      <p:sp>
        <p:nvSpPr>
          <p:cNvPr id="9"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ASSET CONTROL</a:t>
            </a:r>
            <a:endParaRPr lang="en-US" sz="1200" dirty="0"/>
          </a:p>
        </p:txBody>
      </p:sp>
      <p:sp>
        <p:nvSpPr>
          <p:cNvPr id="10"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56</a:t>
            </a:r>
            <a:endParaRPr lang="en-US" sz="1200" dirty="0"/>
          </a:p>
        </p:txBody>
      </p:sp>
      <p:sp>
        <p:nvSpPr>
          <p:cNvPr id="11" name="Text 9"/>
          <p:cNvSpPr/>
          <p:nvPr/>
        </p:nvSpPr>
        <p:spPr>
          <a:xfrm>
            <a:off x="822960" y="3703320"/>
            <a:ext cx="10552176" cy="640080"/>
          </a:xfrm>
          <a:prstGeom prst="rect">
            <a:avLst/>
          </a:prstGeom>
          <a:noFill/>
          <a:ln w="12700">
            <a:solidFill>
              <a:srgbClr val="BCACA7"/>
            </a:solidFill>
            <a:prstDash val="solid"/>
          </a:ln>
        </p:spPr>
        <p:txBody>
          <a:bodyPr wrap="square" lIns="120650" tIns="95250" rIns="0" bIns="69850" rtlCol="0" anchor="t"/>
          <a:lstStyle/>
          <a:p>
            <a:pPr algn="l" indent="0" marL="0">
              <a:lnSpc>
                <a:spcPts val="1620"/>
              </a:lnSpc>
              <a:buNone/>
            </a:pPr>
            <a:r>
              <a:rPr lang="en-US" sz="1200" dirty="0">
                <a:solidFill>
                  <a:srgbClr val="FFFFFF"/>
                </a:solidFill>
                <a:latin typeface="Inter" pitchFamily="34" charset="0"/>
                <a:ea typeface="Inter" pitchFamily="34" charset="-122"/>
                <a:cs typeface="Inter" pitchFamily="34" charset="-120"/>
              </a:rPr>
              <a:t>Convention X12 of the V3 Approval Register; the date field is the issue date. Proposed, CONDITIONAL [REQUIRES OWNER]: asset ID GEM-[CATEGORY]-[NNN] and SHA-256 checksums, recorded in the manifest (Appendix N).</a:t>
            </a:r>
            <a:endParaRPr lang="en-US" sz="12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52 · ASSET MANIFEST</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If it is not in the manifest, it is not released.</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28080"/>
          <a:ext cx="10553700" cy="2328763"/>
        </p:xfrm>
        <a:graphic>
          <a:graphicData uri="http://schemas.openxmlformats.org/drawingml/2006/table">
            <a:tbl>
              <a:tblPr/>
              <a:tblGrid>
                <a:gridCol w="3166110"/>
                <a:gridCol w="7387590"/>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Column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Content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Per naming convention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vX.Y · APPROVED / CONDITIONAL / PENDING VALIDATION /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Source master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Parent file and its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Rights and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Appendix A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and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ASSET CONTROL</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57</a:t>
            </a:r>
            <a:endParaRPr lang="en-US" sz="12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BCACA7"/>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53 · ARCHIVE</a:t>
            </a:r>
            <a:endParaRPr lang="en-US" sz="1200" dirty="0"/>
          </a:p>
        </p:txBody>
      </p:sp>
      <p:sp>
        <p:nvSpPr>
          <p:cNvPr id="3" name="Text 1"/>
          <p:cNvSpPr/>
          <p:nvPr>
            <p:ph type="title"/>
          </p:nvPr>
        </p:nvSpPr>
        <p:spPr>
          <a:xfrm>
            <a:off x="812800" y="1203920"/>
            <a:ext cx="10883392" cy="416520"/>
          </a:xfrm>
          <a:prstGeom prst="rect">
            <a:avLst/>
          </a:prstGeom>
          <a:noFill/>
          <a:ln/>
        </p:spPr>
        <p:txBody>
          <a:bodyPr wrap="square" lIns="0" tIns="0" rIns="0" bIns="0" rtlCol="0" anchor="t">
            <a:normAutofit/>
          </a:bodyPr>
          <a:lstStyle/>
          <a:p>
            <a:pPr algn="l" indent="0" marL="0">
              <a:lnSpc>
                <a:spcPts val="3080"/>
              </a:lnSpc>
              <a:buNone/>
            </a:pPr>
            <a:r>
              <a:rPr lang="en-US" sz="2800" b="0" i="0" spc="55" kern="0" dirty="0">
                <a:solidFill>
                  <a:srgbClr val="12171D"/>
                </a:solidFill>
                <a:latin typeface="Jost" pitchFamily="34" charset="0"/>
                <a:ea typeface="Jost" pitchFamily="34" charset="-122"/>
                <a:cs typeface="Jost" pitchFamily="34" charset="-120"/>
              </a:rPr>
              <a:t>Superseded is archived, never deleted.</a:t>
            </a:r>
            <a:endParaRPr lang="en-US" sz="2800" dirty="0"/>
          </a:p>
        </p:txBody>
      </p:sp>
      <p:sp>
        <p:nvSpPr>
          <p:cNvPr id="4" name="Text 2"/>
          <p:cNvSpPr/>
          <p:nvPr/>
        </p:nvSpPr>
        <p:spPr>
          <a:xfrm>
            <a:off x="819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Released set is frozen per job</a:t>
            </a:r>
            <a:endParaRPr lang="en-US" sz="1300" dirty="0"/>
          </a:p>
        </p:txBody>
      </p:sp>
      <p:sp>
        <p:nvSpPr>
          <p:cNvPr id="5" name="Text 3"/>
          <p:cNvSpPr/>
          <p:nvPr/>
        </p:nvSpPr>
        <p:spPr>
          <a:xfrm>
            <a:off x="4375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Old versions move to 10 Archive</a:t>
            </a:r>
            <a:endParaRPr lang="en-US" sz="1300" dirty="0"/>
          </a:p>
        </p:txBody>
      </p:sp>
      <p:sp>
        <p:nvSpPr>
          <p:cNvPr id="6" name="Text 4"/>
          <p:cNvSpPr/>
          <p:nvPr/>
        </p:nvSpPr>
        <p:spPr>
          <a:xfrm>
            <a:off x="7931150" y="1779191"/>
            <a:ext cx="3441700" cy="489545"/>
          </a:xfrm>
          <a:prstGeom prst="rect">
            <a:avLst/>
          </a:prstGeom>
          <a:noFill/>
          <a:ln w="12700">
            <a:solidFill>
              <a:srgbClr val="12171D"/>
            </a:solidFill>
            <a:prstDash val="solid"/>
          </a:ln>
        </p:spPr>
        <p:txBody>
          <a:bodyPr wrap="square" lIns="133350" tIns="133350" rIns="38100" bIns="107950" rtlCol="0" anchor="t">
            <a:normAutofit/>
          </a:bodyPr>
          <a:lstStyle/>
          <a:p>
            <a:pPr algn="l" indent="0" marL="0">
              <a:lnSpc>
                <a:spcPts val="1755"/>
              </a:lnSpc>
              <a:buNone/>
            </a:pPr>
            <a:r>
              <a:rPr lang="en-US" sz="1300" dirty="0">
                <a:solidFill>
                  <a:srgbClr val="12171D"/>
                </a:solidFill>
                <a:latin typeface="Inter" pitchFamily="34" charset="0"/>
                <a:ea typeface="Inter" pitchFamily="34" charset="-122"/>
                <a:cs typeface="Inter" pitchFamily="34" charset="-120"/>
              </a:rPr>
              <a:t>Golden samples stay logged</a:t>
            </a:r>
            <a:endParaRPr lang="en-US" sz="1300" dirty="0"/>
          </a:p>
        </p:txBody>
      </p:sp>
      <p:sp>
        <p:nvSpPr>
          <p:cNvPr id="7" name="Text 5"/>
          <p:cNvSpPr/>
          <p:nvPr/>
        </p:nvSpPr>
        <p:spPr>
          <a:xfrm>
            <a:off x="8191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Retention period · [PENDING]</a:t>
            </a:r>
            <a:endParaRPr lang="en-US" sz="1200" dirty="0"/>
          </a:p>
        </p:txBody>
      </p:sp>
      <p:sp>
        <p:nvSpPr>
          <p:cNvPr id="8" name="Text 6"/>
          <p:cNvSpPr/>
          <p:nvPr/>
        </p:nvSpPr>
        <p:spPr>
          <a:xfrm>
            <a:off x="6140450" y="2459236"/>
            <a:ext cx="5232400" cy="378420"/>
          </a:xfrm>
          <a:prstGeom prst="rect">
            <a:avLst/>
          </a:prstGeom>
          <a:noFill/>
          <a:ln w="12700">
            <a:solidFill>
              <a:srgbClr val="12171D"/>
            </a:solidFill>
            <a:prstDash val="dash"/>
          </a:ln>
        </p:spPr>
        <p:txBody>
          <a:bodyPr wrap="square" lIns="107950" tIns="82550" rIns="0" bIns="57150" rtlCol="0" anchor="t">
            <a:normAutofit/>
          </a:bodyPr>
          <a:lstStyle/>
          <a:p>
            <a:pPr algn="l" indent="0" marL="0">
              <a:lnSpc>
                <a:spcPts val="1680"/>
              </a:lnSpc>
              <a:buNone/>
            </a:pPr>
            <a:r>
              <a:rPr lang="en-US" sz="1200" dirty="0">
                <a:solidFill>
                  <a:srgbClr val="12171D"/>
                </a:solidFill>
                <a:latin typeface="Inter" pitchFamily="34" charset="0"/>
                <a:ea typeface="Inter" pitchFamily="34" charset="-122"/>
                <a:cs typeface="Inter" pitchFamily="34" charset="-120"/>
              </a:rPr>
              <a:t>Archive custodian · [REQUIRES OWNER]</a:t>
            </a:r>
            <a:endParaRPr lang="en-US" sz="1200" dirty="0"/>
          </a:p>
        </p:txBody>
      </p:sp>
      <p:sp>
        <p:nvSpPr>
          <p:cNvPr id="9" name="Text 7"/>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ASSET CONTROL</a:t>
            </a:r>
            <a:endParaRPr lang="en-US" sz="1200" dirty="0"/>
          </a:p>
        </p:txBody>
      </p:sp>
      <p:sp>
        <p:nvSpPr>
          <p:cNvPr id="10" name="Text 8"/>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58</a:t>
            </a:r>
            <a:endParaRPr lang="en-US" sz="12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sp>
        <p:nvSpPr>
          <p:cNvPr id="3" name="Text 0"/>
          <p:cNvSpPr/>
          <p:nvPr/>
        </p:nvSpPr>
        <p:spPr>
          <a:xfrm>
            <a:off x="812800" y="812800"/>
            <a:ext cx="2616200" cy="274290"/>
          </a:xfrm>
          <a:prstGeom prst="rect">
            <a:avLst/>
          </a:prstGeom>
          <a:noFill/>
          <a:ln/>
        </p:spPr>
        <p:txBody>
          <a:bodyPr wrap="square" lIns="0" tIns="0" rIns="0" bIns="0" rtlCol="0" anchor="t">
            <a:normAutofit/>
          </a:bodyPr>
          <a:lstStyle/>
          <a:p>
            <a:pPr algn="l" indent="0" marL="0">
              <a:lnSpc>
                <a:spcPts val="1960"/>
              </a:lnSpc>
              <a:buNone/>
            </a:pPr>
            <a:r>
              <a:rPr lang="en-US" sz="1400" spc="225" kern="0" dirty="0">
                <a:solidFill>
                  <a:srgbClr val="BCACA7"/>
                </a:solidFill>
                <a:latin typeface="Jost" pitchFamily="34" charset="0"/>
                <a:ea typeface="Jost" pitchFamily="34" charset="-122"/>
                <a:cs typeface="Jost" pitchFamily="34" charset="-120"/>
              </a:rPr>
              <a:t>A–O</a:t>
            </a:r>
            <a:endParaRPr lang="en-US" sz="1400" dirty="0"/>
          </a:p>
        </p:txBody>
      </p:sp>
      <p:sp>
        <p:nvSpPr>
          <p:cNvPr id="4" name="Text 1"/>
          <p:cNvSpPr/>
          <p:nvPr>
            <p:ph type="title"/>
          </p:nvPr>
        </p:nvSpPr>
        <p:spPr>
          <a:xfrm>
            <a:off x="812800" y="2540000"/>
            <a:ext cx="9810750" cy="825500"/>
          </a:xfrm>
          <a:prstGeom prst="rect">
            <a:avLst/>
          </a:prstGeom>
          <a:noFill/>
          <a:ln/>
        </p:spPr>
        <p:txBody>
          <a:bodyPr wrap="square" lIns="0" tIns="0" rIns="0" bIns="0" rtlCol="0" anchor="t">
            <a:normAutofit/>
          </a:bodyPr>
          <a:lstStyle/>
          <a:p>
            <a:pPr algn="l" indent="0" marL="0">
              <a:lnSpc>
                <a:spcPts val="6300"/>
              </a:lnSpc>
              <a:buNone/>
            </a:pPr>
            <a:r>
              <a:rPr lang="en-US" sz="6000" b="0" i="0" spc="480" kern="0" dirty="0">
                <a:solidFill>
                  <a:srgbClr val="FFFFFF"/>
                </a:solidFill>
                <a:latin typeface="Jost" pitchFamily="34" charset="0"/>
                <a:ea typeface="Jost" pitchFamily="34" charset="-122"/>
                <a:cs typeface="Jost" pitchFamily="34" charset="-120"/>
              </a:rPr>
              <a:t>APPENDICES</a:t>
            </a:r>
            <a:endParaRPr lang="en-US" sz="6000" dirty="0"/>
          </a:p>
        </p:txBody>
      </p:sp>
      <p:sp>
        <p:nvSpPr>
          <p:cNvPr id="5" name="Text 2"/>
          <p:cNvSpPr/>
          <p:nvPr/>
        </p:nvSpPr>
        <p:spPr>
          <a:xfrm>
            <a:off x="812800" y="3556000"/>
            <a:ext cx="7620000" cy="327620"/>
          </a:xfrm>
          <a:prstGeom prst="rect">
            <a:avLst/>
          </a:prstGeom>
          <a:noFill/>
          <a:ln/>
        </p:spPr>
        <p:txBody>
          <a:bodyPr wrap="square" lIns="0" tIns="0" rIns="0" bIns="0" rtlCol="0" anchor="t">
            <a:normAutofit/>
          </a:bodyPr>
          <a:lstStyle/>
          <a:p>
            <a:pPr algn="l" indent="0" marL="0">
              <a:lnSpc>
                <a:spcPts val="2380"/>
              </a:lnSpc>
              <a:buNone/>
            </a:pPr>
            <a:r>
              <a:rPr lang="en-US" sz="1700" dirty="0">
                <a:solidFill>
                  <a:srgbClr val="BCACA7"/>
                </a:solidFill>
                <a:latin typeface="Inter" pitchFamily="34" charset="0"/>
                <a:ea typeface="Inter" pitchFamily="34" charset="-122"/>
                <a:cs typeface="Inter" pitchFamily="34" charset="-120"/>
              </a:rPr>
              <a:t>Fifteen working forms for release, proof, approval and control.</a:t>
            </a:r>
            <a:endParaRPr lang="en-US" sz="17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59</a:t>
            </a:r>
            <a:endParaRPr lang="en-US" sz="12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A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Production artwork release form</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form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 sign / application ref</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filename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Master asset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 site-data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level required (P1–P5)</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review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review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proof required?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Open items carried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references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Prepared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Checked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Technical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Released by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Release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RELEASE STATUS: HOLD · CONDITIONAL RELEASE · RELEASED</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RELEASED is not permitted while any mandatory open item is unresolved.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A</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60</a:t>
            </a:r>
            <a:endParaRPr lang="en-US" sz="12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B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Supplier acknowledgement</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994124"/>
        </p:xfrm>
        <a:graphic>
          <a:graphicData uri="http://schemas.openxmlformats.org/drawingml/2006/table">
            <a:tbl>
              <a:tblPr/>
              <a:tblGrid>
                <a:gridCol w="4854702"/>
                <a:gridCol w="5698998"/>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name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Package received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Items supplier cannot meet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Questions raised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Signatory name and role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Signature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countersignature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use (Y06): GEM artwork is used only for the authorized job; no reuse, distribution or adaptation outside the approved scope · LEGAL REVIEW REQUIRED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B</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61</a:t>
            </a:r>
            <a:endParaRPr lang="en-US" sz="12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080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C · WORKING FORM · ALL 18 CHECKS</a:t>
            </a:r>
            <a:endParaRPr lang="en-US" sz="1200" dirty="0"/>
          </a:p>
        </p:txBody>
      </p:sp>
      <p:sp>
        <p:nvSpPr>
          <p:cNvPr id="3" name="Text 1"/>
          <p:cNvSpPr/>
          <p:nvPr>
            <p:ph type="title"/>
          </p:nvPr>
        </p:nvSpPr>
        <p:spPr>
          <a:xfrm>
            <a:off x="812800" y="7848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Artwork preflight checklist</a:t>
            </a:r>
            <a:endParaRPr lang="en-US" sz="2200" dirty="0"/>
          </a:p>
        </p:txBody>
      </p:sp>
      <p:sp>
        <p:nvSpPr>
          <p:cNvPr id="4" name="Text 2"/>
          <p:cNvSpPr/>
          <p:nvPr/>
        </p:nvSpPr>
        <p:spPr>
          <a:xfrm>
            <a:off x="819150" y="1162000"/>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p>
        </p:txBody>
      </p:sp>
      <p:sp>
        <p:nvSpPr>
          <p:cNvPr id="5" name="Text 3"/>
          <p:cNvSpPr/>
          <p:nvPr/>
        </p:nvSpPr>
        <p:spPr>
          <a:xfrm>
            <a:off x="4358184" y="1162000"/>
            <a:ext cx="3475583"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p>
        </p:txBody>
      </p:sp>
      <p:sp>
        <p:nvSpPr>
          <p:cNvPr id="6" name="Text 4"/>
          <p:cNvSpPr/>
          <p:nvPr/>
        </p:nvSpPr>
        <p:spPr>
          <a:xfrm>
            <a:off x="7897267" y="1162000"/>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Job / SKU reference</a:t>
            </a:r>
            <a:endParaRPr lang="en-US" sz="1200" dirty="0"/>
          </a:p>
        </p:txBody>
      </p:sp>
      <p:sp>
        <p:nvSpPr>
          <p:cNvPr id="7" name="Text 5"/>
          <p:cNvSpPr/>
          <p:nvPr/>
        </p:nvSpPr>
        <p:spPr>
          <a:xfrm>
            <a:off x="819150" y="1497261"/>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p>
        </p:txBody>
      </p:sp>
      <p:sp>
        <p:nvSpPr>
          <p:cNvPr id="8" name="Text 6"/>
          <p:cNvSpPr/>
          <p:nvPr/>
        </p:nvSpPr>
        <p:spPr>
          <a:xfrm>
            <a:off x="4358184" y="1497261"/>
            <a:ext cx="3475583"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Checker</a:t>
            </a:r>
            <a:endParaRPr lang="en-US" sz="1200" dirty="0"/>
          </a:p>
        </p:txBody>
      </p:sp>
      <p:sp>
        <p:nvSpPr>
          <p:cNvPr id="9" name="Text 7"/>
          <p:cNvSpPr/>
          <p:nvPr/>
        </p:nvSpPr>
        <p:spPr>
          <a:xfrm>
            <a:off x="7897267" y="1497261"/>
            <a:ext cx="3475534" cy="271760"/>
          </a:xfrm>
          <a:prstGeom prst="rect">
            <a:avLst/>
          </a:prstGeom>
          <a:noFill/>
          <a:ln w="12700">
            <a:solidFill>
              <a:srgbClr val="12171D"/>
            </a:solidFill>
            <a:prstDash val="solid"/>
          </a:ln>
        </p:spPr>
        <p:txBody>
          <a:bodyPr wrap="square" lIns="82550" tIns="44450" rIns="0" bIns="190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Date</a:t>
            </a:r>
            <a:endParaRPr lang="en-US" sz="1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825500" y="1851571"/>
          <a:ext cx="5575300" cy="3326805"/>
        </p:xfrm>
        <a:graphic>
          <a:graphicData uri="http://schemas.openxmlformats.org/drawingml/2006/table">
            <a:tbl>
              <a:tblPr/>
              <a:tblGrid>
                <a:gridCol w="2676144"/>
                <a:gridCol w="1059307"/>
                <a:gridCol w="1226566"/>
                <a:gridCol w="613283"/>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Evidence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Init.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01 Correct master asset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02 Correct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03 Correct colour mode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04 Correct bleed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05 Safe area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06 Dieline visibility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07 Overprint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08 Transparency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09 Image resolution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graphicFrame>
        <p:nvGraphicFramePr>
          <p:cNvPr id="11" name="Table 1"/>
          <p:cNvGraphicFramePr>
            <a:graphicFrameLocks noGrp="1"/>
          </p:cNvGraphicFramePr>
          <p:nvPr>
            <p:extLst>
              <p:ext uri="{D42A27DB-BD31-4B8C-83A1-F6EECF244321}">
                <p14:modId xmlns:p14="http://schemas.microsoft.com/office/powerpoint/2010/main" val="1579011935"/>
              </p:ext>
            </p:extLst>
          </p:nvPr>
        </p:nvGraphicFramePr>
        <p:xfrm>
          <a:off x="6616700" y="1851571"/>
          <a:ext cx="5575300" cy="3326805"/>
        </p:xfrm>
        <a:graphic>
          <a:graphicData uri="http://schemas.openxmlformats.org/drawingml/2006/table">
            <a:tbl>
              <a:tblPr/>
              <a:tblGrid>
                <a:gridCol w="2676144"/>
                <a:gridCol w="1059307"/>
                <a:gridCol w="1226566"/>
                <a:gridCol w="613283"/>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Result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Evidence</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Init.</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10 Linked assets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11 Fonts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12 Barcode / QR, if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13 Spelling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14 Arabic shaping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15 Regulatory copy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16 Hidden objects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17 Non-printing guides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18 Output intent / profile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 · F · N/A</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12" name="Text 8"/>
          <p:cNvSpPr/>
          <p:nvPr/>
        </p:nvSpPr>
        <p:spPr>
          <a:xfrm>
            <a:off x="819150" y="524822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DISPOSITION: READY · HOLD · CORRECT AND RECHECK. Any failed mandatory item: the production file is not released.</a:t>
            </a:r>
            <a:endParaRPr lang="en-US" sz="1200" dirty="0"/>
          </a:p>
        </p:txBody>
      </p:sp>
      <p:sp>
        <p:nvSpPr>
          <p:cNvPr id="13" name="Text 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C</a:t>
            </a:r>
            <a:endParaRPr lang="en-US" sz="1200" dirty="0"/>
          </a:p>
        </p:txBody>
      </p:sp>
      <p:sp>
        <p:nvSpPr>
          <p:cNvPr id="14" name="Text 1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62</a:t>
            </a:r>
            <a:endParaRPr lang="en-US" sz="12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D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Colour proof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2994124"/>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SKU</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Substrate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Printing / finishing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 used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 condition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Measurement method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Instrument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Measured difference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Visual assessment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Physical reference 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Proof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Samples submitted (count)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317728"/>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PASS · ADJUST · FAIL</a:t>
            </a:r>
            <a:endParaRPr lang="en-US" sz="1200" dirty="0"/>
          </a:p>
        </p:txBody>
      </p:sp>
      <p:sp>
        <p:nvSpPr>
          <p:cNvPr id="6" name="Text 3"/>
          <p:cNvSpPr/>
          <p:nvPr/>
        </p:nvSpPr>
        <p:spPr>
          <a:xfrm>
            <a:off x="819150" y="4711428"/>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tolerance is pre-filled. Measurement values stay [PENDING] until a method and standard are validated.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D</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63</a:t>
            </a:r>
            <a:endParaRPr lang="en-US" sz="12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E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Material and finish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326804"/>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Manufacturer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Grade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GSM / caliper,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Brand-direction match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Durability result,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from approved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Golden-sample reference, if 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Grain direction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datasheet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65040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APPROVE · REVISE · REJECT</a:t>
            </a:r>
            <a:endParaRPr lang="en-US" sz="1200" dirty="0"/>
          </a:p>
        </p:txBody>
      </p:sp>
      <p:sp>
        <p:nvSpPr>
          <p:cNvPr id="6" name="Text 3"/>
          <p:cNvSpPr/>
          <p:nvPr/>
        </p:nvSpPr>
        <p:spPr>
          <a:xfrm>
            <a:off x="819150" y="504410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Unknown values stay [PENDING]. Material attributes are [REQUIRES SUPPLIER / OWNER].</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E</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64</a:t>
            </a:r>
            <a:endParaRPr lang="en-US" sz="12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F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Packaging SKU master</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3992164"/>
        </p:xfrm>
        <a:graphic>
          <a:graphicData uri="http://schemas.openxmlformats.org/drawingml/2006/table">
            <a:tbl>
              <a:tblPr/>
              <a:tblGrid>
                <a:gridCol w="4854702"/>
                <a:gridCol w="5698998"/>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code (Latin digits)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Collection / tier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 function, quantity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Primary pack: format and closure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Regulatory copy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 and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Secondary pack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Market(s)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 / bilingual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F</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65</a:t>
            </a:r>
            <a:endParaRPr lang="en-US" sz="12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G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Dieline approval record</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328763"/>
        </p:xfrm>
        <a:graphic>
          <a:graphicData uri="http://schemas.openxmlformats.org/drawingml/2006/table">
            <a:tbl>
              <a:tblPr/>
              <a:tblGrid>
                <a:gridCol w="4854702"/>
                <a:gridCol w="5698998"/>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source and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issuing the dieline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Trim, bleed, safe area confirmed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placed and checked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signature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approval /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G</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66</a:t>
            </a:r>
            <a:endParaRPr lang="en-US" sz="12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H · WORKING FORM</a:t>
            </a:r>
            <a:endParaRPr lang="en-US" sz="1200" dirty="0"/>
          </a:p>
        </p:txBody>
      </p:sp>
      <p:sp>
        <p:nvSpPr>
          <p:cNvPr id="3" name="Text 1"/>
          <p:cNvSpPr/>
          <p:nvPr>
            <p:ph type="title"/>
          </p:nvPr>
        </p:nvSpPr>
        <p:spPr>
          <a:xfrm>
            <a:off x="812800" y="11531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12171D"/>
                </a:solidFill>
                <a:latin typeface="Jost" pitchFamily="34" charset="0"/>
                <a:ea typeface="Jost" pitchFamily="34" charset="-122"/>
                <a:cs typeface="Jost" pitchFamily="34" charset="-120"/>
              </a:rPr>
              <a:t>Regulatory copy approval</a:t>
            </a:r>
            <a:endParaRPr lang="en-US" sz="2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656011"/>
          <a:ext cx="10553700" cy="2328763"/>
        </p:xfrm>
        <a:graphic>
          <a:graphicData uri="http://schemas.openxmlformats.org/drawingml/2006/table">
            <a:tbl>
              <a:tblPr/>
              <a:tblGrid>
                <a:gridCol w="4854702"/>
                <a:gridCol w="5698998"/>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Market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Copy owner [REQUIRES OWNER]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Ingredients and claims reviewed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Warnings and labelling reviewed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Reviewer and credentials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Decision and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[ENTER]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H</a:t>
            </a:r>
            <a:endParaRPr lang="en-US" sz="1200" dirty="0"/>
          </a:p>
        </p:txBody>
      </p:sp>
      <p:sp>
        <p:nvSpPr>
          <p:cNvPr id="6"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67</a:t>
            </a:r>
            <a:endParaRPr lang="en-US" sz="12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I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Physical sample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32680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SKU</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Dieline / drawing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Logo reproduction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Type legibility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QA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Barcode / QR test, if relevant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Construction / fit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Durability / compatibility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Photographs attached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Golden sample entered?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65390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RESULT: APPROVE · REVISE · REJECT</a:t>
            </a:r>
            <a:endParaRPr lang="en-US" sz="1200" dirty="0"/>
          </a:p>
        </p:txBody>
      </p:sp>
      <p:sp>
        <p:nvSpPr>
          <p:cNvPr id="6" name="Text 3"/>
          <p:cNvSpPr/>
          <p:nvPr/>
        </p:nvSpPr>
        <p:spPr>
          <a:xfrm>
            <a:off x="819150" y="5047605"/>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QA stays PENDING VALIDATION until native review is complete.</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I</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68</a:t>
            </a:r>
            <a:endParaRPr lang="en-US" sz="1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J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Signage fabrication approval</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Project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 type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Sign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Drawing revision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Language / bilingual 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Arabic wording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Mounting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Illumination,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Tactile / Braille requirement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Viewing-distance check</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Full-size sample required?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Site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Brand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Fabricator approval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FINAL STATUS: HOLD · CONDITIONAL · APPROVED FOR FABRICATION</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Site-specific values are [PROJECT-SPECIFIC]. Arabic wording stays PENDING VALIDATION until approved.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J</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69</a:t>
            </a:r>
            <a:endParaRPr lang="en-US" sz="12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7430"/>
          </a:xfrm>
          <a:prstGeom prst="rect">
            <a:avLst/>
          </a:prstGeom>
          <a:noFill/>
          <a:ln/>
        </p:spPr>
        <p:txBody>
          <a:bodyPr wrap="square" lIns="0" tIns="0" rIns="0" bIns="0" rtlCol="0" anchor="t">
            <a:normAutofit/>
          </a:bodyPr>
          <a:lstStyle/>
          <a:p>
            <a:pPr algn="l" indent="0" marL="0">
              <a:lnSpc>
                <a:spcPts val="1675"/>
              </a:lnSpc>
              <a:buNone/>
            </a:pPr>
            <a:r>
              <a:rPr lang="en-US" sz="1196" spc="190" kern="0" dirty="0">
                <a:solidFill>
                  <a:srgbClr val="12171D"/>
                </a:solidFill>
                <a:latin typeface="Inter" pitchFamily="34" charset="0"/>
                <a:ea typeface="Inter" pitchFamily="34" charset="-122"/>
                <a:cs typeface="Inter" pitchFamily="34" charset="-120"/>
              </a:rPr>
              <a:t>APPENDIX K · WORKING FORM · PENDING VALUES STAY PENDING</a:t>
            </a:r>
            <a:endParaRPr lang="en-US" sz="1196" dirty="0"/>
          </a:p>
        </p:txBody>
      </p:sp>
      <p:sp>
        <p:nvSpPr>
          <p:cNvPr id="3" name="Text 1"/>
          <p:cNvSpPr/>
          <p:nvPr>
            <p:ph type="title"/>
          </p:nvPr>
        </p:nvSpPr>
        <p:spPr>
          <a:xfrm>
            <a:off x="812800" y="847030"/>
            <a:ext cx="10883392" cy="330845"/>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Deviation request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1375"/>
          <a:ext cx="10553700" cy="3967907"/>
        </p:xfrm>
        <a:graphic>
          <a:graphicData uri="http://schemas.openxmlformats.org/drawingml/2006/table">
            <a:tbl>
              <a:tblPr/>
              <a:tblGrid>
                <a:gridCol w="3060573"/>
                <a:gridCol w="2216277"/>
                <a:gridCol w="3060573"/>
                <a:gridCol w="2216277"/>
              </a:tblGrid>
              <a:tr h="330646">
                <a:tc>
                  <a:txBody>
                    <a:bodyPr/>
                    <a:lstStyle/>
                    <a:p>
                      <a:pPr indent="0" marL="0">
                        <a:lnSpc>
                          <a:spcPts val="1670"/>
                        </a:lnSpc>
                        <a:buNone/>
                      </a:pPr>
                      <a:r>
                        <a:rPr lang="en-US" sz="1193" b="1" dirty="0">
                          <a:solidFill>
                            <a:srgbClr val="FFFFFF"/>
                          </a:solidFill>
                          <a:latin typeface="Inter" pitchFamily="34" charset="0"/>
                          <a:ea typeface="Inter" pitchFamily="34" charset="-122"/>
                          <a:cs typeface="Inter" pitchFamily="34" charset="-120"/>
                        </a:rPr>
                        <a:t>Field</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1" dirty="0">
                          <a:solidFill>
                            <a:srgbClr val="FFFFFF"/>
                          </a:solidFill>
                          <a:latin typeface="Inter" pitchFamily="34" charset="0"/>
                          <a:ea typeface="Inter" pitchFamily="34" charset="-122"/>
                          <a:cs typeface="Inter" pitchFamily="34" charset="-120"/>
                        </a:rPr>
                        <a:t>Entry</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1" dirty="0">
                          <a:solidFill>
                            <a:srgbClr val="FFFFFF"/>
                          </a:solidFill>
                          <a:latin typeface="Inter" pitchFamily="34" charset="0"/>
                          <a:ea typeface="Inter" pitchFamily="34" charset="-122"/>
                          <a:cs typeface="Inter" pitchFamily="34" charset="-120"/>
                        </a:rPr>
                        <a:t>Field</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70"/>
                        </a:lnSpc>
                        <a:buNone/>
                      </a:pPr>
                      <a:r>
                        <a:rPr lang="en-US" sz="1193" b="1" dirty="0">
                          <a:solidFill>
                            <a:srgbClr val="FFFFFF"/>
                          </a:solidFill>
                          <a:latin typeface="Inter" pitchFamily="34" charset="0"/>
                          <a:ea typeface="Inter" pitchFamily="34" charset="-122"/>
                          <a:cs typeface="Inter" pitchFamily="34" charset="-120"/>
                        </a:rPr>
                        <a:t>Entry</a:t>
                      </a:r>
                      <a:endParaRPr lang="en-US" sz="1193" dirty="0">
                        <a:latin typeface="Inter" charset="0"/>
                        <a:ea typeface="Inter" charset="0"/>
                        <a:cs typeface="Inter" charset="0"/>
                      </a:endParaRPr>
                    </a:p>
                  </a:txBody>
                  <a:tcPr marL="53007" marR="53007" marT="53007" marB="53007"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Deviation ID</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Job / SKU / sign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Supplier</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Requested by</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Date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Existing approved specification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Requested change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Reason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Visual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Technical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Quality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Cost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Timing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Regulatory impact</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4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Risk</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Proposed remedy</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Supporting sample / proof ref</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Recommendation</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Decision holder</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Decision date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0696">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Change-log reference</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70"/>
                        </a:lnSpc>
                        <a:buNone/>
                      </a:pPr>
                      <a:r>
                        <a:rPr lang="en-US" sz="1193" dirty="0">
                          <a:solidFill>
                            <a:srgbClr val="12171D"/>
                          </a:solidFill>
                          <a:latin typeface="Inter" pitchFamily="34" charset="0"/>
                          <a:ea typeface="Inter" pitchFamily="34" charset="-122"/>
                          <a:cs typeface="Inter" pitchFamily="34" charset="-120"/>
                        </a:rPr>
                        <a:t> </a:t>
                      </a:r>
                      <a:endParaRPr lang="en-US" sz="1193" dirty="0">
                        <a:latin typeface="Inter" charset="0"/>
                        <a:ea typeface="Inter" charset="0"/>
                        <a:cs typeface="Inter" charset="0"/>
                      </a:endParaRPr>
                    </a:p>
                  </a:txBody>
                  <a:tcPr marL="53007" marR="53007" marT="53007" marB="53007"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5291832"/>
            <a:ext cx="10553700" cy="303659"/>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DECISION: ACCEPT · REJECT · HOLD</a:t>
            </a:r>
            <a:endParaRPr lang="en-US" sz="1200" dirty="0"/>
          </a:p>
        </p:txBody>
      </p:sp>
      <p:sp>
        <p:nvSpPr>
          <p:cNvPr id="6" name="Text 3"/>
          <p:cNvSpPr/>
          <p:nvPr/>
        </p:nvSpPr>
        <p:spPr>
          <a:xfrm>
            <a:off x="819150" y="5684391"/>
            <a:ext cx="10553700" cy="303659"/>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change is made until a decision is recorded. Decision holder is [REQUIRES OWNER].</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K</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70</a:t>
            </a:r>
            <a:endParaRPr lang="en-US" sz="12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L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Non-conformance report</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NCR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Job / batch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Defect category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Defect description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Evidence attached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Quantity affected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Severity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Batch isolated?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Immediate containment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Root cause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Proposed corrective action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disposition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Corrective action completed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Verification result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Closed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Raised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raised / date closed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308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DISPOSITION: REWORK · ACCEPT · SCRAP · RETURN</a:t>
            </a:r>
            <a:endParaRPr lang="en-US" sz="1200" dirty="0"/>
          </a:p>
        </p:txBody>
      </p:sp>
      <p:sp>
        <p:nvSpPr>
          <p:cNvPr id="6" name="Text 3"/>
          <p:cNvSpPr/>
          <p:nvPr/>
        </p:nvSpPr>
        <p:spPr>
          <a:xfrm>
            <a:off x="819150" y="5376789"/>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Severity values stay [PENDING] until formally defined.</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L</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71</a:t>
            </a:r>
            <a:endParaRPr lang="en-US" sz="12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M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Golden sample register</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3659485"/>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Item</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SKU / sign / application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Artwork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Material</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Finish</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Colour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Production process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 approved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custodian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GEM storage 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storage location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Photograph reference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Review date [PENDING]</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Replacement date / reason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Superseded sample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Status</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49865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review interval is set. Review date is entered per sample once an interval is defined.</a:t>
            </a:r>
            <a:endParaRPr lang="en-US" sz="1200" dirty="0"/>
          </a:p>
        </p:txBody>
      </p:sp>
      <p:sp>
        <p:nvSpPr>
          <p:cNvPr id="6" name="Text 3"/>
          <p:cNvSpPr/>
          <p:nvPr/>
        </p:nvSpPr>
        <p:spPr>
          <a:xfrm>
            <a:off x="819150" y="5380286"/>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One row per approved sample.</a:t>
            </a:r>
            <a:endParaRPr lang="en-US" sz="1200" dirty="0"/>
          </a:p>
        </p:txBody>
      </p:sp>
      <p:sp>
        <p:nvSpPr>
          <p:cNvPr id="7" name="Text 4"/>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M</a:t>
            </a:r>
            <a:endParaRPr lang="en-US" sz="1200" dirty="0"/>
          </a:p>
        </p:txBody>
      </p:sp>
      <p:sp>
        <p:nvSpPr>
          <p:cNvPr id="8" name="Text 5"/>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72</a:t>
            </a:r>
            <a:endParaRPr lang="en-US" sz="12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N · CONTROLLED ASSET MANIFEST · ONE RECORD PER FILE</a:t>
            </a:r>
            <a:endParaRPr lang="en-US" sz="1200" dirty="0"/>
          </a:p>
        </p:txBody>
      </p:sp>
      <p:sp>
        <p:nvSpPr>
          <p:cNvPr id="3" name="Text 1"/>
          <p:cNvSpPr/>
          <p:nvPr>
            <p:ph type="title"/>
          </p:nvPr>
        </p:nvSpPr>
        <p:spPr>
          <a:xfrm>
            <a:off x="812800" y="8610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Asset manifest</a:t>
            </a:r>
            <a:endParaRPr lang="en-US" sz="2200" dirty="0"/>
          </a:p>
        </p:txBody>
      </p:sp>
      <p:sp>
        <p:nvSpPr>
          <p:cNvPr id="4" name="Text 2"/>
          <p:cNvSpPr/>
          <p:nvPr/>
        </p:nvSpPr>
        <p:spPr>
          <a:xfrm>
            <a:off x="812800"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IDENTITY</a:t>
            </a:r>
            <a:endParaRPr lang="en-US" sz="1200" dirty="0"/>
          </a:p>
        </p:txBody>
      </p:sp>
      <p:sp>
        <p:nvSpPr>
          <p:cNvPr id="5" name="Text 3"/>
          <p:cNvSpPr/>
          <p:nvPr/>
        </p:nvSpPr>
        <p:spPr>
          <a:xfrm>
            <a:off x="819150"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Asset ID</a:t>
            </a:r>
            <a:endParaRPr lang="en-US" sz="1200" dirty="0"/>
          </a:p>
        </p:txBody>
      </p:sp>
      <p:sp>
        <p:nvSpPr>
          <p:cNvPr id="6" name="Text 4"/>
          <p:cNvSpPr/>
          <p:nvPr/>
        </p:nvSpPr>
        <p:spPr>
          <a:xfrm>
            <a:off x="819150"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name</a:t>
            </a:r>
            <a:endParaRPr lang="en-US" sz="1200" dirty="0"/>
          </a:p>
        </p:txBody>
      </p:sp>
      <p:sp>
        <p:nvSpPr>
          <p:cNvPr id="7" name="Text 5"/>
          <p:cNvSpPr/>
          <p:nvPr/>
        </p:nvSpPr>
        <p:spPr>
          <a:xfrm>
            <a:off x="819150"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Category</a:t>
            </a:r>
            <a:endParaRPr lang="en-US" sz="1200" dirty="0"/>
          </a:p>
        </p:txBody>
      </p:sp>
      <p:sp>
        <p:nvSpPr>
          <p:cNvPr id="8" name="Text 6"/>
          <p:cNvSpPr/>
          <p:nvPr/>
        </p:nvSpPr>
        <p:spPr>
          <a:xfrm>
            <a:off x="819150"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Asset</a:t>
            </a:r>
            <a:endParaRPr lang="en-US" sz="1200" dirty="0"/>
          </a:p>
        </p:txBody>
      </p:sp>
      <p:sp>
        <p:nvSpPr>
          <p:cNvPr id="9" name="Text 7"/>
          <p:cNvSpPr/>
          <p:nvPr/>
        </p:nvSpPr>
        <p:spPr>
          <a:xfrm>
            <a:off x="819150"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Variant</a:t>
            </a:r>
            <a:endParaRPr lang="en-US" sz="1200" dirty="0"/>
          </a:p>
        </p:txBody>
      </p:sp>
      <p:sp>
        <p:nvSpPr>
          <p:cNvPr id="10" name="Text 8"/>
          <p:cNvSpPr/>
          <p:nvPr/>
        </p:nvSpPr>
        <p:spPr>
          <a:xfrm>
            <a:off x="819150"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Version</a:t>
            </a:r>
            <a:endParaRPr lang="en-US" sz="1200" dirty="0"/>
          </a:p>
        </p:txBody>
      </p:sp>
      <p:sp>
        <p:nvSpPr>
          <p:cNvPr id="11" name="Text 9"/>
          <p:cNvSpPr/>
          <p:nvPr/>
        </p:nvSpPr>
        <p:spPr>
          <a:xfrm>
            <a:off x="3476625"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CONTROL</a:t>
            </a:r>
            <a:endParaRPr lang="en-US" sz="1200" dirty="0"/>
          </a:p>
        </p:txBody>
      </p:sp>
      <p:sp>
        <p:nvSpPr>
          <p:cNvPr id="12" name="Text 10"/>
          <p:cNvSpPr/>
          <p:nvPr/>
        </p:nvSpPr>
        <p:spPr>
          <a:xfrm>
            <a:off x="3482975"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Release status</a:t>
            </a:r>
            <a:endParaRPr lang="en-US" sz="1200" dirty="0"/>
          </a:p>
        </p:txBody>
      </p:sp>
      <p:sp>
        <p:nvSpPr>
          <p:cNvPr id="13" name="Text 11"/>
          <p:cNvSpPr/>
          <p:nvPr/>
        </p:nvSpPr>
        <p:spPr>
          <a:xfrm>
            <a:off x="3482975"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File format</a:t>
            </a:r>
            <a:endParaRPr lang="en-US" sz="1200" dirty="0"/>
          </a:p>
        </p:txBody>
      </p:sp>
      <p:sp>
        <p:nvSpPr>
          <p:cNvPr id="14" name="Text 12"/>
          <p:cNvSpPr/>
          <p:nvPr/>
        </p:nvSpPr>
        <p:spPr>
          <a:xfrm>
            <a:off x="3482975"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Source master</a:t>
            </a:r>
            <a:endParaRPr lang="en-US" sz="1200" dirty="0"/>
          </a:p>
        </p:txBody>
      </p:sp>
      <p:sp>
        <p:nvSpPr>
          <p:cNvPr id="15" name="Text 13"/>
          <p:cNvSpPr/>
          <p:nvPr/>
        </p:nvSpPr>
        <p:spPr>
          <a:xfrm>
            <a:off x="3482975"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Parent / source version</a:t>
            </a:r>
            <a:endParaRPr lang="en-US" sz="1200" dirty="0"/>
          </a:p>
        </p:txBody>
      </p:sp>
      <p:sp>
        <p:nvSpPr>
          <p:cNvPr id="16" name="Text 14"/>
          <p:cNvSpPr/>
          <p:nvPr/>
        </p:nvSpPr>
        <p:spPr>
          <a:xfrm>
            <a:off x="3482975"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Supersedes</a:t>
            </a:r>
            <a:endParaRPr lang="en-US" sz="1200" dirty="0"/>
          </a:p>
        </p:txBody>
      </p:sp>
      <p:sp>
        <p:nvSpPr>
          <p:cNvPr id="17" name="Text 15"/>
          <p:cNvSpPr/>
          <p:nvPr/>
        </p:nvSpPr>
        <p:spPr>
          <a:xfrm>
            <a:off x="3482975"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Release form reference</a:t>
            </a:r>
            <a:endParaRPr lang="en-US" sz="1200" dirty="0"/>
          </a:p>
        </p:txBody>
      </p:sp>
      <p:sp>
        <p:nvSpPr>
          <p:cNvPr id="18" name="Text 16"/>
          <p:cNvSpPr/>
          <p:nvPr/>
        </p:nvSpPr>
        <p:spPr>
          <a:xfrm>
            <a:off x="6140450"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APPROVAL</a:t>
            </a:r>
            <a:endParaRPr lang="en-US" sz="1200" dirty="0"/>
          </a:p>
        </p:txBody>
      </p:sp>
      <p:sp>
        <p:nvSpPr>
          <p:cNvPr id="19" name="Text 17"/>
          <p:cNvSpPr/>
          <p:nvPr/>
        </p:nvSpPr>
        <p:spPr>
          <a:xfrm>
            <a:off x="6146800"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Owner</a:t>
            </a:r>
            <a:endParaRPr lang="en-US" sz="1200" dirty="0"/>
          </a:p>
        </p:txBody>
      </p:sp>
      <p:sp>
        <p:nvSpPr>
          <p:cNvPr id="20" name="Text 18"/>
          <p:cNvSpPr/>
          <p:nvPr/>
        </p:nvSpPr>
        <p:spPr>
          <a:xfrm>
            <a:off x="6146800"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Rights / ownership status</a:t>
            </a:r>
            <a:endParaRPr lang="en-US" sz="1200" dirty="0"/>
          </a:p>
        </p:txBody>
      </p:sp>
      <p:sp>
        <p:nvSpPr>
          <p:cNvPr id="21" name="Text 19"/>
          <p:cNvSpPr/>
          <p:nvPr/>
        </p:nvSpPr>
        <p:spPr>
          <a:xfrm>
            <a:off x="6146800"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Created date</a:t>
            </a:r>
            <a:endParaRPr lang="en-US" sz="1200" dirty="0"/>
          </a:p>
        </p:txBody>
      </p:sp>
      <p:sp>
        <p:nvSpPr>
          <p:cNvPr id="22" name="Text 20"/>
          <p:cNvSpPr/>
          <p:nvPr/>
        </p:nvSpPr>
        <p:spPr>
          <a:xfrm>
            <a:off x="6146800"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Approved date</a:t>
            </a:r>
            <a:endParaRPr lang="en-US" sz="1200" dirty="0"/>
          </a:p>
        </p:txBody>
      </p:sp>
      <p:sp>
        <p:nvSpPr>
          <p:cNvPr id="23" name="Text 21"/>
          <p:cNvSpPr/>
          <p:nvPr/>
        </p:nvSpPr>
        <p:spPr>
          <a:xfrm>
            <a:off x="6146800" y="307196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p>
        </p:txBody>
      </p:sp>
      <p:sp>
        <p:nvSpPr>
          <p:cNvPr id="24" name="Text 22"/>
          <p:cNvSpPr/>
          <p:nvPr/>
        </p:nvSpPr>
        <p:spPr>
          <a:xfrm>
            <a:off x="6146800" y="34326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Checksum</a:t>
            </a:r>
            <a:endParaRPr lang="en-US" sz="1200" dirty="0"/>
          </a:p>
        </p:txBody>
      </p:sp>
      <p:sp>
        <p:nvSpPr>
          <p:cNvPr id="25" name="Text 23"/>
          <p:cNvSpPr/>
          <p:nvPr/>
        </p:nvSpPr>
        <p:spPr>
          <a:xfrm>
            <a:off x="8804275" y="1257250"/>
            <a:ext cx="2574925" cy="314920"/>
          </a:xfrm>
          <a:prstGeom prst="rect">
            <a:avLst/>
          </a:prstGeom>
          <a:solidFill>
            <a:srgbClr val="12171D"/>
          </a:solidFill>
          <a:ln/>
        </p:spPr>
        <p:txBody>
          <a:bodyPr wrap="square" lIns="88900" tIns="50800" rIns="16986" bIns="25400" rtlCol="0" anchor="t">
            <a:normAutofit/>
          </a:bodyPr>
          <a:lstStyle/>
          <a:p>
            <a:pPr algn="l" indent="0" marL="0">
              <a:lnSpc>
                <a:spcPts val="1680"/>
              </a:lnSpc>
              <a:buNone/>
            </a:pPr>
            <a:r>
              <a:rPr lang="en-US" sz="1200" spc="190" kern="0" dirty="0">
                <a:solidFill>
                  <a:srgbClr val="FFFFFF"/>
                </a:solidFill>
                <a:latin typeface="Inter" pitchFamily="34" charset="0"/>
                <a:ea typeface="Inter" pitchFamily="34" charset="-122"/>
                <a:cs typeface="Inter" pitchFamily="34" charset="-120"/>
              </a:rPr>
              <a:t>USE AND STORAGE</a:t>
            </a:r>
            <a:endParaRPr lang="en-US" sz="1200" dirty="0"/>
          </a:p>
        </p:txBody>
      </p:sp>
      <p:sp>
        <p:nvSpPr>
          <p:cNvPr id="26" name="Text 24"/>
          <p:cNvSpPr/>
          <p:nvPr/>
        </p:nvSpPr>
        <p:spPr>
          <a:xfrm>
            <a:off x="8810625" y="162932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Intended use</a:t>
            </a:r>
            <a:endParaRPr lang="en-US" sz="1200" dirty="0"/>
          </a:p>
        </p:txBody>
      </p:sp>
      <p:sp>
        <p:nvSpPr>
          <p:cNvPr id="27" name="Text 25"/>
          <p:cNvSpPr/>
          <p:nvPr/>
        </p:nvSpPr>
        <p:spPr>
          <a:xfrm>
            <a:off x="8810625" y="198998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Restrictions</a:t>
            </a:r>
            <a:endParaRPr lang="en-US" sz="1200" dirty="0"/>
          </a:p>
        </p:txBody>
      </p:sp>
      <p:sp>
        <p:nvSpPr>
          <p:cNvPr id="28" name="Text 26"/>
          <p:cNvSpPr/>
          <p:nvPr/>
        </p:nvSpPr>
        <p:spPr>
          <a:xfrm>
            <a:off x="8810625" y="235064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Storage location</a:t>
            </a:r>
            <a:endParaRPr lang="en-US" sz="1200" dirty="0"/>
          </a:p>
        </p:txBody>
      </p:sp>
      <p:sp>
        <p:nvSpPr>
          <p:cNvPr id="29" name="Text 27"/>
          <p:cNvSpPr/>
          <p:nvPr/>
        </p:nvSpPr>
        <p:spPr>
          <a:xfrm>
            <a:off x="8810625" y="2711301"/>
            <a:ext cx="2562225" cy="297160"/>
          </a:xfrm>
          <a:prstGeom prst="rect">
            <a:avLst/>
          </a:prstGeom>
          <a:noFill/>
          <a:ln w="12700">
            <a:solidFill>
              <a:srgbClr val="12171D"/>
            </a:solidFill>
            <a:prstDash val="solid"/>
          </a:ln>
        </p:spPr>
        <p:txBody>
          <a:bodyPr wrap="square" lIns="95250" tIns="57150" rIns="24098" bIns="31750" rtlCol="0" anchor="t">
            <a:normAutofit/>
          </a:bodyPr>
          <a:lstStyle/>
          <a:p>
            <a:pPr algn="l" indent="0" marL="0">
              <a:lnSpc>
                <a:spcPts val="1440"/>
              </a:lnSpc>
              <a:buNone/>
            </a:pPr>
            <a:r>
              <a:rPr lang="en-US" sz="1200" dirty="0">
                <a:solidFill>
                  <a:srgbClr val="12171D"/>
                </a:solidFill>
                <a:latin typeface="Inter" pitchFamily="34" charset="0"/>
                <a:ea typeface="Inter" pitchFamily="34" charset="-122"/>
                <a:cs typeface="Inter" pitchFamily="34" charset="-120"/>
              </a:rPr>
              <a:t>Notes</a:t>
            </a:r>
            <a:endParaRPr lang="en-US" sz="1200" dirty="0"/>
          </a:p>
        </p:txBody>
      </p:sp>
      <p:sp>
        <p:nvSpPr>
          <p:cNvPr id="30" name="Text 28"/>
          <p:cNvSpPr/>
          <p:nvPr/>
        </p:nvSpPr>
        <p:spPr>
          <a:xfrm>
            <a:off x="819150" y="3831336"/>
            <a:ext cx="10553700" cy="301752"/>
          </a:xfrm>
          <a:prstGeom prst="rect">
            <a:avLst/>
          </a:prstGeom>
          <a:noFill/>
          <a:ln w="12700">
            <a:solidFill>
              <a:srgbClr val="12171D"/>
            </a:solidFill>
            <a:prstDash val="solid"/>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File name: GEM_[STREAM]_[ASSET]_[VARIANT]_vX.Y_YYYYMMDD.ext (register X12) · the date field is the issue date.</a:t>
            </a:r>
            <a:endParaRPr lang="en-US" sz="1200" dirty="0"/>
          </a:p>
        </p:txBody>
      </p:sp>
      <p:sp>
        <p:nvSpPr>
          <p:cNvPr id="31" name="Text 29"/>
          <p:cNvSpPr/>
          <p:nvPr/>
        </p:nvSpPr>
        <p:spPr>
          <a:xfrm>
            <a:off x="819150" y="4233672"/>
            <a:ext cx="10553700" cy="301752"/>
          </a:xfrm>
          <a:prstGeom prst="rect">
            <a:avLst/>
          </a:prstGeom>
          <a:noFill/>
          <a:ln w="12700">
            <a:solidFill>
              <a:srgbClr val="12171D"/>
            </a:solidFill>
            <a:prstDash val="dash"/>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Proposed, CONDITIONAL [REQUIRES OWNER]: asset ID GEM-[CATEGORY]-[NNN] · SHA-256 checksum · Rights status [PENDING] (VAL-04).</a:t>
            </a:r>
            <a:endParaRPr lang="en-US" sz="1200" dirty="0"/>
          </a:p>
        </p:txBody>
      </p:sp>
      <p:sp>
        <p:nvSpPr>
          <p:cNvPr id="32" name="Text 30"/>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N</a:t>
            </a:r>
            <a:endParaRPr lang="en-US" sz="1200" dirty="0"/>
          </a:p>
        </p:txBody>
      </p:sp>
      <p:sp>
        <p:nvSpPr>
          <p:cNvPr id="33" name="Text 31"/>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73</a:t>
            </a:r>
            <a:endParaRPr lang="en-US" sz="1200" dirty="0"/>
          </a:p>
        </p:txBody>
      </p:sp>
      <p:sp>
        <p:nvSpPr>
          <p:cNvPr id="34" name="Text 32"/>
          <p:cNvSpPr/>
          <p:nvPr/>
        </p:nvSpPr>
        <p:spPr>
          <a:xfrm>
            <a:off x="819150" y="4636008"/>
            <a:ext cx="10553700" cy="301752"/>
          </a:xfrm>
          <a:prstGeom prst="rect">
            <a:avLst/>
          </a:prstGeom>
          <a:noFill/>
          <a:ln w="12700">
            <a:solidFill>
              <a:srgbClr val="12171D"/>
            </a:solidFill>
            <a:prstDash val="dash"/>
          </a:ln>
        </p:spPr>
        <p:txBody>
          <a:bodyPr wrap="square" lIns="107950" tIns="57150" rIns="0" bIns="31750" rtlCol="0" anchor="t"/>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No unreleased file may be listed as APPROVED.</a:t>
            </a:r>
            <a:endParaRPr lang="en-US" sz="12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558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APPENDIX O · WORKING FORM · PENDING VALUES STAY PENDING</a:t>
            </a:r>
            <a:endParaRPr lang="en-US" sz="1200" dirty="0"/>
          </a:p>
        </p:txBody>
      </p:sp>
      <p:sp>
        <p:nvSpPr>
          <p:cNvPr id="3" name="Text 1"/>
          <p:cNvSpPr/>
          <p:nvPr>
            <p:ph type="title"/>
          </p:nvPr>
        </p:nvSpPr>
        <p:spPr>
          <a:xfrm>
            <a:off x="812800" y="848320"/>
            <a:ext cx="10883392" cy="332730"/>
          </a:xfrm>
          <a:prstGeom prst="rect">
            <a:avLst/>
          </a:prstGeom>
          <a:noFill/>
          <a:ln/>
        </p:spPr>
        <p:txBody>
          <a:bodyPr wrap="square" lIns="0" tIns="0" rIns="0" bIns="0" rtlCol="0" anchor="t">
            <a:normAutofit/>
          </a:bodyPr>
          <a:lstStyle/>
          <a:p>
            <a:pPr algn="l" indent="0" marL="0">
              <a:lnSpc>
                <a:spcPts val="2420"/>
              </a:lnSpc>
              <a:buNone/>
            </a:pPr>
            <a:r>
              <a:rPr lang="en-US" sz="2200" b="0" i="0" spc="45" kern="0" dirty="0">
                <a:solidFill>
                  <a:srgbClr val="12171D"/>
                </a:solidFill>
                <a:latin typeface="Jost" pitchFamily="34" charset="0"/>
                <a:ea typeface="Jost" pitchFamily="34" charset="-122"/>
                <a:cs typeface="Jost" pitchFamily="34" charset="-120"/>
              </a:rPr>
              <a:t>Production change log</a:t>
            </a:r>
            <a:endParaRPr lang="en-US" sz="2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244550"/>
          <a:ext cx="10553700" cy="2661444"/>
        </p:xfrm>
        <a:graphic>
          <a:graphicData uri="http://schemas.openxmlformats.org/drawingml/2006/table">
            <a:tbl>
              <a:tblPr/>
              <a:tblGrid>
                <a:gridCol w="3060573"/>
                <a:gridCol w="2216277"/>
                <a:gridCol w="3060573"/>
                <a:gridCol w="2216277"/>
              </a:tblGrid>
              <a:tr h="332680">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Field</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c>
                  <a:txBody>
                    <a:bodyPr/>
                    <a:lstStyle/>
                    <a:p>
                      <a:pPr indent="0" marL="0">
                        <a:lnSpc>
                          <a:spcPts val="1680"/>
                        </a:lnSpc>
                        <a:buNone/>
                      </a:pPr>
                      <a:r>
                        <a:rPr lang="en-US" sz="1200" b="1" dirty="0">
                          <a:solidFill>
                            <a:srgbClr val="FFFFFF"/>
                          </a:solidFill>
                          <a:latin typeface="Inter" pitchFamily="34" charset="0"/>
                          <a:ea typeface="Inter" pitchFamily="34" charset="-122"/>
                          <a:cs typeface="Inter" pitchFamily="34" charset="-120"/>
                        </a:rPr>
                        <a:t>Entry</a:t>
                      </a:r>
                      <a:endParaRPr lang="en-US" sz="1200" dirty="0">
                        <a:latin typeface="Inter" charset="0"/>
                        <a:ea typeface="Inter" charset="0"/>
                        <a:cs typeface="Inter" charset="0"/>
                      </a:endParaRPr>
                    </a:p>
                  </a:txBody>
                  <a:tcPr marL="53340" marR="53340" marT="53340" marB="53340" anchor="t">
                    <a:lnL w="12700" cap="flat" cmpd="sng" algn="ctr">
                      <a:solidFill>
                        <a:srgbClr val="12161B"/>
                      </a:solidFill>
                      <a:prstDash val="solid"/>
                      <a:round/>
                      <a:headEnd type="none" w="med" len="med"/>
                      <a:tailEnd type="none" w="med" len="med"/>
                    </a:lnL>
                    <a:lnR w="12700" cap="flat" cmpd="sng" algn="ctr">
                      <a:solidFill>
                        <a:srgbClr val="12161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12161B"/>
                      </a:solidFill>
                      <a:prstDash val="solid"/>
                      <a:round/>
                      <a:headEnd type="none" w="med" len="med"/>
                      <a:tailEnd type="none" w="med" len="med"/>
                    </a:lnB>
                    <a:solidFill>
                      <a:srgbClr val="12171D"/>
                    </a:solidFill>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Change ID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12161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Asset / standard / SKU affected</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Previous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New version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Reason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Requested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Impact assessment</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Deviation reference, if applicable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Approved by</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Effective date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Superseded asset / sample</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r h="332680">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Manifest updated?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Supplier notified? Y / N</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c>
                  <a:txBody>
                    <a:bodyPr/>
                    <a:lstStyle/>
                    <a:p>
                      <a:pPr indent="0" marL="0">
                        <a:lnSpc>
                          <a:spcPts val="1680"/>
                        </a:lnSpc>
                        <a:buNone/>
                      </a:pPr>
                      <a:r>
                        <a:rPr lang="en-US" sz="1200" dirty="0">
                          <a:solidFill>
                            <a:srgbClr val="12171D"/>
                          </a:solidFill>
                          <a:latin typeface="Inter" pitchFamily="34" charset="0"/>
                          <a:ea typeface="Inter" pitchFamily="34" charset="-122"/>
                          <a:cs typeface="Inter" pitchFamily="34" charset="-120"/>
                        </a:rPr>
                        <a:t> </a:t>
                      </a:r>
                      <a:endParaRPr lang="en-US" sz="1200" dirty="0">
                        <a:latin typeface="Inter" charset="0"/>
                        <a:ea typeface="Inter" charset="0"/>
                        <a:cs typeface="Inter" charset="0"/>
                      </a:endParaRPr>
                    </a:p>
                  </a:txBody>
                  <a:tcPr marL="53340" marR="53340" marT="53340" marB="5334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tcPr>
                </a:tc>
              </a:tr>
            </a:tbl>
          </a:graphicData>
        </a:graphic>
      </p:graphicFrame>
      <p:sp>
        <p:nvSpPr>
          <p:cNvPr id="5" name="Text 2"/>
          <p:cNvSpPr/>
          <p:nvPr/>
        </p:nvSpPr>
        <p:spPr>
          <a:xfrm>
            <a:off x="819150" y="3988544"/>
            <a:ext cx="10553700" cy="304800"/>
          </a:xfrm>
          <a:prstGeom prst="rect">
            <a:avLst/>
          </a:prstGeom>
          <a:noFill/>
          <a:ln w="12700">
            <a:solidFill>
              <a:srgbClr val="12171D"/>
            </a:solidFill>
            <a:prstDash val="solid"/>
          </a:ln>
        </p:spPr>
        <p:txBody>
          <a:bodyPr wrap="square" lIns="107950" tIns="57150" rIns="0" bIns="317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Every change to a standard or master is logged before it takes effect.</a:t>
            </a:r>
            <a:endParaRPr lang="en-US" sz="1200" dirty="0"/>
          </a:p>
        </p:txBody>
      </p:sp>
      <p:sp>
        <p:nvSpPr>
          <p:cNvPr id="6" name="Text 3"/>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APPENDIX O</a:t>
            </a:r>
            <a:endParaRPr lang="en-US" sz="1200" dirty="0"/>
          </a:p>
        </p:txBody>
      </p:sp>
      <p:sp>
        <p:nvSpPr>
          <p:cNvPr id="7" name="Text 4"/>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74</a:t>
            </a:r>
            <a:endParaRPr lang="en-US" sz="12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12171D"/>
                </a:solidFill>
                <a:latin typeface="Inter" pitchFamily="34" charset="0"/>
                <a:ea typeface="Inter" pitchFamily="34" charset="-122"/>
                <a:cs typeface="Inter" pitchFamily="34" charset="-120"/>
              </a:rPr>
              <a:t>69 · OPEN VALIDATION GATES · SEVENTEEN OPEN · IDS PER V3 APPROVAL REGISTER</a:t>
            </a:r>
            <a:endParaRPr lang="en-US" sz="1200" dirty="0"/>
          </a:p>
        </p:txBody>
      </p:sp>
      <p:sp>
        <p:nvSpPr>
          <p:cNvPr id="3" name="Text 1"/>
          <p:cNvSpPr/>
          <p:nvPr>
            <p:ph type="title"/>
          </p:nvPr>
        </p:nvSpPr>
        <p:spPr>
          <a:xfrm>
            <a:off x="812800" y="1153120"/>
            <a:ext cx="10883392" cy="360660"/>
          </a:xfrm>
          <a:prstGeom prst="rect">
            <a:avLst/>
          </a:prstGeom>
          <a:noFill/>
          <a:ln/>
        </p:spPr>
        <p:txBody>
          <a:bodyPr wrap="square" lIns="0" tIns="0" rIns="0" bIns="0" rtlCol="0" anchor="t">
            <a:normAutofit/>
          </a:bodyPr>
          <a:lstStyle/>
          <a:p>
            <a:pPr algn="l" indent="0" marL="0">
              <a:lnSpc>
                <a:spcPts val="2640"/>
              </a:lnSpc>
              <a:buNone/>
            </a:pPr>
            <a:r>
              <a:rPr lang="en-US" sz="2400" b="0" i="0" spc="50" kern="0" dirty="0">
                <a:solidFill>
                  <a:srgbClr val="12171D"/>
                </a:solidFill>
                <a:latin typeface="Jost" pitchFamily="34" charset="0"/>
                <a:ea typeface="Jost" pitchFamily="34" charset="-122"/>
                <a:cs typeface="Jost" pitchFamily="34" charset="-120"/>
              </a:rPr>
              <a:t>Nothing here is closed until the evidence exists.</a:t>
            </a:r>
            <a:endParaRPr lang="en-US" sz="2400" dirty="0"/>
          </a:p>
        </p:txBody>
      </p:sp>
      <p:sp>
        <p:nvSpPr>
          <p:cNvPr id="4" name="Text 2"/>
          <p:cNvSpPr/>
          <p:nvPr/>
        </p:nvSpPr>
        <p:spPr>
          <a:xfrm>
            <a:off x="8191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Production vector logo masters · VAL-02</a:t>
            </a:r>
            <a:endParaRPr lang="en-US" sz="1200" dirty="0"/>
          </a:p>
        </p:txBody>
      </p:sp>
      <p:sp>
        <p:nvSpPr>
          <p:cNvPr id="5" name="Text 3"/>
          <p:cNvSpPr/>
          <p:nvPr/>
        </p:nvSpPr>
        <p:spPr>
          <a:xfrm>
            <a:off x="43624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Micro / no-spark logo · VAL-02</a:t>
            </a:r>
            <a:endParaRPr lang="en-US" sz="1200" dirty="0"/>
          </a:p>
        </p:txBody>
      </p:sp>
      <p:sp>
        <p:nvSpPr>
          <p:cNvPr id="6" name="Text 4"/>
          <p:cNvSpPr/>
          <p:nvPr/>
        </p:nvSpPr>
        <p:spPr>
          <a:xfrm>
            <a:off x="7905750" y="1621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Stacked logo · VAL-02</a:t>
            </a:r>
            <a:endParaRPr lang="en-US" sz="1200" dirty="0"/>
          </a:p>
        </p:txBody>
      </p:sp>
      <p:sp>
        <p:nvSpPr>
          <p:cNvPr id="7" name="Text 5"/>
          <p:cNvSpPr/>
          <p:nvPr/>
        </p:nvSpPr>
        <p:spPr>
          <a:xfrm>
            <a:off x="8191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White symbol · VAL-02</a:t>
            </a:r>
            <a:endParaRPr lang="en-US" sz="1200" dirty="0"/>
          </a:p>
        </p:txBody>
      </p:sp>
      <p:sp>
        <p:nvSpPr>
          <p:cNvPr id="8" name="Text 6"/>
          <p:cNvSpPr/>
          <p:nvPr/>
        </p:nvSpPr>
        <p:spPr>
          <a:xfrm>
            <a:off x="43624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Artwork ownership · VAL-04</a:t>
            </a:r>
            <a:endParaRPr lang="en-US" sz="1200" dirty="0"/>
          </a:p>
        </p:txBody>
      </p:sp>
      <p:sp>
        <p:nvSpPr>
          <p:cNvPr id="9" name="Text 7"/>
          <p:cNvSpPr/>
          <p:nvPr/>
        </p:nvSpPr>
        <p:spPr>
          <a:xfrm>
            <a:off x="7905750" y="20281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Trademark clearance · VAL-03</a:t>
            </a:r>
            <a:endParaRPr lang="en-US" sz="1200" dirty="0"/>
          </a:p>
        </p:txBody>
      </p:sp>
      <p:sp>
        <p:nvSpPr>
          <p:cNvPr id="10" name="Text 8"/>
          <p:cNvSpPr/>
          <p:nvPr/>
        </p:nvSpPr>
        <p:spPr>
          <a:xfrm>
            <a:off x="8191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Font build and licence · VAL-05</a:t>
            </a:r>
            <a:endParaRPr lang="en-US" sz="1200" dirty="0"/>
          </a:p>
        </p:txBody>
      </p:sp>
      <p:sp>
        <p:nvSpPr>
          <p:cNvPr id="11" name="Text 9"/>
          <p:cNvSpPr/>
          <p:nvPr/>
        </p:nvSpPr>
        <p:spPr>
          <a:xfrm>
            <a:off x="43624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CMYK / spot validation · VAL-11, J14</a:t>
            </a:r>
            <a:endParaRPr lang="en-US" sz="1200" dirty="0"/>
          </a:p>
        </p:txBody>
      </p:sp>
      <p:sp>
        <p:nvSpPr>
          <p:cNvPr id="12" name="Text 10"/>
          <p:cNvSpPr/>
          <p:nvPr/>
        </p:nvSpPr>
        <p:spPr>
          <a:xfrm>
            <a:off x="7905750" y="24345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Physical colour standards · VAL-09, J16</a:t>
            </a:r>
            <a:endParaRPr lang="en-US" sz="1200" dirty="0"/>
          </a:p>
        </p:txBody>
      </p:sp>
      <p:sp>
        <p:nvSpPr>
          <p:cNvPr id="13" name="Text 11"/>
          <p:cNvSpPr/>
          <p:nvPr/>
        </p:nvSpPr>
        <p:spPr>
          <a:xfrm>
            <a:off x="8191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Arabic native QA · VAL-07</a:t>
            </a:r>
            <a:endParaRPr lang="en-US" sz="1200" dirty="0"/>
          </a:p>
        </p:txBody>
      </p:sp>
      <p:sp>
        <p:nvSpPr>
          <p:cNvPr id="14" name="Text 12"/>
          <p:cNvSpPr/>
          <p:nvPr/>
        </p:nvSpPr>
        <p:spPr>
          <a:xfrm>
            <a:off x="43624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Image rights · VAL-06</a:t>
            </a:r>
            <a:endParaRPr lang="en-US" sz="1200" dirty="0"/>
          </a:p>
        </p:txBody>
      </p:sp>
      <p:sp>
        <p:nvSpPr>
          <p:cNvPr id="15" name="Text 13"/>
          <p:cNvSpPr/>
          <p:nvPr/>
        </p:nvSpPr>
        <p:spPr>
          <a:xfrm>
            <a:off x="7905750" y="28409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Packaging dielines · VAL-09</a:t>
            </a:r>
            <a:endParaRPr lang="en-US" sz="1200" dirty="0"/>
          </a:p>
        </p:txBody>
      </p:sp>
      <p:sp>
        <p:nvSpPr>
          <p:cNvPr id="16" name="Text 14"/>
          <p:cNvSpPr/>
          <p:nvPr/>
        </p:nvSpPr>
        <p:spPr>
          <a:xfrm>
            <a:off x="8191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Regulatory packaging data · VAL-10</a:t>
            </a:r>
            <a:endParaRPr lang="en-US" sz="1200" dirty="0"/>
          </a:p>
        </p:txBody>
      </p:sp>
      <p:sp>
        <p:nvSpPr>
          <p:cNvPr id="17" name="Text 15"/>
          <p:cNvSpPr/>
          <p:nvPr/>
        </p:nvSpPr>
        <p:spPr>
          <a:xfrm>
            <a:off x="43624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Packaging physical proof · VAL-09</a:t>
            </a:r>
            <a:endParaRPr lang="en-US" sz="1200" dirty="0"/>
          </a:p>
        </p:txBody>
      </p:sp>
      <p:sp>
        <p:nvSpPr>
          <p:cNvPr id="18" name="Text 16"/>
          <p:cNvSpPr/>
          <p:nvPr/>
        </p:nvSpPr>
        <p:spPr>
          <a:xfrm>
            <a:off x="7905750" y="32473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Signage site standards · VAL-12, deferred</a:t>
            </a:r>
            <a:endParaRPr lang="en-US" sz="1200" dirty="0"/>
          </a:p>
        </p:txBody>
      </p:sp>
      <p:sp>
        <p:nvSpPr>
          <p:cNvPr id="19" name="Text 17"/>
          <p:cNvSpPr/>
          <p:nvPr/>
        </p:nvSpPr>
        <p:spPr>
          <a:xfrm>
            <a:off x="819150" y="3653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Named governance holders · AC19</a:t>
            </a:r>
            <a:endParaRPr lang="en-US" sz="1200" dirty="0"/>
          </a:p>
        </p:txBody>
      </p:sp>
      <p:sp>
        <p:nvSpPr>
          <p:cNvPr id="20" name="Text 18"/>
          <p:cNvSpPr/>
          <p:nvPr/>
        </p:nvSpPr>
        <p:spPr>
          <a:xfrm>
            <a:off x="4362450" y="3653730"/>
            <a:ext cx="3467100" cy="330200"/>
          </a:xfrm>
          <a:prstGeom prst="rect">
            <a:avLst/>
          </a:prstGeom>
          <a:noFill/>
          <a:ln w="12700">
            <a:solidFill>
              <a:srgbClr val="12171D"/>
            </a:solidFill>
            <a:prstDash val="dash"/>
          </a:ln>
        </p:spPr>
        <p:txBody>
          <a:bodyPr wrap="square" lIns="95250" tIns="69850" rIns="0" bIns="44450" rtlCol="0" anchor="t">
            <a:normAutofit/>
          </a:bodyPr>
          <a:lstStyle/>
          <a:p>
            <a:pPr algn="l" indent="0" marL="0">
              <a:lnSpc>
                <a:spcPts val="1500"/>
              </a:lnSpc>
              <a:buNone/>
            </a:pPr>
            <a:r>
              <a:rPr lang="en-US" sz="1200" dirty="0">
                <a:solidFill>
                  <a:srgbClr val="12171D"/>
                </a:solidFill>
                <a:latin typeface="Inter" pitchFamily="34" charset="0"/>
                <a:ea typeface="Inter" pitchFamily="34" charset="-122"/>
                <a:cs typeface="Inter" pitchFamily="34" charset="-120"/>
              </a:rPr>
              <a:t>Final release authorization · AC20</a:t>
            </a:r>
            <a:endParaRPr lang="en-US" sz="1200" dirty="0"/>
          </a:p>
        </p:txBody>
      </p:sp>
      <p:sp>
        <p:nvSpPr>
          <p:cNvPr id="21" name="Text 19"/>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GEM™ PRODUCTION STANDARDS V3.0 RC2 · PART C · GATES</a:t>
            </a:r>
            <a:endParaRPr lang="en-US" sz="1200" dirty="0"/>
          </a:p>
        </p:txBody>
      </p:sp>
      <p:sp>
        <p:nvSpPr>
          <p:cNvPr id="22" name="Text 20"/>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12171D"/>
                </a:solidFill>
                <a:latin typeface="Inter" pitchFamily="34" charset="0"/>
                <a:ea typeface="Inter" pitchFamily="34" charset="-122"/>
                <a:cs typeface="Inter" pitchFamily="34" charset="-120"/>
              </a:rPr>
              <a:t>75</a:t>
            </a:r>
            <a:endParaRPr lang="en-US" sz="1200" dirty="0"/>
          </a:p>
        </p:txBody>
      </p:sp>
      <p:sp>
        <p:nvSpPr>
          <p:cNvPr id="23" name="Text 21"/>
          <p:cNvSpPr/>
          <p:nvPr/>
        </p:nvSpPr>
        <p:spPr>
          <a:xfrm>
            <a:off x="813816" y="4206240"/>
            <a:ext cx="10552176" cy="548640"/>
          </a:xfrm>
          <a:prstGeom prst="rect">
            <a:avLst/>
          </a:prstGeom>
          <a:noFill/>
          <a:ln/>
        </p:spPr>
        <p:txBody>
          <a:bodyPr wrap="square" lIns="0" tIns="0" rIns="0" bIns="0" rtlCol="0" anchor="t"/>
          <a:lstStyle/>
          <a:p>
            <a:pPr algn="l" indent="0" marL="0">
              <a:lnSpc>
                <a:spcPts val="1680"/>
              </a:lnSpc>
              <a:buNone/>
            </a:pPr>
            <a:r>
              <a:rPr lang="en-US" sz="1200" spc="95" kern="0" dirty="0">
                <a:solidFill>
                  <a:srgbClr val="12171D"/>
                </a:solidFill>
                <a:latin typeface="Inter" pitchFamily="34" charset="0"/>
                <a:ea typeface="Inter" pitchFamily="34" charset="-122"/>
                <a:cs typeface="Inter" pitchFamily="34" charset="-120"/>
              </a:rPr>
              <a:t>Gate IDs follow the register's Validation &amp; Evidence sheet (VAL-01 to VAL-21; VAL-18 is not allocated) and the release checkpoints AC17, AC19 and AC20. Digital gates VAL-13, VAL-14, VAL-20 and the cross-document check VAL-21 are tracked in Part B and the RC2 Open Evidence Register.</a:t>
            </a:r>
            <a:endParaRPr lang="en-US" sz="12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70 · SIX RELEASE GATES</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Six gates. All must be met.</a:t>
            </a:r>
            <a:endParaRPr lang="en-US" sz="2600" dirty="0"/>
          </a:p>
        </p:txBody>
      </p:sp>
      <p:sp>
        <p:nvSpPr>
          <p:cNvPr id="4" name="Shape 2"/>
          <p:cNvSpPr/>
          <p:nvPr/>
        </p:nvSpPr>
        <p:spPr>
          <a:xfrm>
            <a:off x="819150" y="1700461"/>
            <a:ext cx="3450134" cy="827980"/>
          </a:xfrm>
          <a:prstGeom prst="rect">
            <a:avLst/>
          </a:prstGeom>
          <a:noFill/>
          <a:ln w="12700">
            <a:solidFill>
              <a:srgbClr val="BCACA7"/>
            </a:solidFill>
            <a:prstDash val="dash"/>
          </a:ln>
        </p:spPr>
        <p:txBody>
          <a:bodyPr/>
          <a:p/>
        </p:txBody>
      </p:sp>
      <p:sp>
        <p:nvSpPr>
          <p:cNvPr id="5" name="Text 3"/>
          <p:cNvSpPr/>
          <p:nvPr/>
        </p:nvSpPr>
        <p:spPr>
          <a:xfrm>
            <a:off x="965200"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1 · Master assets</a:t>
            </a:r>
            <a:endParaRPr lang="en-US" sz="1600" dirty="0"/>
          </a:p>
        </p:txBody>
      </p:sp>
      <p:sp>
        <p:nvSpPr>
          <p:cNvPr id="6" name="Text 4"/>
          <p:cNvSpPr/>
          <p:nvPr/>
        </p:nvSpPr>
        <p:spPr>
          <a:xfrm>
            <a:off x="965200"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VAL-02, VAL-03, VAL-04</a:t>
            </a:r>
            <a:endParaRPr lang="en-US" sz="1200" dirty="0"/>
          </a:p>
        </p:txBody>
      </p:sp>
      <p:sp>
        <p:nvSpPr>
          <p:cNvPr id="7" name="Shape 5"/>
          <p:cNvSpPr/>
          <p:nvPr/>
        </p:nvSpPr>
        <p:spPr>
          <a:xfrm>
            <a:off x="4370884" y="1700461"/>
            <a:ext cx="3450183" cy="827980"/>
          </a:xfrm>
          <a:prstGeom prst="rect">
            <a:avLst/>
          </a:prstGeom>
          <a:noFill/>
          <a:ln w="12700">
            <a:solidFill>
              <a:srgbClr val="BCACA7"/>
            </a:solidFill>
            <a:prstDash val="dash"/>
          </a:ln>
        </p:spPr>
        <p:txBody>
          <a:bodyPr/>
          <a:p/>
        </p:txBody>
      </p:sp>
      <p:sp>
        <p:nvSpPr>
          <p:cNvPr id="8" name="Text 6"/>
          <p:cNvSpPr/>
          <p:nvPr/>
        </p:nvSpPr>
        <p:spPr>
          <a:xfrm>
            <a:off x="4516934" y="184651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2 · Production specification</a:t>
            </a:r>
            <a:endParaRPr lang="en-US" sz="1600" dirty="0"/>
          </a:p>
        </p:txBody>
      </p:sp>
      <p:sp>
        <p:nvSpPr>
          <p:cNvPr id="9" name="Text 7"/>
          <p:cNvSpPr/>
          <p:nvPr/>
        </p:nvSpPr>
        <p:spPr>
          <a:xfrm>
            <a:off x="4516934" y="216907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AC17, VAL-05, VAL-10</a:t>
            </a:r>
            <a:endParaRPr lang="en-US" sz="1200" dirty="0"/>
          </a:p>
        </p:txBody>
      </p:sp>
      <p:sp>
        <p:nvSpPr>
          <p:cNvPr id="10" name="Shape 8"/>
          <p:cNvSpPr/>
          <p:nvPr/>
        </p:nvSpPr>
        <p:spPr>
          <a:xfrm>
            <a:off x="7922667" y="1700461"/>
            <a:ext cx="3450134" cy="827980"/>
          </a:xfrm>
          <a:prstGeom prst="rect">
            <a:avLst/>
          </a:prstGeom>
          <a:noFill/>
          <a:ln w="12700">
            <a:solidFill>
              <a:srgbClr val="BCACA7"/>
            </a:solidFill>
            <a:prstDash val="dash"/>
          </a:ln>
        </p:spPr>
        <p:txBody>
          <a:bodyPr/>
          <a:p/>
        </p:txBody>
      </p:sp>
      <p:sp>
        <p:nvSpPr>
          <p:cNvPr id="11" name="Text 9"/>
          <p:cNvSpPr/>
          <p:nvPr/>
        </p:nvSpPr>
        <p:spPr>
          <a:xfrm>
            <a:off x="8068717"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3 · Supplier proof</a:t>
            </a:r>
            <a:endParaRPr lang="en-US" sz="1600" dirty="0"/>
          </a:p>
        </p:txBody>
      </p:sp>
      <p:sp>
        <p:nvSpPr>
          <p:cNvPr id="12" name="Text 10"/>
          <p:cNvSpPr/>
          <p:nvPr/>
        </p:nvSpPr>
        <p:spPr>
          <a:xfrm>
            <a:off x="8068717"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VAL-09, VAL-11</a:t>
            </a:r>
            <a:endParaRPr lang="en-US" sz="1200" dirty="0"/>
          </a:p>
        </p:txBody>
      </p:sp>
      <p:sp>
        <p:nvSpPr>
          <p:cNvPr id="13" name="Shape 11"/>
          <p:cNvSpPr/>
          <p:nvPr/>
        </p:nvSpPr>
        <p:spPr>
          <a:xfrm>
            <a:off x="819150" y="2630041"/>
            <a:ext cx="3450134" cy="827980"/>
          </a:xfrm>
          <a:prstGeom prst="rect">
            <a:avLst/>
          </a:prstGeom>
          <a:noFill/>
          <a:ln w="12700">
            <a:solidFill>
              <a:srgbClr val="BCACA7"/>
            </a:solidFill>
            <a:prstDash val="dash"/>
          </a:ln>
        </p:spPr>
        <p:txBody>
          <a:bodyPr/>
          <a:p/>
        </p:txBody>
      </p:sp>
      <p:sp>
        <p:nvSpPr>
          <p:cNvPr id="14" name="Text 12"/>
          <p:cNvSpPr/>
          <p:nvPr/>
        </p:nvSpPr>
        <p:spPr>
          <a:xfrm>
            <a:off x="965200"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4 · Physical validation</a:t>
            </a:r>
            <a:endParaRPr lang="en-US" sz="1600" dirty="0"/>
          </a:p>
        </p:txBody>
      </p:sp>
      <p:sp>
        <p:nvSpPr>
          <p:cNvPr id="15" name="Text 13"/>
          <p:cNvSpPr/>
          <p:nvPr/>
        </p:nvSpPr>
        <p:spPr>
          <a:xfrm>
            <a:off x="965200"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VAL-09, VAL-15; VAL-12 deferred</a:t>
            </a:r>
            <a:endParaRPr lang="en-US" sz="1200" dirty="0"/>
          </a:p>
        </p:txBody>
      </p:sp>
      <p:sp>
        <p:nvSpPr>
          <p:cNvPr id="16" name="Shape 14"/>
          <p:cNvSpPr/>
          <p:nvPr/>
        </p:nvSpPr>
        <p:spPr>
          <a:xfrm>
            <a:off x="4370884" y="2630041"/>
            <a:ext cx="3450183" cy="827980"/>
          </a:xfrm>
          <a:prstGeom prst="rect">
            <a:avLst/>
          </a:prstGeom>
          <a:noFill/>
          <a:ln w="12700">
            <a:solidFill>
              <a:srgbClr val="BCACA7"/>
            </a:solidFill>
            <a:prstDash val="dash"/>
          </a:ln>
        </p:spPr>
        <p:txBody>
          <a:bodyPr/>
          <a:p/>
        </p:txBody>
      </p:sp>
      <p:sp>
        <p:nvSpPr>
          <p:cNvPr id="17" name="Text 15"/>
          <p:cNvSpPr/>
          <p:nvPr/>
        </p:nvSpPr>
        <p:spPr>
          <a:xfrm>
            <a:off x="4516934" y="277609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5 · Governance</a:t>
            </a:r>
            <a:endParaRPr lang="en-US" sz="1600" dirty="0"/>
          </a:p>
        </p:txBody>
      </p:sp>
      <p:sp>
        <p:nvSpPr>
          <p:cNvPr id="18" name="Text 16"/>
          <p:cNvSpPr/>
          <p:nvPr/>
        </p:nvSpPr>
        <p:spPr>
          <a:xfrm>
            <a:off x="4516934" y="309865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AC19, VAL-16, VAL-21</a:t>
            </a:r>
            <a:endParaRPr lang="en-US" sz="1200" dirty="0"/>
          </a:p>
        </p:txBody>
      </p:sp>
      <p:sp>
        <p:nvSpPr>
          <p:cNvPr id="19" name="Shape 17"/>
          <p:cNvSpPr/>
          <p:nvPr/>
        </p:nvSpPr>
        <p:spPr>
          <a:xfrm>
            <a:off x="7922667" y="2630041"/>
            <a:ext cx="3450134" cy="827980"/>
          </a:xfrm>
          <a:prstGeom prst="rect">
            <a:avLst/>
          </a:prstGeom>
          <a:noFill/>
          <a:ln w="12700">
            <a:solidFill>
              <a:srgbClr val="BCACA7"/>
            </a:solidFill>
            <a:prstDash val="dash"/>
          </a:ln>
        </p:spPr>
        <p:txBody>
          <a:bodyPr/>
          <a:p/>
        </p:txBody>
      </p:sp>
      <p:sp>
        <p:nvSpPr>
          <p:cNvPr id="20" name="Text 18"/>
          <p:cNvSpPr/>
          <p:nvPr/>
        </p:nvSpPr>
        <p:spPr>
          <a:xfrm>
            <a:off x="8068717"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6 · Release authorization</a:t>
            </a:r>
            <a:endParaRPr lang="en-US" sz="1600" dirty="0"/>
          </a:p>
        </p:txBody>
      </p:sp>
      <p:sp>
        <p:nvSpPr>
          <p:cNvPr id="21" name="Text 19"/>
          <p:cNvSpPr/>
          <p:nvPr/>
        </p:nvSpPr>
        <p:spPr>
          <a:xfrm>
            <a:off x="8068717"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Open · AC20</a:t>
            </a:r>
            <a:endParaRPr lang="en-US" sz="1200" dirty="0"/>
          </a:p>
        </p:txBody>
      </p:sp>
      <p:sp>
        <p:nvSpPr>
          <p:cNvPr id="22" name="Text 20"/>
          <p:cNvSpPr/>
          <p:nvPr/>
        </p:nvSpPr>
        <p:spPr>
          <a:xfrm>
            <a:off x="812800" y="3616771"/>
            <a:ext cx="5226050" cy="683220"/>
          </a:xfrm>
          <a:prstGeom prst="rect">
            <a:avLst/>
          </a:prstGeom>
          <a:solidFill>
            <a:srgbClr val="BCACA7"/>
          </a:solidFill>
          <a:ln/>
        </p:spPr>
        <p:txBody>
          <a:bodyPr wrap="square" lIns="139700" tIns="114300" rIns="0" bIns="88900" rtlCol="0" anchor="t"/>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Until all six are met: V3.0 RC2 · WORKING EDITION / PENDING PRODUCTION VALIDATION</a:t>
            </a:r>
            <a:endParaRPr lang="en-US" sz="1300" dirty="0"/>
          </a:p>
        </p:txBody>
      </p:sp>
      <p:sp>
        <p:nvSpPr>
          <p:cNvPr id="23" name="Text 21"/>
          <p:cNvSpPr/>
          <p:nvPr/>
        </p:nvSpPr>
        <p:spPr>
          <a:xfrm>
            <a:off x="6134100" y="3623121"/>
            <a:ext cx="5238750" cy="670520"/>
          </a:xfrm>
          <a:prstGeom prst="rect">
            <a:avLst/>
          </a:prstGeom>
          <a:noFill/>
          <a:ln w="12700">
            <a:solidFill>
              <a:srgbClr val="BCACA7"/>
            </a:solidFill>
            <a:prstDash val="solid"/>
          </a:ln>
        </p:spPr>
        <p:txBody>
          <a:bodyPr wrap="square" lIns="146050" tIns="120650" rIns="0" bIns="95250" rtlCol="0" anchor="t">
            <a:normAutofit/>
          </a:bodyPr>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APPROVED PRODUCTION STANDARD only when the evidence exists</a:t>
            </a:r>
            <a:endParaRPr lang="en-US" sz="13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GATES</a:t>
            </a:r>
            <a:endParaRPr lang="en-US" sz="1200" dirty="0"/>
          </a:p>
        </p:txBody>
      </p:sp>
      <p:sp>
        <p:nvSpPr>
          <p:cNvPr id="25" name="Text 2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76</a:t>
            </a:r>
            <a:endParaRPr lang="en-US" sz="12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6">
    <p:bg>
      <p:bgPr>
        <a:solidFill>
          <a:srgbClr val="12171D"/>
        </a:solidFill>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algn="l" indent="0" marL="0">
              <a:lnSpc>
                <a:spcPts val="1680"/>
              </a:lnSpc>
              <a:buNone/>
            </a:pPr>
            <a:r>
              <a:rPr lang="en-US" sz="1200" spc="190" kern="0" dirty="0">
                <a:solidFill>
                  <a:srgbClr val="BCACA7"/>
                </a:solidFill>
                <a:latin typeface="Inter" pitchFamily="34" charset="0"/>
                <a:ea typeface="Inter" pitchFamily="34" charset="-122"/>
                <a:cs typeface="Inter" pitchFamily="34" charset="-120"/>
              </a:rPr>
              <a:t>71 · DOCUMENT CONTROL &amp; CHANGE LOG</a:t>
            </a:r>
            <a:endParaRPr lang="en-US" sz="1200" dirty="0"/>
          </a:p>
        </p:txBody>
      </p:sp>
      <p:sp>
        <p:nvSpPr>
          <p:cNvPr id="3" name="Text 1"/>
          <p:cNvSpPr/>
          <p:nvPr>
            <p:ph type="title"/>
          </p:nvPr>
        </p:nvSpPr>
        <p:spPr>
          <a:xfrm>
            <a:off x="812800" y="1178520"/>
            <a:ext cx="10883392" cy="388590"/>
          </a:xfrm>
          <a:prstGeom prst="rect">
            <a:avLst/>
          </a:prstGeom>
          <a:noFill/>
          <a:ln/>
        </p:spPr>
        <p:txBody>
          <a:bodyPr wrap="square" lIns="0" tIns="0" rIns="0" bIns="0" rtlCol="0" anchor="t">
            <a:normAutofit/>
          </a:bodyPr>
          <a:lstStyle/>
          <a:p>
            <a:pPr algn="l" indent="0" marL="0">
              <a:lnSpc>
                <a:spcPts val="2860"/>
              </a:lnSpc>
              <a:buNone/>
            </a:pPr>
            <a:r>
              <a:rPr lang="en-US" sz="2600" b="0" i="0" spc="50" kern="0" dirty="0">
                <a:solidFill>
                  <a:srgbClr val="FFFFFF"/>
                </a:solidFill>
                <a:latin typeface="Jost" pitchFamily="34" charset="0"/>
                <a:ea typeface="Jost" pitchFamily="34" charset="-122"/>
                <a:cs typeface="Jost" pitchFamily="34" charset="-120"/>
              </a:rPr>
              <a:t>One version. One date. One owner.</a:t>
            </a:r>
            <a:endParaRPr lang="en-US" sz="2600" dirty="0"/>
          </a:p>
        </p:txBody>
      </p:sp>
      <p:sp>
        <p:nvSpPr>
          <p:cNvPr id="4" name="Shape 2"/>
          <p:cNvSpPr/>
          <p:nvPr/>
        </p:nvSpPr>
        <p:spPr>
          <a:xfrm>
            <a:off x="819150" y="1700461"/>
            <a:ext cx="3450134" cy="827980"/>
          </a:xfrm>
          <a:prstGeom prst="rect">
            <a:avLst/>
          </a:prstGeom>
          <a:noFill/>
          <a:ln w="12700">
            <a:solidFill>
              <a:srgbClr val="BCACA7"/>
            </a:solidFill>
            <a:prstDash val="dash"/>
          </a:ln>
        </p:spPr>
        <p:txBody>
          <a:bodyPr/>
          <a:p/>
        </p:txBody>
      </p:sp>
      <p:sp>
        <p:nvSpPr>
          <p:cNvPr id="5" name="Text 3"/>
          <p:cNvSpPr/>
          <p:nvPr/>
        </p:nvSpPr>
        <p:spPr>
          <a:xfrm>
            <a:off x="965200"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Document ID</a:t>
            </a:r>
            <a:endParaRPr lang="en-US" sz="1600" dirty="0"/>
          </a:p>
        </p:txBody>
      </p:sp>
      <p:sp>
        <p:nvSpPr>
          <p:cNvPr id="6" name="Text 4"/>
          <p:cNvSpPr/>
          <p:nvPr/>
        </p:nvSpPr>
        <p:spPr>
          <a:xfrm>
            <a:off x="965200"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GEM-PS-V3.0-RC2</a:t>
            </a:r>
            <a:endParaRPr lang="en-US" sz="1200" dirty="0"/>
          </a:p>
        </p:txBody>
      </p:sp>
      <p:sp>
        <p:nvSpPr>
          <p:cNvPr id="7" name="Shape 5"/>
          <p:cNvSpPr/>
          <p:nvPr/>
        </p:nvSpPr>
        <p:spPr>
          <a:xfrm>
            <a:off x="4370884" y="1700461"/>
            <a:ext cx="3450183" cy="827980"/>
          </a:xfrm>
          <a:prstGeom prst="rect">
            <a:avLst/>
          </a:prstGeom>
          <a:noFill/>
          <a:ln w="12700">
            <a:solidFill>
              <a:srgbClr val="BCACA7"/>
            </a:solidFill>
            <a:prstDash val="dash"/>
          </a:ln>
        </p:spPr>
        <p:txBody>
          <a:bodyPr/>
          <a:p/>
        </p:txBody>
      </p:sp>
      <p:sp>
        <p:nvSpPr>
          <p:cNvPr id="8" name="Text 6"/>
          <p:cNvSpPr/>
          <p:nvPr/>
        </p:nvSpPr>
        <p:spPr>
          <a:xfrm>
            <a:off x="4516934" y="184651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Version</a:t>
            </a:r>
            <a:endParaRPr lang="en-US" sz="1600" dirty="0"/>
          </a:p>
        </p:txBody>
      </p:sp>
      <p:sp>
        <p:nvSpPr>
          <p:cNvPr id="9" name="Text 7"/>
          <p:cNvSpPr/>
          <p:nvPr/>
        </p:nvSpPr>
        <p:spPr>
          <a:xfrm>
            <a:off x="4516934" y="216907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V3.0 RC2 (Release Candidate 2)</a:t>
            </a:r>
            <a:endParaRPr lang="en-US" sz="1200" dirty="0"/>
          </a:p>
        </p:txBody>
      </p:sp>
      <p:sp>
        <p:nvSpPr>
          <p:cNvPr id="10" name="Shape 8"/>
          <p:cNvSpPr/>
          <p:nvPr/>
        </p:nvSpPr>
        <p:spPr>
          <a:xfrm>
            <a:off x="7922667" y="1700461"/>
            <a:ext cx="3450134" cy="827980"/>
          </a:xfrm>
          <a:prstGeom prst="rect">
            <a:avLst/>
          </a:prstGeom>
          <a:noFill/>
          <a:ln w="12700">
            <a:solidFill>
              <a:srgbClr val="BCACA7"/>
            </a:solidFill>
            <a:prstDash val="dash"/>
          </a:ln>
        </p:spPr>
        <p:txBody>
          <a:bodyPr/>
          <a:p/>
        </p:txBody>
      </p:sp>
      <p:sp>
        <p:nvSpPr>
          <p:cNvPr id="11" name="Text 9"/>
          <p:cNvSpPr/>
          <p:nvPr/>
        </p:nvSpPr>
        <p:spPr>
          <a:xfrm>
            <a:off x="8068717" y="184651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Edition state</a:t>
            </a:r>
            <a:endParaRPr lang="en-US" sz="1600" dirty="0"/>
          </a:p>
        </p:txBody>
      </p:sp>
      <p:sp>
        <p:nvSpPr>
          <p:cNvPr id="12" name="Text 10"/>
          <p:cNvSpPr/>
          <p:nvPr/>
        </p:nvSpPr>
        <p:spPr>
          <a:xfrm>
            <a:off x="8068717" y="216907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WORKING EDITION · NOT RELEASED</a:t>
            </a:r>
            <a:endParaRPr lang="en-US" sz="1200" dirty="0"/>
          </a:p>
        </p:txBody>
      </p:sp>
      <p:sp>
        <p:nvSpPr>
          <p:cNvPr id="13" name="Shape 11"/>
          <p:cNvSpPr/>
          <p:nvPr/>
        </p:nvSpPr>
        <p:spPr>
          <a:xfrm>
            <a:off x="819150" y="2630041"/>
            <a:ext cx="3450134" cy="827980"/>
          </a:xfrm>
          <a:prstGeom prst="rect">
            <a:avLst/>
          </a:prstGeom>
          <a:noFill/>
          <a:ln w="12700">
            <a:solidFill>
              <a:srgbClr val="BCACA7"/>
            </a:solidFill>
            <a:prstDash val="dash"/>
          </a:ln>
        </p:spPr>
        <p:txBody>
          <a:bodyPr/>
          <a:p/>
        </p:txBody>
      </p:sp>
      <p:sp>
        <p:nvSpPr>
          <p:cNvPr id="14" name="Text 12"/>
          <p:cNvSpPr/>
          <p:nvPr/>
        </p:nvSpPr>
        <p:spPr>
          <a:xfrm>
            <a:off x="965200"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Issue date</a:t>
            </a:r>
            <a:endParaRPr lang="en-US" sz="1600" dirty="0"/>
          </a:p>
        </p:txBody>
      </p:sp>
      <p:sp>
        <p:nvSpPr>
          <p:cNvPr id="15" name="Text 13"/>
          <p:cNvSpPr/>
          <p:nvPr/>
        </p:nvSpPr>
        <p:spPr>
          <a:xfrm>
            <a:off x="965200"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2026-10-06</a:t>
            </a:r>
            <a:endParaRPr lang="en-US" sz="1200" dirty="0"/>
          </a:p>
        </p:txBody>
      </p:sp>
      <p:sp>
        <p:nvSpPr>
          <p:cNvPr id="16" name="Shape 14"/>
          <p:cNvSpPr/>
          <p:nvPr/>
        </p:nvSpPr>
        <p:spPr>
          <a:xfrm>
            <a:off x="4370884" y="2630041"/>
            <a:ext cx="3450183" cy="827980"/>
          </a:xfrm>
          <a:prstGeom prst="rect">
            <a:avLst/>
          </a:prstGeom>
          <a:noFill/>
          <a:ln w="12700">
            <a:solidFill>
              <a:srgbClr val="BCACA7"/>
            </a:solidFill>
            <a:prstDash val="dash"/>
          </a:ln>
        </p:spPr>
        <p:txBody>
          <a:bodyPr/>
          <a:p/>
        </p:txBody>
      </p:sp>
      <p:sp>
        <p:nvSpPr>
          <p:cNvPr id="17" name="Text 15"/>
          <p:cNvSpPr/>
          <p:nvPr/>
        </p:nvSpPr>
        <p:spPr>
          <a:xfrm>
            <a:off x="4516934" y="2776091"/>
            <a:ext cx="3252826"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Owner</a:t>
            </a:r>
            <a:endParaRPr lang="en-US" sz="1600" dirty="0"/>
          </a:p>
        </p:txBody>
      </p:sp>
      <p:sp>
        <p:nvSpPr>
          <p:cNvPr id="18" name="Text 16"/>
          <p:cNvSpPr/>
          <p:nvPr/>
        </p:nvSpPr>
        <p:spPr>
          <a:xfrm>
            <a:off x="4516934" y="3098651"/>
            <a:ext cx="3252826"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Brand Owner [REQUIRES OWNER]</a:t>
            </a:r>
            <a:endParaRPr lang="en-US" sz="1200" dirty="0"/>
          </a:p>
        </p:txBody>
      </p:sp>
      <p:sp>
        <p:nvSpPr>
          <p:cNvPr id="19" name="Shape 17"/>
          <p:cNvSpPr/>
          <p:nvPr/>
        </p:nvSpPr>
        <p:spPr>
          <a:xfrm>
            <a:off x="7922667" y="2630041"/>
            <a:ext cx="3450134" cy="827980"/>
          </a:xfrm>
          <a:prstGeom prst="rect">
            <a:avLst/>
          </a:prstGeom>
          <a:noFill/>
          <a:ln w="12700">
            <a:solidFill>
              <a:srgbClr val="BCACA7"/>
            </a:solidFill>
            <a:prstDash val="dash"/>
          </a:ln>
        </p:spPr>
        <p:txBody>
          <a:bodyPr/>
          <a:p/>
        </p:txBody>
      </p:sp>
      <p:sp>
        <p:nvSpPr>
          <p:cNvPr id="20" name="Text 18"/>
          <p:cNvSpPr/>
          <p:nvPr/>
        </p:nvSpPr>
        <p:spPr>
          <a:xfrm>
            <a:off x="8068717" y="2776091"/>
            <a:ext cx="3252775"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FFFFFF"/>
                </a:solidFill>
                <a:latin typeface="Jost" pitchFamily="34" charset="0"/>
                <a:ea typeface="Jost" pitchFamily="34" charset="-122"/>
                <a:cs typeface="Jost" pitchFamily="34" charset="-120"/>
              </a:rPr>
              <a:t>Approver</a:t>
            </a:r>
            <a:endParaRPr lang="en-US" sz="1600" dirty="0"/>
          </a:p>
        </p:txBody>
      </p:sp>
      <p:sp>
        <p:nvSpPr>
          <p:cNvPr id="21" name="Text 19"/>
          <p:cNvSpPr/>
          <p:nvPr/>
        </p:nvSpPr>
        <p:spPr>
          <a:xfrm>
            <a:off x="8068717" y="3098651"/>
            <a:ext cx="325277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BCACA7"/>
                </a:solidFill>
                <a:latin typeface="Inter" pitchFamily="34" charset="0"/>
                <a:ea typeface="Inter" pitchFamily="34" charset="-122"/>
                <a:cs typeface="Inter" pitchFamily="34" charset="-120"/>
              </a:rPr>
              <a:t>Brand Owner · AC20 PENDING</a:t>
            </a:r>
            <a:endParaRPr lang="en-US" sz="1200" dirty="0"/>
          </a:p>
        </p:txBody>
      </p:sp>
      <p:sp>
        <p:nvSpPr>
          <p:cNvPr id="22" name="Text 20"/>
          <p:cNvSpPr/>
          <p:nvPr/>
        </p:nvSpPr>
        <p:spPr>
          <a:xfrm>
            <a:off x="812800" y="3621024"/>
            <a:ext cx="5226050" cy="777240"/>
          </a:xfrm>
          <a:prstGeom prst="rect">
            <a:avLst/>
          </a:prstGeom>
          <a:solidFill>
            <a:srgbClr val="BCACA7"/>
          </a:solidFill>
          <a:ln/>
        </p:spPr>
        <p:txBody>
          <a:bodyPr wrap="square" lIns="139700" tIns="114300" rIns="0" bIns="88900" rtlCol="0" anchor="t"/>
          <a:lstStyle/>
          <a:p>
            <a:pPr algn="l" indent="0" marL="0">
              <a:lnSpc>
                <a:spcPts val="1690"/>
              </a:lnSpc>
              <a:buNone/>
            </a:pPr>
            <a:r>
              <a:rPr lang="en-US" sz="1300" dirty="0">
                <a:solidFill>
                  <a:srgbClr val="12171D"/>
                </a:solidFill>
                <a:latin typeface="Inter" pitchFamily="34" charset="0"/>
                <a:ea typeface="Inter" pitchFamily="34" charset="-122"/>
                <a:cs typeface="Inter" pitchFamily="34" charset="-120"/>
              </a:rPr>
              <a:t>Release status: RC2 synchronized with Part A and Part B RC2 · evidence gates open · Title: GEM™ Production Standards V3.0 — Part C</a:t>
            </a:r>
            <a:endParaRPr lang="en-US" sz="1300" dirty="0"/>
          </a:p>
        </p:txBody>
      </p:sp>
      <p:sp>
        <p:nvSpPr>
          <p:cNvPr id="23" name="Text 21"/>
          <p:cNvSpPr/>
          <p:nvPr/>
        </p:nvSpPr>
        <p:spPr>
          <a:xfrm>
            <a:off x="6134100" y="3621024"/>
            <a:ext cx="5238750" cy="777240"/>
          </a:xfrm>
          <a:prstGeom prst="rect">
            <a:avLst/>
          </a:prstGeom>
          <a:noFill/>
          <a:ln w="12700">
            <a:solidFill>
              <a:srgbClr val="BCACA7"/>
            </a:solidFill>
            <a:prstDash val="solid"/>
          </a:ln>
        </p:spPr>
        <p:txBody>
          <a:bodyPr wrap="square" lIns="146050" tIns="120650" rIns="0" bIns="95250" rtlCol="0" anchor="t"/>
          <a:lstStyle/>
          <a:p>
            <a:pPr algn="l" indent="0" marL="0">
              <a:lnSpc>
                <a:spcPts val="1690"/>
              </a:lnSpc>
              <a:buNone/>
            </a:pPr>
            <a:r>
              <a:rPr lang="en-US" sz="1300" dirty="0">
                <a:solidFill>
                  <a:srgbClr val="FFFFFF"/>
                </a:solidFill>
                <a:latin typeface="Inter" pitchFamily="34" charset="0"/>
                <a:ea typeface="Inter" pitchFamily="34" charset="-122"/>
                <a:cs typeface="Inter" pitchFamily="34" charset="-120"/>
              </a:rPr>
              <a:t>Supersedes: Release Candidate 1 (undated) · Related: GEM-BG-V3.0-RC2 (Part A) · GEM-DDS-V3.0-RC2 (Part B) · V3 Approval Register</a:t>
            </a:r>
            <a:endParaRPr lang="en-US" sz="1300" dirty="0"/>
          </a:p>
        </p:txBody>
      </p:sp>
      <p:sp>
        <p:nvSpPr>
          <p:cNvPr id="24" name="Text 2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95" kern="0" dirty="0">
                <a:solidFill>
                  <a:srgbClr val="BCACA7"/>
                </a:solidFill>
                <a:latin typeface="Inter" pitchFamily="34" charset="0"/>
                <a:ea typeface="Inter" pitchFamily="34" charset="-122"/>
                <a:cs typeface="Inter" pitchFamily="34" charset="-120"/>
              </a:rPr>
              <a:t>GEM™ PRODUCTION STANDARDS V3.0 RC2 · PART C · DOCUMENT CONTROL</a:t>
            </a:r>
            <a:endParaRPr lang="en-US" sz="1200" dirty="0"/>
          </a:p>
        </p:txBody>
      </p:sp>
      <p:sp>
        <p:nvSpPr>
          <p:cNvPr id="25" name="Text 2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77</a:t>
            </a:r>
            <a:endParaRPr lang="en-US" sz="1200" dirty="0"/>
          </a:p>
        </p:txBody>
      </p:sp>
      <p:sp>
        <p:nvSpPr>
          <p:cNvPr id="26" name="Text 24"/>
          <p:cNvSpPr/>
          <p:nvPr/>
        </p:nvSpPr>
        <p:spPr>
          <a:xfrm>
            <a:off x="813816" y="4617720"/>
            <a:ext cx="10552176" cy="731520"/>
          </a:xfrm>
          <a:prstGeom prst="rect">
            <a:avLst/>
          </a:prstGeom>
          <a:noFill/>
          <a:ln/>
        </p:spPr>
        <p:txBody>
          <a:bodyPr wrap="square" lIns="0" tIns="0" rIns="0" bIns="0" rtlCol="0" anchor="t"/>
          <a:lstStyle/>
          <a:p>
            <a:pPr algn="l" indent="0" marL="0">
              <a:lnSpc>
                <a:spcPts val="1680"/>
              </a:lnSpc>
              <a:buNone/>
            </a:pPr>
            <a:r>
              <a:rPr lang="en-US" sz="1100" spc="95" kern="0" dirty="0">
                <a:solidFill>
                  <a:srgbClr val="BCACA7"/>
                </a:solidFill>
                <a:latin typeface="Inter" pitchFamily="34" charset="0"/>
                <a:ea typeface="Inter" pitchFamily="34" charset="-122"/>
                <a:cs typeface="Inter" pitchFamily="34" charset="-120"/>
              </a:rPr>
              <a:t>Change log · RC2, 2026-10-06: authority order and domain ownership (2); edition states and labels (3); register role names (4); master register rows (7); physical reference promotion (12, 13); T13 wording (20); tier status (27); six-level hierarchy T05 (29); external signage deferred S02 (39); Arabic-first default S07 (41); template gate (44); X12 naming (56, N); Y06 clause (B); fields added (D, E, F, L); gate IDs (75, 76). Full record: GEM_V3_RC2_Release_Notes.</a:t>
            </a:r>
            <a:endParaRPr lang="en-US" sz="12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7">
    <p:bg>
      <p:bgPr>
        <a:solidFill>
          <a:srgbClr val="12171D"/>
        </a:solidFill>
      </p:bgPr>
    </p:bg>
    <p:spTree>
      <p:nvGrpSpPr>
        <p:cNvPr id="1" name=""/>
        <p:cNvGrpSpPr/>
        <p:nvPr/>
      </p:nvGrpSpPr>
      <p:grpSpPr>
        <a:xfrm>
          <a:off x="0" y="0"/>
          <a:ext cx="0" cy="0"/>
          <a:chOff x="0" y="0"/>
          <a:chExt cx="0" cy="0"/>
        </a:xfrm>
      </p:grpSpPr>
      <p:pic>
        <p:nvPicPr>
          <p:cNvPr id="2" name="Image 0" descr="Decorative background geometry: cropped GEM ring and quarter forms." title="Decorative background geometry: cropped GEM ring and quarter">
            <a:extLst>
              <a:ext uri="{C183D7F6-B498-43B3-948B-1728B52AA6E4}">
                <ns0:decorative xmlns:ns0="http://schemas.microsoft.com/office/drawing/2017/decorative" val="1"/>
              </a:ext>
            </a:extLst>
          </p:cNvPr>
          <p:cNvPicPr>
            <a:picLocks noChangeAspect="1"/>
          </p:cNvPicPr>
          <p:nvPr/>
        </p:nvPicPr>
        <p:blipFill>
          <a:blip r:embed="rId1"/>
          <a:srcRect l="0" r="0" t="0" b="0"/>
          <a:stretch/>
        </p:blipFill>
        <p:spPr>
          <a:xfrm>
            <a:off x="0" y="0"/>
            <a:ext cx="12192000" cy="6858000"/>
          </a:xfrm>
          <a:prstGeom prst="rect">
            <a:avLst/>
          </a:prstGeom>
        </p:spPr>
      </p:pic>
      <p:pic>
        <p:nvPicPr>
          <p:cNvPr id="3" name="Image 1" descr="GEM primary horizontal signature, Beige on Ink, supplied raster." title="GEM primary horizontal signature, Beige on Ink, supplied ras">    </p:cNvPr>
          <p:cNvPicPr>
            <a:picLocks noChangeAspect="1"/>
          </p:cNvPicPr>
          <p:nvPr/>
        </p:nvPicPr>
        <p:blipFill>
          <a:blip r:embed="rId2"/>
          <a:srcRect l="0" r="0" t="3" b="3"/>
          <a:stretch/>
        </p:blipFill>
        <p:spPr>
          <a:xfrm>
            <a:off x="812800" y="812800"/>
            <a:ext cx="2286000" cy="723503"/>
          </a:xfrm>
          <a:prstGeom prst="rect">
            <a:avLst/>
          </a:prstGeom>
        </p:spPr>
      </p:pic>
      <p:sp>
        <p:nvSpPr>
          <p:cNvPr id="4" name="Text 0"/>
          <p:cNvSpPr/>
          <p:nvPr>
            <p:ph type="title"/>
          </p:nvPr>
        </p:nvSpPr>
        <p:spPr>
          <a:xfrm>
            <a:off x="812800" y="2794000"/>
            <a:ext cx="8110220" cy="444500"/>
          </a:xfrm>
          <a:prstGeom prst="rect">
            <a:avLst/>
          </a:prstGeom>
          <a:noFill/>
          <a:ln/>
        </p:spPr>
        <p:txBody>
          <a:bodyPr wrap="square" lIns="0" tIns="0" rIns="0" bIns="0" rtlCol="0" anchor="t">
            <a:normAutofit/>
          </a:bodyPr>
          <a:lstStyle/>
          <a:p>
            <a:pPr algn="l" indent="0" marL="0">
              <a:lnSpc>
                <a:spcPts val="3300"/>
              </a:lnSpc>
              <a:buNone/>
            </a:pPr>
            <a:r>
              <a:rPr lang="en-US" sz="3000" b="0" i="0" spc="240" kern="0" dirty="0">
                <a:solidFill>
                  <a:srgbClr val="FFFFFF"/>
                </a:solidFill>
                <a:latin typeface="Jost" pitchFamily="34" charset="0"/>
                <a:ea typeface="Jost" pitchFamily="34" charset="-122"/>
                <a:cs typeface="Jost" pitchFamily="34" charset="-120"/>
              </a:rPr>
              <a:t>A SUPPLIER NEVER HAS TO GUESS.</a:t>
            </a:r>
            <a:endParaRPr lang="en-US" sz="3000" dirty="0"/>
          </a:p>
        </p:txBody>
      </p:sp>
      <p:sp>
        <p:nvSpPr>
          <p:cNvPr id="5" name="Text 1"/>
          <p:cNvSpPr/>
          <p:nvPr/>
        </p:nvSpPr>
        <p:spPr>
          <a:xfrm>
            <a:off x="812800" y="3556000"/>
            <a:ext cx="8502650" cy="30986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BCACA7"/>
                </a:solidFill>
                <a:latin typeface="Inter" pitchFamily="34" charset="0"/>
                <a:ea typeface="Inter" pitchFamily="34" charset="-122"/>
                <a:cs typeface="Inter" pitchFamily="34" charset="-120"/>
              </a:rPr>
              <a:t>RELEASE CANDIDATE 2 · WORKING EDITION / PENDING PRODUCTION VALIDATION</a:t>
            </a:r>
            <a:endParaRPr lang="en-US" sz="1600" dirty="0"/>
          </a:p>
        </p:txBody>
      </p:sp>
      <p:sp>
        <p:nvSpPr>
          <p:cNvPr id="6" name="Text 2"/>
          <p:cNvSpPr/>
          <p:nvPr/>
        </p:nvSpPr>
        <p:spPr>
          <a:xfrm>
            <a:off x="812800" y="6238280"/>
            <a:ext cx="7194550" cy="238720"/>
          </a:xfrm>
          <a:prstGeom prst="rect">
            <a:avLst/>
          </a:prstGeom>
          <a:noFill/>
          <a:ln/>
        </p:spPr>
        <p:txBody>
          <a:bodyPr wrap="square" lIns="0" tIns="0" rIns="0" bIns="0" rtlCol="0" anchor="t">
            <a:normAutofit/>
          </a:bodyPr>
          <a:lstStyle/>
          <a:p>
            <a:pPr algn="l" indent="0" marL="0">
              <a:lnSpc>
                <a:spcPts val="1680"/>
              </a:lnSpc>
              <a:buNone/>
            </a:pPr>
            <a:r>
              <a:rPr lang="en-US" sz="1200" spc="215" kern="0" dirty="0">
                <a:solidFill>
                  <a:srgbClr val="BCACA7"/>
                </a:solidFill>
                <a:latin typeface="Inter" pitchFamily="34" charset="0"/>
                <a:ea typeface="Inter" pitchFamily="34" charset="-122"/>
                <a:cs typeface="Inter" pitchFamily="34" charset="-120"/>
              </a:rPr>
              <a:t>HOSPITALITY, IN PERFECT PROPORTION</a:t>
            </a:r>
            <a:endParaRPr lang="en-US" sz="1200" dirty="0"/>
          </a:p>
        </p:txBody>
      </p:sp>
      <p:sp>
        <p:nvSpPr>
          <p:cNvPr id="7" name="Text 3"/>
          <p:cNvSpPr/>
          <p:nvPr/>
        </p:nvSpPr>
        <p:spPr>
          <a:xfrm>
            <a:off x="10312400" y="6238280"/>
            <a:ext cx="1066800" cy="238720"/>
          </a:xfrm>
          <a:prstGeom prst="rect">
            <a:avLst/>
          </a:prstGeom>
          <a:noFill/>
          <a:ln/>
        </p:spPr>
        <p:txBody>
          <a:bodyPr wrap="square" lIns="0" tIns="0" rIns="0" bIns="0" rtlCol="0" anchor="t">
            <a:normAutofit/>
          </a:bodyPr>
          <a:lstStyle/>
          <a:p>
            <a:pPr algn="r" indent="0" marL="0">
              <a:lnSpc>
                <a:spcPts val="1680"/>
              </a:lnSpc>
              <a:buNone/>
            </a:pPr>
            <a:r>
              <a:rPr lang="en-US" sz="1200" dirty="0">
                <a:solidFill>
                  <a:srgbClr val="BCACA7"/>
                </a:solidFill>
                <a:latin typeface="Inter" pitchFamily="34" charset="0"/>
                <a:ea typeface="Inter" pitchFamily="34" charset="-122"/>
                <a:cs typeface="Inter" pitchFamily="34" charset="-120"/>
              </a:rPr>
              <a:t>78</a:t>
            </a:r>
            <a:endParaRPr lang="en-US" sz="1200" dirty="0"/>
          </a:p>
        </p:txBody>
      </p:sp>
    </p:spTree>
  </p:cSld>
  <p:clrMapOvr>
    <a:masterClrMapping/>
  </p:clrMapOvr>
</p:sld>
</file>

<file path=ppt/theme/theme1.xml><?xml version="1.0" encoding="utf-8"?>
<a:theme xmlns:a="http://schemas.openxmlformats.org/drawingml/2006/main" name="GEM Production Standards V3.0 — Part C — Release Candidate 1">
  <a:themeElements>
    <a:clrScheme name="GEM Production Standards V3.0 — Part C — Release Candidate 1">
      <a:dk1>
        <a:srgbClr val="12171D"/>
      </a:dk1>
      <a:lt1>
        <a:srgbClr val="FFFFFF"/>
      </a:lt1>
      <a:dk2>
        <a:srgbClr val="4D5156"/>
      </a:dk2>
      <a:lt2>
        <a:srgbClr val="E7E8E8"/>
      </a:lt2>
      <a:accent1>
        <a:srgbClr val="BCACA7"/>
      </a:accent1>
      <a:accent2>
        <a:srgbClr val="9AA0A6"/>
      </a:accent2>
      <a:accent3>
        <a:srgbClr val="717477"/>
      </a:accent3>
      <a:accent4>
        <a:srgbClr val="949799"/>
      </a:accent4>
      <a:accent5>
        <a:srgbClr val="B8B9BB"/>
      </a:accent5>
      <a:accent6>
        <a:srgbClr val="D0D1D2"/>
      </a:accent6>
      <a:hlink>
        <a:srgbClr val="0563C1"/>
      </a:hlink>
      <a:folHlink>
        <a:srgbClr val="954F72"/>
      </a:folHlink>
    </a:clrScheme>
    <a:fontScheme name="GEM Production Standards V3.0 — Part C — Release Candidate 1">
      <a:majorFont>
        <a:latin typeface="Jos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77</Slides>
  <Notes>77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77</vt:i4>
      </vt:variant>
    </vt:vector>
  </HeadingPairs>
  <TitlesOfParts>
    <vt:vector size="8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GEM Production Standards V3.0 — Part C — Release Candidate 1</dc:title>
  <dc:subject/>
  <dc:creator/>
  <cp:lastModifiedBy/>
  <cp:revision>1</cp:revision>
  <dcterms:created xsi:type="dcterms:W3CDTF">2026-10-06T02:06:29Z</dcterms:created>
  <dcterms:modified xsi:type="dcterms:W3CDTF">2026-10-06T02:06:29Z</dcterms:modified>
</cp:coreProperties>
</file>