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production masters are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a:tblGrid>
                <a:gridCol w="2955036"/>
                <a:gridCol w="4432554"/>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RC2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a:tblGrid>
                <a:gridCol w="1477518"/>
                <a:gridCol w="907618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1"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a:tblGrid>
                <a:gridCol w="2321814"/>
                <a:gridCol w="2321814"/>
                <a:gridCol w="591007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Jost 400 (500 for controlled labels), Inter 400 and 500, Noto Sans Arabic 400 and 500.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a:tblGrid>
                <a:gridCol w="1394460"/>
                <a:gridCol w="1185291"/>
                <a:gridCol w="906399"/>
                <a:gridCol w="1045845"/>
                <a:gridCol w="2440305"/>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a:tblGrid>
                <a:gridCol w="1944624"/>
                <a:gridCol w="1296416"/>
                <a:gridCol w="8102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a:tblGrid>
                <a:gridCol w="5195316"/>
                <a:gridCol w="989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a:tblGrid>
                <a:gridCol w="5276850"/>
                <a:gridCol w="527685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1371981"/>
                <a:gridCol w="1583055"/>
                <a:gridCol w="1055370"/>
                <a:gridCol w="949833"/>
                <a:gridCol w="949833"/>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txBody>
          <a:bodyPr/>
          <a:p/>
        </p:txBody>
      </p:sp>
      <p:sp>
        <p:nvSpPr>
          <p:cNvPr id="7" name="Shape 4"/>
          <p:cNvSpPr/>
          <p:nvPr/>
        </p:nvSpPr>
        <p:spPr>
          <a:xfrm>
            <a:off x="1699667" y="3989933"/>
            <a:ext cx="810716" cy="304800"/>
          </a:xfrm>
          <a:prstGeom prst="rect">
            <a:avLst/>
          </a:prstGeom>
          <a:solidFill>
            <a:srgbClr val="BCACA7"/>
          </a:solidFill>
          <a:ln/>
        </p:spPr>
        <p:txBody>
          <a:bodyPr/>
          <a:p/>
        </p:txBody>
      </p:sp>
      <p:sp>
        <p:nvSpPr>
          <p:cNvPr id="8" name="Shape 5"/>
          <p:cNvSpPr/>
          <p:nvPr/>
        </p:nvSpPr>
        <p:spPr>
          <a:xfrm>
            <a:off x="2586583" y="3989933"/>
            <a:ext cx="810667" cy="304800"/>
          </a:xfrm>
          <a:prstGeom prst="rect">
            <a:avLst/>
          </a:prstGeom>
          <a:solidFill>
            <a:srgbClr val="BCACA7"/>
          </a:solidFill>
          <a:ln/>
        </p:spPr>
        <p:txBody>
          <a:bodyPr/>
          <a:p/>
        </p:txBody>
      </p:sp>
      <p:sp>
        <p:nvSpPr>
          <p:cNvPr id="9" name="Shape 6"/>
          <p:cNvSpPr/>
          <p:nvPr/>
        </p:nvSpPr>
        <p:spPr>
          <a:xfrm>
            <a:off x="3473450" y="3989933"/>
            <a:ext cx="810716" cy="304800"/>
          </a:xfrm>
          <a:prstGeom prst="rect">
            <a:avLst/>
          </a:prstGeom>
          <a:solidFill>
            <a:srgbClr val="BCACA7"/>
          </a:solidFill>
          <a:ln/>
        </p:spPr>
        <p:txBody>
          <a:bodyPr/>
          <a:p/>
        </p:txBody>
      </p:sp>
      <p:sp>
        <p:nvSpPr>
          <p:cNvPr id="10" name="Shape 7"/>
          <p:cNvSpPr/>
          <p:nvPr/>
        </p:nvSpPr>
        <p:spPr>
          <a:xfrm>
            <a:off x="4360366" y="3989933"/>
            <a:ext cx="810667" cy="304800"/>
          </a:xfrm>
          <a:prstGeom prst="rect">
            <a:avLst/>
          </a:prstGeom>
          <a:solidFill>
            <a:srgbClr val="BCACA7"/>
          </a:solidFill>
          <a:ln/>
        </p:spPr>
        <p:txBody>
          <a:bodyPr/>
          <a:p/>
        </p:txBody>
      </p:sp>
      <p:sp>
        <p:nvSpPr>
          <p:cNvPr id="11" name="Shape 8"/>
          <p:cNvSpPr/>
          <p:nvPr/>
        </p:nvSpPr>
        <p:spPr>
          <a:xfrm>
            <a:off x="5247233" y="3989933"/>
            <a:ext cx="810716" cy="304800"/>
          </a:xfrm>
          <a:prstGeom prst="rect">
            <a:avLst/>
          </a:prstGeom>
          <a:solidFill>
            <a:srgbClr val="BCACA7"/>
          </a:solidFill>
          <a:ln/>
        </p:spPr>
        <p:txBody>
          <a:bodyPr/>
          <a:p/>
        </p:txBody>
      </p:sp>
      <p:sp>
        <p:nvSpPr>
          <p:cNvPr id="12" name="Shape 9"/>
          <p:cNvSpPr/>
          <p:nvPr/>
        </p:nvSpPr>
        <p:spPr>
          <a:xfrm>
            <a:off x="6134150" y="3989933"/>
            <a:ext cx="810667" cy="304800"/>
          </a:xfrm>
          <a:prstGeom prst="rect">
            <a:avLst/>
          </a:prstGeom>
          <a:solidFill>
            <a:srgbClr val="BCACA7"/>
          </a:solidFill>
          <a:ln/>
        </p:spPr>
        <p:txBody>
          <a:bodyPr/>
          <a:p/>
        </p:txBody>
      </p:sp>
      <p:sp>
        <p:nvSpPr>
          <p:cNvPr id="13" name="Shape 10"/>
          <p:cNvSpPr/>
          <p:nvPr/>
        </p:nvSpPr>
        <p:spPr>
          <a:xfrm>
            <a:off x="7021016" y="3989933"/>
            <a:ext cx="810716" cy="304800"/>
          </a:xfrm>
          <a:prstGeom prst="rect">
            <a:avLst/>
          </a:prstGeom>
          <a:solidFill>
            <a:srgbClr val="BCACA7"/>
          </a:solidFill>
          <a:ln/>
        </p:spPr>
        <p:txBody>
          <a:bodyPr/>
          <a:p/>
        </p:txBody>
      </p:sp>
      <p:sp>
        <p:nvSpPr>
          <p:cNvPr id="14" name="Shape 11"/>
          <p:cNvSpPr/>
          <p:nvPr/>
        </p:nvSpPr>
        <p:spPr>
          <a:xfrm>
            <a:off x="7907933" y="3989933"/>
            <a:ext cx="810667" cy="304800"/>
          </a:xfrm>
          <a:prstGeom prst="rect">
            <a:avLst/>
          </a:prstGeom>
          <a:solidFill>
            <a:srgbClr val="BCACA7"/>
          </a:solidFill>
          <a:ln/>
        </p:spPr>
        <p:txBody>
          <a:bodyPr/>
          <a:p/>
        </p:txBody>
      </p:sp>
      <p:sp>
        <p:nvSpPr>
          <p:cNvPr id="15" name="Shape 12"/>
          <p:cNvSpPr/>
          <p:nvPr/>
        </p:nvSpPr>
        <p:spPr>
          <a:xfrm>
            <a:off x="8794800" y="3989933"/>
            <a:ext cx="810667" cy="304800"/>
          </a:xfrm>
          <a:prstGeom prst="rect">
            <a:avLst/>
          </a:prstGeom>
          <a:solidFill>
            <a:srgbClr val="BCACA7"/>
          </a:solidFill>
          <a:ln/>
        </p:spPr>
        <p:txBody>
          <a:bodyPr/>
          <a:p/>
        </p:txBody>
      </p:sp>
      <p:sp>
        <p:nvSpPr>
          <p:cNvPr id="16" name="Shape 13"/>
          <p:cNvSpPr/>
          <p:nvPr/>
        </p:nvSpPr>
        <p:spPr>
          <a:xfrm>
            <a:off x="9681666" y="3989933"/>
            <a:ext cx="810667" cy="304800"/>
          </a:xfrm>
          <a:prstGeom prst="rect">
            <a:avLst/>
          </a:prstGeom>
          <a:solidFill>
            <a:srgbClr val="BCACA7"/>
          </a:solidFill>
          <a:ln/>
        </p:spPr>
        <p:txBody>
          <a:bodyPr/>
          <a:p/>
        </p:txBody>
      </p:sp>
      <p:sp>
        <p:nvSpPr>
          <p:cNvPr id="17" name="Shape 14"/>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1477518"/>
                <a:gridCol w="3799332"/>
                <a:gridCol w="2638425"/>
                <a:gridCol w="2638425"/>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a:tblGrid>
                <a:gridCol w="2190496"/>
                <a:gridCol w="1916684"/>
                <a:gridCol w="273812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a:tblGrid>
                <a:gridCol w="1899666"/>
                <a:gridCol w="5910072"/>
                <a:gridCol w="274396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1794129"/>
                <a:gridCol w="5593461"/>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a:tblGrid>
                <a:gridCol w="2397252"/>
                <a:gridCol w="980694"/>
                <a:gridCol w="207035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500,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2743962"/>
                <a:gridCol w="780973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1"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1">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1">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1">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1">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1">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a:tblGrid>
                <a:gridCol w="2955036"/>
                <a:gridCol w="5276850"/>
                <a:gridCol w="2321814"/>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a:tblGrid>
                <a:gridCol w="2110740"/>
                <a:gridCol w="84429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112963"/>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gem-tokens.v3.0-rc2.json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gem-tokens.v3.0-rc2.json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09411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a:tblGrid>
                <a:gridCol w="1899666"/>
                <a:gridCol w="1688592"/>
                <a:gridCol w="6965442"/>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Raster logos only; no supplier data; Part C issued as RC2,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1"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RC2 (Release Candidate 2) · semantic 3.0.0-rc.2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WORKING SPECIFICATION · NOT RELEASED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2026-10-06</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PENDING</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RC2 synchronized with Parts A and C · evidence gates open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GEM-BG-V3.0-RC2 (Part A) · GEM-PS-V3.0-RC2 (Part C) · V3 Approval Register</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PENDING PRODUCTION MASTER</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4432554"/>
                <a:gridCol w="1477518"/>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GEM_Logo_Horizontal_Beige.png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 · 654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GEM_Logo_Horizontal_Black.png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 · 654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GEM_Logo_Horizontal_White.png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GEM_Symbol_Beige.png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 · 229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GEM_Symbol_Black.png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 · 229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Rules (H10–H15).</a:t>
            </a:r>
            <a:r>
              <a:rPr lang="en-US" sz="1200" dirty="0">
                <a:solidFill>
                  <a:srgbClr val="FFFFFF"/>
                </a:solidFill>
                <a:latin typeface="Inter" pitchFamily="34" charset="0"/>
                <a:ea typeface="Inter" pitchFamily="34" charset="-122"/>
                <a:cs typeface="Inter" pitchFamily="34" charset="-120"/>
              </a:rPr>
              <a:t> Lockup min 120px; symbol min 32px; below that the no-spark micro mark (H12, not supplied).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Required, not supplied. SVG/PDF/EPS/PNG masters, micro mark, stacked lockup, white symbol, embroidery and deboss masters, favicon and app icons (H16–H21). Controlled names follow register convention X12 (GEM_[STREAM]_[ASSET]_[VARIANT]_vX.Y_YYYYMMDD.ext) at first manifest (VAL-16); the supplied files are renamed, never redrawn.</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35 · Raster PNGs are layout references only; never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