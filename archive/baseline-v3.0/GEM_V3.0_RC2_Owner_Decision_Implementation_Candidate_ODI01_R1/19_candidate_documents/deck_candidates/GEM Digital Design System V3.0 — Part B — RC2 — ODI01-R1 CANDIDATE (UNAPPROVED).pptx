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90" r:id="rId41"/>
    <p:sldId id="281" r:id="rId27"/>
    <p:sldId id="282" r:id="rId28"/>
    <p:sldId id="283" r:id="rId29"/>
    <p:sldId id="284" r:id="rId30"/>
    <p:sldId id="285" r:id="rId31"/>
    <p:sldId id="286" r:id="rId32"/>
    <p:sldId id="287" r:id="rId33"/>
    <p:sldId id="289" r:id="rId40"/>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5.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openxmlformats.org/officeDocument/2006/relationships/slide" Target="slides/slide34.xml"/><Relationship Id="rId41"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Editable source of the GEM Digital Design System V3.0, Release Candidate 2 (RC2), synchronized with Part A RC2, Part C RC2 and the V3 Final Brand Approval Register (466 decisions). Logo artwork is not reproduced here; the supplied vector kit is received and its acceptance as production master is PENDING (VAL-02). Document control and change log: slide 34.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shared verbatim with Part A slide 3 and Part C slide 2 (RF01, RF02, DS01). Part C exists as Release Candidate 2; it is a working edition pending production validation (AC17), not a production-approved standard.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Release controls before mass production: supplier dieline per SKU (T12); safe-zone and bleed roles are standardised (T13) while their values are supplier- and dieline-specific and owned by Part C (slide 20); material, finish, print process, colour tolerances (T14–T19), physical proof (T17), signed reference sample archived (U13), supplier acceptance (T20), brand sign-off (T21). A concept mockup is never production approval (T23). Surfaces: uncoated warm neutral paper, deep INK board, selective deboss or blind emboss, soft-touch selectively, precision die-cut; foil only if approved; no chrome, holographic or high-gloss; gold is not a GEM colour (U01–U10).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Owners: VAL-01 Brand Owner + Commercial Lead; VAL-02 Design Custodian; VAL-03 Legal / IP Counsel; VAL-04 Brand Owner / Legal; VAL-05 Design Custodian / Legal; VAL-06 Art Direction / Legal; VAL-07 Arabic / Localization Lead; VAL-08 Accessibility QA; VAL-09 Product + Procurement + Supplier QA; VAL-10 Product / Regulatory / Legal; VAL-11 Procurement + Supplier QA; VAL-12 Environmental Design + Accessibility QA; VAL-13 Digital Design + Engineering; VAL-14 Motion / Digital Lead; VAL-15 Presentation Production / QA; VAL-16 Asset Librarian; VAL-17 Brand Governance; VAL-19 Design Custodian / Presentation QA; VAL-20 Digital Design + Engineering + Localization QA; VAL-21 Brand Governance / Design Custodian.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trace: Typography L01–L16; Accessibility K01–K09, V01–V15; Digital Q01–Q21; Arabic M01–M16; Motion P01–P09; Graphic language N01–N16; Imagery O01–O20; Amenities &amp; Packaging T01–T23, F01–F10; Wayfinding S01–S09; Verbal G01–G18; Governance AC01–AC20, Y01–Y08, DS01–DS05, AA01–AA04.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Logo artwork itself is not embedded in this editable source. Upload the approved PNGs into this slide if needed. Amenities &amp; Packaging has no stream logo: use "GEM™ — Amenities &amp; Packaging" as a typeset descriptive line beside the unchanged master lockup.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requirement (Z24, AB19), in the same form as Part A slide 79 and Part C slide 77. Owner and approver names are recorded by the Brand Owner before AC20.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flow assembled from existing components only (Field, DatePicker, QuantityStepper, Select, RoomCard, Tabs, Button, Link, Alert, SpecificationTable). Purpose: test step order, primary-action logic, errors, validation, focus, responsive behaviour, Arabic/RTL, DatePicker and selected states. Labelled CONCEPT / IMPLEMENTATION TEST; it is not a live product and nothing here is evidence for VAL-13 or VAL-20. Checklist: PartB_RC2/02_build/flow/booking-flow-test.md.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47030"/>
          </a:xfrm>
          <a:prstGeom prst="rect">
            <a:avLst/>
          </a:prstGeom>
          <a:noFill/>
          <a:ln/>
        </p:spPr>
        <p:txBody>
          <a:bodyPr wrap="square" lIns="0" tIns="0" rIns="0" bIns="0" rtlCol="0" anchor="t"/>
          <a:lstStyle>
            <a:lvl1pPr algn="l" indent="0" marL="0">
              <a:lnSpc>
                <a:spcPct val="115000"/>
              </a:lnSpc>
              <a:buNone/>
              <a:defRPr lang="en-US" sz="32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550"/>
            <a:ext cx="10566400" cy="416565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7531100" y="3594100"/>
            <a:ext cx="6273800" cy="6273800"/>
          </a:xfrm>
          <a:prstGeom prst="roundRect">
            <a:avLst>
              <a:gd name="adj" fmla="val 25304"/>
            </a:avLst>
          </a:prstGeom>
          <a:noFill/>
          <a:ln w="76200">
            <a:solidFill>
              <a:srgbClr val="BCACA7"/>
            </a:solidFill>
            <a:prstDash val="solid"/>
          </a:ln>
        </p:spPr>
        <p:txBody>
          <a:bodyPr/>
          <a:p/>
        </p:txBody>
      </p:sp>
      <p:sp>
        <p:nvSpPr>
          <p:cNvPr id="3" name="Shape 1"/>
          <p:cNvSpPr/>
          <p:nvPr/>
        </p:nvSpPr>
        <p:spPr>
          <a:xfrm>
            <a:off x="9525000" y="4826000"/>
            <a:ext cx="4064000" cy="4064000"/>
          </a:xfrm>
          <a:prstGeom prst="roundRect">
            <a:avLst>
              <a:gd name="adj" fmla="val 40000"/>
            </a:avLst>
          </a:prstGeom>
          <a:solidFill>
            <a:srgbClr val="BCACA7"/>
          </a:solidFill>
          <a:ln/>
        </p:spPr>
        <p:txBody>
          <a:bodyPr/>
          <a:p/>
        </p:txBody>
      </p:sp>
      <p:sp>
        <p:nvSpPr>
          <p:cNvPr id="4" name="Text 2"/>
          <p:cNvSpPr/>
          <p:nvPr/>
        </p:nvSpPr>
        <p:spPr>
          <a:xfrm>
            <a:off x="812800" y="812800"/>
            <a:ext cx="10883392" cy="238720"/>
          </a:xfrm>
          <a:prstGeom prst="rect">
            <a:avLst/>
          </a:prstGeom>
          <a:noFill/>
          <a:ln/>
        </p:spPr>
        <p:txBody>
          <a:bodyPr wrap="square" lIns="0" tIns="0" rIns="0" bIns="0" rtlCol="0" anchor="t"/>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V3.0 RC2 · WORKING SPECIFICATION · NOT RELEASED (AC20 PENDING) · GEM-DDS-V3.0-RC2 · ISSUED 2026-10-06</a:t>
            </a:r>
            <a:endParaRPr lang="en-US" sz="1200" dirty="0"/>
          </a:p>
        </p:txBody>
      </p:sp>
      <p:sp>
        <p:nvSpPr>
          <p:cNvPr id="5" name="Text 3"/>
          <p:cNvSpPr/>
          <p:nvPr>
            <p:ph type="title"/>
          </p:nvPr>
        </p:nvSpPr>
        <p:spPr>
          <a:xfrm>
            <a:off x="812800" y="1178520"/>
            <a:ext cx="10883392" cy="1092200"/>
          </a:xfrm>
          <a:prstGeom prst="rect">
            <a:avLst/>
          </a:prstGeom>
          <a:noFill/>
          <a:ln/>
        </p:spPr>
        <p:txBody>
          <a:bodyPr wrap="square" lIns="0" tIns="0" rIns="0" bIns="0" rtlCol="0" anchor="t">
            <a:normAutofit/>
          </a:bodyPr>
          <a:lstStyle/>
          <a:p>
            <a:pPr algn="l" indent="0" marL="0">
              <a:lnSpc>
                <a:spcPts val="8400"/>
              </a:lnSpc>
              <a:buNone/>
            </a:pPr>
            <a:r>
              <a:rPr lang="en-US" sz="8000" b="0" i="0" spc="950" kern="0" dirty="0">
                <a:solidFill>
                  <a:srgbClr val="BCACA7"/>
                </a:solidFill>
                <a:latin typeface="Jost" pitchFamily="34" charset="0"/>
                <a:ea typeface="Jost" pitchFamily="34" charset="-122"/>
                <a:cs typeface="Jost" pitchFamily="34" charset="-120"/>
              </a:rPr>
              <a:t>GEM™</a:t>
            </a:r>
            <a:endParaRPr lang="en-US" sz="8000" dirty="0"/>
          </a:p>
        </p:txBody>
      </p:sp>
      <p:sp>
        <p:nvSpPr>
          <p:cNvPr id="6" name="Text 4"/>
          <p:cNvSpPr/>
          <p:nvPr/>
        </p:nvSpPr>
        <p:spPr>
          <a:xfrm>
            <a:off x="812800" y="2397720"/>
            <a:ext cx="6540500" cy="492720"/>
          </a:xfrm>
          <a:prstGeom prst="rect">
            <a:avLst/>
          </a:prstGeom>
          <a:noFill/>
          <a:ln/>
        </p:spPr>
        <p:txBody>
          <a:bodyPr wrap="square" lIns="0" tIns="0" rIns="0" bIns="0" rtlCol="0" anchor="t">
            <a:normAutofit/>
          </a:bodyPr>
          <a:lstStyle/>
          <a:p>
            <a:pPr algn="l" indent="0" marL="0">
              <a:lnSpc>
                <a:spcPts val="3680"/>
              </a:lnSpc>
              <a:buNone/>
            </a:pPr>
            <a:r>
              <a:rPr lang="en-US" sz="3200" dirty="0">
                <a:solidFill>
                  <a:srgbClr val="FFFFFF"/>
                </a:solidFill>
                <a:latin typeface="Jost" pitchFamily="34" charset="0"/>
                <a:ea typeface="Jost" pitchFamily="34" charset="-122"/>
                <a:cs typeface="Jost" pitchFamily="34" charset="-120"/>
              </a:rPr>
              <a:t>Digital Design System V3.0</a:t>
            </a:r>
            <a:endParaRPr lang="en-US" sz="3200" dirty="0"/>
          </a:p>
        </p:txBody>
      </p:sp>
      <p:sp>
        <p:nvSpPr>
          <p:cNvPr id="7" name="Text 5"/>
          <p:cNvSpPr/>
          <p:nvPr/>
        </p:nvSpPr>
        <p:spPr>
          <a:xfrm>
            <a:off x="812800" y="5374680"/>
            <a:ext cx="6540500" cy="309860"/>
          </a:xfrm>
          <a:prstGeom prst="rect">
            <a:avLst/>
          </a:prstGeom>
          <a:noFill/>
          <a:ln/>
        </p:spPr>
        <p:txBody>
          <a:bodyPr wrap="square" lIns="0" tIns="0" rIns="0" bIns="0" rtlCol="0" anchor="t">
            <a:normAutofit/>
          </a:bodyPr>
          <a:lstStyle/>
          <a:p>
            <a:pPr algn="l" indent="0" marL="0">
              <a:lnSpc>
                <a:spcPts val="2240"/>
              </a:lnSpc>
              <a:buNone/>
            </a:pPr>
            <a:r>
              <a:rPr lang="en-US" sz="1600" spc="300" kern="0" dirty="0">
                <a:solidFill>
                  <a:srgbClr val="BCACA7"/>
                </a:solidFill>
                <a:latin typeface="Jost" pitchFamily="34" charset="0"/>
                <a:ea typeface="Jost" pitchFamily="34" charset="-122"/>
                <a:cs typeface="Jost" pitchFamily="34" charset="-120"/>
              </a:rPr>
              <a:t>HOSPITALITY, IN PERFECT PROPORTION</a:t>
            </a:r>
            <a:endParaRPr lang="en-US" sz="1600" dirty="0"/>
          </a:p>
        </p:txBody>
      </p:sp>
      <p:sp>
        <p:nvSpPr>
          <p:cNvPr id="8" name="Text 6"/>
          <p:cNvSpPr/>
          <p:nvPr/>
        </p:nvSpPr>
        <p:spPr>
          <a:xfrm>
            <a:off x="812800" y="5760740"/>
            <a:ext cx="65405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Inter" pitchFamily="34" charset="0"/>
                <a:ea typeface="Inter" pitchFamily="34" charset="-122"/>
                <a:cs typeface="Inter" pitchFamily="34" charset="-120"/>
              </a:rPr>
              <a:t>Every arrival, precisely composed.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Status classes and quick start</a:t>
            </a:r>
            <a:endParaRPr lang="en-US" sz="3200" dirty="0"/>
          </a:p>
        </p:txBody>
      </p:sp>
      <p:sp>
        <p:nvSpPr>
          <p:cNvPr id="5" name="Text 3"/>
          <p:cNvSpPr/>
          <p:nvPr/>
        </p:nvSpPr>
        <p:spPr>
          <a:xfrm>
            <a:off x="812800" y="1828750"/>
            <a:ext cx="1905000" cy="289520"/>
          </a:xfrm>
          <a:prstGeom prst="roundRect">
            <a:avLst>
              <a:gd name="adj" fmla="val 8773"/>
            </a:avLst>
          </a:prstGeom>
          <a:solidFill>
            <a:srgbClr val="12171D"/>
          </a:solidFill>
          <a:ln/>
        </p:spPr>
        <p:txBody>
          <a:bodyPr wrap="square" lIns="94161" tIns="30661" rIns="43107" bIns="5261" rtlCol="0" anchor="t">
            <a:normAutofit/>
          </a:bodyPr>
          <a:lstStyle/>
          <a:p>
            <a:pPr algn="l" indent="0" marL="0">
              <a:lnSpc>
                <a:spcPts val="1680"/>
              </a:lnSpc>
              <a:buNone/>
            </a:pPr>
            <a:r>
              <a:rPr lang="en-US" sz="1200" spc="100" kern="0" dirty="0">
                <a:solidFill>
                  <a:srgbClr val="FFFFFF"/>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2870200" y="1828750"/>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Final under the register. Filled ink label.</a:t>
            </a:r>
            <a:endParaRPr lang="en-US" sz="1200" dirty="0"/>
          </a:p>
        </p:txBody>
      </p:sp>
      <p:sp>
        <p:nvSpPr>
          <p:cNvPr id="7" name="Text 5"/>
          <p:cNvSpPr/>
          <p:nvPr/>
        </p:nvSpPr>
        <p:spPr>
          <a:xfrm>
            <a:off x="819150" y="2414141"/>
            <a:ext cx="1892300" cy="276820"/>
          </a:xfrm>
          <a:prstGeom prst="roundRect">
            <a:avLst>
              <a:gd name="adj" fmla="val 6882"/>
            </a:avLst>
          </a:prstGeom>
          <a:noFill/>
          <a:ln w="12700">
            <a:solidFill>
              <a:srgbClr val="12171D"/>
            </a:solidFill>
            <a:prstDash val="solid"/>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2870200" y="2407791"/>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Approved with a condition still open. 2px outline.</a:t>
            </a:r>
            <a:endParaRPr lang="en-US" sz="1200" dirty="0"/>
          </a:p>
        </p:txBody>
      </p:sp>
      <p:sp>
        <p:nvSpPr>
          <p:cNvPr id="9" name="Text 7"/>
          <p:cNvSpPr/>
          <p:nvPr/>
        </p:nvSpPr>
        <p:spPr>
          <a:xfrm>
            <a:off x="819150" y="2993182"/>
            <a:ext cx="1892300" cy="490141"/>
          </a:xfrm>
          <a:prstGeom prst="roundRect">
            <a:avLst>
              <a:gd name="adj" fmla="val 3887"/>
            </a:avLst>
          </a:prstGeom>
          <a:noFill/>
          <a:ln w="12700">
            <a:solidFill>
              <a:srgbClr val="12171D"/>
            </a:solidFill>
            <a:prstDash val="dash"/>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2870200" y="2986832"/>
            <a:ext cx="285165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Evidence, native QA or testing outstanding. Never present as final. Dashed 2px.</a:t>
            </a:r>
            <a:endParaRPr lang="en-US" sz="1200" dirty="0"/>
          </a:p>
        </p:txBody>
      </p:sp>
      <p:sp>
        <p:nvSpPr>
          <p:cNvPr id="11" name="Text 9"/>
          <p:cNvSpPr/>
          <p:nvPr/>
        </p:nvSpPr>
        <p:spPr>
          <a:xfrm>
            <a:off x="819150" y="3785543"/>
            <a:ext cx="1892300" cy="276820"/>
          </a:xfrm>
          <a:prstGeom prst="roundRect">
            <a:avLst>
              <a:gd name="adj" fmla="val 6882"/>
            </a:avLst>
          </a:prstGeom>
          <a:noFill/>
          <a:ln w="12700">
            <a:solidFill>
              <a:srgbClr val="12171D"/>
            </a:solidFill>
            <a:prstDash val="sysDot"/>
          </a:ln>
        </p:spPr>
        <p:txBody>
          <a:bodyPr wrap="square" lIns="89670" tIns="26170" rIns="38616" bIns="770" rtlCol="0" anchor="t">
            <a:normAutofit/>
          </a:bodyPr>
          <a:lstStyle/>
          <a:p>
            <a:pPr algn="l" indent="0" marL="0">
              <a:lnSpc>
                <a:spcPts val="1680"/>
              </a:lnSpc>
              <a:buNone/>
            </a:pPr>
            <a:r>
              <a:rPr lang="en-US" sz="1200" spc="100" kern="0" dirty="0">
                <a:solidFill>
                  <a:srgbClr val="12171D"/>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2870200" y="3779193"/>
            <a:ext cx="28516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Study or inspiration only. Not a GEM standard. Dotted 2px.</a:t>
            </a:r>
            <a:endParaRPr lang="en-US" sz="1200" dirty="0"/>
          </a:p>
        </p:txBody>
      </p:sp>
      <p:sp>
        <p:nvSpPr>
          <p:cNvPr id="13" name="Text 11"/>
          <p:cNvSpPr/>
          <p:nvPr/>
        </p:nvSpPr>
        <p:spPr>
          <a:xfrm>
            <a:off x="812800" y="4358233"/>
            <a:ext cx="4970780" cy="109728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Also required: CONCEPT / NOT PRODUCTION ARTWORK · PENDING PRODUCTION MASTER · PENDING LOCALIZATION APPROVAL · PROJECT-SPECIFIC / REQUIRES SITE VALIDATION. Edition states, shared with Parts A and C: WORKING EDITION → RELEASE CANDIDATE (RC) → APPROVED. This edition is V3.0 RC2; it becomes APPROVED only by Brand Owner authorization (AC20).</a:t>
            </a:r>
            <a:endParaRPr lang="en-US" sz="1200" dirty="0"/>
          </a:p>
        </p:txBody>
      </p:sp>
      <p:sp>
        <p:nvSpPr>
          <p:cNvPr id="14" name="Shape 12"/>
          <p:cNvSpPr/>
          <p:nvPr/>
        </p:nvSpPr>
        <p:spPr>
          <a:xfrm>
            <a:off x="6048375" y="1828750"/>
            <a:ext cx="0" cy="3169444"/>
          </a:xfrm>
          <a:prstGeom prst="line">
            <a:avLst/>
          </a:prstGeom>
          <a:noFill/>
          <a:ln w="6350">
            <a:solidFill>
              <a:srgbClr val="BCACA7"/>
            </a:solidFill>
            <a:prstDash val="solid"/>
          </a:ln>
        </p:spPr>
        <p:txBody>
          <a:bodyPr/>
          <a:p/>
        </p:txBody>
      </p:sp>
      <p:sp>
        <p:nvSpPr>
          <p:cNvPr id="15" name="Text 13"/>
          <p:cNvSpPr/>
          <p:nvPr/>
        </p:nvSpPr>
        <p:spPr>
          <a:xfrm>
            <a:off x="6356350" y="18287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Quick start for implementers</a:t>
            </a:r>
            <a:endParaRPr lang="en-US" sz="1600" dirty="0"/>
          </a:p>
        </p:txBody>
      </p:sp>
      <p:sp>
        <p:nvSpPr>
          <p:cNvPr id="16" name="Text 14"/>
          <p:cNvSpPr/>
          <p:nvPr/>
        </p:nvSpPr>
        <p:spPr>
          <a:xfrm>
            <a:off x="6429673" y="2174180"/>
            <a:ext cx="5092593" cy="237192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Load tokens.json or gem-tokens.v3.css / .json. Semantic tokens only, never raw hex.</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Use the 26 components (React 18, window.GEM); each README has 11 parts.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Set lang and dir on the root; Arabic uses dir="rtl" with logical CSS.</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Tracking only on capitals, at the tracking-scale values. Body and Arabic at 0.</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Targets at least 44 × 44px. Focus ring 2px, 2px offset.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Label anything not approved.</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Never invent capability, claims, approvals, prices, times, MOQs or Arabic: use [PENDING], [TO BE VERIFIED], [REQUIRES OWNER].</a:t>
            </a:r>
            <a:endParaRPr lang="en-US" sz="1200" dirty="0"/>
          </a:p>
        </p:txBody>
      </p:sp>
      <p:sp>
        <p:nvSpPr>
          <p:cNvPr id="17"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01 · OVERVIEW</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Brand foundation (unchanged)</a:t>
            </a:r>
            <a:endParaRPr lang="en-US" sz="3200" dirty="0"/>
          </a:p>
        </p:txBody>
      </p:sp>
      <p:sp>
        <p:nvSpPr>
          <p:cNvPr id="5" name="Shape 3"/>
          <p:cNvSpPr/>
          <p:nvPr/>
        </p:nvSpPr>
        <p:spPr>
          <a:xfrm>
            <a:off x="812800" y="1828750"/>
            <a:ext cx="2524125" cy="1391791"/>
          </a:xfrm>
          <a:prstGeom prst="rect">
            <a:avLst/>
          </a:prstGeom>
          <a:solidFill>
            <a:srgbClr val="12171D"/>
          </a:solidFill>
          <a:ln/>
        </p:spPr>
        <p:txBody>
          <a:bodyPr/>
          <a:p/>
        </p:txBody>
      </p:sp>
      <p:sp>
        <p:nvSpPr>
          <p:cNvPr id="6" name="Text 4"/>
          <p:cNvSpPr/>
          <p:nvPr/>
        </p:nvSpPr>
        <p:spPr>
          <a:xfrm>
            <a:off x="101600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INK</a:t>
            </a:r>
            <a:endParaRPr lang="en-US" sz="1600" dirty="0"/>
          </a:p>
        </p:txBody>
      </p:sp>
      <p:sp>
        <p:nvSpPr>
          <p:cNvPr id="7" name="Text 5"/>
          <p:cNvSpPr/>
          <p:nvPr/>
        </p:nvSpPr>
        <p:spPr>
          <a:xfrm>
            <a:off x="101600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#12171D</a:t>
            </a:r>
            <a:endParaRPr lang="en-US" sz="1200" dirty="0"/>
          </a:p>
        </p:txBody>
      </p:sp>
      <p:sp>
        <p:nvSpPr>
          <p:cNvPr id="8" name="Text 6"/>
          <p:cNvSpPr/>
          <p:nvPr/>
        </p:nvSpPr>
        <p:spPr>
          <a:xfrm>
            <a:off x="101600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Principal dark field and default text</a:t>
            </a:r>
            <a:endParaRPr lang="en-US" sz="1200" dirty="0"/>
          </a:p>
        </p:txBody>
      </p:sp>
      <p:sp>
        <p:nvSpPr>
          <p:cNvPr id="9" name="Shape 7"/>
          <p:cNvSpPr/>
          <p:nvPr/>
        </p:nvSpPr>
        <p:spPr>
          <a:xfrm>
            <a:off x="3489325" y="1828750"/>
            <a:ext cx="2524125" cy="1391791"/>
          </a:xfrm>
          <a:prstGeom prst="rect">
            <a:avLst/>
          </a:prstGeom>
          <a:solidFill>
            <a:srgbClr val="BCACA7"/>
          </a:solidFill>
          <a:ln/>
        </p:spPr>
        <p:txBody>
          <a:bodyPr/>
          <a:p/>
        </p:txBody>
      </p:sp>
      <p:sp>
        <p:nvSpPr>
          <p:cNvPr id="10" name="Text 8"/>
          <p:cNvSpPr/>
          <p:nvPr/>
        </p:nvSpPr>
        <p:spPr>
          <a:xfrm>
            <a:off x="3692525"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BEIGE</a:t>
            </a:r>
            <a:endParaRPr lang="en-US" sz="1600" dirty="0"/>
          </a:p>
        </p:txBody>
      </p:sp>
      <p:sp>
        <p:nvSpPr>
          <p:cNvPr id="11" name="Text 9"/>
          <p:cNvSpPr/>
          <p:nvPr/>
        </p:nvSpPr>
        <p:spPr>
          <a:xfrm>
            <a:off x="3692525"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2" name="Text 10"/>
          <p:cNvSpPr/>
          <p:nvPr/>
        </p:nvSpPr>
        <p:spPr>
          <a:xfrm>
            <a:off x="3692525"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Signature tone, selected fill, hairlines</a:t>
            </a:r>
            <a:endParaRPr lang="en-US" sz="1200" dirty="0"/>
          </a:p>
        </p:txBody>
      </p:sp>
      <p:sp>
        <p:nvSpPr>
          <p:cNvPr id="13" name="Shape 11"/>
          <p:cNvSpPr/>
          <p:nvPr/>
        </p:nvSpPr>
        <p:spPr>
          <a:xfrm>
            <a:off x="6165850" y="1828750"/>
            <a:ext cx="2524125" cy="1391791"/>
          </a:xfrm>
          <a:prstGeom prst="rect">
            <a:avLst/>
          </a:prstGeom>
          <a:solidFill>
            <a:srgbClr val="020202"/>
          </a:solidFill>
          <a:ln/>
        </p:spPr>
        <p:txBody>
          <a:bodyPr/>
          <a:p/>
        </p:txBody>
      </p:sp>
      <p:sp>
        <p:nvSpPr>
          <p:cNvPr id="14" name="Text 12"/>
          <p:cNvSpPr/>
          <p:nvPr/>
        </p:nvSpPr>
        <p:spPr>
          <a:xfrm>
            <a:off x="6369050" y="203195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FFFFFF"/>
                </a:solidFill>
                <a:latin typeface="Jost" pitchFamily="34" charset="0"/>
                <a:ea typeface="Jost" pitchFamily="34" charset="-122"/>
                <a:cs typeface="Jost" pitchFamily="34" charset="-120"/>
              </a:rPr>
              <a:t>BLACK</a:t>
            </a:r>
            <a:endParaRPr lang="en-US" sz="1600" dirty="0"/>
          </a:p>
        </p:txBody>
      </p:sp>
      <p:sp>
        <p:nvSpPr>
          <p:cNvPr id="15" name="Text 13"/>
          <p:cNvSpPr/>
          <p:nvPr/>
        </p:nvSpPr>
        <p:spPr>
          <a:xfrm>
            <a:off x="6369050" y="232658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#020202</a:t>
            </a:r>
            <a:endParaRPr lang="en-US" sz="1200" dirty="0"/>
          </a:p>
        </p:txBody>
      </p:sp>
      <p:sp>
        <p:nvSpPr>
          <p:cNvPr id="16" name="Text 14"/>
          <p:cNvSpPr/>
          <p:nvPr/>
        </p:nvSpPr>
        <p:spPr>
          <a:xfrm>
            <a:off x="6369050" y="2590701"/>
            <a:ext cx="218125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Monochrome, hover and pressed fill</a:t>
            </a:r>
            <a:endParaRPr lang="en-US" sz="1200" dirty="0"/>
          </a:p>
        </p:txBody>
      </p:sp>
      <p:sp>
        <p:nvSpPr>
          <p:cNvPr id="17" name="Shape 15"/>
          <p:cNvSpPr/>
          <p:nvPr/>
        </p:nvSpPr>
        <p:spPr>
          <a:xfrm>
            <a:off x="8845550" y="1831925"/>
            <a:ext cx="2530475" cy="1385441"/>
          </a:xfrm>
          <a:prstGeom prst="rect">
            <a:avLst/>
          </a:prstGeom>
          <a:solidFill>
            <a:srgbClr val="FFFFFF"/>
          </a:solidFill>
          <a:ln w="6350">
            <a:solidFill>
              <a:srgbClr val="12171D"/>
            </a:solidFill>
            <a:prstDash val="solid"/>
          </a:ln>
        </p:spPr>
        <p:txBody>
          <a:bodyPr/>
          <a:p/>
        </p:txBody>
      </p:sp>
      <p:sp>
        <p:nvSpPr>
          <p:cNvPr id="18" name="Text 16"/>
          <p:cNvSpPr/>
          <p:nvPr/>
        </p:nvSpPr>
        <p:spPr>
          <a:xfrm>
            <a:off x="9051925" y="2038300"/>
            <a:ext cx="2181257" cy="269230"/>
          </a:xfrm>
          <a:prstGeom prst="rect">
            <a:avLst/>
          </a:prstGeom>
          <a:noFill/>
          <a:ln/>
        </p:spPr>
        <p:txBody>
          <a:bodyPr wrap="square" lIns="0" tIns="0" rIns="0" bIns="0" rtlCol="0" anchor="t">
            <a:normAutofit/>
          </a:bodyPr>
          <a:lstStyle/>
          <a:p>
            <a:pPr algn="l" indent="0" marL="0">
              <a:lnSpc>
                <a:spcPts val="1920"/>
              </a:lnSpc>
              <a:buNone/>
            </a:pPr>
            <a:r>
              <a:rPr lang="en-US" sz="1600" spc="150" kern="0" dirty="0">
                <a:solidFill>
                  <a:srgbClr val="12171D"/>
                </a:solidFill>
                <a:latin typeface="Jost" pitchFamily="34" charset="0"/>
                <a:ea typeface="Jost" pitchFamily="34" charset="-122"/>
                <a:cs typeface="Jost" pitchFamily="34" charset="-120"/>
              </a:rPr>
              <a:t>WHITE</a:t>
            </a:r>
            <a:endParaRPr lang="en-US" sz="1600" dirty="0"/>
          </a:p>
        </p:txBody>
      </p:sp>
      <p:sp>
        <p:nvSpPr>
          <p:cNvPr id="19" name="Text 17"/>
          <p:cNvSpPr/>
          <p:nvPr/>
        </p:nvSpPr>
        <p:spPr>
          <a:xfrm>
            <a:off x="9051925" y="2332930"/>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0" name="Text 18"/>
          <p:cNvSpPr/>
          <p:nvPr/>
        </p:nvSpPr>
        <p:spPr>
          <a:xfrm>
            <a:off x="9051925" y="2597051"/>
            <a:ext cx="21812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Canvas</a:t>
            </a:r>
            <a:endParaRPr lang="en-US" sz="1200" dirty="0"/>
          </a:p>
        </p:txBody>
      </p:sp>
      <p:sp>
        <p:nvSpPr>
          <p:cNvPr id="21" name="Text 19"/>
          <p:cNvSpPr/>
          <p:nvPr/>
        </p:nvSpPr>
        <p:spPr>
          <a:xfrm>
            <a:off x="812800" y="3474541"/>
            <a:ext cx="5284724" cy="2540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Character.</a:t>
            </a:r>
            <a:r>
              <a:rPr lang="en-US" sz="1200" dirty="0">
                <a:solidFill>
                  <a:srgbClr val="12171D"/>
                </a:solidFill>
                <a:latin typeface="Inter" pitchFamily="34" charset="0"/>
                <a:ea typeface="Inter" pitchFamily="34" charset="-122"/>
                <a:cs typeface="Inter" pitchFamily="34" charset="-120"/>
              </a:rPr>
              <a:t> Precise, restrained, geometric, composed.</a:t>
            </a:r>
            <a:endParaRPr lang="en-US" sz="1200" dirty="0"/>
          </a:p>
        </p:txBody>
      </p:sp>
      <p:sp>
        <p:nvSpPr>
          <p:cNvPr id="22" name="Text 20"/>
          <p:cNvSpPr/>
          <p:nvPr/>
        </p:nvSpPr>
        <p:spPr>
          <a:xfrm>
            <a:off x="812800" y="3779341"/>
            <a:ext cx="5284724" cy="4826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Principles.</a:t>
            </a:r>
            <a:r>
              <a:rPr lang="en-US" sz="1200" dirty="0">
                <a:solidFill>
                  <a:srgbClr val="12171D"/>
                </a:solidFill>
                <a:latin typeface="Inter" pitchFamily="34" charset="0"/>
                <a:ea typeface="Inter" pitchFamily="34" charset="-122"/>
                <a:cs typeface="Inter" pitchFamily="34" charset="-120"/>
              </a:rPr>
              <a:t> Precision over decoration; restraint is the luxury; geometry is the language; space is part of the identity.</a:t>
            </a:r>
            <a:endParaRPr lang="en-US" sz="1200" dirty="0"/>
          </a:p>
        </p:txBody>
      </p:sp>
      <p:sp>
        <p:nvSpPr>
          <p:cNvPr id="23" name="Text 21"/>
          <p:cNvSpPr/>
          <p:nvPr/>
        </p:nvSpPr>
        <p:spPr>
          <a:xfrm>
            <a:off x="812800" y="4312741"/>
            <a:ext cx="5284724" cy="868680"/>
          </a:xfrm>
          <a:prstGeom prst="rect">
            <a:avLst/>
          </a:prstGeom>
          <a:noFill/>
          <a:ln/>
        </p:spPr>
        <p:txBody>
          <a:bodyPr wrap="square" lIns="0" tIns="0" rIns="0" bIns="0" rtlCol="0" anchor="t"/>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Tagline. HOSPITALITY, IN PERFECT PROPORTION — fixed; set only with the tagline token (Jost 400, capitals, 0.18em); not translated without brand approval (M10). Secondary line: Every arrival, precisely composed. (Jost 400, sentence case).</a:t>
            </a:r>
            <a:endParaRPr lang="en-US" sz="1200" dirty="0"/>
          </a:p>
        </p:txBody>
      </p:sp>
      <p:sp>
        <p:nvSpPr>
          <p:cNvPr id="24" name="Shape 22"/>
          <p:cNvSpPr/>
          <p:nvPr/>
        </p:nvSpPr>
        <p:spPr>
          <a:xfrm>
            <a:off x="6251575" y="3474541"/>
            <a:ext cx="0" cy="1524000"/>
          </a:xfrm>
          <a:prstGeom prst="line">
            <a:avLst/>
          </a:prstGeom>
          <a:noFill/>
          <a:ln w="6350">
            <a:solidFill>
              <a:srgbClr val="BCACA7"/>
            </a:solidFill>
            <a:prstDash val="solid"/>
          </a:ln>
        </p:spPr>
        <p:txBody>
          <a:bodyPr/>
          <a:p/>
        </p:txBody>
      </p:sp>
      <p:sp>
        <p:nvSpPr>
          <p:cNvPr id="25" name="Text 23"/>
          <p:cNvSpPr/>
          <p:nvPr/>
        </p:nvSpPr>
        <p:spPr>
          <a:xfrm>
            <a:off x="6559550" y="3474541"/>
            <a:ext cx="4964240" cy="711200"/>
          </a:xfrm>
          <a:prstGeom prst="rect">
            <a:avLst/>
          </a:prstGeom>
          <a:noFill/>
          <a:ln/>
        </p:spPr>
        <p:txBody>
          <a:bodyPr wrap="square" lIns="0" tIns="0" rIns="0" bIns="0" rtlCol="0" anchor="t">
            <a:normAutofit/>
          </a:bodyPr>
          <a:lstStyle/>
          <a:p>
            <a:pPr algn="l" indent="0" marL="0">
              <a:lnSpc>
                <a:spcPts val="1800"/>
              </a:lnSpc>
              <a:buNone/>
            </a:pPr>
            <a:r>
              <a:rPr lang="en-US" sz="1200" b="0" dirty="0">
                <a:solidFill>
                  <a:srgbClr val="12171D"/>
                </a:solidFill>
                <a:latin typeface="Inter" pitchFamily="34" charset="0"/>
                <a:ea typeface="Inter" pitchFamily="34" charset="-122"/>
                <a:cs typeface="Inter" pitchFamily="34" charset="-120"/>
              </a:rPr>
              <a:t>Not allowed.</a:t>
            </a:r>
            <a:r>
              <a:rPr lang="en-US" sz="1200" dirty="0">
                <a:solidFill>
                  <a:srgbClr val="12171D"/>
                </a:solidFill>
                <a:latin typeface="Inter" pitchFamily="34" charset="0"/>
                <a:ea typeface="Inter" pitchFamily="34" charset="-122"/>
                <a:cs typeface="Inter" pitchFamily="34" charset="-120"/>
              </a:rPr>
              <a:t> Gradients, gold, decorative shadows, excessive rounding, SaaS styling, accent colours (Q21), and a new symbol or colour system for the Amenities &amp; Packaging stream.</a:t>
            </a:r>
            <a:endParaRPr lang="en-US" sz="1200" dirty="0"/>
          </a:p>
        </p:txBody>
      </p:sp>
      <p:sp>
        <p:nvSpPr>
          <p:cNvPr id="26" name="Text 2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Organisation and authority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841450"/>
          <a:ext cx="10553700" cy="1544042"/>
        </p:xfrm>
        <a:graphic>
          <a:graphicData uri="http://schemas.openxmlformats.org/drawingml/2006/table">
            <a:tbl>
              <a:tblPr/>
              <a:tblGrid>
                <a:gridCol w="2955036"/>
                <a:gridCol w="4432554"/>
                <a:gridCol w="31661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Part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Owns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This file set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Brand Guidelines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identity, applications, editorial examples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Referenced; brand and identity rules govern (DS02)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 Digital Design System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patterns, accessibility, localization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This system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 Production Standards V3.0 RC2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finishes, tolerances, supplier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Issued as RC2 · WORKING EDITION / PENDING PRODUCTION VALIDATION (DS04, AC17)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3730752"/>
            <a:ext cx="5284724"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Authority order</a:t>
            </a:r>
            <a:endParaRPr lang="en-US" sz="1600" dirty="0"/>
          </a:p>
        </p:txBody>
      </p:sp>
      <p:sp>
        <p:nvSpPr>
          <p:cNvPr id="7" name="Text 4"/>
          <p:cNvSpPr/>
          <p:nvPr/>
        </p:nvSpPr>
        <p:spPr>
          <a:xfrm>
            <a:off x="886123" y="4041648"/>
            <a:ext cx="5203781" cy="1828800"/>
          </a:xfrm>
          <a:prstGeom prst="rect">
            <a:avLst/>
          </a:prstGeom>
          <a:noFill/>
          <a:ln/>
        </p:spPr>
        <p:txBody>
          <a:bodyPr wrap="square" lIns="0" tIns="0" rIns="0" bIns="0" rtlCol="0" anchor="t"/>
          <a:lstStyle/>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V3 Final Brand Approval Register (Evidence Required stays conditional; Deferred stays deferred)</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A, Brand Guidelines: brand strategy, identity, expression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B, this system: digital implementation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Part C, Production Standards: physical production</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Formal technical and legal standards where they apply (WCAG 2.2 AA)</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Design System v2.1, Brand Guidelines V2/2.1, V1: historical, superseded</a:t>
            </a:r>
            <a:endParaRPr lang="en-US" sz="1200" dirty="0"/>
          </a:p>
          <a:p>
            <a:pPr algn="l" marL="180677" indent="-180677">
              <a:lnSpc>
                <a:spcPts val="168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External benchmarks and inspiration only (RF01–RF03)</a:t>
            </a:r>
            <a:endParaRPr lang="en-US" sz="1200" dirty="0"/>
          </a:p>
        </p:txBody>
      </p:sp>
      <p:sp>
        <p:nvSpPr>
          <p:cNvPr id="8" name="Shape 5"/>
          <p:cNvSpPr/>
          <p:nvPr/>
        </p:nvSpPr>
        <p:spPr>
          <a:xfrm>
            <a:off x="6251575" y="3730752"/>
            <a:ext cx="0" cy="1813272"/>
          </a:xfrm>
          <a:prstGeom prst="line">
            <a:avLst/>
          </a:prstGeom>
          <a:noFill/>
          <a:ln w="6350">
            <a:solidFill>
              <a:srgbClr val="BCACA7"/>
            </a:solidFill>
            <a:prstDash val="solid"/>
          </a:ln>
        </p:spPr>
        <p:txBody>
          <a:bodyPr/>
          <a:p/>
        </p:txBody>
      </p:sp>
      <p:sp>
        <p:nvSpPr>
          <p:cNvPr id="9" name="Text 6"/>
          <p:cNvSpPr/>
          <p:nvPr/>
        </p:nvSpPr>
        <p:spPr>
          <a:xfrm>
            <a:off x="6559550" y="3730752"/>
            <a:ext cx="496424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Source of truth</a:t>
            </a:r>
            <a:endParaRPr lang="en-US" sz="1600" dirty="0"/>
          </a:p>
        </p:txBody>
      </p:sp>
      <p:sp>
        <p:nvSpPr>
          <p:cNvPr id="10" name="Text 7"/>
          <p:cNvSpPr/>
          <p:nvPr/>
        </p:nvSpPr>
        <p:spPr>
          <a:xfrm>
            <a:off x="6559550" y="4041648"/>
            <a:ext cx="4964240" cy="1097280"/>
          </a:xfrm>
          <a:prstGeom prst="rect">
            <a:avLst/>
          </a:prstGeom>
          <a:noFill/>
          <a:ln/>
        </p:spPr>
        <p:txBody>
          <a:bodyPr wrap="square" lIns="0" tIns="0" rIns="0" bIns="0" rtlCol="0" anchor="t"/>
          <a:lstStyle/>
          <a:p>
            <a:pPr algn="l" indent="0" marL="0">
              <a:lnSpc>
                <a:spcPts val="1800"/>
              </a:lnSpc>
              <a:buNone/>
            </a:pPr>
            <a:r>
              <a:rPr lang="en-US" sz="1100" dirty="0">
                <a:solidFill>
                  <a:srgbClr val="12171D"/>
                </a:solidFill>
                <a:latin typeface="Inter" pitchFamily="34" charset="0"/>
                <a:ea typeface="Inter" pitchFamily="34" charset="-122"/>
                <a:cs typeface="Inter" pitchFamily="34" charset="-120"/>
              </a:rPr>
              <a:t>Where sources conflict, the register wins. Domain ownership: where Parts A, B and C cover different implementation domains, the owning document governs that domain unless the register overrides it. Decision IDs (L09, Q17, M05…) are cited so every rule traces back. Futura PT, Montserrat, Aeonik, Satoshi and Whyte are legacy only.</a:t>
            </a:r>
            <a:endParaRPr lang="en-US" sz="1200" dirty="0"/>
          </a:p>
        </p:txBody>
      </p:sp>
      <p:sp>
        <p:nvSpPr>
          <p:cNvPr id="11" name="Text 8"/>
          <p:cNvSpPr/>
          <p:nvPr/>
        </p:nvSpPr>
        <p:spPr>
          <a:xfrm>
            <a:off x="6559550" y="5193792"/>
            <a:ext cx="4964240" cy="640080"/>
          </a:xfrm>
          <a:prstGeom prst="rect">
            <a:avLst/>
          </a:prstGeom>
          <a:noFill/>
          <a:ln/>
        </p:spPr>
        <p:txBody>
          <a:bodyPr wrap="square" lIns="0" tIns="0" rIns="0" bIns="0" rtlCol="0" anchor="t"/>
          <a:lstStyle/>
          <a:p>
            <a:pPr algn="l" indent="0" marL="0">
              <a:lnSpc>
                <a:spcPts val="1800"/>
              </a:lnSpc>
              <a:buNone/>
            </a:pPr>
            <a:r>
              <a:rPr lang="en-US" sz="1100" dirty="0">
                <a:solidFill>
                  <a:srgbClr val="12171D"/>
                </a:solidFill>
                <a:latin typeface="Inter" pitchFamily="34" charset="0"/>
                <a:ea typeface="Inter" pitchFamily="34" charset="-122"/>
                <a:cs typeface="Inter" pitchFamily="34" charset="-120"/>
              </a:rPr>
              <a:t>Read order: slides 2–5 overview and governance → 6–21 foundations, typography, Arabic, layout, accessibility, motion, glyphs, writing, localization → 22–24 components → 25–29 patterns → 30 engineering → 31–35 QA, release, document control, assets.</a:t>
            </a:r>
            <a:endParaRPr lang="en-US" sz="1200" dirty="0"/>
          </a:p>
        </p:txBody>
      </p:sp>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02 · GOVERNANCE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Owners (all role holders TBD, AC19) and change control</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067300" cy="2328763"/>
        </p:xfrm>
        <a:graphic>
          <a:graphicData uri="http://schemas.openxmlformats.org/drawingml/2006/table">
            <a:tbl>
              <a:tblPr/>
              <a:tblGrid>
                <a:gridCol w="2128266"/>
                <a:gridCol w="293903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Strategy, architecture, final release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artwork, templates,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Buyer, offer scope,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 Amenities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Range, SKU data, packaging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Supplier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Dielines, materials, acceptance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Design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 responsive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311900" y="1790650"/>
          <a:ext cx="5067300" cy="2328763"/>
        </p:xfrm>
        <a:graphic>
          <a:graphicData uri="http://schemas.openxmlformats.org/drawingml/2006/table">
            <a:tbl>
              <a:tblPr/>
              <a:tblGrid>
                <a:gridCol w="2128266"/>
                <a:gridCol w="293903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Responsibility</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Engineering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 a11y mechanics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 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 RTL, mixed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WCAG and document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rights, claims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 Document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Deck and PDF integrity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Librarian / Governance PM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Archive, manifest, versioning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572000"/>
            <a:ext cx="5232400" cy="100584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Canonical role list: the register's Owners &amp; Governance sheet, stated in Part A slide 72; this table lists digital responsibilities only. Change control. Any new token, component or variant states its purpose, register decision, accessibility check and RTL check, signed off by the Design Custodian and Digital Design Lead.</a:t>
            </a:r>
            <a:endParaRPr lang="en-US" sz="1200" dirty="0"/>
          </a:p>
        </p:txBody>
      </p:sp>
      <p:sp>
        <p:nvSpPr>
          <p:cNvPr id="8" name="Text 4"/>
          <p:cNvSpPr/>
          <p:nvPr/>
        </p:nvSpPr>
        <p:spPr>
          <a:xfrm>
            <a:off x="6299200" y="4572000"/>
            <a:ext cx="5232400" cy="1005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exceptions need explicit approval (K09). Legal approval gates any claim (Y08). Suppliers may not reuse GEM artwork (Y06). Parts A, B and C share version, IDs and status (VAL-21).</a:t>
            </a:r>
            <a:endParaRPr lang="en-US" sz="1200" dirty="0"/>
          </a:p>
        </p:txBody>
      </p:sp>
      <p:sp>
        <p:nvSpPr>
          <p:cNvPr id="9"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5 · Record named holders before AC20 release authorization.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Colour and semantic tokens</a:t>
            </a:r>
            <a:endParaRPr lang="en-US" sz="3200" dirty="0"/>
          </a:p>
        </p:txBody>
      </p:sp>
      <p:sp>
        <p:nvSpPr>
          <p:cNvPr id="5" name="Text 3"/>
          <p:cNvSpPr/>
          <p:nvPr/>
        </p:nvSpPr>
        <p:spPr>
          <a:xfrm>
            <a:off x="812800" y="1828750"/>
            <a:ext cx="91567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Foundation colours feed semantic tokens. Components read semantic tokens only.</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344341"/>
          <a:ext cx="10553700" cy="2542084"/>
        </p:xfrm>
        <a:graphic>
          <a:graphicData uri="http://schemas.openxmlformats.org/drawingml/2006/table">
            <a:tbl>
              <a:tblPr/>
              <a:tblGrid>
                <a:gridCol w="1477518"/>
                <a:gridCol w="907618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canvas (WHITE) · signature (INK) · selected (BEIGE) · disabled (WHITE) · scrim (INK at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(INK) · inverse (WHITE) · signatureAccent (BEIGE, on INK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essential (INK) · decorative (BEIGE) · focus (INK) · error (INK, 2px) · disabled (BEIGE)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background (INK) · foreground (WHITE) · hover / pressed background (BLACK) · disabledBackground (WHITE) · disabledText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focus-light (INK) · focus-dark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Feedback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errorText (INK) · successText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5140424"/>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Light mode is primary (Q20). No full dark mode (Q19): dark contexts use the INK signature surface with gem-dark (WHITE text, WHITE focus ring).</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Permitted pairings and functional status</a:t>
            </a:r>
            <a:endParaRPr lang="en-US" sz="3200" dirty="0"/>
          </a:p>
        </p:txBody>
      </p:sp>
      <p:sp>
        <p:nvSpPr>
          <p:cNvPr id="5" name="Text 3"/>
          <p:cNvSpPr/>
          <p:nvPr/>
        </p:nvSpPr>
        <p:spPr>
          <a:xfrm>
            <a:off x="812800" y="1828750"/>
            <a:ext cx="3454400" cy="731441"/>
          </a:xfrm>
          <a:prstGeom prst="rect">
            <a:avLst/>
          </a:prstGeom>
          <a:solidFill>
            <a:srgbClr val="12171D"/>
          </a:solidFill>
          <a:ln/>
        </p:spPr>
        <p:txBody>
          <a:bodyPr wrap="square" lIns="152400" tIns="152400" rIns="57912" bIns="12700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INK with WHITE text</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18.0 : 1 · K02 approved</a:t>
            </a:r>
            <a:endParaRPr lang="en-US" sz="1200" dirty="0"/>
          </a:p>
        </p:txBody>
      </p:sp>
      <p:sp>
        <p:nvSpPr>
          <p:cNvPr id="6" name="Text 4"/>
          <p:cNvSpPr/>
          <p:nvPr/>
        </p:nvSpPr>
        <p:spPr>
          <a:xfrm>
            <a:off x="4368800" y="1828750"/>
            <a:ext cx="3454400" cy="731441"/>
          </a:xfrm>
          <a:prstGeom prst="rect">
            <a:avLst/>
          </a:prstGeom>
          <a:solidFill>
            <a:srgbClr val="BCACA7"/>
          </a:solidFill>
          <a:ln/>
        </p:spPr>
        <p:txBody>
          <a:bodyPr wrap="square" lIns="152400" tIns="152400" rIns="57912" bIns="12700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BEIGE with INK text</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8.2 : 1 · K01 approved</a:t>
            </a:r>
            <a:endParaRPr lang="en-US" sz="1200" dirty="0"/>
          </a:p>
        </p:txBody>
      </p:sp>
      <p:sp>
        <p:nvSpPr>
          <p:cNvPr id="7" name="Text 5"/>
          <p:cNvSpPr/>
          <p:nvPr/>
        </p:nvSpPr>
        <p:spPr>
          <a:xfrm>
            <a:off x="7924800" y="1828750"/>
            <a:ext cx="3454400" cy="731441"/>
          </a:xfrm>
          <a:prstGeom prst="rect">
            <a:avLst/>
          </a:prstGeom>
          <a:solidFill>
            <a:srgbClr val="020202"/>
          </a:solidFill>
          <a:ln/>
        </p:spPr>
        <p:txBody>
          <a:bodyPr wrap="square" lIns="152400" tIns="152400" rIns="57912" bIns="127000" rtlCol="0" anchor="t">
            <a:normAutofit/>
          </a:bodyPr>
          <a:lstStyle/>
          <a:p>
            <a:pPr algn="l" indent="0" marL="0">
              <a:lnSpc>
                <a:spcPts val="1680"/>
              </a:lnSpc>
              <a:buNone/>
            </a:pPr>
            <a:r>
              <a:rPr lang="en-US" sz="1200" b="0" dirty="0">
                <a:solidFill>
                  <a:srgbClr val="BCACA7"/>
                </a:solidFill>
                <a:latin typeface="Inter" pitchFamily="34" charset="0"/>
                <a:ea typeface="Inter" pitchFamily="34" charset="-122"/>
                <a:cs typeface="Inter" pitchFamily="34" charset="-120"/>
              </a:rPr>
              <a:t>BEIGE on BLACK</a:t>
            </a:r>
            <a:endParaRPr lang="en-US" sz="1200" dirty="0"/>
          </a:p>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above 8 : 1 · K03 approved</a:t>
            </a:r>
            <a:endParaRPr lang="en-US" sz="1200" dirty="0"/>
          </a:p>
        </p:txBody>
      </p:sp>
      <p:sp>
        <p:nvSpPr>
          <p:cNvPr id="8" name="Text 6"/>
          <p:cNvSpPr/>
          <p:nvPr/>
        </p:nvSpPr>
        <p:spPr>
          <a:xfrm>
            <a:off x="815975" y="2664966"/>
            <a:ext cx="3448050" cy="737791"/>
          </a:xfrm>
          <a:prstGeom prst="rect">
            <a:avLst/>
          </a:prstGeom>
          <a:solidFill>
            <a:srgbClr val="FFFFFF"/>
          </a:solidFill>
          <a:ln w="6350">
            <a:solidFill>
              <a:srgbClr val="12171D"/>
            </a:solidFill>
            <a:prstDash val="solid"/>
          </a:ln>
        </p:spPr>
        <p:txBody>
          <a:bodyPr wrap="square" lIns="155575" tIns="155575" rIns="61468" bIns="130175" rtlCol="0" anchor="t">
            <a:normAutofit/>
          </a:bodyPr>
          <a:lstStyle/>
          <a:p>
            <a:pPr algn="l" indent="0" marL="0">
              <a:lnSpc>
                <a:spcPts val="1680"/>
              </a:lnSpc>
              <a:buNone/>
            </a:pPr>
            <a:r>
              <a:rPr lang="en-US" sz="1200" b="0" dirty="0">
                <a:solidFill>
                  <a:srgbClr val="020202"/>
                </a:solidFill>
                <a:latin typeface="Inter" pitchFamily="34" charset="0"/>
                <a:ea typeface="Inter" pitchFamily="34" charset="-122"/>
                <a:cs typeface="Inter" pitchFamily="34" charset="-120"/>
              </a:rPr>
              <a:t>BLACK on WHITE</a:t>
            </a:r>
            <a:endParaRPr lang="en-US" sz="1200" dirty="0"/>
          </a:p>
          <a:p>
            <a:pPr algn="l" indent="0" marL="0">
              <a:lnSpc>
                <a:spcPts val="1680"/>
              </a:lnSpc>
              <a:buNone/>
            </a:pPr>
            <a:r>
              <a:rPr lang="en-US" sz="1200" dirty="0">
                <a:solidFill>
                  <a:srgbClr val="020202"/>
                </a:solidFill>
                <a:latin typeface="Inter" pitchFamily="34" charset="0"/>
                <a:ea typeface="Inter" pitchFamily="34" charset="-122"/>
                <a:cs typeface="Inter" pitchFamily="34" charset="-120"/>
              </a:rPr>
              <a:t>20.8 : 1 · K04 approved</a:t>
            </a:r>
            <a:endParaRPr lang="en-US" sz="1200" dirty="0"/>
          </a:p>
        </p:txBody>
      </p:sp>
      <p:sp>
        <p:nvSpPr>
          <p:cNvPr id="9" name="Text 7"/>
          <p:cNvSpPr/>
          <p:nvPr/>
        </p:nvSpPr>
        <p:spPr>
          <a:xfrm>
            <a:off x="4371975" y="2664966"/>
            <a:ext cx="3448050" cy="737791"/>
          </a:xfrm>
          <a:prstGeom prst="rect">
            <a:avLst/>
          </a:prstGeom>
          <a:solidFill>
            <a:srgbClr val="FFFFFF"/>
          </a:solidFill>
          <a:ln w="6350">
            <a:solidFill>
              <a:srgbClr val="BCACA7"/>
            </a:solidFill>
            <a:prstDash val="solid"/>
          </a:ln>
        </p:spPr>
        <p:txBody>
          <a:bodyPr wrap="square" lIns="155575" tIns="155575" rIns="61468" bIns="130175"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BEIGE on WHITE</a:t>
            </a:r>
            <a:endParaRPr lang="en-US" sz="1200" dirty="0"/>
          </a:p>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2.2 : 1 · K05 prohibited for essential text</a:t>
            </a:r>
            <a:endParaRPr lang="en-US" sz="1200" dirty="0"/>
          </a:p>
        </p:txBody>
      </p:sp>
      <p:sp>
        <p:nvSpPr>
          <p:cNvPr id="10" name="Text 8"/>
          <p:cNvSpPr/>
          <p:nvPr/>
        </p:nvSpPr>
        <p:spPr>
          <a:xfrm>
            <a:off x="7924800" y="2661791"/>
            <a:ext cx="3454400" cy="744141"/>
          </a:xfrm>
          <a:prstGeom prst="rect">
            <a:avLst/>
          </a:prstGeom>
          <a:solidFill>
            <a:srgbClr val="020202"/>
          </a:solidFill>
          <a:ln/>
        </p:spPr>
        <p:txBody>
          <a:bodyPr wrap="square" lIns="152400" tIns="152400" rIns="57912" bIns="13970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INK on BLACK</a:t>
            </a:r>
            <a:endParaRPr lang="en-US" sz="1200" dirty="0"/>
          </a:p>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near 1 : 1 · K06 prohibited</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3672632"/>
          <a:ext cx="10553700" cy="1663402"/>
        </p:xfrm>
        <a:graphic>
          <a:graphicData uri="http://schemas.openxmlformats.org/drawingml/2006/table">
            <a:tbl>
              <a:tblPr/>
              <a:tblGrid>
                <a:gridCol w="2321814"/>
                <a:gridCol w="2321814"/>
                <a:gridCol w="591007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Treatment (Q10: no functional colours)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border, text, optional warning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BEIGE fill with INK text,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1px border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Decorative border, aria-busy, no time estimate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7 · Low-contrast pairs may stay decorative if they carry no meaning (K07).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FOUNDATIONS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Spacing, shape, elevation and focus</a:t>
            </a:r>
            <a:endParaRPr lang="en-US" sz="3200" dirty="0"/>
          </a:p>
        </p:txBody>
      </p:sp>
      <p:sp>
        <p:nvSpPr>
          <p:cNvPr id="5" name="Shape 3"/>
          <p:cNvSpPr/>
          <p:nvPr/>
        </p:nvSpPr>
        <p:spPr>
          <a:xfrm>
            <a:off x="849313" y="2412950"/>
            <a:ext cx="25400" cy="25400"/>
          </a:xfrm>
          <a:prstGeom prst="rect">
            <a:avLst/>
          </a:prstGeom>
          <a:solidFill>
            <a:srgbClr val="12171D"/>
          </a:solidFill>
          <a:ln/>
        </p:spPr>
        <p:txBody>
          <a:bodyPr/>
          <a:p/>
        </p:txBody>
      </p:sp>
      <p:sp>
        <p:nvSpPr>
          <p:cNvPr id="6" name="Text 4"/>
          <p:cNvSpPr/>
          <p:nvPr/>
        </p:nvSpPr>
        <p:spPr>
          <a:xfrm>
            <a:off x="812800" y="2489150"/>
            <a:ext cx="1492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p>
        </p:txBody>
      </p:sp>
      <p:sp>
        <p:nvSpPr>
          <p:cNvPr id="7" name="Shape 5"/>
          <p:cNvSpPr/>
          <p:nvPr/>
        </p:nvSpPr>
        <p:spPr>
          <a:xfrm>
            <a:off x="1136204" y="2387550"/>
            <a:ext cx="50800" cy="50800"/>
          </a:xfrm>
          <a:prstGeom prst="rect">
            <a:avLst/>
          </a:prstGeom>
          <a:solidFill>
            <a:srgbClr val="12171D"/>
          </a:solidFill>
          <a:ln/>
        </p:spPr>
        <p:txBody>
          <a:bodyPr/>
          <a:p/>
        </p:txBody>
      </p:sp>
      <p:sp>
        <p:nvSpPr>
          <p:cNvPr id="8" name="Text 6"/>
          <p:cNvSpPr/>
          <p:nvPr/>
        </p:nvSpPr>
        <p:spPr>
          <a:xfrm>
            <a:off x="1114475" y="2489150"/>
            <a:ext cx="145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p>
        </p:txBody>
      </p:sp>
      <p:sp>
        <p:nvSpPr>
          <p:cNvPr id="9" name="Shape 7"/>
          <p:cNvSpPr/>
          <p:nvPr/>
        </p:nvSpPr>
        <p:spPr>
          <a:xfrm>
            <a:off x="1451322" y="2362150"/>
            <a:ext cx="76200" cy="76200"/>
          </a:xfrm>
          <a:prstGeom prst="rect">
            <a:avLst/>
          </a:prstGeom>
          <a:solidFill>
            <a:srgbClr val="12171D"/>
          </a:solidFill>
          <a:ln/>
        </p:spPr>
        <p:txBody>
          <a:bodyPr/>
          <a:p/>
        </p:txBody>
      </p:sp>
      <p:sp>
        <p:nvSpPr>
          <p:cNvPr id="10" name="Text 8"/>
          <p:cNvSpPr/>
          <p:nvPr/>
        </p:nvSpPr>
        <p:spPr>
          <a:xfrm>
            <a:off x="1411982" y="2489150"/>
            <a:ext cx="2057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p>
        </p:txBody>
      </p:sp>
      <p:sp>
        <p:nvSpPr>
          <p:cNvPr id="11" name="Shape 9"/>
          <p:cNvSpPr/>
          <p:nvPr/>
        </p:nvSpPr>
        <p:spPr>
          <a:xfrm>
            <a:off x="1797546" y="2336750"/>
            <a:ext cx="101600" cy="101600"/>
          </a:xfrm>
          <a:prstGeom prst="rect">
            <a:avLst/>
          </a:prstGeom>
          <a:solidFill>
            <a:srgbClr val="12171D"/>
          </a:solidFill>
          <a:ln/>
        </p:spPr>
        <p:txBody>
          <a:bodyPr/>
          <a:p/>
        </p:txBody>
      </p:sp>
      <p:sp>
        <p:nvSpPr>
          <p:cNvPr id="12" name="Text 10"/>
          <p:cNvSpPr/>
          <p:nvPr/>
        </p:nvSpPr>
        <p:spPr>
          <a:xfrm>
            <a:off x="1770112" y="2489150"/>
            <a:ext cx="2073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p>
        </p:txBody>
      </p:sp>
      <p:sp>
        <p:nvSpPr>
          <p:cNvPr id="13" name="Shape 11"/>
          <p:cNvSpPr/>
          <p:nvPr/>
        </p:nvSpPr>
        <p:spPr>
          <a:xfrm>
            <a:off x="2148136" y="2285950"/>
            <a:ext cx="152400" cy="152400"/>
          </a:xfrm>
          <a:prstGeom prst="rect">
            <a:avLst/>
          </a:prstGeom>
          <a:solidFill>
            <a:srgbClr val="12171D"/>
          </a:solidFill>
          <a:ln/>
        </p:spPr>
        <p:txBody>
          <a:bodyPr/>
          <a:p/>
        </p:txBody>
      </p:sp>
      <p:sp>
        <p:nvSpPr>
          <p:cNvPr id="14" name="Text 12"/>
          <p:cNvSpPr/>
          <p:nvPr/>
        </p:nvSpPr>
        <p:spPr>
          <a:xfrm>
            <a:off x="2129830" y="2489150"/>
            <a:ext cx="2398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p>
        </p:txBody>
      </p:sp>
      <p:sp>
        <p:nvSpPr>
          <p:cNvPr id="15" name="Shape 13"/>
          <p:cNvSpPr/>
          <p:nvPr/>
        </p:nvSpPr>
        <p:spPr>
          <a:xfrm>
            <a:off x="2522041" y="2235150"/>
            <a:ext cx="203200" cy="203200"/>
          </a:xfrm>
          <a:prstGeom prst="rect">
            <a:avLst/>
          </a:prstGeom>
          <a:solidFill>
            <a:srgbClr val="12171D"/>
          </a:solidFill>
          <a:ln/>
        </p:spPr>
        <p:txBody>
          <a:bodyPr/>
          <a:p/>
        </p:txBody>
      </p:sp>
      <p:sp>
        <p:nvSpPr>
          <p:cNvPr id="16" name="Text 14"/>
          <p:cNvSpPr/>
          <p:nvPr/>
        </p:nvSpPr>
        <p:spPr>
          <a:xfrm>
            <a:off x="2530078" y="2489150"/>
            <a:ext cx="2378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
        <p:nvSpPr>
          <p:cNvPr id="17" name="Shape 15"/>
          <p:cNvSpPr/>
          <p:nvPr/>
        </p:nvSpPr>
        <p:spPr>
          <a:xfrm>
            <a:off x="2928441" y="2133550"/>
            <a:ext cx="304800" cy="304800"/>
          </a:xfrm>
          <a:prstGeom prst="rect">
            <a:avLst/>
          </a:prstGeom>
          <a:solidFill>
            <a:srgbClr val="12171D"/>
          </a:solidFill>
          <a:ln/>
        </p:spPr>
        <p:txBody>
          <a:bodyPr/>
          <a:p/>
        </p:txBody>
      </p:sp>
      <p:sp>
        <p:nvSpPr>
          <p:cNvPr id="18" name="Text 16"/>
          <p:cNvSpPr/>
          <p:nvPr/>
        </p:nvSpPr>
        <p:spPr>
          <a:xfrm>
            <a:off x="2959050" y="2489150"/>
            <a:ext cx="2435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p>
        </p:txBody>
      </p:sp>
      <p:sp>
        <p:nvSpPr>
          <p:cNvPr id="19" name="Shape 17"/>
          <p:cNvSpPr/>
          <p:nvPr/>
        </p:nvSpPr>
        <p:spPr>
          <a:xfrm>
            <a:off x="3436441" y="2031950"/>
            <a:ext cx="406400" cy="406400"/>
          </a:xfrm>
          <a:prstGeom prst="rect">
            <a:avLst/>
          </a:prstGeom>
          <a:solidFill>
            <a:srgbClr val="12171D"/>
          </a:solidFill>
          <a:ln/>
        </p:spPr>
        <p:txBody>
          <a:bodyPr/>
          <a:p/>
        </p:txBody>
      </p:sp>
      <p:sp>
        <p:nvSpPr>
          <p:cNvPr id="20" name="Text 18"/>
          <p:cNvSpPr/>
          <p:nvPr/>
        </p:nvSpPr>
        <p:spPr>
          <a:xfrm>
            <a:off x="3517751" y="2489150"/>
            <a:ext cx="24378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
        <p:nvSpPr>
          <p:cNvPr id="21" name="Shape 19"/>
          <p:cNvSpPr/>
          <p:nvPr/>
        </p:nvSpPr>
        <p:spPr>
          <a:xfrm>
            <a:off x="4046041" y="1828750"/>
            <a:ext cx="609600" cy="609600"/>
          </a:xfrm>
          <a:prstGeom prst="rect">
            <a:avLst/>
          </a:prstGeom>
          <a:solidFill>
            <a:srgbClr val="12171D"/>
          </a:solidFill>
          <a:ln/>
        </p:spPr>
        <p:txBody>
          <a:bodyPr/>
          <a:p/>
        </p:txBody>
      </p:sp>
      <p:sp>
        <p:nvSpPr>
          <p:cNvPr id="22" name="Text 20"/>
          <p:cNvSpPr/>
          <p:nvPr/>
        </p:nvSpPr>
        <p:spPr>
          <a:xfrm>
            <a:off x="4230936" y="2489150"/>
            <a:ext cx="23981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2171D"/>
                </a:solidFill>
                <a:latin typeface="Inter" pitchFamily="34" charset="0"/>
                <a:ea typeface="Inter" pitchFamily="34" charset="-122"/>
                <a:cs typeface="Inter" pitchFamily="34" charset="-120"/>
              </a:rPr>
              <a:t>96</a:t>
            </a:r>
            <a:endParaRPr lang="en-US" sz="1200" dirty="0"/>
          </a:p>
        </p:txBody>
      </p:sp>
      <p:sp>
        <p:nvSpPr>
          <p:cNvPr id="23" name="Text 21"/>
          <p:cNvSpPr/>
          <p:nvPr/>
        </p:nvSpPr>
        <p:spPr>
          <a:xfrm>
            <a:off x="4858841" y="2275830"/>
            <a:ext cx="671596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Spacing scale in px. Use the nearest token, never arbitrary values. Component internals 4 to 24; section rhythm 32 to 96.</a:t>
            </a:r>
            <a:endParaRPr lang="en-US" sz="1200" dirty="0"/>
          </a:p>
        </p:txBody>
      </p:sp>
      <p:sp>
        <p:nvSpPr>
          <p:cNvPr id="24" name="Shape 22"/>
          <p:cNvSpPr/>
          <p:nvPr/>
        </p:nvSpPr>
        <p:spPr>
          <a:xfrm>
            <a:off x="815975" y="2959646"/>
            <a:ext cx="3414167" cy="1586061"/>
          </a:xfrm>
          <a:prstGeom prst="rect">
            <a:avLst/>
          </a:prstGeom>
          <a:noFill/>
          <a:ln w="6350">
            <a:solidFill>
              <a:srgbClr val="BCACA7"/>
            </a:solidFill>
            <a:prstDash val="solid"/>
          </a:ln>
        </p:spPr>
        <p:txBody>
          <a:bodyPr/>
          <a:p/>
        </p:txBody>
      </p:sp>
      <p:sp>
        <p:nvSpPr>
          <p:cNvPr id="25" name="Text 23"/>
          <p:cNvSpPr/>
          <p:nvPr/>
        </p:nvSpPr>
        <p:spPr>
          <a:xfrm>
            <a:off x="1022350"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Shape</a:t>
            </a:r>
            <a:endParaRPr lang="en-US" sz="1600" dirty="0"/>
          </a:p>
        </p:txBody>
      </p:sp>
      <p:sp>
        <p:nvSpPr>
          <p:cNvPr id="26" name="Text 24"/>
          <p:cNvSpPr/>
          <p:nvPr/>
        </p:nvSpPr>
        <p:spPr>
          <a:xfrm>
            <a:off x="1022350" y="3486051"/>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radius-editorial 0 for cards, panels, images and hero fields. radius-control 4px for buttons, inputs, selects, chips. No pills.</a:t>
            </a:r>
            <a:endParaRPr lang="en-US" sz="1200" dirty="0"/>
          </a:p>
        </p:txBody>
      </p:sp>
      <p:sp>
        <p:nvSpPr>
          <p:cNvPr id="27" name="Shape 25"/>
          <p:cNvSpPr/>
          <p:nvPr/>
        </p:nvSpPr>
        <p:spPr>
          <a:xfrm>
            <a:off x="4388892" y="2959646"/>
            <a:ext cx="3414167" cy="1586061"/>
          </a:xfrm>
          <a:prstGeom prst="rect">
            <a:avLst/>
          </a:prstGeom>
          <a:noFill/>
          <a:ln w="6350">
            <a:solidFill>
              <a:srgbClr val="BCACA7"/>
            </a:solidFill>
            <a:prstDash val="solid"/>
          </a:ln>
        </p:spPr>
        <p:txBody>
          <a:bodyPr/>
          <a:p/>
        </p:txBody>
      </p:sp>
      <p:sp>
        <p:nvSpPr>
          <p:cNvPr id="28" name="Text 26"/>
          <p:cNvSpPr/>
          <p:nvPr/>
        </p:nvSpPr>
        <p:spPr>
          <a:xfrm>
            <a:off x="4595267" y="31660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Elevation</a:t>
            </a:r>
            <a:endParaRPr lang="en-US" sz="1600" dirty="0"/>
          </a:p>
        </p:txBody>
      </p:sp>
      <p:sp>
        <p:nvSpPr>
          <p:cNvPr id="29" name="Text 27"/>
          <p:cNvSpPr/>
          <p:nvPr/>
        </p:nvSpPr>
        <p:spPr>
          <a:xfrm>
            <a:off x="4595267" y="34860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decorative shadows. Separate with 1px hairlines or colour fields. Only exception: the modal scrim, INK at 64%.</a:t>
            </a:r>
            <a:endParaRPr lang="en-US" sz="1200" dirty="0"/>
          </a:p>
        </p:txBody>
      </p:sp>
      <p:sp>
        <p:nvSpPr>
          <p:cNvPr id="30" name="Shape 28"/>
          <p:cNvSpPr/>
          <p:nvPr/>
        </p:nvSpPr>
        <p:spPr>
          <a:xfrm>
            <a:off x="7961809" y="2959646"/>
            <a:ext cx="3414216" cy="1586061"/>
          </a:xfrm>
          <a:prstGeom prst="rect">
            <a:avLst/>
          </a:prstGeom>
          <a:noFill/>
          <a:ln w="6350">
            <a:solidFill>
              <a:srgbClr val="BCACA7"/>
            </a:solidFill>
            <a:prstDash val="solid"/>
          </a:ln>
        </p:spPr>
        <p:txBody>
          <a:bodyPr/>
          <a:p/>
        </p:txBody>
      </p:sp>
      <p:sp>
        <p:nvSpPr>
          <p:cNvPr id="31" name="Text 29"/>
          <p:cNvSpPr/>
          <p:nvPr/>
        </p:nvSpPr>
        <p:spPr>
          <a:xfrm>
            <a:off x="8168184" y="31660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Borders and focus</a:t>
            </a:r>
            <a:endParaRPr lang="en-US" sz="1600" dirty="0"/>
          </a:p>
        </p:txBody>
      </p:sp>
      <p:sp>
        <p:nvSpPr>
          <p:cNvPr id="32" name="Text 30"/>
          <p:cNvSpPr/>
          <p:nvPr/>
        </p:nvSpPr>
        <p:spPr>
          <a:xfrm>
            <a:off x="8168184" y="3486051"/>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Hairline 1px for controls and dividers; emphasis 2px for error, selected tab and focus. Focus ring 2px, offset 2px; INK on light, WHITE on signature.</a:t>
            </a:r>
            <a:endParaRPr lang="en-US" sz="1200" dirty="0"/>
          </a:p>
        </p:txBody>
      </p:sp>
      <p:sp>
        <p:nvSpPr>
          <p:cNvPr id="33" name="Text 3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Families (L01, L02, L04)</a:t>
            </a:r>
            <a:endParaRPr lang="en-US" sz="3200" dirty="0"/>
          </a:p>
        </p:txBody>
      </p:sp>
      <p:sp>
        <p:nvSpPr>
          <p:cNvPr id="5" name="Shape 3"/>
          <p:cNvSpPr/>
          <p:nvPr/>
        </p:nvSpPr>
        <p:spPr>
          <a:xfrm>
            <a:off x="815975" y="1882725"/>
            <a:ext cx="3414167" cy="2170261"/>
          </a:xfrm>
          <a:prstGeom prst="rect">
            <a:avLst/>
          </a:prstGeom>
          <a:noFill/>
          <a:ln w="6350">
            <a:solidFill>
              <a:srgbClr val="BCACA7"/>
            </a:solidFill>
            <a:prstDash val="solid"/>
          </a:ln>
        </p:spPr>
        <p:txBody>
          <a:bodyPr/>
          <a:p/>
        </p:txBody>
      </p:sp>
      <p:sp>
        <p:nvSpPr>
          <p:cNvPr id="6" name="Text 4"/>
          <p:cNvSpPr/>
          <p:nvPr/>
        </p:nvSpPr>
        <p:spPr>
          <a:xfrm>
            <a:off x="1022350"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Jost" pitchFamily="34" charset="0"/>
                <a:ea typeface="Jost" pitchFamily="34" charset="-122"/>
                <a:cs typeface="Jost" pitchFamily="34" charset="-120"/>
              </a:rPr>
              <a:t>Aa</a:t>
            </a:r>
            <a:endParaRPr lang="en-US" sz="4800" dirty="0"/>
          </a:p>
        </p:txBody>
      </p:sp>
      <p:sp>
        <p:nvSpPr>
          <p:cNvPr id="7" name="Text 5"/>
          <p:cNvSpPr/>
          <p:nvPr/>
        </p:nvSpPr>
        <p:spPr>
          <a:xfrm>
            <a:off x="1022350"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Jost" pitchFamily="34" charset="0"/>
                <a:ea typeface="Jost" pitchFamily="34" charset="-122"/>
                <a:cs typeface="Jost" pitchFamily="34" charset="-120"/>
              </a:rPr>
              <a:t>Jost</a:t>
            </a:r>
            <a:endParaRPr lang="en-US" sz="1600" dirty="0"/>
          </a:p>
        </p:txBody>
      </p:sp>
      <p:sp>
        <p:nvSpPr>
          <p:cNvPr id="8" name="Text 6"/>
          <p:cNvSpPr/>
          <p:nvPr/>
        </p:nvSpPr>
        <p:spPr>
          <a:xfrm>
            <a:off x="1022350" y="3206651"/>
            <a:ext cx="3091459"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Display and headings. APPROVED architecture; exact build to freeze (L06, VAL-19).</a:t>
            </a:r>
            <a:endParaRPr lang="en-US" sz="1200" dirty="0"/>
          </a:p>
        </p:txBody>
      </p:sp>
      <p:sp>
        <p:nvSpPr>
          <p:cNvPr id="9" name="Shape 7"/>
          <p:cNvSpPr/>
          <p:nvPr/>
        </p:nvSpPr>
        <p:spPr>
          <a:xfrm>
            <a:off x="4388892" y="1882725"/>
            <a:ext cx="3414167" cy="2170261"/>
          </a:xfrm>
          <a:prstGeom prst="rect">
            <a:avLst/>
          </a:prstGeom>
          <a:noFill/>
          <a:ln w="6350">
            <a:solidFill>
              <a:srgbClr val="BCACA7"/>
            </a:solidFill>
            <a:prstDash val="solid"/>
          </a:ln>
        </p:spPr>
        <p:txBody>
          <a:bodyPr/>
          <a:p/>
        </p:txBody>
      </p:sp>
      <p:sp>
        <p:nvSpPr>
          <p:cNvPr id="10" name="Text 8"/>
          <p:cNvSpPr/>
          <p:nvPr/>
        </p:nvSpPr>
        <p:spPr>
          <a:xfrm>
            <a:off x="4595267" y="2089100"/>
            <a:ext cx="3091459"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Inter" pitchFamily="34" charset="0"/>
                <a:ea typeface="Inter" pitchFamily="34" charset="-122"/>
                <a:cs typeface="Inter" pitchFamily="34" charset="-120"/>
              </a:rPr>
              <a:t>Aa</a:t>
            </a:r>
            <a:endParaRPr lang="en-US" sz="4800" dirty="0"/>
          </a:p>
        </p:txBody>
      </p:sp>
      <p:sp>
        <p:nvSpPr>
          <p:cNvPr id="11" name="Text 9"/>
          <p:cNvSpPr/>
          <p:nvPr/>
        </p:nvSpPr>
        <p:spPr>
          <a:xfrm>
            <a:off x="4595267" y="2861221"/>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Inter</a:t>
            </a:r>
            <a:endParaRPr lang="en-US" sz="1600" dirty="0"/>
          </a:p>
        </p:txBody>
      </p:sp>
      <p:sp>
        <p:nvSpPr>
          <p:cNvPr id="12" name="Text 10"/>
          <p:cNvSpPr/>
          <p:nvPr/>
        </p:nvSpPr>
        <p:spPr>
          <a:xfrm>
            <a:off x="4595267" y="3206651"/>
            <a:ext cx="3091459"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Body, UI, office. APPROVED architecture; exact build to freeze.</a:t>
            </a:r>
            <a:endParaRPr lang="en-US" sz="1200" dirty="0"/>
          </a:p>
        </p:txBody>
      </p:sp>
      <p:sp>
        <p:nvSpPr>
          <p:cNvPr id="13" name="Shape 11"/>
          <p:cNvSpPr/>
          <p:nvPr/>
        </p:nvSpPr>
        <p:spPr>
          <a:xfrm>
            <a:off x="7961809" y="1882725"/>
            <a:ext cx="3414216" cy="2170261"/>
          </a:xfrm>
          <a:prstGeom prst="rect">
            <a:avLst/>
          </a:prstGeom>
          <a:noFill/>
          <a:ln w="6350">
            <a:solidFill>
              <a:srgbClr val="BCACA7"/>
            </a:solidFill>
            <a:prstDash val="dash"/>
          </a:ln>
        </p:spPr>
        <p:txBody>
          <a:bodyPr/>
          <a:p/>
        </p:txBody>
      </p:sp>
      <p:sp>
        <p:nvSpPr>
          <p:cNvPr id="14" name="Text 12"/>
          <p:cNvSpPr/>
          <p:nvPr/>
        </p:nvSpPr>
        <p:spPr>
          <a:xfrm>
            <a:off x="8168184" y="2089100"/>
            <a:ext cx="3091510" cy="695920"/>
          </a:xfrm>
          <a:prstGeom prst="rect">
            <a:avLst/>
          </a:prstGeom>
          <a:noFill/>
          <a:ln/>
        </p:spPr>
        <p:txBody>
          <a:bodyPr wrap="square" lIns="0" tIns="0" rIns="0" bIns="0" rtlCol="0" anchor="t">
            <a:normAutofit/>
          </a:bodyPr>
          <a:lstStyle/>
          <a:p>
            <a:pPr algn="l" indent="0" marL="0">
              <a:lnSpc>
                <a:spcPts val="5280"/>
              </a:lnSpc>
              <a:buNone/>
            </a:pPr>
            <a:r>
              <a:rPr lang="en-US" sz="4800" dirty="0">
                <a:solidFill>
                  <a:srgbClr val="BCACA7"/>
                </a:solidFill>
                <a:latin typeface="Noto Sans Arabic" pitchFamily="34" charset="0"/>
                <a:ea typeface="Noto Sans Arabic" pitchFamily="34" charset="-122"/>
                <a:cs typeface="Noto Sans Arabic" pitchFamily="34" charset="-120"/>
              </a:rPr>
              <a:t>أب</a:t>
            </a:r>
            <a:endParaRPr lang="en-US" sz="4800" dirty="0"/>
          </a:p>
        </p:txBody>
      </p:sp>
      <p:sp>
        <p:nvSpPr>
          <p:cNvPr id="15" name="Text 13"/>
          <p:cNvSpPr/>
          <p:nvPr/>
        </p:nvSpPr>
        <p:spPr>
          <a:xfrm>
            <a:off x="8168184" y="2861221"/>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FFFFFF"/>
                </a:solidFill>
                <a:latin typeface="Inter" pitchFamily="34" charset="0"/>
                <a:ea typeface="Inter" pitchFamily="34" charset="-122"/>
                <a:cs typeface="Inter" pitchFamily="34" charset="-120"/>
              </a:rPr>
              <a:t>Noto Sans Arabic</a:t>
            </a:r>
            <a:endParaRPr lang="en-US" sz="1600" dirty="0"/>
          </a:p>
        </p:txBody>
      </p:sp>
      <p:sp>
        <p:nvSpPr>
          <p:cNvPr id="16" name="Text 14"/>
          <p:cNvSpPr/>
          <p:nvPr/>
        </p:nvSpPr>
        <p:spPr>
          <a:xfrm>
            <a:off x="8168184" y="320665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Arabic. Interim (M02); final approval PENDING VALIDATION (VAL-07).</a:t>
            </a:r>
            <a:endParaRPr lang="en-US" sz="1200" dirty="0"/>
          </a:p>
        </p:txBody>
      </p:sp>
      <p:sp>
        <p:nvSpPr>
          <p:cNvPr id="17" name="Text 15"/>
          <p:cNvSpPr/>
          <p:nvPr/>
        </p:nvSpPr>
        <p:spPr>
          <a:xfrm>
            <a:off x="812800" y="4360962"/>
            <a:ext cx="10464800" cy="1005840"/>
          </a:xfrm>
          <a:prstGeom prst="rect">
            <a:avLst/>
          </a:prstGeom>
          <a:noFill/>
          <a:ln/>
        </p:spPr>
        <p:txBody>
          <a:bodyPr wrap="square" lIns="0" tIns="0" rIns="0" bIns="0" rtlCol="0" anchor="t"/>
          <a:lstStyle/>
          <a:p>
            <a:pPr algn="l" indent="0" marL="0">
              <a:lnSpc>
                <a:spcPts val="1800"/>
              </a:lnSpc>
              <a:buNone/>
            </a:pPr>
            <a:r>
              <a:rPr lang="en-US" sz="1200" dirty="0">
                <a:solidFill>
                  <a:srgbClr val="FFFFFF"/>
                </a:solidFill>
                <a:latin typeface="Inter" pitchFamily="34" charset="0"/>
                <a:ea typeface="Inter" pitchFamily="34" charset="-122"/>
                <a:cs typeface="Inter" pitchFamily="34" charset="-120"/>
              </a:rPr>
              <a:t>Futura PT, Montserrat, Aeonik, Satoshi and Whyte are reference or legacy only (L03, L07). No decorative serif or script (L15). The wordmark is never recreated in type (L16). Maximum two weights per composition (L08). Weights in use: 400 only until accepted font files exist; 500 WEIGHT PENDING ACCEPTED FONT FILE (Jost controlled labels, Inter, Noto Sans Arabic). Fonts are referenced under SIL OFL 1.1; exact builds, versions and deployment rights are PENDING VALIDATION (VAL-05, Y03). Licence, build and deployment control: Part C slide 15 (Font control).</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Type styles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6972300" cy="3928864"/>
        </p:xfrm>
        <a:graphic>
          <a:graphicData uri="http://schemas.openxmlformats.org/drawingml/2006/table">
            <a:tbl>
              <a:tblPr/>
              <a:tblGrid>
                <a:gridCol w="1394460"/>
                <a:gridCol w="1185291"/>
                <a:gridCol w="906399"/>
                <a:gridCol w="1045845"/>
                <a:gridCol w="2440305"/>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Weight</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Tracking</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101600" marR="1016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displayXL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96 / 104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Hero, 1024px+,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64 / 72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statement, caps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h1</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 / 56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0.02em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 / 40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0.01em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Section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h3</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 modal title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tagline</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eyebrow</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0.16em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 above heading</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Capital navigation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labelSmall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 16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0.08em</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 table headers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Running text (L12)</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caption</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 20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Help text, meta</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label</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24</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 500 PENDING</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labels, controls</a:t>
                      </a:r>
                      <a:endParaRPr lang="en-US" sz="1200" dirty="0">
                        <a:latin typeface="Inter" charset="0"/>
                        <a:ea typeface="Inter" charset="0"/>
                        <a:cs typeface="Inter" charset="0"/>
                      </a:endParaRPr>
                    </a:p>
                  </a:txBody>
                  <a:tcPr marL="101600" marR="1016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574750"/>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Body measure 45 to 75 characters (max-reading 70ch, L11).</a:t>
            </a:r>
            <a:endParaRPr lang="en-US" sz="1200" dirty="0"/>
          </a:p>
        </p:txBody>
      </p:sp>
      <p:sp>
        <p:nvSpPr>
          <p:cNvPr id="7" name="Text 4"/>
          <p:cNvSpPr/>
          <p:nvPr/>
        </p:nvSpPr>
        <p:spPr>
          <a:xfrm>
            <a:off x="8102600" y="2102991"/>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Left aligned (L13). Forced justification prohibited (L14).</a:t>
            </a:r>
            <a:endParaRPr lang="en-US" sz="1200" dirty="0"/>
          </a:p>
        </p:txBody>
      </p:sp>
      <p:sp>
        <p:nvSpPr>
          <p:cNvPr id="8" name="Text 5"/>
          <p:cNvSpPr/>
          <p:nvPr/>
        </p:nvSpPr>
        <p:spPr>
          <a:xfrm>
            <a:off x="8102600" y="2631232"/>
            <a:ext cx="337489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Sizes in CSS px. Body stays 16px at every width.</a:t>
            </a:r>
            <a:endParaRPr lang="en-US" sz="1200" dirty="0"/>
          </a:p>
        </p:txBody>
      </p:sp>
      <p:sp>
        <p:nvSpPr>
          <p:cNvPr id="10" name="Text 7"/>
          <p:cNvSpPr/>
          <p:nvPr/>
        </p:nvSpPr>
        <p:spPr>
          <a:xfrm>
            <a:off x="8102600" y="3159473"/>
            <a:ext cx="3374898" cy="6780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CURRENT IMPLEMENTATION: 400 for every row. 500: PENDING ACCEPTED FONT FILE.</a:t>
            </a:r>
            <a:endParaRPr lang="en-US" sz="1200" dirty="0"/>
          </a:p>
        </p:txBody>
      </p:sp>
      <p:sp>
        <p:nvSpPr>
          <p:cNvPr id="9"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03 · TYPOGRAPHY</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Tracking system (L09, L10)</a:t>
            </a:r>
            <a:endParaRPr lang="en-US" sz="3200" dirty="0"/>
          </a:p>
        </p:txBody>
      </p:sp>
      <p:sp>
        <p:nvSpPr>
          <p:cNvPr id="5" name="Text 3"/>
          <p:cNvSpPr/>
          <p:nvPr/>
        </p:nvSpPr>
        <p:spPr>
          <a:xfrm>
            <a:off x="812800" y="1777950"/>
            <a:ext cx="5886450" cy="528290"/>
          </a:xfrm>
          <a:prstGeom prst="rect">
            <a:avLst/>
          </a:prstGeom>
          <a:noFill/>
          <a:ln/>
        </p:spPr>
        <p:txBody>
          <a:bodyPr wrap="square" lIns="0" tIns="0" rIns="0" bIns="0" rtlCol="0" anchor="t">
            <a:normAutofit/>
          </a:bodyPr>
          <a:lstStyle/>
          <a:p>
            <a:pPr algn="l" indent="0" marL="0">
              <a:lnSpc>
                <a:spcPts val="3960"/>
              </a:lnSpc>
              <a:buNone/>
            </a:pPr>
            <a:r>
              <a:rPr lang="en-US" sz="3600" spc="450" kern="0" dirty="0">
                <a:solidFill>
                  <a:srgbClr val="12171D"/>
                </a:solidFill>
                <a:latin typeface="Jost" pitchFamily="34" charset="0"/>
                <a:ea typeface="Jost" pitchFamily="34" charset="-122"/>
                <a:cs typeface="Jost" pitchFamily="34" charset="-120"/>
              </a:rPr>
              <a:t>EVERY ARRIVAL</a:t>
            </a:r>
            <a:endParaRPr lang="en-US" sz="3600" dirty="0"/>
          </a:p>
        </p:txBody>
      </p:sp>
      <p:sp>
        <p:nvSpPr>
          <p:cNvPr id="6" name="Text 4"/>
          <p:cNvSpPr/>
          <p:nvPr/>
        </p:nvSpPr>
        <p:spPr>
          <a:xfrm>
            <a:off x="812800" y="240784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displayXL · 0.12em · CONDITIONAL</a:t>
            </a:r>
            <a:endParaRPr lang="en-US" sz="1200" dirty="0"/>
          </a:p>
        </p:txBody>
      </p:sp>
      <p:sp>
        <p:nvSpPr>
          <p:cNvPr id="7" name="Text 5"/>
          <p:cNvSpPr/>
          <p:nvPr/>
        </p:nvSpPr>
        <p:spPr>
          <a:xfrm>
            <a:off x="812800" y="2748161"/>
            <a:ext cx="5886450" cy="360660"/>
          </a:xfrm>
          <a:prstGeom prst="rect">
            <a:avLst/>
          </a:prstGeom>
          <a:noFill/>
          <a:ln/>
        </p:spPr>
        <p:txBody>
          <a:bodyPr wrap="square" lIns="0" tIns="0" rIns="0" bIns="0" rtlCol="0" anchor="t">
            <a:normAutofit/>
          </a:bodyPr>
          <a:lstStyle/>
          <a:p>
            <a:pPr algn="l" indent="0" marL="0">
              <a:lnSpc>
                <a:spcPts val="2640"/>
              </a:lnSpc>
              <a:buNone/>
            </a:pPr>
            <a:r>
              <a:rPr lang="en-US" sz="2400" spc="200" kern="0" dirty="0">
                <a:solidFill>
                  <a:srgbClr val="12171D"/>
                </a:solidFill>
                <a:latin typeface="Jost" pitchFamily="34" charset="0"/>
                <a:ea typeface="Jost" pitchFamily="34" charset="-122"/>
                <a:cs typeface="Jost" pitchFamily="34" charset="-120"/>
              </a:rPr>
              <a:t>EVERY ARRIVAL</a:t>
            </a:r>
            <a:endParaRPr lang="en-US" sz="2400" dirty="0"/>
          </a:p>
        </p:txBody>
      </p:sp>
      <p:sp>
        <p:nvSpPr>
          <p:cNvPr id="8" name="Text 6"/>
          <p:cNvSpPr/>
          <p:nvPr/>
        </p:nvSpPr>
        <p:spPr>
          <a:xfrm>
            <a:off x="812800" y="3210421"/>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display · 0.08em · CONDITIONAL</a:t>
            </a:r>
            <a:endParaRPr lang="en-US" sz="1200" dirty="0"/>
          </a:p>
        </p:txBody>
      </p:sp>
      <p:sp>
        <p:nvSpPr>
          <p:cNvPr id="9" name="Text 7"/>
          <p:cNvSpPr/>
          <p:nvPr/>
        </p:nvSpPr>
        <p:spPr>
          <a:xfrm>
            <a:off x="812800" y="3550741"/>
            <a:ext cx="5886450" cy="274290"/>
          </a:xfrm>
          <a:prstGeom prst="rect">
            <a:avLst/>
          </a:prstGeom>
          <a:noFill/>
          <a:ln/>
        </p:spPr>
        <p:txBody>
          <a:bodyPr wrap="square" lIns="0" tIns="0" rIns="0" bIns="0" rtlCol="0" anchor="t">
            <a:normAutofit/>
          </a:bodyPr>
          <a:lstStyle/>
          <a:p>
            <a:pPr algn="l" indent="0" marL="0">
              <a:lnSpc>
                <a:spcPts val="1960"/>
              </a:lnSpc>
              <a:buNone/>
            </a:pPr>
            <a:r>
              <a:rPr lang="en-US" sz="1400" spc="250" kern="0" dirty="0">
                <a:solidFill>
                  <a:srgbClr val="12171D"/>
                </a:solidFill>
                <a:latin typeface="Jost" pitchFamily="34" charset="0"/>
                <a:ea typeface="Jost" pitchFamily="34" charset="-122"/>
                <a:cs typeface="Jost" pitchFamily="34" charset="-120"/>
              </a:rPr>
              <a:t>EVERY ARRIVAL</a:t>
            </a:r>
            <a:endParaRPr lang="en-US" sz="1400" dirty="0"/>
          </a:p>
        </p:txBody>
      </p:sp>
      <p:sp>
        <p:nvSpPr>
          <p:cNvPr id="10" name="Text 8"/>
          <p:cNvSpPr/>
          <p:nvPr/>
        </p:nvSpPr>
        <p:spPr>
          <a:xfrm>
            <a:off x="812800" y="392663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tagline · 0.18em · APPROVED</a:t>
            </a:r>
            <a:endParaRPr lang="en-US" sz="1200" dirty="0"/>
          </a:p>
        </p:txBody>
      </p:sp>
      <p:sp>
        <p:nvSpPr>
          <p:cNvPr id="11" name="Text 9"/>
          <p:cNvSpPr/>
          <p:nvPr/>
        </p:nvSpPr>
        <p:spPr>
          <a:xfrm>
            <a:off x="812800" y="4266952"/>
            <a:ext cx="5886450" cy="345430"/>
          </a:xfrm>
          <a:prstGeom prst="rect">
            <a:avLst/>
          </a:prstGeom>
          <a:noFill/>
          <a:ln/>
        </p:spPr>
        <p:txBody>
          <a:bodyPr wrap="square" lIns="0" tIns="0" rIns="0" bIns="0" rtlCol="0" anchor="t">
            <a:normAutofit/>
          </a:bodyPr>
          <a:lstStyle/>
          <a:p>
            <a:pPr algn="l" indent="0" marL="0">
              <a:lnSpc>
                <a:spcPts val="2520"/>
              </a:lnSpc>
              <a:buNone/>
            </a:pPr>
            <a:r>
              <a:rPr lang="en-US" sz="1800" spc="50" kern="0" dirty="0">
                <a:solidFill>
                  <a:srgbClr val="12171D"/>
                </a:solidFill>
                <a:latin typeface="Jost" pitchFamily="34" charset="0"/>
                <a:ea typeface="Jost" pitchFamily="34" charset="-122"/>
                <a:cs typeface="Jost" pitchFamily="34" charset="-120"/>
              </a:rPr>
              <a:t>Every arrival</a:t>
            </a:r>
            <a:endParaRPr lang="en-US" sz="1800" dirty="0"/>
          </a:p>
        </p:txBody>
      </p:sp>
      <p:sp>
        <p:nvSpPr>
          <p:cNvPr id="12" name="Text 10"/>
          <p:cNvSpPr/>
          <p:nvPr/>
        </p:nvSpPr>
        <p:spPr>
          <a:xfrm>
            <a:off x="812800" y="4713982"/>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h1 0.02em · h2 0.01em · h3 0 · CONDITIONAL</a:t>
            </a:r>
            <a:endParaRPr lang="en-US" sz="1200" dirty="0"/>
          </a:p>
        </p:txBody>
      </p:sp>
      <p:sp>
        <p:nvSpPr>
          <p:cNvPr id="13" name="Shape 11"/>
          <p:cNvSpPr/>
          <p:nvPr/>
        </p:nvSpPr>
        <p:spPr>
          <a:xfrm>
            <a:off x="6835775" y="1777950"/>
            <a:ext cx="0" cy="3149352"/>
          </a:xfrm>
          <a:prstGeom prst="line">
            <a:avLst/>
          </a:prstGeom>
          <a:noFill/>
          <a:ln w="6350">
            <a:solidFill>
              <a:srgbClr val="BCACA7"/>
            </a:solidFill>
            <a:prstDash val="solid"/>
          </a:ln>
        </p:spPr>
        <p:txBody>
          <a:bodyPr/>
          <a:p/>
        </p:txBody>
      </p:sp>
      <p:sp>
        <p:nvSpPr>
          <p:cNvPr id="14" name="Text 12"/>
          <p:cNvSpPr/>
          <p:nvPr/>
        </p:nvSpPr>
        <p:spPr>
          <a:xfrm>
            <a:off x="7143750" y="1777950"/>
            <a:ext cx="436251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The generic 0.3 to 0.8em rule is retired, replaced by per-style tokens. All values CONDITIONAL until optical QA in templates and native PowerPoint (VAL-19).</a:t>
            </a:r>
            <a:endParaRPr lang="en-US" sz="1200" dirty="0"/>
          </a:p>
        </p:txBody>
      </p:sp>
      <p:sp>
        <p:nvSpPr>
          <p:cNvPr id="15" name="Text 13"/>
          <p:cNvSpPr/>
          <p:nvPr/>
        </p:nvSpPr>
        <p:spPr>
          <a:xfrm>
            <a:off x="7143750" y="2519511"/>
            <a:ext cx="436251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PowerPoint:</a:t>
            </a:r>
            <a:r>
              <a:rPr lang="en-US" sz="1200" dirty="0">
                <a:solidFill>
                  <a:srgbClr val="12171D"/>
                </a:solidFill>
                <a:latin typeface="Inter" pitchFamily="34" charset="0"/>
                <a:ea typeface="Inter" pitchFamily="34" charset="-122"/>
                <a:cs typeface="Inter" pitchFamily="34" charset="-120"/>
              </a:rPr>
              <a:t> Character Spacing › Expanded › By = em × font size in pt. Apply to the run; re-check after font substitution.</a:t>
            </a:r>
            <a:endParaRPr lang="en-US" sz="1200" dirty="0"/>
          </a:p>
        </p:txBody>
      </p:sp>
      <p:sp>
        <p:nvSpPr>
          <p:cNvPr id="16" name="Text 14"/>
          <p:cNvSpPr/>
          <p:nvPr/>
        </p:nvSpPr>
        <p:spPr>
          <a:xfrm>
            <a:off x="7143750" y="3261072"/>
            <a:ext cx="4362514" cy="23872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Always 0:</a:t>
            </a:r>
            <a:r>
              <a:rPr lang="en-US" sz="1200" dirty="0">
                <a:solidFill>
                  <a:srgbClr val="12171D"/>
                </a:solidFill>
                <a:latin typeface="Inter" pitchFamily="34" charset="0"/>
                <a:ea typeface="Inter" pitchFamily="34" charset="-122"/>
                <a:cs typeface="Inter" pitchFamily="34" charset="-120"/>
              </a:rPr>
              <a:t> body, caption, label and all Arabic (M05).</a:t>
            </a:r>
            <a:endParaRPr lang="en-US" sz="1200" dirty="0"/>
          </a:p>
        </p:txBody>
      </p:sp>
      <p:sp>
        <p:nvSpPr>
          <p:cNvPr id="17" name="Text 15"/>
          <p:cNvSpPr/>
          <p:nvPr/>
        </p:nvSpPr>
        <p:spPr>
          <a:xfrm>
            <a:off x="7143750" y="3575993"/>
            <a:ext cx="4362514" cy="91440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Prohibited: tracking on lowercase running text, on Arabic, below 12px, or to fit a word on a line. Navigation: product UI navigation is sentence case at tracking 0 (body or label tokens); navLabel tracked capitals are used only on editorial signature surfaces.</a:t>
            </a:r>
            <a:endParaRPr lang="en-US" sz="1200" dirty="0"/>
          </a:p>
        </p:txBody>
      </p:sp>
      <p:sp>
        <p:nvSpPr>
          <p:cNvPr id="18"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 · PENDING VALIDATION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Arabic hierarchy and RTL principles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4051300" cy="2661444"/>
        </p:xfrm>
        <a:graphic>
          <a:graphicData uri="http://schemas.openxmlformats.org/drawingml/2006/table">
            <a:tbl>
              <a:tblPr/>
              <a:tblGrid>
                <a:gridCol w="1944624"/>
                <a:gridCol w="1296416"/>
                <a:gridCol w="8102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 (M04)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Size / line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arabicDisplay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56 / 76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 / 60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30 / 46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arabicH3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 / 38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arabicBody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 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arabicCaption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 26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5194300" y="1790650"/>
          <a:ext cx="6184900" cy="3268444"/>
        </p:xfrm>
        <a:graphic>
          <a:graphicData uri="http://schemas.openxmlformats.org/drawingml/2006/table">
            <a:tbl>
              <a:tblPr/>
              <a:tblGrid>
                <a:gridCol w="5195316"/>
                <a:gridCol w="989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Decision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True RTL flow and dir="rtl" on the document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Mirror composition where semantically appropriate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Never mirror the GEM logo or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Latin tracking on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names translated case by case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M09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Arabic-Indic numerals for guest copy; Latin for codes, URLs, phones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Standardised codes stay LTR inside 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default: Arabic leads for approved Saudi/GCC contexts (Arabic first and right, English secondary and left); exceptions are documented deviations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38928"/>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 tracking 0, no italics, line-height at least 1.7, set larger than Latin to match x-height. Every Arabic string is a working layout string, PENDING LOCALIZATION APPROVAL; professional copyediting mandatory (M16).</a:t>
            </a:r>
            <a:endParaRPr lang="en-US" sz="1200" dirty="0"/>
          </a:p>
        </p:txBody>
      </p:sp>
      <p:sp>
        <p:nvSpPr>
          <p:cNvPr id="9" name="Text 5"/>
          <p:cNvSpPr/>
          <p:nvPr/>
        </p:nvSpPr>
        <p:spPr>
          <a:xfrm>
            <a:off x="812800" y="565000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Wt column = current implementation weight: 400 only. arabicH3 and arabicLabel carry 500 as FUTURE DESIGN INTENT; 500 PENDING ACCEPTED FONT FILE.</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12 · Not production-ready until native QA passes (M01, VAL-07).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ARABIC AND RTL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What mirrors, and mixed-language content</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328763"/>
        </p:xfrm>
        <a:graphic>
          <a:graphicData uri="http://schemas.openxmlformats.org/drawingml/2006/table">
            <a:tbl>
              <a:tblPr/>
              <a:tblGrid>
                <a:gridCol w="5276850"/>
                <a:gridCol w="527685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Mirrors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Does not mirror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order, columns, navigation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and symbol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alignment (start edge)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Clocks, play and media controls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and next glyphs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 calendar, language, check, plus, minus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 label and input alignment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URL, email, phone, batch codes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 column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Numbers inside a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322614"/>
            <a:ext cx="3488233" cy="118872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Implementation. Part B owns the mechanics of the Arabic-first default (S07, Part A slide 65): dir="rtl", logical properties only (margin-inline-start, text-align: start, inset-inline), bidi isolation. No left or right in component CSS. Fabrication follows Part C slide 41.</a:t>
            </a:r>
            <a:endParaRPr lang="en-US" sz="1200" dirty="0"/>
          </a:p>
        </p:txBody>
      </p:sp>
      <p:sp>
        <p:nvSpPr>
          <p:cNvPr id="7" name="Text 4"/>
          <p:cNvSpPr/>
          <p:nvPr/>
        </p:nvSpPr>
        <p:spPr>
          <a:xfrm>
            <a:off x="4402634" y="4322614"/>
            <a:ext cx="348828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Mixed language.</a:t>
            </a:r>
            <a:r>
              <a:rPr lang="en-US" sz="1200" dirty="0">
                <a:solidFill>
                  <a:srgbClr val="12171D"/>
                </a:solidFill>
                <a:latin typeface="Inter" pitchFamily="34" charset="0"/>
                <a:ea typeface="Inter" pitchFamily="34" charset="-122"/>
                <a:cs typeface="Inter" pitchFamily="34" charset="-120"/>
              </a:rPr>
              <a:t> Wrap embedded Latin in &lt;bdi&gt; or a dir="ltr" span. Codes like GEM-[PENDING] stay LTR and separated.</a:t>
            </a:r>
            <a:endParaRPr lang="en-US" sz="1200" dirty="0"/>
          </a:p>
        </p:txBody>
      </p:sp>
      <p:sp>
        <p:nvSpPr>
          <p:cNvPr id="8" name="Text 5"/>
          <p:cNvSpPr/>
          <p:nvPr/>
        </p:nvSpPr>
        <p:spPr>
          <a:xfrm>
            <a:off x="7992517" y="4322614"/>
            <a:ext cx="3488233"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Focus.</a:t>
            </a:r>
            <a:r>
              <a:rPr lang="en-US" sz="1200" dirty="0">
                <a:solidFill>
                  <a:srgbClr val="12171D"/>
                </a:solidFill>
                <a:latin typeface="Inter" pitchFamily="34" charset="0"/>
                <a:ea typeface="Inter" pitchFamily="34" charset="-122"/>
                <a:cs typeface="Inter" pitchFamily="34" charset="-120"/>
              </a:rPr>
              <a:t> Tab order follows reading order; Left and Right swap in tablists and date grids. The focus ring is symmetric.</a:t>
            </a:r>
            <a:endParaRPr lang="en-US" sz="1200" dirty="0"/>
          </a:p>
        </p:txBody>
      </p:sp>
      <p:sp>
        <p:nvSpPr>
          <p:cNvPr id="9" name="Text 6"/>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13 · Responsive RTL (Q18) PENDING VALIDATION; Arabic signed off or deferred (AC10).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Breakpoints (Q17, approved)</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a:tblGrid>
                <a:gridCol w="1371981"/>
                <a:gridCol w="1583055"/>
                <a:gridCol w="1055370"/>
                <a:gridCol w="949833"/>
                <a:gridCol w="949833"/>
                <a:gridCol w="464362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Band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Width</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Columns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Gutter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Margin</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Behaviour</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0–479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Nav collapses. Primary action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Mobile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480–719</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two-up only for glyph grids and image pairs.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720–1023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cards. Navigation may stay collapsed.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Desktop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1080px. Full 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 max 1280px, centred. Not a separate model.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Shape 3"/>
          <p:cNvSpPr/>
          <p:nvPr/>
        </p:nvSpPr>
        <p:spPr>
          <a:xfrm>
            <a:off x="812800" y="3989933"/>
            <a:ext cx="810667" cy="304800"/>
          </a:xfrm>
          <a:prstGeom prst="rect">
            <a:avLst/>
          </a:prstGeom>
          <a:solidFill>
            <a:srgbClr val="BCACA7"/>
          </a:solidFill>
          <a:ln/>
        </p:spPr>
        <p:txBody>
          <a:bodyPr/>
          <a:p/>
        </p:txBody>
      </p:sp>
      <p:sp>
        <p:nvSpPr>
          <p:cNvPr id="7" name="Shape 4"/>
          <p:cNvSpPr/>
          <p:nvPr/>
        </p:nvSpPr>
        <p:spPr>
          <a:xfrm>
            <a:off x="1699667" y="3989933"/>
            <a:ext cx="810716" cy="304800"/>
          </a:xfrm>
          <a:prstGeom prst="rect">
            <a:avLst/>
          </a:prstGeom>
          <a:solidFill>
            <a:srgbClr val="BCACA7"/>
          </a:solidFill>
          <a:ln/>
        </p:spPr>
        <p:txBody>
          <a:bodyPr/>
          <a:p/>
        </p:txBody>
      </p:sp>
      <p:sp>
        <p:nvSpPr>
          <p:cNvPr id="8" name="Shape 5"/>
          <p:cNvSpPr/>
          <p:nvPr/>
        </p:nvSpPr>
        <p:spPr>
          <a:xfrm>
            <a:off x="2586583" y="3989933"/>
            <a:ext cx="810667" cy="304800"/>
          </a:xfrm>
          <a:prstGeom prst="rect">
            <a:avLst/>
          </a:prstGeom>
          <a:solidFill>
            <a:srgbClr val="BCACA7"/>
          </a:solidFill>
          <a:ln/>
        </p:spPr>
        <p:txBody>
          <a:bodyPr/>
          <a:p/>
        </p:txBody>
      </p:sp>
      <p:sp>
        <p:nvSpPr>
          <p:cNvPr id="9" name="Shape 6"/>
          <p:cNvSpPr/>
          <p:nvPr/>
        </p:nvSpPr>
        <p:spPr>
          <a:xfrm>
            <a:off x="3473450" y="3989933"/>
            <a:ext cx="810716" cy="304800"/>
          </a:xfrm>
          <a:prstGeom prst="rect">
            <a:avLst/>
          </a:prstGeom>
          <a:solidFill>
            <a:srgbClr val="BCACA7"/>
          </a:solidFill>
          <a:ln/>
        </p:spPr>
        <p:txBody>
          <a:bodyPr/>
          <a:p/>
        </p:txBody>
      </p:sp>
      <p:sp>
        <p:nvSpPr>
          <p:cNvPr id="10" name="Shape 7"/>
          <p:cNvSpPr/>
          <p:nvPr/>
        </p:nvSpPr>
        <p:spPr>
          <a:xfrm>
            <a:off x="4360366" y="3989933"/>
            <a:ext cx="810667" cy="304800"/>
          </a:xfrm>
          <a:prstGeom prst="rect">
            <a:avLst/>
          </a:prstGeom>
          <a:solidFill>
            <a:srgbClr val="BCACA7"/>
          </a:solidFill>
          <a:ln/>
        </p:spPr>
        <p:txBody>
          <a:bodyPr/>
          <a:p/>
        </p:txBody>
      </p:sp>
      <p:sp>
        <p:nvSpPr>
          <p:cNvPr id="11" name="Shape 8"/>
          <p:cNvSpPr/>
          <p:nvPr/>
        </p:nvSpPr>
        <p:spPr>
          <a:xfrm>
            <a:off x="5247233" y="3989933"/>
            <a:ext cx="810716" cy="304800"/>
          </a:xfrm>
          <a:prstGeom prst="rect">
            <a:avLst/>
          </a:prstGeom>
          <a:solidFill>
            <a:srgbClr val="BCACA7"/>
          </a:solidFill>
          <a:ln/>
        </p:spPr>
        <p:txBody>
          <a:bodyPr/>
          <a:p/>
        </p:txBody>
      </p:sp>
      <p:sp>
        <p:nvSpPr>
          <p:cNvPr id="12" name="Shape 9"/>
          <p:cNvSpPr/>
          <p:nvPr/>
        </p:nvSpPr>
        <p:spPr>
          <a:xfrm>
            <a:off x="6134150" y="3989933"/>
            <a:ext cx="810667" cy="304800"/>
          </a:xfrm>
          <a:prstGeom prst="rect">
            <a:avLst/>
          </a:prstGeom>
          <a:solidFill>
            <a:srgbClr val="BCACA7"/>
          </a:solidFill>
          <a:ln/>
        </p:spPr>
        <p:txBody>
          <a:bodyPr/>
          <a:p/>
        </p:txBody>
      </p:sp>
      <p:sp>
        <p:nvSpPr>
          <p:cNvPr id="13" name="Shape 10"/>
          <p:cNvSpPr/>
          <p:nvPr/>
        </p:nvSpPr>
        <p:spPr>
          <a:xfrm>
            <a:off x="7021016" y="3989933"/>
            <a:ext cx="810716" cy="304800"/>
          </a:xfrm>
          <a:prstGeom prst="rect">
            <a:avLst/>
          </a:prstGeom>
          <a:solidFill>
            <a:srgbClr val="BCACA7"/>
          </a:solidFill>
          <a:ln/>
        </p:spPr>
        <p:txBody>
          <a:bodyPr/>
          <a:p/>
        </p:txBody>
      </p:sp>
      <p:sp>
        <p:nvSpPr>
          <p:cNvPr id="14" name="Shape 11"/>
          <p:cNvSpPr/>
          <p:nvPr/>
        </p:nvSpPr>
        <p:spPr>
          <a:xfrm>
            <a:off x="7907933" y="3989933"/>
            <a:ext cx="810667" cy="304800"/>
          </a:xfrm>
          <a:prstGeom prst="rect">
            <a:avLst/>
          </a:prstGeom>
          <a:solidFill>
            <a:srgbClr val="BCACA7"/>
          </a:solidFill>
          <a:ln/>
        </p:spPr>
        <p:txBody>
          <a:bodyPr/>
          <a:p/>
        </p:txBody>
      </p:sp>
      <p:sp>
        <p:nvSpPr>
          <p:cNvPr id="15" name="Shape 12"/>
          <p:cNvSpPr/>
          <p:nvPr/>
        </p:nvSpPr>
        <p:spPr>
          <a:xfrm>
            <a:off x="8794800" y="3989933"/>
            <a:ext cx="810667" cy="304800"/>
          </a:xfrm>
          <a:prstGeom prst="rect">
            <a:avLst/>
          </a:prstGeom>
          <a:solidFill>
            <a:srgbClr val="BCACA7"/>
          </a:solidFill>
          <a:ln/>
        </p:spPr>
        <p:txBody>
          <a:bodyPr/>
          <a:p/>
        </p:txBody>
      </p:sp>
      <p:sp>
        <p:nvSpPr>
          <p:cNvPr id="16" name="Shape 13"/>
          <p:cNvSpPr/>
          <p:nvPr/>
        </p:nvSpPr>
        <p:spPr>
          <a:xfrm>
            <a:off x="9681666" y="3989933"/>
            <a:ext cx="810667" cy="304800"/>
          </a:xfrm>
          <a:prstGeom prst="rect">
            <a:avLst/>
          </a:prstGeom>
          <a:solidFill>
            <a:srgbClr val="BCACA7"/>
          </a:solidFill>
          <a:ln/>
        </p:spPr>
        <p:txBody>
          <a:bodyPr/>
          <a:p/>
        </p:txBody>
      </p:sp>
      <p:sp>
        <p:nvSpPr>
          <p:cNvPr id="17" name="Shape 14"/>
          <p:cNvSpPr/>
          <p:nvPr/>
        </p:nvSpPr>
        <p:spPr>
          <a:xfrm>
            <a:off x="10568533" y="3989933"/>
            <a:ext cx="810667" cy="304800"/>
          </a:xfrm>
          <a:prstGeom prst="rect">
            <a:avLst/>
          </a:prstGeom>
          <a:solidFill>
            <a:srgbClr val="BCACA7"/>
          </a:solidFill>
          <a:ln/>
        </p:spPr>
        <p:txBody>
          <a:bodyPr/>
          <a:p/>
        </p:txBody>
      </p:sp>
      <p:sp>
        <p:nvSpPr>
          <p:cNvPr id="18" name="Text 15"/>
          <p:cNvSpPr/>
          <p:nvPr/>
        </p:nvSpPr>
        <p:spPr>
          <a:xfrm>
            <a:off x="812800" y="449793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Columns, gutters, margins and max widths are CONDITIONAL until validated in templates. Type scaling (CONDITIONAL): Display XL 96 at 1024px+; step-downs 64 at 720px, 48 at 480px, 40 at Compact. Body stays 16px.</a:t>
            </a:r>
            <a:endParaRPr lang="en-US" sz="1200" dirty="0"/>
          </a:p>
        </p:txBody>
      </p:sp>
      <p:sp>
        <p:nvSpPr>
          <p:cNvPr id="19" name="Text 1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14 · Desktop 12-column grid, 24px gutter.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04 · LAYOUT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Behaviour by component family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661444"/>
        </p:xfrm>
        <a:graphic>
          <a:graphicData uri="http://schemas.openxmlformats.org/drawingml/2006/table">
            <a:tbl>
              <a:tblPr/>
              <a:tblGrid>
                <a:gridCol w="1477518"/>
                <a:gridCol w="3799332"/>
                <a:gridCol w="2638425"/>
                <a:gridCol w="2638425"/>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Compact and Mobile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Tablet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Desktop and Wide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column, margins 16 or 24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8-column grid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columns, max 1080/1280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steps down; body 16px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64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XL 96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Stacked, full width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Three- or four-up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 44px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Collapsed or inline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Inline, primary visible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width minus 24px; actions 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Centred, max 440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Forms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Single column, labels above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Optional two-up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Two-up for paired fields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Scroll in a labelled region, or restack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Horizontal scroll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Reflow at 320 CSS px and 400% zoom without two-direction scrolling (WCAG 1.4.10). Never fix heights on text. Remove content before reducing space. Align to the start edge; trim trailing tracking when centring capitals.</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15 · Image ratios (CONDITIONAL): 3:2 rooms, 4:5 products, 16:9 hero.</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ACCESSIBILITY · WCAG 2.2 AA (K08, V01)</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Requirements and where they live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a:tblGrid>
                <a:gridCol w="1740154"/>
                <a:gridCol w="3377946"/>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4.5:1; large text, UI 3:1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by colour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 weight or glyph (V10)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Target size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 × 44 CSS px (V12)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2px ring, 2px offset (V08)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operable, no traps (V09)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aria-current="page"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aria-selected / aria-pressed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Invalid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aria-invalid + describedby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role=alert; else role=status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aria-busy, no invented time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a:tblGrid>
                <a:gridCol w="1740154"/>
                <a:gridCol w="3377946"/>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Dialogs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in, trapped, Esc, returns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Disabled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aria-disabled, reason in text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Tables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 scope, caption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Descriptive; announce new window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Alt text (V02); decor hidden (V03)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0ms (V11)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 on document and runs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DOM, also RTL (V05,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in text; native required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Matches visual reading order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511507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Per release: axe-core, keyboard-only, screen reader in English and Arabic, 400% zoom, 320px reflow, reduced motion, forced colours. Official PDFs tagged (V13); signage legibility-tested (V15).</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16 · Implementation QA in progress (VAL-08); exceptions need approval (K09).</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MOTION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Motion tokens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845300" cy="3540125"/>
        </p:xfrm>
        <a:graphic>
          <a:graphicData uri="http://schemas.openxmlformats.org/drawingml/2006/table">
            <a:tbl>
              <a:tblPr/>
              <a:tblGrid>
                <a:gridCol w="2190496"/>
                <a:gridCol w="1916684"/>
                <a:gridCol w="273812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duration-instant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under 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duration-hover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Hover colour change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 appearing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duration-reveal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1500ms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 mark reveal (P02)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reveal-ring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900ms from 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Ring draws 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reveal-spark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200ms from 900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Spark flashes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reveal-quarter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400ms from 1100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Quarter fills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easing-out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cubic-bezier(0.22, 0.61, 0.36, 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Only easing; reversed for exits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7975600" y="1777950"/>
            <a:ext cx="35057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All APPROVED except * CONDITIONAL.</a:t>
            </a:r>
            <a:endParaRPr lang="en-US" sz="1200" dirty="0"/>
          </a:p>
        </p:txBody>
      </p:sp>
      <p:sp>
        <p:nvSpPr>
          <p:cNvPr id="7" name="Text 4"/>
          <p:cNvSpPr/>
          <p:nvPr/>
        </p:nvSpPr>
        <p:spPr>
          <a:xfrm>
            <a:off x="7975600" y="2092871"/>
            <a:ext cx="3505708"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No bounce, elastic, overshoot, parallax or autoplay loops. Motion explains a change, never decorates. UI controls animate opacity and colour only.</a:t>
            </a:r>
            <a:endParaRPr lang="en-US" sz="1200" dirty="0"/>
          </a:p>
        </p:txBody>
      </p:sp>
      <p:sp>
        <p:nvSpPr>
          <p:cNvPr id="8" name="Text 5"/>
          <p:cNvSpPr/>
          <p:nvPr/>
        </p:nvSpPr>
        <p:spPr>
          <a:xfrm>
            <a:off x="7975600" y="3047752"/>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 every duration to 0; keep the state change, drop the movement.</a:t>
            </a:r>
            <a:endParaRPr lang="en-US" sz="1200" dirty="0"/>
          </a:p>
        </p:txBody>
      </p:sp>
      <p:sp>
        <p:nvSpPr>
          <p:cNvPr id="9" name="Text 6"/>
          <p:cNvSpPr/>
          <p:nvPr/>
        </p:nvSpPr>
        <p:spPr>
          <a:xfrm>
            <a:off x="7975600" y="3575993"/>
            <a:ext cx="35057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 PENDING VALIDATION (VAL-14).</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GLYPHS (Z11)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Functional Glyph System</a:t>
            </a:r>
            <a:endParaRPr lang="en-US" sz="3200" dirty="0"/>
          </a:p>
        </p:txBody>
      </p:sp>
      <p:sp>
        <p:nvSpPr>
          <p:cNvPr id="5" name="Text 3"/>
          <p:cNvSpPr/>
          <p:nvPr/>
        </p:nvSpPr>
        <p:spPr>
          <a:xfrm>
            <a:off x="812800" y="1777950"/>
            <a:ext cx="10464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27 outline glyphs: 24px optical box, 2px stroke, square caps, miter joins, ink only (currentColor). Sizes 16, 20, 24, 32. No fills, gradients or two-tone. A glyph never replaces a text label on its own.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420491"/>
          <a:ext cx="10553700" cy="1876723"/>
        </p:xfrm>
        <a:graphic>
          <a:graphicData uri="http://schemas.openxmlformats.org/drawingml/2006/table">
            <a:tbl>
              <a:tblPr/>
              <a:tblGrid>
                <a:gridCol w="1899666"/>
                <a:gridCol w="5910072"/>
                <a:gridCol w="2743962"/>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 previous, next, expand, collapse, check, plus, minus, calendar, search, download, external, language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 (VAL-13)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Contact, guest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 phone, email, guest, bed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wifi, dining, spa, pool, fitness, transport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 warning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4500414"/>
            <a:ext cx="3488233" cy="100584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Optics.</a:t>
            </a:r>
            <a:r>
              <a:rPr lang="en-US" sz="1200" dirty="0">
                <a:solidFill>
                  <a:srgbClr val="12171D"/>
                </a:solidFill>
                <a:latin typeface="Inter" pitchFamily="34" charset="0"/>
                <a:ea typeface="Inter" pitchFamily="34" charset="-122"/>
                <a:cs typeface="Inter" pitchFamily="34" charset="-120"/>
              </a:rPr>
              <a:t> Shapes sit 2px inside the box; round shapes overshoot 0.5px. Never scale to change the stroke.</a:t>
            </a:r>
            <a:endParaRPr lang="en-US" sz="1200" dirty="0"/>
          </a:p>
        </p:txBody>
      </p:sp>
      <p:sp>
        <p:nvSpPr>
          <p:cNvPr id="8" name="Text 5"/>
          <p:cNvSpPr/>
          <p:nvPr/>
        </p:nvSpPr>
        <p:spPr>
          <a:xfrm>
            <a:off x="4402634" y="4500414"/>
            <a:ext cx="3488284" cy="100584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Accessibility.</a:t>
            </a:r>
            <a:r>
              <a:rPr lang="en-US" sz="1200" dirty="0">
                <a:solidFill>
                  <a:srgbClr val="12171D"/>
                </a:solidFill>
                <a:latin typeface="Inter" pitchFamily="34" charset="0"/>
                <a:ea typeface="Inter" pitchFamily="34" charset="-122"/>
                <a:cs typeface="Inter" pitchFamily="34" charset="-120"/>
              </a:rPr>
              <a:t> Decorative glyphs aria-hidden; standalone glyphs get a label. Targets 44px.</a:t>
            </a:r>
            <a:endParaRPr lang="en-US" sz="1200" dirty="0"/>
          </a:p>
        </p:txBody>
      </p:sp>
      <p:sp>
        <p:nvSpPr>
          <p:cNvPr id="9" name="Text 6"/>
          <p:cNvSpPr/>
          <p:nvPr/>
        </p:nvSpPr>
        <p:spPr>
          <a:xfrm>
            <a:off x="7992517" y="4500414"/>
            <a:ext cx="3488233" cy="1005840"/>
          </a:xfrm>
          <a:prstGeom prst="rect">
            <a:avLst/>
          </a:prstGeom>
          <a:noFill/>
          <a:ln/>
        </p:spPr>
        <p:txBody>
          <a:bodyPr wrap="square" lIns="0" tIns="0" rIns="0" bIns="0" rtlCol="0" anchor="t"/>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RTL. Only previous and next mirror. SVGs are working geometry, not supplier artwork (DS05). The warning glyph is PENDING VALIDATION and is used only inside Field error and Alert text until functional colour is decided (Q10); Alert has no warning variant.</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Voice and feedback hierarchy</a:t>
            </a:r>
            <a:endParaRPr lang="en-US" sz="3200" dirty="0"/>
          </a:p>
        </p:txBody>
      </p:sp>
      <p:sp>
        <p:nvSpPr>
          <p:cNvPr id="5" name="Text 3"/>
          <p:cNvSpPr/>
          <p:nvPr/>
        </p:nvSpPr>
        <p:spPr>
          <a:xfrm>
            <a:off x="8128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Voice (G01–G10).</a:t>
            </a:r>
            <a:r>
              <a:rPr lang="en-US" sz="1200" dirty="0">
                <a:solidFill>
                  <a:srgbClr val="12171D"/>
                </a:solidFill>
                <a:latin typeface="Inter" pitchFamily="34" charset="0"/>
                <a:ea typeface="Inter" pitchFamily="34" charset="-122"/>
                <a:cs typeface="Inter" pitchFamily="34" charset="-120"/>
              </a:rPr>
              <a:t> Measured. Warm, not effusive. Quietly confident. Short sentences. State rather than sell. No exclamation marks, no unsupported superlatives.</a:t>
            </a:r>
            <a:endParaRPr lang="en-US" sz="1200" dirty="0"/>
          </a:p>
        </p:txBody>
      </p:sp>
      <p:sp>
        <p:nvSpPr>
          <p:cNvPr id="6" name="Text 4"/>
          <p:cNvSpPr/>
          <p:nvPr/>
        </p:nvSpPr>
        <p:spPr>
          <a:xfrm>
            <a:off x="6248400" y="1777950"/>
            <a:ext cx="5284724"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r>
              <a:rPr lang="en-US" sz="1200" dirty="0">
                <a:solidFill>
                  <a:srgbClr val="12171D"/>
                </a:solidFill>
                <a:latin typeface="Inter" pitchFamily="34" charset="0"/>
                <a:ea typeface="Inter" pitchFamily="34" charset="-122"/>
                <a:cs typeface="Inter" pitchFamily="34" charset="-120"/>
              </a:rPr>
              <a:t> arrival, stay, proportion, composed, measured, quiet, exact, welcome, crafted.</a:t>
            </a:r>
            <a:endParaRPr lang="en-US" sz="1200" dirty="0"/>
          </a:p>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Avoid:</a:t>
            </a:r>
            <a:r>
              <a:rPr lang="en-US" sz="1200" dirty="0">
                <a:solidFill>
                  <a:srgbClr val="12171D"/>
                </a:solidFill>
                <a:latin typeface="Inter" pitchFamily="34" charset="0"/>
                <a:ea typeface="Inter" pitchFamily="34" charset="-122"/>
                <a:cs typeface="Inter" pitchFamily="34" charset="-120"/>
              </a:rPr>
              <a:t> luxurious, world-class, indulge, oasis, escape, pamper, unforgettable, best.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847132"/>
          <a:ext cx="10553700" cy="1663402"/>
        </p:xfrm>
        <a:graphic>
          <a:graphicData uri="http://schemas.openxmlformats.org/drawingml/2006/table">
            <a:tbl>
              <a:tblPr/>
              <a:tblGrid>
                <a:gridCol w="2110740"/>
                <a:gridCol w="3377184"/>
                <a:gridCol w="5065776"/>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1. State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2. Title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3.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ERROR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Availability has changed.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your 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LOADING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Checking availability…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estimated completion time is available.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INFORMATION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received.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We'll confirm the delivery time here.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Field errors state the fix.</a:t>
            </a:r>
            <a:r>
              <a:rPr lang="en-US" sz="1200" dirty="0">
                <a:solidFill>
                  <a:srgbClr val="12171D"/>
                </a:solidFill>
                <a:latin typeface="Inter" pitchFamily="34" charset="0"/>
                <a:ea typeface="Inter" pitchFamily="34" charset="-122"/>
                <a:cs typeface="Inter" pitchFamily="34" charset="-120"/>
              </a:rPr>
              <a:t> "Invalid date" → Choose an arrival date before the departure date.</a:t>
            </a:r>
            <a:endParaRPr lang="en-US" sz="1200" dirty="0"/>
          </a:p>
        </p:txBody>
      </p:sp>
      <p:sp>
        <p:nvSpPr>
          <p:cNvPr id="9" name="Text 6"/>
          <p:cNvSpPr/>
          <p:nvPr/>
        </p:nvSpPr>
        <p:spPr>
          <a:xfrm>
            <a:off x="6248400" y="4713734"/>
            <a:ext cx="5284724"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Buttons and links.</a:t>
            </a:r>
            <a:r>
              <a:rPr lang="en-US" sz="1200" dirty="0">
                <a:solidFill>
                  <a:srgbClr val="12171D"/>
                </a:solidFill>
                <a:latin typeface="Inter" pitchFamily="34" charset="0"/>
                <a:ea typeface="Inter" pitchFamily="34" charset="-122"/>
                <a:cs typeface="Inter" pitchFamily="34" charset="-120"/>
              </a:rPr>
              <a:t> Sentence case, outcome verbs, one primary per view. Never "Click here".</a:t>
            </a:r>
            <a:endParaRPr lang="en-US" sz="1200" dirty="0"/>
          </a:p>
        </p:txBody>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19 · Arabic is written for Arabic, not translated word for word (G18).</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UX WRITING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Examples by journey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a:tblGrid>
                <a:gridCol w="1794129"/>
                <a:gridCol w="5593461"/>
                <a:gridCol w="31661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Context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Example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Note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booking · Choose your dates · Keep dates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Verbs naming the 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room name] · [Size], [Bed type], [Occupancy]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Facts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 a table · [Venue] · Seating for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availability promise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We're sorry the room wasn't ready. We have noted it and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compensation stated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samples · Core collection · Property edition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product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B2B inquiry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Tell us about your property or project. We'll reply to [email].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response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 a quotation · Quotation reference: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price until supplied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Delivery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Replenishment programme: [TO BE VERIFIED]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MOQ, schedule or lead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20 · Prohibited: claims such as best, leading, world-class (F01, F02) and unevidenced claims (F03–F08).</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05 · LOCALIZATION</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Locale tokens and date picker</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448300" cy="2328763"/>
        </p:xfrm>
        <a:graphic>
          <a:graphicData uri="http://schemas.openxmlformats.org/drawingml/2006/table">
            <a:tbl>
              <a:tblPr/>
              <a:tblGrid>
                <a:gridCol w="2397252"/>
                <a:gridCol w="980694"/>
                <a:gridCol w="207035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Token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locale-source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locale-arabic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ar-SA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numerals-technical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numerals-guestArabic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calendar-default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currency-format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 Lead; no price invented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6683756" y="1777950"/>
            <a:ext cx="4831842" cy="2034183"/>
          </a:xfrm>
          <a:prstGeom prst="rect">
            <a:avLst/>
          </a:prstGeom>
          <a:noFill/>
          <a:ln/>
        </p:spPr>
        <p:txBody>
          <a:bodyPr wrap="square" lIns="0" tIns="0" rIns="0" bIns="0" rtlCol="0" anchor="t">
            <a:normAutofit/>
          </a:bodyPr>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Format with Intl.DateTimeFormat and Intl.NumberFormat; never concatenate.</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Week start from Intl.Locale weekInfo; never hardcoded.</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Latin digits for SKUs, codes, URLs and phones (M11, M12).</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Allow 30–40% text expansion; no fixed label widths.</a:t>
            </a:r>
            <a:endParaRPr lang="en-US" sz="1200" dirty="0"/>
          </a:p>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Hijri display: [REQUIRES OWNER: Arabic / Localization Lead].</a:t>
            </a:r>
            <a:endParaRPr lang="en-US" sz="1200" dirty="0"/>
          </a:p>
        </p:txBody>
      </p:sp>
      <p:sp>
        <p:nvSpPr>
          <p:cNvPr id="7" name="Text 4"/>
          <p:cNvSpPr/>
          <p:nvPr/>
        </p:nvSpPr>
        <p:spPr>
          <a:xfrm>
            <a:off x="812800" y="4434840"/>
            <a:ext cx="10883392"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DatePicker.</a:t>
            </a:r>
            <a:r>
              <a:rPr lang="en-US" sz="1200" dirty="0">
                <a:solidFill>
                  <a:srgbClr val="12171D"/>
                </a:solidFill>
                <a:latin typeface="Inter" pitchFamily="34" charset="0"/>
                <a:ea typeface="Inter" pitchFamily="34" charset="-122"/>
                <a:cs typeface="Inter" pitchFamily="34" charset="-120"/>
              </a:rPr>
              <a:t> Props: locale, mode (single or range), ISO value, min, max, isUnavailable, firstDay, showText. A text summary states the selection; selected cells have a 2px border; unavailable dates are struck through with text in the name; arrows swap in RTL; range filled BEIGE with INK text (8.2:1).</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21 · Do not release Arabic before AC10 is resolved.</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1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Alert to Link</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661444"/>
        </p:xfrm>
        <a:graphic>
          <a:graphicData uri="http://schemas.openxmlformats.org/drawingml/2006/table">
            <a:tbl>
              <a:tblPr/>
              <a:tblGrid>
                <a:gridCol w="1842516"/>
                <a:gridCol w="3275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title, actionable sentence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action; one primary per 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Checkbox</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Independent yes or no choices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DatePicker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date or a range, by locale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Reveals terms or product care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EmptyState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Explains empty; offers next step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Collects one short text value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661444"/>
        </p:xfrm>
        <a:graphic>
          <a:graphicData uri="http://schemas.openxmlformats.org/drawingml/2006/table">
            <a:tbl>
              <a:tblPr/>
              <a:tblGrid>
                <a:gridCol w="1842516"/>
                <a:gridCol w="3275584"/>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FilterChip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An applied, removable filter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functional glyph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IconButton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Compact glyph control, named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LanguageSelector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language and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Navigates; underlined, 400, ink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Modal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 decision that blocks the page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Moves between sections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65529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26 components in components/, exposed as window.GEM (React 18), typed in index.d.ts. Each README: Purpose, Anatomy, Tokens, Variants, States, Content, Accessibility, Responsive, RTL, Do/Don't, Code.</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 · 2 OF 2</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Component index: ProductCard to ToggleButton</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5118100" cy="2328763"/>
        </p:xfrm>
        <a:graphic>
          <a:graphicData uri="http://schemas.openxmlformats.org/drawingml/2006/table">
            <a:tbl>
              <a:tblPr/>
              <a:tblGrid>
                <a:gridCol w="2047240"/>
                <a:gridCol w="30708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SKU in approved 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Progress without implying time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QuantityStepper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Guests, rooms, units,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RadioGroup</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Exactly one from a short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room, verified facts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SearchField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Finds content or products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790650"/>
          <a:ext cx="5118100" cy="2328763"/>
        </p:xfrm>
        <a:graphic>
          <a:graphicData uri="http://schemas.openxmlformats.org/drawingml/2006/table">
            <a:tbl>
              <a:tblPr/>
              <a:tblGrid>
                <a:gridCol w="2047240"/>
                <a:gridCol w="30708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Purpose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Select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from a short fixed list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SpecificationTable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spec as a real table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Approval status of an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Tabs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Switches views in place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Textarea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Free text: brief or note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ToggleButton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choice on or off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4322614"/>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Tokens and behaviour APPROVED in principle; implementation CONDITIONAL on VAL-13 and VAL-20. Every preview shows English and Arabic, the Arabic flagged PENDING LOCALIZATION APPROVAL.</a:t>
            </a:r>
            <a:endParaRPr lang="en-US" sz="1200" dirty="0"/>
          </a:p>
        </p:txBody>
      </p:sp>
      <p:sp>
        <p:nvSpPr>
          <p:cNvPr id="8"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06 · COMPONENTS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Evaluation matrix</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94124"/>
        </p:xfrm>
        <a:graphic>
          <a:graphicData uri="http://schemas.openxmlformats.org/drawingml/2006/table">
            <a:tbl>
              <a:tblPr/>
              <a:tblGrid>
                <a:gridCol w="2743962"/>
                <a:gridCol w="780973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Semantic tokens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automated scan, no raw colour variables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44px minimum targets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in all previews; checkbox and radio rows are the 44px target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Focus ring light/dark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by token; dark surfaces use gem-dark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Keyboard operation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Scripted for Tabs, DatePicker, aria-disabled Button; screen reader PENDING (VAL-08)</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RTL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Logical properties, dir="rtl" previews; native QA PENDING (VAL-07)</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Reduced motion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Transitions removed under the media query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colour alone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State label, border weight, glyph and text on every state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Console and axe-core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 errors or violations; known harness notes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987975"/>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"Tested" means a local render harness (Chromium, axe-core 4, scripted keyboard), not an independent QA team. </a:t>
            </a:r>
            <a:r>
              <a:rPr lang="en-US" sz="1200" b="0" dirty="0">
                <a:solidFill>
                  <a:srgbClr val="12171D"/>
                </a:solidFill>
                <a:latin typeface="Inter" pitchFamily="34" charset="0"/>
                <a:ea typeface="Inter" pitchFamily="34" charset="-122"/>
                <a:cs typeface="Inter" pitchFamily="34" charset="-120"/>
              </a:rPr>
              <a:t>Not yet included:</a:t>
            </a:r>
            <a:r>
              <a:rPr lang="en-US" sz="1200" dirty="0">
                <a:solidFill>
                  <a:srgbClr val="12171D"/>
                </a:solidFill>
                <a:latin typeface="Inter" pitchFamily="34" charset="0"/>
                <a:ea typeface="Inter" pitchFamily="34" charset="-122"/>
                <a:cs typeface="Inter" pitchFamily="34" charset="-120"/>
              </a:rPr>
              <a:t> destructive button, toast, tooltip, popover, sortable table, file upload, carousel, date-time picker, full dark theme.</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Hospitality patterns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6972300" cy="2994124"/>
        </p:xfrm>
        <a:graphic>
          <a:graphicData uri="http://schemas.openxmlformats.org/drawingml/2006/table">
            <a:tbl>
              <a:tblPr/>
              <a:tblGrid>
                <a:gridCol w="2091690"/>
                <a:gridCol w="488061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Pattern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Components · status</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Booking flow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Field, Select, DatePicker, Stepper, Button · CONDITIONAL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selection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RoomCard, SpecificationTable, Tabs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Confirmation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(CONFIRMED), table, Link · [booking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Concierge, arrival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Field, Button, Disclosure ·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Dining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Navigation, Tabs, Field, DatePicker · pricing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Service recovery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Alert, Button · [action] from the property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Email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scale, Button, Link · Arial or system-ui fallback · email template: OPEN DELIVERABLE (R13, AB11)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PowerPoint master: OPEN DELIVERABLE (W01, AB10), not yet produced · native QA PENDING (VAL-15)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02600" y="1777950"/>
            <a:ext cx="3374898"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Page anatomy</a:t>
            </a:r>
            <a:endParaRPr lang="en-US" sz="1600" dirty="0"/>
          </a:p>
        </p:txBody>
      </p:sp>
      <p:sp>
        <p:nvSpPr>
          <p:cNvPr id="7" name="Text 4"/>
          <p:cNvSpPr/>
          <p:nvPr/>
        </p:nvSpPr>
        <p:spPr>
          <a:xfrm>
            <a:off x="8175923" y="2097980"/>
            <a:ext cx="3293955" cy="1945283"/>
          </a:xfrm>
          <a:prstGeom prst="rect">
            <a:avLst/>
          </a:prstGeom>
          <a:noFill/>
          <a:ln/>
        </p:spPr>
        <p:txBody>
          <a:bodyPr wrap="square" lIns="0" tIns="0" rIns="0" bIns="0" rtlCol="0" anchor="t">
            <a:normAutofit/>
          </a:bodyPr>
          <a:lstStyle/>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Header: logo (min 120px, H10), navigation, language</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Content band: eyebrow, heading, one sentence, one action</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One oversized ring or quarter cropped off the edge; never touching the logo; one spark at most</a:t>
            </a:r>
            <a:endParaRPr lang="en-US" sz="1200" dirty="0"/>
          </a:p>
          <a:p>
            <a:pPr algn="l" marL="180677" indent="-180677">
              <a:lnSpc>
                <a:spcPts val="168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Footer: language, legal [PENDING], contact [REQUIRES OWNER]</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25 · Vehicle livery Deferred (R17). Principle → specimen → rule → application.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BOOKING FLOW · CONCEPT / IMPLEMENTATION TEST</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Booking flow: five steps, one primary action each</a:t>
            </a:r>
            <a:endParaRPr lang="en-US" sz="3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26 · Vehicle livery Deferred (R17). Principle → specimen → rule → application.</a:t>
            </a:r>
            <a:endParaRPr lang="en-US" sz="1200" dirty="0"/>
          </a:p>
        </p:txBody>
      </p:sp>
      <p:sp>
        <p:nvSpPr>
          <p:cNvPr id="9" name="Flow box 1"/>
          <p:cNvSpPr/>
          <p:nvPr/>
        </p:nvSpPr>
        <p:spPr>
          <a:xfrm>
            <a:off x="813816"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1 · Search / availability</a:t>
            </a:r>
          </a:p>
          <a:p>
            <a:r>
              <a:rPr sz="950">
                <a:solidFill>
                  <a:srgbClr val="12171D"/>
                </a:solidFill>
                <a:latin typeface="Inter"/>
              </a:rPr>
              <a:t>Field (property), DatePicker trigger, QuantityStepper summary, Button "Check availability" (primary)</a:t>
            </a:r>
          </a:p>
        </p:txBody>
      </p:sp>
      <p:sp>
        <p:nvSpPr>
          <p:cNvPr id="10" name="Flow arrow 1"/>
          <p:cNvSpPr/>
          <p:nvPr/>
        </p:nvSpPr>
        <p:spPr>
          <a:xfrm>
            <a:off x="2825496"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low box 2"/>
          <p:cNvSpPr/>
          <p:nvPr/>
        </p:nvSpPr>
        <p:spPr>
          <a:xfrm>
            <a:off x="2953512"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2 · Dates</a:t>
            </a:r>
          </a:p>
          <a:p>
            <a:r>
              <a:rPr sz="950">
                <a:solidFill>
                  <a:srgbClr val="12171D"/>
                </a:solidFill>
                <a:latin typeface="Inter"/>
              </a:rPr>
              <a:t>DatePicker range · locale week start · unavailable dates struck + named · Button "Keep dates"</a:t>
            </a:r>
          </a:p>
        </p:txBody>
      </p:sp>
      <p:sp>
        <p:nvSpPr>
          <p:cNvPr id="12" name="Flow arrow 2"/>
          <p:cNvSpPr/>
          <p:nvPr/>
        </p:nvSpPr>
        <p:spPr>
          <a:xfrm>
            <a:off x="4965192"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low box 3"/>
          <p:cNvSpPr/>
          <p:nvPr/>
        </p:nvSpPr>
        <p:spPr>
          <a:xfrm>
            <a:off x="5093208"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3 · Guests</a:t>
            </a:r>
          </a:p>
          <a:p>
            <a:r>
              <a:rPr sz="950">
                <a:solidFill>
                  <a:srgbClr val="12171D"/>
                </a:solidFill>
                <a:latin typeface="Inter"/>
              </a:rPr>
              <a:t>QuantityStepper adults / children · Select rooms · error: "Choose at least one guest." above the control</a:t>
            </a:r>
          </a:p>
        </p:txBody>
      </p:sp>
      <p:sp>
        <p:nvSpPr>
          <p:cNvPr id="14" name="Flow arrow 3"/>
          <p:cNvSpPr/>
          <p:nvPr/>
        </p:nvSpPr>
        <p:spPr>
          <a:xfrm>
            <a:off x="7104888"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low box 4"/>
          <p:cNvSpPr/>
          <p:nvPr/>
        </p:nvSpPr>
        <p:spPr>
          <a:xfrm>
            <a:off x="7232904"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4 · Room</a:t>
            </a:r>
          </a:p>
          <a:p>
            <a:r>
              <a:rPr sz="950">
                <a:solidFill>
                  <a:srgbClr val="12171D"/>
                </a:solidFill>
                <a:latin typeface="Inter"/>
              </a:rPr>
              <a:t>RoomCard list (verified facts only) · Tabs by view · aria-pressed on the selected card · Button "Continue"</a:t>
            </a:r>
          </a:p>
        </p:txBody>
      </p:sp>
      <p:sp>
        <p:nvSpPr>
          <p:cNvPr id="16" name="Flow arrow 4"/>
          <p:cNvSpPr/>
          <p:nvPr/>
        </p:nvSpPr>
        <p:spPr>
          <a:xfrm>
            <a:off x="9244584" y="2596896"/>
            <a:ext cx="109728" cy="109728"/>
          </a:xfrm>
          <a:prstGeom prst="rightArrow">
            <a:avLst/>
          </a:prstGeom>
          <a:solidFill>
            <a:srgbClr val="1217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low box 5"/>
          <p:cNvSpPr/>
          <p:nvPr/>
        </p:nvSpPr>
        <p:spPr>
          <a:xfrm>
            <a:off x="9372600" y="1783080"/>
            <a:ext cx="1993392" cy="1737360"/>
          </a:xfrm>
          <a:prstGeom prst="rect">
            <a:avLst/>
          </a:prstGeom>
          <a:noFill/>
          <a:ln w="9525">
            <a:solidFill>
              <a:srgbClr val="12171D"/>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91440"/>
          <a:lstStyle/>
          <a:p>
            <a:pPr algn="ctr"/>
            <a:r>
              <a:rPr sz="1300">
                <a:solidFill>
                  <a:srgbClr val="12171D"/>
                </a:solidFill>
                <a:latin typeface="Jost"/>
              </a:rPr>
              <a:t>5 · Confirmation</a:t>
            </a:r>
          </a:p>
          <a:p>
            <a:r>
              <a:rPr sz="950">
                <a:solidFill>
                  <a:srgbClr val="12171D"/>
                </a:solidFill>
                <a:latin typeface="Inter"/>
              </a:rPr>
              <a:t>Alert CONFIRMED · Booking confirmed. · Reference: [booking ID] · SpecificationTable summary · Link "Review booking"</a:t>
            </a:r>
          </a:p>
        </p:txBody>
      </p:sp>
      <p:sp>
        <p:nvSpPr>
          <p:cNvPr id="18" name="Flow note 1"/>
          <p:cNvSpPr txBox="1"/>
          <p:nvPr/>
        </p:nvSpPr>
        <p:spPr>
          <a:xfrm>
            <a:off x="813816" y="3703320"/>
            <a:ext cx="1993392" cy="2194560"/>
          </a:xfrm>
          <a:prstGeom prst="rect">
            <a:avLst/>
          </a:prstGeom>
          <a:noFill/>
        </p:spPr>
        <p:txBody>
          <a:bodyPr wrap="square" lIns="0" rIns="0">
            <a:spAutoFit/>
          </a:bodyPr>
          <a:lstStyle/>
          <a:p>
            <a:r>
              <a:rPr sz="1000" b="0">
                <a:solidFill>
                  <a:srgbClr val="12171D"/>
                </a:solidFill>
                <a:latin typeface="Inter"/>
              </a:rPr>
              <a:t>Primary action</a:t>
            </a:r>
          </a:p>
          <a:p>
            <a:r>
              <a:rPr sz="950">
                <a:solidFill>
                  <a:srgbClr val="12171D"/>
                </a:solidFill>
                <a:latin typeface="Inter"/>
              </a:rPr>
              <a:t>One primary Button per step, full width at Compact; secondary actions are Links. Focus moves to the step heading on step change, to the first invalid field on error.</a:t>
            </a:r>
          </a:p>
        </p:txBody>
      </p:sp>
      <p:sp>
        <p:nvSpPr>
          <p:cNvPr id="19" name="Flow note 2"/>
          <p:cNvSpPr txBox="1"/>
          <p:nvPr/>
        </p:nvSpPr>
        <p:spPr>
          <a:xfrm>
            <a:off x="2953512" y="3703320"/>
            <a:ext cx="1993392" cy="2194560"/>
          </a:xfrm>
          <a:prstGeom prst="rect">
            <a:avLst/>
          </a:prstGeom>
          <a:noFill/>
        </p:spPr>
        <p:txBody>
          <a:bodyPr wrap="square" lIns="0" rIns="0">
            <a:spAutoFit/>
          </a:bodyPr>
          <a:lstStyle/>
          <a:p>
            <a:r>
              <a:rPr sz="1000" b="0">
                <a:solidFill>
                  <a:srgbClr val="12171D"/>
                </a:solidFill>
                <a:latin typeface="Inter"/>
              </a:rPr>
              <a:t>Errors and validation</a:t>
            </a:r>
          </a:p>
          <a:p>
            <a:r>
              <a:rPr sz="950">
                <a:solidFill>
                  <a:srgbClr val="12171D"/>
                </a:solidFill>
                <a:latin typeface="Inter"/>
              </a:rPr>
              <a:t>State label ERROR, title, actionable sentence (feedback hierarchy). Inline field errors above the control with aria-invalid and aria-describedby; never colour alone.</a:t>
            </a:r>
          </a:p>
        </p:txBody>
      </p:sp>
      <p:sp>
        <p:nvSpPr>
          <p:cNvPr id="20" name="Flow note 3"/>
          <p:cNvSpPr txBox="1"/>
          <p:nvPr/>
        </p:nvSpPr>
        <p:spPr>
          <a:xfrm>
            <a:off x="5093208" y="3703320"/>
            <a:ext cx="1993392" cy="2194560"/>
          </a:xfrm>
          <a:prstGeom prst="rect">
            <a:avLst/>
          </a:prstGeom>
          <a:noFill/>
        </p:spPr>
        <p:txBody>
          <a:bodyPr wrap="square" lIns="0" rIns="0">
            <a:spAutoFit/>
          </a:bodyPr>
          <a:lstStyle/>
          <a:p>
            <a:r>
              <a:rPr sz="1000" b="0">
                <a:solidFill>
                  <a:srgbClr val="12171D"/>
                </a:solidFill>
                <a:latin typeface="Inter"/>
              </a:rPr>
              <a:t>RTL / Arabic</a:t>
            </a:r>
          </a:p>
          <a:p>
            <a:r>
              <a:rPr sz="950">
                <a:solidFill>
                  <a:srgbClr val="12171D"/>
                </a:solidFill>
                <a:latin typeface="Inter"/>
              </a:rPr>
              <a:t>dir="rtl" on the root: step order and arrows read right to left; DatePicker arrows swap; codes and the booking ID stay LTR in &lt;bdi&gt;. Arabic strings are working placeholders, PENDING LOCALIZATION APPROVAL.</a:t>
            </a:r>
          </a:p>
        </p:txBody>
      </p:sp>
      <p:sp>
        <p:nvSpPr>
          <p:cNvPr id="21" name="Flow note 4"/>
          <p:cNvSpPr txBox="1"/>
          <p:nvPr/>
        </p:nvSpPr>
        <p:spPr>
          <a:xfrm>
            <a:off x="7232904" y="3703320"/>
            <a:ext cx="1993392" cy="2194560"/>
          </a:xfrm>
          <a:prstGeom prst="rect">
            <a:avLst/>
          </a:prstGeom>
          <a:noFill/>
        </p:spPr>
        <p:txBody>
          <a:bodyPr wrap="square" lIns="0" rIns="0">
            <a:spAutoFit/>
          </a:bodyPr>
          <a:lstStyle/>
          <a:p>
            <a:r>
              <a:rPr sz="1000" b="0">
                <a:solidFill>
                  <a:srgbClr val="12171D"/>
                </a:solidFill>
                <a:latin typeface="Inter"/>
              </a:rPr>
              <a:t>Responsive</a:t>
            </a:r>
          </a:p>
          <a:p>
            <a:r>
              <a:rPr sz="950">
                <a:solidFill>
                  <a:srgbClr val="12171D"/>
                </a:solidFill>
                <a:latin typeface="Inter"/>
              </a:rPr>
              <a:t>Compact: one column, stacked actions, DatePicker as full-width sheet. Desktop: two-up for dates and guests (Tablet) and a room list at 12 columns; max 1080 / 1280.</a:t>
            </a:r>
          </a:p>
        </p:txBody>
      </p:sp>
      <p:sp>
        <p:nvSpPr>
          <p:cNvPr id="22" name="Flow note 5"/>
          <p:cNvSpPr txBox="1"/>
          <p:nvPr/>
        </p:nvSpPr>
        <p:spPr>
          <a:xfrm>
            <a:off x="9372600" y="3703320"/>
            <a:ext cx="1993392" cy="2194560"/>
          </a:xfrm>
          <a:prstGeom prst="rect">
            <a:avLst/>
          </a:prstGeom>
          <a:noFill/>
        </p:spPr>
        <p:txBody>
          <a:bodyPr wrap="square" lIns="0" rIns="0">
            <a:spAutoFit/>
          </a:bodyPr>
          <a:lstStyle/>
          <a:p>
            <a:r>
              <a:rPr sz="1000" b="0">
                <a:solidFill>
                  <a:srgbClr val="12171D"/>
                </a:solidFill>
                <a:latin typeface="Inter"/>
              </a:rPr>
              <a:t>Status</a:t>
            </a:r>
          </a:p>
          <a:p>
            <a:r>
              <a:rPr sz="950">
                <a:solidFill>
                  <a:srgbClr val="12171D"/>
                </a:solidFill>
                <a:latin typeface="Inter"/>
              </a:rPr>
              <a:t>CONCEPT / IMPLEMENTATION TEST. Not a live product. Step logic, focus, error and RTL behaviour are specified here and in 02_build/flow; runtime behaviour is NOT TESTED until the component bundle exists (VAL-13, VAL-20).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PATTERNS · B2B STREAM (T01, AC02)</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GEM™ — Amenities &amp; Packaging</a:t>
            </a:r>
            <a:endParaRPr lang="en-US" sz="3200" dirty="0"/>
          </a:p>
        </p:txBody>
      </p:sp>
      <p:sp>
        <p:nvSpPr>
          <p:cNvPr id="5" name="Text 3"/>
          <p:cNvSpPr/>
          <p:nvPr/>
        </p:nvSpPr>
        <p:spPr>
          <a:xfrm>
            <a:off x="812800" y="1549350"/>
            <a:ext cx="10883392" cy="96012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 descriptive stream under the master brand, not a sub-brand: no new symbol, colour system or stream logo. Hierarchy (T04, T05), six levels: GEM → collection or tier → product and function → quantity → instructions → SKU and artwork version; Part A slide 61 and Part C slide 29 state the same. Pilot family (T02): Shampoo, Conditioner, Body Wash, Body Lotion, Hand Wash. Whether a family name such as "Bath and body" may occupy the collection/tier level is [REQUIRES OWNER · Product / Amenities Lead]; tiers are CONDITIONAL (AC03, VAL-01).</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2606040"/>
          <a:ext cx="10553700" cy="2719983"/>
        </p:xfrm>
        <a:graphic>
          <a:graphicData uri="http://schemas.openxmlformats.org/drawingml/2006/table">
            <a:tbl>
              <a:tblPr/>
              <a:tblGrid>
                <a:gridCol w="2955036"/>
                <a:gridCol w="5276850"/>
                <a:gridCol w="2321814"/>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 and function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Functional, English; Arabic per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Metric first: mL, g, count (T06)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CONDITIONAL</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Instructions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From verified data only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Regulated; verified data only (T10)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 lot · GTIN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Controlled fields where required (T07, T08)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Reserved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Country of origin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Where required; verified per SKU (F06, T09)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Mandatory for Saudi market unless exempted (T11)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and artwork version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and held in records (T22)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4"/>
          <p:cNvSpPr/>
          <p:nvPr/>
        </p:nvSpPr>
        <p:spPr>
          <a:xfrm>
            <a:off x="812800" y="6238280"/>
            <a:ext cx="11379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27 · Capability, MOQs, prices, lead times and claims are not stated (VAL-01, VAL-09–11).</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07 · IMAGERY · LIBRARY PENDING (O19)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Imagery and art direction</a:t>
            </a:r>
            <a:endParaRPr lang="en-US" sz="3200" dirty="0"/>
          </a:p>
        </p:txBody>
      </p:sp>
      <p:sp>
        <p:nvSpPr>
          <p:cNvPr id="5" name="Shape 3"/>
          <p:cNvSpPr/>
          <p:nvPr/>
        </p:nvSpPr>
        <p:spPr>
          <a:xfrm>
            <a:off x="815975" y="1781125"/>
            <a:ext cx="3414167" cy="1799382"/>
          </a:xfrm>
          <a:prstGeom prst="rect">
            <a:avLst/>
          </a:prstGeom>
          <a:noFill/>
          <a:ln w="6350">
            <a:solidFill>
              <a:srgbClr val="BCACA7"/>
            </a:solidFill>
            <a:prstDash val="solid"/>
          </a:ln>
        </p:spPr>
        <p:txBody>
          <a:bodyPr/>
          <a:p/>
        </p:txBody>
      </p:sp>
      <p:sp>
        <p:nvSpPr>
          <p:cNvPr id="6" name="Text 4"/>
          <p:cNvSpPr/>
          <p:nvPr/>
        </p:nvSpPr>
        <p:spPr>
          <a:xfrm>
            <a:off x="1022350"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Direction · owned by Part A</a:t>
            </a:r>
            <a:endParaRPr lang="en-US" sz="1600" dirty="0"/>
          </a:p>
        </p:txBody>
      </p:sp>
      <p:sp>
        <p:nvSpPr>
          <p:cNvPr id="7" name="Text 5"/>
          <p:cNvSpPr/>
          <p:nvPr/>
        </p:nvSpPr>
        <p:spPr>
          <a:xfrm>
            <a:off x="1022350" y="2307530"/>
            <a:ext cx="3091459" cy="1092002"/>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Photography direction is governed by Part A slides 47–50 (O01–O10). This system keeps only the digital rules: crops and ratio tokens, alt text, rights metadata and the avoid list.</a:t>
            </a:r>
            <a:endParaRPr lang="en-US" sz="1200" dirty="0"/>
          </a:p>
        </p:txBody>
      </p:sp>
      <p:sp>
        <p:nvSpPr>
          <p:cNvPr id="8" name="Shape 6"/>
          <p:cNvSpPr/>
          <p:nvPr/>
        </p:nvSpPr>
        <p:spPr>
          <a:xfrm>
            <a:off x="4388892" y="1781125"/>
            <a:ext cx="3414167" cy="1799382"/>
          </a:xfrm>
          <a:prstGeom prst="rect">
            <a:avLst/>
          </a:prstGeom>
          <a:noFill/>
          <a:ln w="6350">
            <a:solidFill>
              <a:srgbClr val="BCACA7"/>
            </a:solidFill>
            <a:prstDash val="solid"/>
          </a:ln>
        </p:spPr>
        <p:txBody>
          <a:bodyPr/>
          <a:p/>
        </p:txBody>
      </p:sp>
      <p:sp>
        <p:nvSpPr>
          <p:cNvPr id="9" name="Text 7"/>
          <p:cNvSpPr/>
          <p:nvPr/>
        </p:nvSpPr>
        <p:spPr>
          <a:xfrm>
            <a:off x="4595267" y="1987500"/>
            <a:ext cx="3091459"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Crops and grade</a:t>
            </a:r>
            <a:endParaRPr lang="en-US" sz="1600" dirty="0"/>
          </a:p>
        </p:txBody>
      </p:sp>
      <p:sp>
        <p:nvSpPr>
          <p:cNvPr id="10" name="Text 8"/>
          <p:cNvSpPr/>
          <p:nvPr/>
        </p:nvSpPr>
        <p:spPr>
          <a:xfrm>
            <a:off x="4595267" y="2307530"/>
            <a:ext cx="3091459"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Subject on a third; a quarter of the frame empty; crop to an edge, not through it. Whites slightly warm, blacks lift to INK; never push BEIGE to gold.</a:t>
            </a:r>
            <a:endParaRPr lang="en-US" sz="1200" dirty="0"/>
          </a:p>
        </p:txBody>
      </p:sp>
      <p:sp>
        <p:nvSpPr>
          <p:cNvPr id="11" name="Shape 9"/>
          <p:cNvSpPr/>
          <p:nvPr/>
        </p:nvSpPr>
        <p:spPr>
          <a:xfrm>
            <a:off x="7961809" y="1781125"/>
            <a:ext cx="3414216" cy="1799382"/>
          </a:xfrm>
          <a:prstGeom prst="rect">
            <a:avLst/>
          </a:prstGeom>
          <a:noFill/>
          <a:ln w="6350">
            <a:solidFill>
              <a:srgbClr val="BCACA7"/>
            </a:solidFill>
            <a:prstDash val="solid"/>
          </a:ln>
        </p:spPr>
        <p:txBody>
          <a:bodyPr/>
          <a:p/>
        </p:txBody>
      </p:sp>
      <p:sp>
        <p:nvSpPr>
          <p:cNvPr id="12" name="Text 10"/>
          <p:cNvSpPr/>
          <p:nvPr/>
        </p:nvSpPr>
        <p:spPr>
          <a:xfrm>
            <a:off x="8168184" y="1987500"/>
            <a:ext cx="3091510"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BCACA7"/>
                </a:solidFill>
                <a:latin typeface="Jost" pitchFamily="34" charset="0"/>
                <a:ea typeface="Jost" pitchFamily="34" charset="-122"/>
                <a:cs typeface="Jost" pitchFamily="34" charset="-120"/>
              </a:rPr>
              <a:t>Avoid</a:t>
            </a:r>
            <a:endParaRPr lang="en-US" sz="1600" dirty="0"/>
          </a:p>
        </p:txBody>
      </p:sp>
      <p:sp>
        <p:nvSpPr>
          <p:cNvPr id="13" name="Text 11"/>
          <p:cNvSpPr/>
          <p:nvPr/>
        </p:nvSpPr>
        <p:spPr>
          <a:xfrm>
            <a:off x="8168184" y="2307530"/>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Generic stock (O02), posed smiling guests (O03), oversaturation, filters, artificial glow, gold highlights, text over busy areas.</a:t>
            </a:r>
            <a:endParaRPr lang="en-US" sz="1200" dirty="0"/>
          </a:p>
        </p:txBody>
      </p:sp>
      <p:sp>
        <p:nvSpPr>
          <p:cNvPr id="14" name="Text 12"/>
          <p:cNvSpPr/>
          <p:nvPr/>
        </p:nvSpPr>
        <p:spPr>
          <a:xfrm>
            <a:off x="812800" y="3786882"/>
            <a:ext cx="10883392" cy="685800"/>
          </a:xfrm>
          <a:prstGeom prst="rect">
            <a:avLst/>
          </a:prstGeom>
          <a:noFill/>
          <a:ln/>
        </p:spPr>
        <p:txBody>
          <a:bodyPr wrap="square" lIns="0" tIns="0" rIns="0" bIns="0" rtlCol="0" anchor="t"/>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Required categories per the register (O11–O16) and Part A slide 48: architecture, material detail, arrival and threshold, amenities and product; dining and service where relevant. Every production image carries rights metadata (O18, VAL-06); AI or rendered mockups are never presented as photography (O17). Ratio tokens: 3:2 rooms, 4:5 products, 16:9 hero (CONDITIONAL).</a:t>
            </a:r>
            <a:endParaRPr lang="en-US" sz="1200" dirty="0"/>
          </a:p>
        </p:txBody>
      </p:sp>
      <p:sp>
        <p:nvSpPr>
          <p:cNvPr id="15"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28 · Study images are REFERENCE, CONCEPT / NOT PRODUCTION ARTWORK.</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07 · WAYFINDING · FRAMEWORK ONLY (S01)</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Wayfinding and environmental identity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2935764"/>
        </p:xfrm>
        <a:graphic>
          <a:graphicData uri="http://schemas.openxmlformats.org/drawingml/2006/table">
            <a:tbl>
              <a:tblPr/>
              <a:tblGrid>
                <a:gridCol w="2110740"/>
                <a:gridCol w="8442960"/>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Principle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Hierarchy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Lobby (S03), directional (S04), room-number (S05), amenity and facility (S06)</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Bilingual order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first and right, English secondary and left, equal information: the default for Saudi/GCC (S07, Part A 65). Exceptions only by documented project deviation (Part C 41, Appendix 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32px minimum in digital (H11); signage needs its own validated 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Contrast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INK on WHITE or BEIGE; WHITE or BEIGE on INK;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 capitals for headings; Inter for instructions; Noto Sans 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and Braille where required (S08, S09); legibility testing (V15)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Geometry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oversized ring or quarter per surface at most; never behind text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846320"/>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Viewing distances, letter heights, illumination, materials and mounting are [REQUIRES SITE VALIDATION] and belong to Part C. External signage Deferred (S02).</a:t>
            </a:r>
            <a:endParaRPr lang="en-US" sz="1200" dirty="0"/>
          </a:p>
        </p:txBody>
      </p:sp>
      <p:sp>
        <p:nvSpPr>
          <p:cNvPr id="7" name="Text 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29 · Fabrication detail: PROJECT-SPECIFIC / REQUIRES SITE VALIDATION (VAL-12).</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ENGINEERING (Q01–Q09)</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Token architecture and implementation</a:t>
            </a:r>
            <a:endParaRPr lang="en-US" sz="3200" dirty="0"/>
          </a:p>
        </p:txBody>
      </p:sp>
      <p:sp>
        <p:nvSpPr>
          <p:cNvPr id="5" name="Text 3"/>
          <p:cNvSpPr/>
          <p:nvPr/>
        </p:nvSpPr>
        <p:spPr>
          <a:xfrm>
            <a:off x="812800" y="1777950"/>
            <a:ext cx="4826000" cy="2112963"/>
          </a:xfrm>
          <a:prstGeom prst="rect">
            <a:avLst/>
          </a:prstGeom>
          <a:solidFill>
            <a:srgbClr val="12171D"/>
          </a:solidFill>
          <a:ln/>
        </p:spPr>
        <p:txBody>
          <a:bodyPr wrap="square" lIns="203200" tIns="203200" rIns="70612" bIns="177800" rtlCol="0" anchor="t"/>
          <a:lstStyle/>
          <a:p>
            <a:pPr algn="l" indent="0" marL="0">
              <a:lnSpc>
                <a:spcPts val="1680"/>
              </a:lnSpc>
              <a:buNone/>
            </a:pPr>
            <a:r>
              <a:rPr lang="en-US" sz="1200" dirty="0">
                <a:solidFill>
                  <a:srgbClr val="FFFFFF"/>
                </a:solidFill>
                <a:latin typeface="Courier New" pitchFamily="49" charset="0"/>
                <a:ea typeface="Courier New" pitchFamily="49" charset="-122"/>
                <a:cs typeface="Courier New" pitchFamily="49" charset="-120"/>
              </a:rPr>
              <a:t>EXCERPT — full set: gem-tokens.v3.0-rc2.json / .css
foundation.color
ink #12171D · beige #BCACA7
black #020202 · white #FFFFFF
semantic
surface · text · border
action · focus · feedback
type · space · radius · size
motion · layout · locale</a:t>
            </a:r>
            <a:endParaRPr lang="en-US" sz="1200" dirty="0"/>
          </a:p>
        </p:txBody>
      </p:sp>
      <p:sp>
        <p:nvSpPr>
          <p:cNvPr id="6" name="Text 4"/>
          <p:cNvSpPr/>
          <p:nvPr/>
        </p:nvSpPr>
        <p:spPr>
          <a:xfrm>
            <a:off x="6048756" y="1777950"/>
            <a:ext cx="5485892" cy="2138363"/>
          </a:xfrm>
          <a:prstGeom prst="rect">
            <a:avLst/>
          </a:prstGeom>
          <a:noFill/>
          <a:ln/>
        </p:spPr>
        <p:txBody>
          <a:bodyPr wrap="square" lIns="0" tIns="0" rIns="0" bIns="0" rtlCol="0" anchor="t"/>
          <a:lstStyle/>
          <a:p>
            <a:pPr algn="l" marL="148844" indent="-148844">
              <a:lnSpc>
                <a:spcPts val="1680"/>
              </a:lnSpc>
              <a:buSzPct val="100000"/>
              <a:buChar char="•"/>
            </a:pPr>
            <a:r>
              <a:rPr lang="en-US" sz="1200" dirty="0">
                <a:solidFill>
                  <a:srgbClr val="12171D"/>
                </a:solidFill>
                <a:latin typeface="Inter" pitchFamily="34" charset="0"/>
                <a:ea typeface="Inter" pitchFamily="34" charset="-122"/>
                <a:cs typeface="Inter" pitchFamily="34" charset="-120"/>
              </a:rPr>
              <a:t>Source: tokens.json (living source, DS03 open); portable gem-tokens.v3.0-rc2.json and .css (--gem- prefix), derived from this specification with status per token. Aliases use {path}.
Semantic HTML first; ARIA only where no native element exists.
CSS custom properties for every token; logical properties for direction.
Every string is a prop; Intl for dates and numbers.
:focus-visible with focus tokens; modal traps and returns focus.</a:t>
            </a:r>
            <a:endParaRPr lang="en-US" sz="1200" dirty="0"/>
          </a:p>
        </p:txBody>
      </p:sp>
      <p:sp>
        <p:nvSpPr>
          <p:cNvPr id="7" name="Text 5"/>
          <p:cNvSpPr/>
          <p:nvPr/>
        </p:nvSpPr>
        <p:spPr>
          <a:xfrm>
            <a:off x="812800" y="409411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Storybook-ready (DS03, VAL-20):</a:t>
            </a:r>
            <a:r>
              <a:rPr lang="en-US" sz="1200" dirty="0">
                <a:solidFill>
                  <a:srgbClr val="12171D"/>
                </a:solidFill>
                <a:latin typeface="Inter" pitchFamily="34" charset="0"/>
                <a:ea typeface="Inter" pitchFamily="34" charset="-122"/>
                <a:cs typeface="Inter" pitchFamily="34" charset="-120"/>
              </a:rPr>
              <a:t> tokens/ · components/&lt;Name&gt;/ (tsx, css, stories, README, test) · docs/. Stories show every state, EN and AR, reduced motion, 320 and 1440px. Versioning: semantic 3.0.0-rc.2 (document edition V3.0 RC2).</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30 · No running Storybook yet (DS03 evidence open).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Final QA audit (self-audit against the V3 brief)</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10553700" cy="3324423"/>
        </p:xfrm>
        <a:graphic>
          <a:graphicData uri="http://schemas.openxmlformats.org/drawingml/2006/table">
            <a:tbl>
              <a:tblPr/>
              <a:tblGrid>
                <a:gridCol w="1899666"/>
                <a:gridCol w="1688592"/>
                <a:gridCol w="6965442"/>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Area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Notes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Palette, tagline, logo unchanged; no gradients, gold, shadows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Consistency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One status vocabulary; tokens everywhere; one README template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Rules in place; screen reader and Arabic order untested (VAL-08, V14)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Five bands defined; template validation outstanding (VAL-20)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Localization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working strings only; native QA not started (VAL-07)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Placeholders for every unverified fact; no invented claims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Vector logo kit received, acceptance pending; no supplier data; Part C issued as RC2, physical evidence open (VAL-02, VAL-09 to VAL-11, AC17)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Governance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All role holders TBD; release authorization pending (AC20)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Implementation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Reference bundle; no independent QA or Storybook (VAL-13, DS03)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open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Tracking values CONDITIONAL on optical QA (VAL-19)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31 · "Open" cannot close without owner evidence.</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406400"/>
            <a:ext cx="10566400" cy="6350"/>
          </a:xfrm>
          <a:prstGeom prst="rect">
            <a:avLst/>
          </a:prstGeom>
          <a:solidFill>
            <a:srgbClr val="BCACA7"/>
          </a:solidFill>
          <a:ln/>
        </p:spPr>
        <p:txBody>
          <a:bodyPr/>
          <a:p/>
        </p:txBody>
      </p:sp>
      <p:sp>
        <p:nvSpPr>
          <p:cNvPr id="3" name="Text 1"/>
          <p:cNvSpPr/>
          <p:nvPr/>
        </p:nvSpPr>
        <p:spPr>
          <a:xfrm>
            <a:off x="812800" y="6096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9245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Open validation gates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7450"/>
          <a:ext cx="5118100" cy="3324423"/>
        </p:xfrm>
        <a:graphic>
          <a:graphicData uri="http://schemas.openxmlformats.org/drawingml/2006/table">
            <a:tbl>
              <a:tblPr/>
              <a:tblGrid>
                <a:gridCol w="1023620"/>
                <a:gridCol w="2661412"/>
                <a:gridCol w="1433068"/>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Commercial scope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production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Trademark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ownership</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 licence, deployment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Image rights register</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and RTL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VAL-08</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VAL-09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proof</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Packaging claims review</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61100" y="1587450"/>
          <a:ext cx="5118100" cy="3324423"/>
        </p:xfrm>
        <a:graphic>
          <a:graphicData uri="http://schemas.openxmlformats.org/drawingml/2006/table">
            <a:tbl>
              <a:tblPr/>
              <a:tblGrid>
                <a:gridCol w="1023620"/>
                <a:gridCol w="2661412"/>
                <a:gridCol w="1433068"/>
              </a:tblGrid>
              <a:tr h="30222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Gate</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76200" marR="76200" marT="38100" marB="38100" anchor="t">
                    <a:lnL w="12700" cap="flat" cmpd="sng" algn="ctr">
                      <a:solidFill>
                        <a:srgbClr val="978B86"/>
                      </a:solidFill>
                      <a:prstDash val="solid"/>
                      <a:round/>
                      <a:headEnd type="none" w="med" len="med"/>
                      <a:tailEnd type="none" w="med" len="med"/>
                    </a:lnL>
                    <a:lnR w="12700" cap="flat" cmpd="sng" algn="ctr">
                      <a:solidFill>
                        <a:srgbClr val="978B8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978B86"/>
                      </a:solidFill>
                      <a:prstDash val="solid"/>
                      <a:round/>
                      <a:headEnd type="none" w="med" len="med"/>
                      <a:tailEnd type="none" w="med" len="med"/>
                    </a:lnB>
                    <a:solidFill>
                      <a:srgbClr val="BCACA7"/>
                    </a:solidFill>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acceptance</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978B8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VAL-12</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Wayfinding fabrication</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VAL-13</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Tokens, components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VAL-14</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Motion masters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VAL-15</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Presentation, PDF QA</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VAL-16</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manifest</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VAL-17</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Guideline usability</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VAL-19</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Typography, tracking</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 progress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VAL-20</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Responsive, locale, docs</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0222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VAL-21</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Cross-document check</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started</a:t>
                      </a:r>
                      <a:endParaRPr lang="en-US" sz="1200" dirty="0">
                        <a:latin typeface="Inter" charset="0"/>
                        <a:ea typeface="Inter" charset="0"/>
                        <a:cs typeface="Inter" charset="0"/>
                      </a:endParaRPr>
                    </a:p>
                  </a:txBody>
                  <a:tcPr marL="76200" marR="76200" marT="38100" marB="381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6238280"/>
            <a:ext cx="10883392" cy="238720"/>
          </a:xfrm>
          <a:prstGeom prst="rect">
            <a:avLst/>
          </a:prstGeom>
          <a:noFill/>
          <a:ln/>
        </p:spPr>
        <p:txBody>
          <a:bodyPr wrap="square" lIns="0" tIns="0" rIns="0" bIns="0" rtlCol="0" anchor="t"/>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32 · Owners per gate are listed in the speaker notes. VAL-18 is not allocated in the register; the sequence is complete as shown.</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QA AND RELEASE</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Release checklist and change log</a:t>
            </a:r>
            <a:endParaRPr lang="en-US" sz="3200" dirty="0"/>
          </a:p>
        </p:txBody>
      </p:sp>
      <p:sp>
        <p:nvSpPr>
          <p:cNvPr id="5" name="Text 3"/>
          <p:cNvSpPr/>
          <p:nvPr/>
        </p:nvSpPr>
        <p:spPr>
          <a:xfrm>
            <a:off x="886123" y="1777950"/>
            <a:ext cx="4889837" cy="2067272"/>
          </a:xfrm>
          <a:prstGeom prst="rect">
            <a:avLst/>
          </a:prstGeom>
          <a:noFill/>
          <a:ln/>
        </p:spPr>
        <p:txBody>
          <a:bodyPr wrap="square" lIns="0" tIns="0" rIns="0" bIns="0" rtlCol="0" anchor="t">
            <a:normAutofit/>
          </a:bodyPr>
          <a:lstStyle/>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All role holders named.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VAL-02 to VAL-07 closed or formally deferred.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VAL-08, VAL-13, VAL-19, VAL-20 closed.</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Arabic signed off or explicitly excluded (AC10).</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Production specifications approved (AC17).</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Cross-document check against Parts A and C (VAL-21).</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Release manifest and checksums (VAL-16).</a:t>
            </a:r>
            <a:endParaRPr lang="en-US" sz="1200" dirty="0"/>
          </a:p>
          <a:p>
            <a:pPr algn="l" marL="180677" indent="-180677">
              <a:lnSpc>
                <a:spcPts val="1800"/>
              </a:lnSpc>
              <a:buSzPct val="100000"/>
              <a:buFontTx/>
              <a:buAutoNum type="arabicPeriod" startAt="1"/>
            </a:pPr>
            <a:r>
              <a:rPr lang="en-US" sz="1200" dirty="0">
                <a:solidFill>
                  <a:srgbClr val="12171D"/>
                </a:solidFill>
                <a:latin typeface="Inter" pitchFamily="34" charset="0"/>
                <a:ea typeface="Inter" pitchFamily="34" charset="-122"/>
                <a:cs typeface="Inter" pitchFamily="34" charset="-120"/>
              </a:rPr>
              <a:t>Brand Owner authorization (AC20).</a:t>
            </a:r>
            <a:endParaRPr lang="en-US" sz="1200" dirty="0"/>
          </a:p>
        </p:txBody>
      </p:sp>
      <p:sp>
        <p:nvSpPr>
          <p:cNvPr id="6" name="Shape 4"/>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3.0.0-rc.2 · V3.0 RC2 (this edition)</a:t>
            </a:r>
            <a:endParaRPr lang="en-US" sz="1600" dirty="0"/>
          </a:p>
        </p:txBody>
      </p:sp>
      <p:sp>
        <p:nvSpPr>
          <p:cNvPr id="8" name="Text 6"/>
          <p:cNvSpPr/>
          <p:nvPr/>
        </p:nvSpPr>
        <p:spPr>
          <a:xfrm>
            <a:off x="6356350" y="2123380"/>
            <a:ext cx="5173536" cy="87868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Added:</a:t>
            </a:r>
            <a:r>
              <a:rPr lang="en-US" sz="1200" dirty="0">
                <a:solidFill>
                  <a:srgbClr val="12171D"/>
                </a:solidFill>
                <a:latin typeface="Inter" pitchFamily="34" charset="0"/>
                <a:ea typeface="Inter" pitchFamily="34" charset="-122"/>
                <a:cs typeface="Inter" pitchFamily="34" charset="-120"/>
              </a:rPr>
              <a:t> tracking scale, Arabic hierarchy, semantic tokens, layout tokens, 27 glyphs, 26 components (from 12), locale DatePicker, feedback hierarchy, Amenities &amp; Packaging, imagery studies, QA audit.</a:t>
            </a:r>
            <a:endParaRPr lang="en-US" sz="1200" dirty="0"/>
          </a:p>
        </p:txBody>
      </p:sp>
      <p:sp>
        <p:nvSpPr>
          <p:cNvPr id="9" name="Text 7"/>
          <p:cNvSpPr/>
          <p:nvPr/>
        </p:nvSpPr>
        <p:spPr>
          <a:xfrm>
            <a:off x="6356350" y="3078262"/>
            <a:ext cx="5173536" cy="45204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Changed:</a:t>
            </a:r>
            <a:r>
              <a:rPr lang="en-US" sz="1200" dirty="0">
                <a:solidFill>
                  <a:srgbClr val="12171D"/>
                </a:solidFill>
                <a:latin typeface="Inter" pitchFamily="34" charset="0"/>
                <a:ea typeface="Inter" pitchFamily="34" charset="-122"/>
                <a:cs typeface="Inter" pitchFamily="34" charset="-120"/>
              </a:rPr>
              <a:t> Futura PT and Montserrat to reference; 0.3–0.8em tracking retired. </a:t>
            </a:r>
            <a:r>
              <a:rPr lang="en-US" sz="1200" b="0" dirty="0">
                <a:solidFill>
                  <a:srgbClr val="12171D"/>
                </a:solidFill>
                <a:latin typeface="Inter" pitchFamily="34" charset="0"/>
                <a:ea typeface="Inter" pitchFamily="34" charset="-122"/>
                <a:cs typeface="Inter" pitchFamily="34" charset="-120"/>
              </a:rPr>
              <a:t>Removed:</a:t>
            </a:r>
            <a:r>
              <a:rPr lang="en-US" sz="1200" dirty="0">
                <a:solidFill>
                  <a:srgbClr val="12171D"/>
                </a:solidFill>
                <a:latin typeface="Inter" pitchFamily="34" charset="0"/>
                <a:ea typeface="Inter" pitchFamily="34" charset="-122"/>
                <a:cs typeface="Inter" pitchFamily="34" charset="-120"/>
              </a:rPr>
              <a:t> unconditional manufacturing statements.</a:t>
            </a:r>
            <a:endParaRPr lang="en-US" sz="1200" dirty="0"/>
          </a:p>
        </p:txBody>
      </p:sp>
      <p:sp>
        <p:nvSpPr>
          <p:cNvPr id="10" name="Text 8"/>
          <p:cNvSpPr/>
          <p:nvPr/>
        </p:nvSpPr>
        <p:spPr>
          <a:xfrm>
            <a:off x="6356350" y="3606502"/>
            <a:ext cx="5173536" cy="238720"/>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12171D"/>
                </a:solidFill>
                <a:latin typeface="Inter" pitchFamily="34" charset="0"/>
                <a:ea typeface="Inter" pitchFamily="34" charset="-122"/>
                <a:cs typeface="Inter" pitchFamily="34" charset="-120"/>
              </a:rPr>
              <a:t>2.1:</a:t>
            </a:r>
            <a:r>
              <a:rPr lang="en-US" sz="1200" dirty="0">
                <a:solidFill>
                  <a:srgbClr val="12171D"/>
                </a:solidFill>
                <a:latin typeface="Inter" pitchFamily="34" charset="0"/>
                <a:ea typeface="Inter" pitchFamily="34" charset="-122"/>
                <a:cs typeface="Inter" pitchFamily="34" charset="-120"/>
              </a:rPr>
              <a:t>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2171D"/>
                </a:solidFill>
                <a:latin typeface="Jost" pitchFamily="34" charset="0"/>
                <a:ea typeface="Jost" pitchFamily="34" charset="-122"/>
                <a:cs typeface="Jost" pitchFamily="34" charset="-120"/>
              </a:rPr>
              <a:t>08 · DOCUMENT CONTROL</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12171D"/>
                </a:solidFill>
                <a:latin typeface="Jost" pitchFamily="34" charset="0"/>
                <a:ea typeface="Jost" pitchFamily="34" charset="-122"/>
                <a:cs typeface="Jost" pitchFamily="34" charset="-120"/>
              </a:rPr>
              <a:t>Document control and change log</a:t>
            </a:r>
            <a:endParaRPr lang="en-US" sz="3200" dirty="0"/>
          </a:p>
        </p:txBody>
      </p:sp>
      <p:sp>
        <p:nvSpPr>
          <p:cNvPr id="5" name="Text 3"/>
          <p:cNvSpPr/>
          <p:nvPr/>
        </p:nvSpPr>
        <p:spPr>
          <a:xfrm>
            <a:off x="886123" y="1777950"/>
            <a:ext cx="4889837" cy="2926080"/>
          </a:xfrm>
          <a:prstGeom prst="rect">
            <a:avLst/>
          </a:prstGeom>
          <a:noFill/>
          <a:ln/>
        </p:spPr>
        <p:txBody>
          <a:bodyPr wrap="square" lIns="0" tIns="0" rIns="0" bIns="0" rtlCol="0" anchor="t"/>
          <a:lstStyle/>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Document ID · GEM-DDS-V3.0-RC2</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Title · GEM™ Digital Design System V3.0 — Part B</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Version · V3.0 RC2 (Release Candidate 2) · semantic 3.0.0-rc.2</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Edition state · WORKING SPECIFICATION · NOT RELEASED</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Issue date · 2026-10-06</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Owner · Digital Design Lead [REQUIRES OWNER]</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Approver · Brand Owner · AC20 PENDING</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Release status · RC2 synchronized with Parts A and C · evidence gates open</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Supersedes · V3.0 working specification, 3.0.0-draft (undated)</a:t>
            </a:r>
            <a:endParaRPr lang="en-US" sz="1200" dirty="0"/>
          </a:p>
          <a:p>
            <a:pPr algn="l" marL="180677" indent="-180677">
              <a:lnSpc>
                <a:spcPts val="1800"/>
              </a:lnSpc>
              <a:buSzPct val="100000"/>
              <a:buFontTx/>
              <a:buAutoNum type="arabicPeriod" startAt="1"/>
            </a:pPr>
            <a:r>
              <a:rPr lang="en-US" sz="1100" dirty="0">
                <a:solidFill>
                  <a:srgbClr val="12171D"/>
                </a:solidFill>
                <a:latin typeface="Inter" pitchFamily="34" charset="0"/>
                <a:ea typeface="Inter" pitchFamily="34" charset="-122"/>
                <a:cs typeface="Inter" pitchFamily="34" charset="-120"/>
              </a:rPr>
              <a:t>Related · GEM-BG-V3.0-RC2 (Part A) · GEM-PS-V3.0-RC2 (Part C) · V3 Approval Register</a:t>
            </a:r>
            <a:endParaRPr lang="en-US" sz="1200" dirty="0"/>
          </a:p>
        </p:txBody>
      </p:sp>
      <p:sp>
        <p:nvSpPr>
          <p:cNvPr id="6" name="Shape 4"/>
          <p:cNvSpPr/>
          <p:nvPr/>
        </p:nvSpPr>
        <p:spPr>
          <a:xfrm>
            <a:off x="6048375" y="1777950"/>
            <a:ext cx="0" cy="2041872"/>
          </a:xfrm>
          <a:prstGeom prst="line">
            <a:avLst/>
          </a:prstGeom>
          <a:noFill/>
          <a:ln w="6350">
            <a:solidFill>
              <a:srgbClr val="BCACA7"/>
            </a:solidFill>
            <a:prstDash val="solid"/>
          </a:ln>
        </p:spPr>
        <p:txBody>
          <a:bodyPr/>
          <a:p/>
        </p:txBody>
      </p:sp>
      <p:sp>
        <p:nvSpPr>
          <p:cNvPr id="7" name="Text 5"/>
          <p:cNvSpPr/>
          <p:nvPr/>
        </p:nvSpPr>
        <p:spPr>
          <a:xfrm>
            <a:off x="6356350" y="1777950"/>
            <a:ext cx="5173536" cy="26923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2171D"/>
                </a:solidFill>
                <a:latin typeface="Jost" pitchFamily="34" charset="0"/>
                <a:ea typeface="Jost" pitchFamily="34" charset="-122"/>
                <a:cs typeface="Jost" pitchFamily="34" charset="-120"/>
              </a:rPr>
              <a:t>Change log</a:t>
            </a:r>
            <a:endParaRPr lang="en-US" sz="1600" dirty="0"/>
          </a:p>
        </p:txBody>
      </p:sp>
      <p:sp>
        <p:nvSpPr>
          <p:cNvPr id="8" name="Text 6"/>
          <p:cNvSpPr/>
          <p:nvPr/>
        </p:nvSpPr>
        <p:spPr>
          <a:xfrm>
            <a:off x="6356350" y="2121408"/>
            <a:ext cx="5173536" cy="2011680"/>
          </a:xfrm>
          <a:prstGeom prst="rect">
            <a:avLst/>
          </a:prstGeom>
          <a:noFill/>
          <a:ln/>
        </p:spPr>
        <p:txBody>
          <a:bodyPr wrap="square" lIns="0" tIns="0" rIns="0" bIns="0" rtlCol="0" anchor="t"/>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3.0.0-rc.2 · 2026-10-06 · RC2 synchronization with Parts A and C and the register: version and document ID; authority order and domain ownership; stale Part C references; register role names; one navigation rule; S07 bilingual default with exception rule; six-level hierarchy cross-reference; family-name policy placeholder; T13 wording; template gates; VAL-18 note; X12 naming; currency placeholder; photography cross-reference; token excerpt label; warning-glyph note; booking-flow test; document control. No token, component or rule value changed.</a:t>
            </a:r>
            <a:endParaRPr lang="en-US" sz="1200" dirty="0"/>
          </a:p>
        </p:txBody>
      </p:sp>
      <p:sp>
        <p:nvSpPr>
          <p:cNvPr id="9" name="Text 7"/>
          <p:cNvSpPr/>
          <p:nvPr/>
        </p:nvSpPr>
        <p:spPr>
          <a:xfrm>
            <a:off x="6356350" y="4224528"/>
            <a:ext cx="5173536" cy="822960"/>
          </a:xfrm>
          <a:prstGeom prst="rect">
            <a:avLst/>
          </a:prstGeom>
          <a:noFill/>
          <a:ln/>
        </p:spPr>
        <p:txBody>
          <a:bodyPr wrap="square" lIns="0" tIns="0" rIns="0" bIns="0" rtlCol="0" anchor="t"/>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3.0.0-draft. Updated from v2.1 under the V3 register: tracking scale, Arabic hierarchy, semantic and layout tokens, 27 glyphs, 26 components, locale DatePicker, feedback hierarchy, Amenities &amp; Packaging, QA audit; Futura PT and Montserrat to reference; 0.3–0.8em tracking retired.</a:t>
            </a:r>
            <a:endParaRPr lang="en-US" sz="1200" dirty="0"/>
          </a:p>
        </p:txBody>
      </p:sp>
      <p:sp>
        <p:nvSpPr>
          <p:cNvPr id="10" name="Text 8"/>
          <p:cNvSpPr/>
          <p:nvPr/>
        </p:nvSpPr>
        <p:spPr>
          <a:xfrm>
            <a:off x="6356350" y="5120640"/>
            <a:ext cx="5173536" cy="238720"/>
          </a:xfrm>
          <a:prstGeom prst="rect">
            <a:avLst/>
          </a:prstGeom>
          <a:noFill/>
          <a:ln/>
        </p:spPr>
        <p:txBody>
          <a:bodyPr wrap="square" lIns="0" tIns="0" rIns="0" bIns="0" rtlCol="0" anchor="t">
            <a:normAutofit/>
          </a:bodyPr>
          <a:lstStyle/>
          <a:p>
            <a:pPr algn="l" indent="0" marL="0">
              <a:lnSpc>
                <a:spcPts val="1680"/>
              </a:lnSpc>
              <a:buNone/>
            </a:pPr>
            <a:r>
              <a:rPr lang="en-US" sz="1050" b="0" dirty="0">
                <a:solidFill>
                  <a:srgbClr val="12171D"/>
                </a:solidFill>
                <a:latin typeface="Inter" pitchFamily="34" charset="0"/>
                <a:ea typeface="Inter" pitchFamily="34" charset="-122"/>
                <a:cs typeface="Inter" pitchFamily="34" charset="-120"/>
              </a:rPr>
              <a:t>2.1: initial system from brand guidelines and digital tokens.</a:t>
            </a:r>
            <a:endParaRPr lang="en-US" sz="1200" dirty="0"/>
          </a:p>
        </p:txBody>
      </p:sp>
      <p:sp>
        <p:nvSpPr>
          <p:cNvPr id="11" name="Text 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alpha val="70000"/>
                  </a:srgbClr>
                </a:solidFill>
                <a:latin typeface="Inter" pitchFamily="34" charset="0"/>
                <a:ea typeface="Inter" pitchFamily="34" charset="-122"/>
                <a:cs typeface="Inter" pitchFamily="34" charset="-120"/>
              </a:rPr>
              <a:t>GEM™ Digital Design System V3.0 RC2 · working specification · 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12171D"/>
        </a:solidFill>
      </p:bgPr>
    </p:bg>
    <p:spTree>
      <p:nvGrpSpPr>
        <p:cNvPr id="1" name=""/>
        <p:cNvGrpSpPr/>
        <p:nvPr/>
      </p:nvGrpSpPr>
      <p:grpSpPr>
        <a:xfrm>
          <a:off x="0" y="0"/>
          <a:ext cx="0" cy="0"/>
          <a:chOff x="0" y="0"/>
          <a:chExt cx="0" cy="0"/>
        </a:xfrm>
      </p:grpSpPr>
      <p:sp>
        <p:nvSpPr>
          <p:cNvPr id="2" name="Shape 0"/>
          <p:cNvSpPr/>
          <p:nvPr/>
        </p:nvSpPr>
        <p:spPr>
          <a:xfrm>
            <a:off x="812800" y="609600"/>
            <a:ext cx="10566400" cy="6350"/>
          </a:xfrm>
          <a:prstGeom prst="rect">
            <a:avLst/>
          </a:prstGeom>
          <a:solidFill>
            <a:srgbClr val="BCACA7"/>
          </a:solidFill>
          <a:ln/>
        </p:spPr>
        <p:txBody>
          <a:bodyPr/>
          <a:p/>
        </p:txBody>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BCACA7"/>
                </a:solidFill>
                <a:latin typeface="Jost" pitchFamily="34" charset="0"/>
                <a:ea typeface="Jost" pitchFamily="34" charset="-122"/>
                <a:cs typeface="Jost" pitchFamily="34" charset="-120"/>
              </a:rPr>
              <a:t>ASSETS · VECTOR KIT RECEIVED · ACCEPTANCE PENDING</a:t>
            </a:r>
            <a:endParaRPr lang="en-US" sz="1200" dirty="0"/>
          </a:p>
        </p:txBody>
      </p:sp>
      <p:sp>
        <p:nvSpPr>
          <p:cNvPr id="4" name="Text 2"/>
          <p:cNvSpPr/>
          <p:nvPr>
            <p:ph type="title"/>
          </p:nvPr>
        </p:nvSpPr>
        <p:spPr>
          <a:xfrm>
            <a:off x="812800" y="11277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FFFFFF"/>
                </a:solidFill>
                <a:latin typeface="Jost" pitchFamily="34" charset="0"/>
                <a:ea typeface="Jost" pitchFamily="34" charset="-122"/>
                <a:cs typeface="Jost" pitchFamily="34" charset="-120"/>
              </a:rPr>
              <a:t>Logos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790650"/>
          <a:ext cx="10553700" cy="1996083"/>
        </p:xfrm>
        <a:graphic>
          <a:graphicData uri="http://schemas.openxmlformats.org/drawingml/2006/table">
            <a:tbl>
              <a:tblPr/>
              <a:tblGrid>
                <a:gridCol w="4432554"/>
                <a:gridCol w="1477518"/>
                <a:gridCol w="464362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File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Ink</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Use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gem-horizontal-beige.svg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Signature lockup on INK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gem-horizontal-black.svg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Monochrome lockup on 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gem-horizontal-white.svg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Reversed on INK or black only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gem-symbol-beige.svg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BEIGE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INK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gem-symbol-black.svg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BLACK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Standalone symbol on white</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6" name="Text 3"/>
          <p:cNvSpPr/>
          <p:nvPr/>
        </p:nvSpPr>
        <p:spPr>
          <a:xfrm>
            <a:off x="812800" y="3989933"/>
            <a:ext cx="5284724" cy="665361"/>
          </a:xfrm>
          <a:prstGeom prst="rect">
            <a:avLst/>
          </a:prstGeom>
          <a:noFill/>
          <a:ln/>
        </p:spPr>
        <p:txBody>
          <a:bodyPr wrap="square" lIns="0" tIns="0" rIns="0" bIns="0" rtlCol="0" anchor="t">
            <a:normAutofit/>
          </a:bodyPr>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Rules (H10–H15). Lockup min 120px; symbol min 32px; below that the no-spark symbol (H12; supplied in the kit). Clearspace u = G-ring radius, min 1u, preferred 2u. Never mirror (M08) or recreate in type (L16).</a:t>
            </a:r>
            <a:endParaRPr lang="en-US" sz="1200" dirty="0"/>
          </a:p>
        </p:txBody>
      </p:sp>
      <p:sp>
        <p:nvSpPr>
          <p:cNvPr id="7" name="Text 4"/>
          <p:cNvSpPr/>
          <p:nvPr/>
        </p:nvSpPr>
        <p:spPr>
          <a:xfrm>
            <a:off x="6248400" y="3989933"/>
            <a:ext cx="5284724" cy="914400"/>
          </a:xfrm>
          <a:prstGeom prst="rect">
            <a:avLst/>
          </a:prstGeom>
          <a:noFill/>
          <a:ln/>
        </p:spPr>
        <p:txBody>
          <a:bodyPr wrap="square" lIns="0" tIns="0" rIns="0" bIns="0" rtlCol="0" anchor="t"/>
          <a:lstStyle/>
          <a:p>
            <a:pPr algn="l" indent="0" marL="0">
              <a:lnSpc>
                <a:spcPts val="1680"/>
              </a:lnSpc>
              <a:buNone/>
            </a:pPr>
            <a:r>
              <a:rPr lang="en-US" sz="1200" b="0" dirty="0">
                <a:solidFill>
                  <a:srgbClr val="FFFFFF"/>
                </a:solidFill>
                <a:latin typeface="Inter" pitchFamily="34" charset="0"/>
                <a:ea typeface="Inter" pitchFamily="34" charset="-122"/>
                <a:cs typeface="Inter" pitchFamily="34" charset="-120"/>
              </a:rPr>
              <a:t>Also in the kit: ink and white colourways, stacked lockup, no-spark symbol, clearspace versions, PDF, EPS and PNG, favicon and app icons (H16–H20). Renamed to GEM_[STREAM]_[ASSET]_[VARIANT]_vX.Y_YYYYMMDD.ext (X12) at first manifest (VAL-16), never redrawn. Embroidery and deboss masters not supplied. Acceptance PENDING (VAL-02).</a:t>
            </a:r>
            <a:endParaRPr lang="en-US" sz="1200" dirty="0"/>
          </a:p>
        </p:txBody>
      </p:sp>
      <p:sp>
        <p:nvSpPr>
          <p:cNvPr id="8"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 Digital Design System V3.0 RC2 · working specification · 35 · Logos are the supplied vector kit; never redrawn or auto-traced (DS05).</a:t>
            </a:r>
            <a:endParaRPr lang="en-US" sz="1200" dirty="0"/>
          </a:p>
        </p:txBody>
      </p:sp>
    </p:spTree>
  </p:cSld>
  <p:clrMapOvr>
    <a:masterClrMapping/>
  </p:clrMapOvr>
</p:sld>
</file>

<file path=ppt/theme/theme1.xml><?xml version="1.0" encoding="utf-8"?>
<a:theme xmlns:a="http://schemas.openxmlformats.org/drawingml/2006/main" name="GEM™ Digital Design System V3.0">
  <a:themeElements>
    <a:clrScheme name="GEM™ Digital Design System V3.0">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Digital Design System V3.0">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Digital Design System V3.0</dc:title>
  <dc:subject/>
  <dc:creator/>
  <cp:lastModifiedBy/>
  <cp:revision>1</cp:revision>
  <dcterms:created xsi:type="dcterms:W3CDTF">2026-10-06T13:48:45Z</dcterms:created>
  <dcterms:modified xsi:type="dcterms:W3CDTF">2026-10-06T13:48:45Z</dcterms:modified>
</cp:coreProperties>
</file>