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the owner-authorized final brand-system baseline, synchronized with Part A and Part B and the V3 Final Brand Approval Register. Its production-standard edition state remains working edition pending production validation. It may be labelled APPROVED PRODUCTION STANDARD only when the six release gates are met and the Brand Owner authorizes release (AC20). Logo is the supplied vector kit (SVG), used unchanged; its acceptance as production master is pending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vector kit supplied with this release replaces the earlier raster references; it is not a production master until the Brand Owner accepts it (VAL-02).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the V3.0 owner-authorized baseline; its production-standard edition state remains working edition pending production validation. No evidence gate is closed by that authorization;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 Id="rId5" Type="http://schemas.openxmlformats.org/officeDocument/2006/relationships/image" Target="../media/image1.png"/><Relationship Id="rId6"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 Id="rId5" Type="http://schemas.openxmlformats.org/officeDocument/2006/relationships/image" Target="../media/image4.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 Id="rId5" Type="http://schemas.openxmlformats.org/officeDocument/2006/relationships/image" Target="../media/image1.png"/><Relationship Id="rId6"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sp>
        <p:nvSpPr>
          <p:cNvPr id="10" name="Title 10"/>
          <p:cNvSpPr>
            <a:spLocks noGrp="1"/>
          </p:cNvSpPr>
          <p:nvPr>
            <p:ph type="title"/>
          </p:nvPr>
        </p:nvSpPr>
        <p:spPr>
          <a:xfrm>
            <a:off x="457200" y="7315200"/>
            <a:ext cx="8229600" cy="365760"/>
          </a:xfrm>
        </p:spPr>
        <p:txBody>
          <a:bodyPr/>
          <a:lstStyle/>
          <a:p>
            <a:pPr>
              <a:lnSpc>
                <a:spcPct val="100000"/>
              </a:lnSpc>
            </a:pPr>
            <a:r>
              <a:rPr lang="en-US" sz="1200" dirty="0"/>
              <a:t>Production Standards V3.0</a:t>
            </a:r>
          </a:p>
        </p:txBody>
      </p:sp>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V3.0 · FINAL BRAND-SYSTEM BASELINE</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Production release conditions incomplete · release authorization (AC20) issued with formal deferrals · logo from supplied vector kit, acceptance PENDING (VAL-02) · Document ID GEM-PS-V3.0 · V3.0 · issued 2026-10-09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a:extLst>
              <a:ext uri="{C183D7F6-B498-43B3-948B-1728B52AA6E4}">
                <adec:decorative xmlns:adec="http://schemas.microsoft.com/office/drawing/2017/decorative" val="1"/>
              </a:ext>
            </a:extLst>
          </p:cNvPr>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a:extLst>
              <a:ext uri="{C183D7F6-B498-43B3-948B-1728B52AA6E4}">
                <adec:decorative xmlns:adec="http://schemas.microsoft.com/office/drawing/2017/decorative" val="1"/>
              </a:ext>
            </a:extLst>
          </p:cNvPr>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not yet accepted.</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firstRow="1"/>
              <a:tblGrid>
                <a:gridCol w="2276288"/>
                <a:gridCol w="1655482"/>
                <a:gridCol w="1655482"/>
                <a:gridCol w="1655482"/>
                <a:gridCol w="1655482"/>
                <a:gridCol w="165548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a:extLst>
              <a:ext uri="{C183D7F6-B498-43B3-948B-1728B52AA6E4}">
                <adec:decorative xmlns:adec="http://schemas.microsoft.com/office/drawing/2017/decorative" val="1"/>
              </a:ext>
            </a:extLst>
          </p:cNvPr>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a:extLst>
              <a:ext uri="{C183D7F6-B498-43B3-948B-1728B52AA6E4}">
                <adec:decorative xmlns:adec="http://schemas.microsoft.com/office/drawing/2017/decorative" val="1"/>
              </a:ext>
            </a:extLst>
          </p:cNvPr>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a:extLst>
              <a:ext uri="{C183D7F6-B498-43B3-948B-1728B52AA6E4}">
                <adec:decorative xmlns:adec="http://schemas.microsoft.com/office/drawing/2017/decorative" val="1"/>
              </a:ext>
            </a:extLst>
          </p:cNvPr>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a:extLst>
              <a:ext uri="{C183D7F6-B498-43B3-948B-1728B52AA6E4}">
                <adec:decorative xmlns:adec="http://schemas.microsoft.com/office/drawing/2017/decorative" val="1"/>
              </a:ext>
            </a:extLst>
          </p:cNvPr>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a:extLst>
              <a:ext uri="{C183D7F6-B498-43B3-948B-1728B52AA6E4}">
                <adec:decorative xmlns:adec="http://schemas.microsoft.com/office/drawing/2017/decorative" val="1"/>
              </a:ext>
            </a:extLst>
          </p:cNvPr>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firstRow="1"/>
              <a:tblGrid>
                <a:gridCol w="3799332"/>
                <a:gridCol w="2743962"/>
                <a:gridCol w="4010406"/>
              </a:tblGrid>
              <a:tr h="324892">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0"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SVG, PDF, EPS, 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Icon set supplied (kit)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KIT RECEIVED · ACCEPTANCE 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Vector kit supplied: SVG, PDF, EPS, PNG (see Part B). Controlled names follow X12 at first manifest (VAL-16); files are renamed, never redrawn. Acceptance as production master PENDING (VAL-02).</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firstRow="1"/>
              <a:tblGrid>
                <a:gridCol w="3377184"/>
                <a:gridCol w="7176516"/>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17" name="Title 17"/>
          <p:cNvSpPr>
            <a:spLocks noGrp="1"/>
          </p:cNvSpPr>
          <p:nvPr>
            <p:ph type="title"/>
          </p:nvPr>
        </p:nvSpPr>
        <p:spPr>
          <a:xfrm>
            <a:off x="457200" y="7315200"/>
            <a:ext cx="8229600" cy="365760"/>
          </a:xfrm>
        </p:spPr>
        <p:txBody>
          <a:bodyPr/>
          <a:lstStyle/>
          <a:p>
            <a:pPr>
              <a:lnSpc>
                <a:spcPct val="100000"/>
              </a:lnSpc>
            </a:pPr>
            <a:r>
              <a:rPr lang="en-US" sz="1200" dirty="0"/>
              <a:t>Clearspace and minimum size</a:t>
            </a:r>
          </a:p>
        </p:txBody>
      </p:sp>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a:extLst>
              <a:ext uri="{C183D7F6-B498-43B3-948B-1728B52AA6E4}">
                <adec:decorative xmlns:adec="http://schemas.microsoft.com/office/drawing/2017/decorative" val="1"/>
              </a:ext>
            </a:extLst>
          </p:cNvPr>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4">
            <a:extLst>
              <a:ext uri="{96DAC541-7B7A-43D3-8B79-37D633B846F1}">
                <asvg:svgBlip xmlns:asvg="http://schemas.microsoft.com/office/drawing/2016/SVG/main" r:embed="rId5"/>
              </a:ext>
            </a:extLst>
          </a:blip>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a:extLst>
              <a:ext uri="{C183D7F6-B498-43B3-948B-1728B52AA6E4}">
                <adec:decorative xmlns:adec="http://schemas.microsoft.com/office/drawing/2017/decorative" val="1"/>
              </a:ext>
            </a:extLst>
          </p:cNvPr>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a:extLst>
              <a:ext uri="{C183D7F6-B498-43B3-948B-1728B52AA6E4}">
                <adec:decorative xmlns:adec="http://schemas.microsoft.com/office/drawing/2017/decorative" val="1"/>
              </a:ext>
            </a:extLst>
          </p:cNvPr>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a:extLst>
              <a:ext uri="{C183D7F6-B498-43B3-948B-1728B52AA6E4}">
                <adec:decorative xmlns:adec="http://schemas.microsoft.com/office/drawing/2017/decorative" val="1"/>
              </a:ext>
            </a:extLst>
          </p:cNvPr>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No-spark symbol: supplied in kit · ACCEPTANCE PENDING</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a:extLst>
              <a:ext uri="{C183D7F6-B498-43B3-948B-1728B52AA6E4}">
                <adec:decorative xmlns:adec="http://schemas.microsoft.com/office/drawing/2017/decorative" val="1"/>
              </a:ext>
            </a:extLst>
          </p:cNvPr>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a:extLst>
              <a:ext uri="{C183D7F6-B498-43B3-948B-1728B52AA6E4}">
                <adec:decorative xmlns:adec="http://schemas.microsoft.com/office/drawing/2017/decorative" val="1"/>
              </a:ext>
            </a:extLst>
          </p:cNvPr>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a:extLst>
              <a:ext uri="{C183D7F6-B498-43B3-948B-1728B52AA6E4}">
                <adec:decorative xmlns:adec="http://schemas.microsoft.com/office/drawing/2017/decorative" val="1"/>
              </a:ext>
            </a:extLst>
          </p:cNvPr>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a:extLst>
              <a:ext uri="{C183D7F6-B498-43B3-948B-1728B52AA6E4}">
                <adec:decorative xmlns:adec="http://schemas.microsoft.com/office/drawing/2017/decorative" val="1"/>
              </a:ext>
            </a:extLst>
          </p:cNvPr>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a:extLst>
              <a:ext uri="{C183D7F6-B498-43B3-948B-1728B52AA6E4}">
                <adec:decorative xmlns:adec="http://schemas.microsoft.com/office/drawing/2017/decorative" val="1"/>
              </a:ext>
            </a:extLst>
          </p:cNvPr>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a:extLst>
              <a:ext uri="{C183D7F6-B498-43B3-948B-1728B52AA6E4}">
                <adec:decorative xmlns:adec="http://schemas.microsoft.com/office/drawing/2017/decorative" val="1"/>
              </a:ext>
            </a:extLst>
          </p:cNvPr>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a:extLst>
              <a:ext uri="{C183D7F6-B498-43B3-948B-1728B52AA6E4}">
                <adec:decorative xmlns:adec="http://schemas.microsoft.com/office/drawing/2017/decorative" val="1"/>
              </a:ext>
            </a:extLst>
          </p:cNvPr>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16" name="Title 16"/>
          <p:cNvSpPr>
            <a:spLocks noGrp="1"/>
          </p:cNvSpPr>
          <p:nvPr>
            <p:ph type="title"/>
          </p:nvPr>
        </p:nvSpPr>
        <p:spPr>
          <a:xfrm>
            <a:off x="457200" y="7315200"/>
            <a:ext cx="8229600" cy="365760"/>
          </a:xfrm>
        </p:spPr>
        <p:txBody>
          <a:bodyPr/>
          <a:lstStyle/>
          <a:p>
            <a:pPr>
              <a:lnSpc>
                <a:spcPct val="100000"/>
              </a:lnSpc>
            </a:pPr>
            <a:r>
              <a:rPr lang="en-US" sz="1200" dirty="0"/>
              <a:t>Ink and black</a:t>
            </a:r>
          </a:p>
        </p:txBody>
      </p:sp>
      <p:sp>
        <p:nvSpPr>
          <p:cNvPr id="2" name="Shape 0">
            <a:extLst>
              <a:ext uri="{C183D7F6-B498-43B3-948B-1728B52AA6E4}">
                <adec:decorative xmlns:adec="http://schemas.microsoft.com/office/drawing/2017/decorative" val="1"/>
              </a:ext>
            </a:extLst>
          </p:cNvPr>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a:extLst>
              <a:ext uri="{C183D7F6-B498-43B3-948B-1728B52AA6E4}">
                <adec:decorative xmlns:adec="http://schemas.microsoft.com/office/drawing/2017/decorative" val="1"/>
              </a:ext>
            </a:extLst>
          </p:cNvPr>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firstRow="1"/>
              <a:tblGrid>
                <a:gridCol w="2321814"/>
                <a:gridCol w="2743962"/>
                <a:gridCol w="168859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 500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11" name="Text 8"/>
          <p:cNvSpPr/>
          <p:nvPr/>
        </p:nvSpPr>
        <p:spPr>
          <a:xfrm>
            <a:off x="812800" y="4250000"/>
            <a:ext cx="1088339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CURRENT IMPLEMENTED WEIGHT = 400 (Jost, Inter). 500 is PENDING ACCEPTED FONT FILE and is not available to any current build. Noto Sans Arabic weights remain [PENDING].</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a:extLst>
              <a:ext uri="{C183D7F6-B498-43B3-948B-1728B52AA6E4}">
                <adec:decorative xmlns:adec="http://schemas.microsoft.com/office/drawing/2017/decorative" val="1"/>
              </a:ext>
            </a:extLst>
          </p:cNvPr>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a:extLst>
              <a:ext uri="{C183D7F6-B498-43B3-948B-1728B52AA6E4}">
                <adec:decorative xmlns:adec="http://schemas.microsoft.com/office/drawing/2017/decorative" val="1"/>
              </a:ext>
            </a:extLst>
          </p:cNvPr>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a:extLst>
              <a:ext uri="{C183D7F6-B498-43B3-948B-1728B52AA6E4}">
                <adec:decorative xmlns:adec="http://schemas.microsoft.com/office/drawing/2017/decorative" val="1"/>
              </a:ext>
            </a:extLst>
          </p:cNvPr>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a:extLst>
              <a:ext uri="{C183D7F6-B498-43B3-948B-1728B52AA6E4}">
                <adec:decorative xmlns:adec="http://schemas.microsoft.com/office/drawing/2017/decorative" val="1"/>
              </a:ext>
            </a:extLst>
          </p:cNvPr>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a:extLst>
              <a:ext uri="{C183D7F6-B498-43B3-948B-1728B52AA6E4}">
                <adec:decorative xmlns:adec="http://schemas.microsoft.com/office/drawing/2017/decorative" val="1"/>
              </a:ext>
            </a:extLst>
          </p:cNvPr>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a:extLst>
              <a:ext uri="{C183D7F6-B498-43B3-948B-1728B52AA6E4}">
                <adec:decorative xmlns:adec="http://schemas.microsoft.com/office/drawing/2017/decorative" val="1"/>
              </a:ext>
            </a:extLst>
          </p:cNvPr>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a:extLst>
              <a:ext uri="{C183D7F6-B498-43B3-948B-1728B52AA6E4}">
                <adec:decorative xmlns:adec="http://schemas.microsoft.com/office/drawing/2017/decorative" val="1"/>
              </a:ext>
            </a:extLst>
          </p:cNvPr>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a:extLst>
              <a:ext uri="{C183D7F6-B498-43B3-948B-1728B52AA6E4}">
                <adec:decorative xmlns:adec="http://schemas.microsoft.com/office/drawing/2017/decorative" val="1"/>
              </a:ext>
            </a:extLst>
          </p:cNvPr>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a:extLst>
              <a:ext uri="{C183D7F6-B498-43B3-948B-1728B52AA6E4}">
                <adec:decorative xmlns:adec="http://schemas.microsoft.com/office/drawing/2017/decorative" val="1"/>
              </a:ext>
            </a:extLst>
          </p:cNvPr>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a:extLst>
              <a:ext uri="{C183D7F6-B498-43B3-948B-1728B52AA6E4}">
                <adec:decorative xmlns:adec="http://schemas.microsoft.com/office/drawing/2017/decorative" val="1"/>
              </a:ext>
            </a:extLst>
          </p:cNvPr>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a:extLst>
              <a:ext uri="{C183D7F6-B498-43B3-948B-1728B52AA6E4}">
                <adec:decorative xmlns:adec="http://schemas.microsoft.com/office/drawing/2017/decorative" val="1"/>
              </a:ext>
            </a:extLst>
          </p:cNvPr>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a:extLst>
              <a:ext uri="{C183D7F6-B498-43B3-948B-1728B52AA6E4}">
                <adec:decorative xmlns:adec="http://schemas.microsoft.com/office/drawing/2017/decorative" val="1"/>
              </a:ext>
            </a:extLst>
          </p:cNvPr>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a:extLst>
              <a:ext uri="{C183D7F6-B498-43B3-948B-1728B52AA6E4}">
                <adec:decorative xmlns:adec="http://schemas.microsoft.com/office/drawing/2017/decorative" val="1"/>
              </a:ext>
            </a:extLst>
          </p:cNvPr>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a:extLst>
              <a:ext uri="{C183D7F6-B498-43B3-948B-1728B52AA6E4}">
                <adec:decorative xmlns:adec="http://schemas.microsoft.com/office/drawing/2017/decorative" val="1"/>
              </a:ext>
            </a:extLst>
          </p:cNvPr>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a:extLst>
              <a:ext uri="{C183D7F6-B498-43B3-948B-1728B52AA6E4}">
                <adec:decorative xmlns:adec="http://schemas.microsoft.com/office/drawing/2017/decorative" val="1"/>
              </a:ext>
            </a:extLst>
          </p:cNvPr>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a:extLst>
              <a:ext uri="{C183D7F6-B498-43B3-948B-1728B52AA6E4}">
                <adec:decorative xmlns:adec="http://schemas.microsoft.com/office/drawing/2017/decorative" val="1"/>
              </a:ext>
            </a:extLst>
          </p:cNvPr>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a:extLst>
              <a:ext uri="{C183D7F6-B498-43B3-948B-1728B52AA6E4}">
                <adec:decorative xmlns:adec="http://schemas.microsoft.com/office/drawing/2017/decorative" val="1"/>
              </a:ext>
            </a:extLst>
          </p:cNvPr>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a:extLst>
              <a:ext uri="{C183D7F6-B498-43B3-948B-1728B52AA6E4}">
                <adec:decorative xmlns:adec="http://schemas.microsoft.com/office/drawing/2017/decorative" val="1"/>
              </a:ext>
            </a:extLst>
          </p:cNvPr>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a:extLst>
              <a:ext uri="{C183D7F6-B498-43B3-948B-1728B52AA6E4}">
                <adec:decorative xmlns:adec="http://schemas.microsoft.com/office/drawing/2017/decorative" val="1"/>
              </a:ext>
            </a:extLst>
          </p:cNvPr>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a:extLst>
              <a:ext uri="{C183D7F6-B498-43B3-948B-1728B52AA6E4}">
                <adec:decorative xmlns:adec="http://schemas.microsoft.com/office/drawing/2017/decorative" val="1"/>
              </a:ext>
            </a:extLst>
          </p:cNvPr>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a:extLst>
              <a:ext uri="{C183D7F6-B498-43B3-948B-1728B52AA6E4}">
                <adec:decorative xmlns:adec="http://schemas.microsoft.com/office/drawing/2017/decorative" val="1"/>
              </a:ext>
            </a:extLst>
          </p:cNvPr>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a:extLst>
              <a:ext uri="{C183D7F6-B498-43B3-948B-1728B52AA6E4}">
                <adec:decorative xmlns:adec="http://schemas.microsoft.com/office/drawing/2017/decorative" val="1"/>
              </a:ext>
            </a:extLst>
          </p:cNvPr>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a:extLst>
              <a:ext uri="{C183D7F6-B498-43B3-948B-1728B52AA6E4}">
                <adec:decorative xmlns:adec="http://schemas.microsoft.com/office/drawing/2017/decorative" val="1"/>
              </a:ext>
            </a:extLst>
          </p:cNvPr>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a:extLst>
              <a:ext uri="{C183D7F6-B498-43B3-948B-1728B52AA6E4}">
                <adec:decorative xmlns:adec="http://schemas.microsoft.com/office/drawing/2017/decorative" val="1"/>
              </a:ext>
            </a:extLst>
          </p:cNvPr>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a:extLst>
              <a:ext uri="{C183D7F6-B498-43B3-948B-1728B52AA6E4}">
                <adec:decorative xmlns:adec="http://schemas.microsoft.com/office/drawing/2017/decorative" val="1"/>
              </a:ext>
            </a:extLst>
          </p:cNvPr>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a:extLst>
              <a:ext uri="{C183D7F6-B498-43B3-948B-1728B52AA6E4}">
                <adec:decorative xmlns:adec="http://schemas.microsoft.com/office/drawing/2017/decorative" val="1"/>
              </a:ext>
            </a:extLst>
          </p:cNvPr>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a:extLst>
              <a:ext uri="{C183D7F6-B498-43B3-948B-1728B52AA6E4}">
                <adec:decorative xmlns:adec="http://schemas.microsoft.com/office/drawing/2017/decorative" val="1"/>
              </a:ext>
            </a:extLst>
          </p:cNvPr>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a:extLst>
              <a:ext uri="{C183D7F6-B498-43B3-948B-1728B52AA6E4}">
                <adec:decorative xmlns:adec="http://schemas.microsoft.com/office/drawing/2017/decorative" val="1"/>
              </a:ext>
            </a:extLst>
          </p:cNvPr>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a:extLst>
              <a:ext uri="{C183D7F6-B498-43B3-948B-1728B52AA6E4}">
                <adec:decorative xmlns:adec="http://schemas.microsoft.com/office/drawing/2017/decorative" val="1"/>
              </a:ext>
            </a:extLst>
          </p:cNvPr>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a:extLst>
              <a:ext uri="{C183D7F6-B498-43B3-948B-1728B52AA6E4}">
                <adec:decorative xmlns:adec="http://schemas.microsoft.com/office/drawing/2017/decorative" val="1"/>
              </a:ext>
            </a:extLst>
          </p:cNvPr>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a:extLst>
              <a:ext uri="{C183D7F6-B498-43B3-948B-1728B52AA6E4}">
                <adec:decorative xmlns:adec="http://schemas.microsoft.com/office/drawing/2017/decorative" val="1"/>
              </a:ext>
            </a:extLst>
          </p:cNvPr>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firstRow="1"/>
              <a:tblGrid>
                <a:gridCol w="2691765"/>
                <a:gridCol w="3289935"/>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firstRow="1"/>
              <a:tblGrid>
                <a:gridCol w="2532888"/>
                <a:gridCol w="2005203"/>
                <a:gridCol w="2005203"/>
                <a:gridCol w="2005203"/>
                <a:gridCol w="2005203"/>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firstRow="1"/>
              <a:tblGrid>
                <a:gridCol w="3588258"/>
                <a:gridCol w="696544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a:extLst>
              <a:ext uri="{C183D7F6-B498-43B3-948B-1728B52AA6E4}">
                <adec:decorative xmlns:adec="http://schemas.microsoft.com/office/drawing/2017/decorative" val="1"/>
              </a:ext>
            </a:extLst>
          </p:cNvPr>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2321814"/>
                <a:gridCol w="2743962"/>
                <a:gridCol w="2743962"/>
                <a:gridCol w="274396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firstRow="1"/>
              <a:tblGrid>
                <a:gridCol w="2955036"/>
                <a:gridCol w="3799332"/>
                <a:gridCol w="3799332"/>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a Letterhead Set (Application Revision 03) exists as a WORKING APPLICATION / PENDING VALIDATION; no template is accepted.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firstRow="1"/>
              <a:tblGrid>
                <a:gridCol w="738759"/>
                <a:gridCol w="1794129"/>
                <a:gridCol w="3799332"/>
                <a:gridCol w="422148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0"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799332"/>
                <a:gridCol w="675436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firstRow="1"/>
              <a:tblGrid>
                <a:gridCol w="3166110"/>
                <a:gridCol w="7387590"/>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firstRow="1"/>
              <a:tblGrid>
                <a:gridCol w="2676144"/>
                <a:gridCol w="1059307"/>
                <a:gridCol w="1226566"/>
                <a:gridCol w="613283"/>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firstRow="1"/>
              <a:tblGrid>
                <a:gridCol w="4854702"/>
                <a:gridCol w="5698998"/>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firstRow="1"/>
              <a:tblGrid>
                <a:gridCol w="3060573"/>
                <a:gridCol w="2216277"/>
                <a:gridCol w="3060573"/>
                <a:gridCol w="2216277"/>
              </a:tblGrid>
              <a:tr h="330646">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0"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firstRow="1"/>
              <a:tblGrid>
                <a:gridCol w="3060573"/>
                <a:gridCol w="2216277"/>
                <a:gridCol w="3060573"/>
                <a:gridCol w="2216277"/>
              </a:tblGrid>
              <a:tr h="332680">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0"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LISTED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Logo masters, kit received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No-spark logo, kit received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kit received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kit received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authorization · AC20 · issued</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Authorized · AC20, formal deferrals</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a:extLst>
              <a:ext uri="{C183D7F6-B498-43B3-948B-1728B52AA6E4}">
                <adec:decorative xmlns:adec="http://schemas.microsoft.com/office/drawing/2017/decorative" val="1"/>
              </a:ext>
            </a:extLst>
          </p:cNvPr>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a:t>
            </a:r>
            <a:endParaRPr lang="en-US" sz="1200" dirty="0"/>
          </a:p>
        </p:txBody>
      </p:sp>
      <p:sp>
        <p:nvSpPr>
          <p:cNvPr id="7" name="Shape 5">
            <a:extLst>
              <a:ext uri="{C183D7F6-B498-43B3-948B-1728B52AA6E4}">
                <adec:decorative xmlns:adec="http://schemas.microsoft.com/office/drawing/2017/decorative" val="1"/>
              </a:ext>
            </a:extLst>
          </p:cNvPr>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(final brand-system baseline)</a:t>
            </a:r>
            <a:endParaRPr lang="en-US" sz="1200" dirty="0"/>
          </a:p>
        </p:txBody>
      </p:sp>
      <p:sp>
        <p:nvSpPr>
          <p:cNvPr id="10" name="Shape 8">
            <a:extLst>
              <a:ext uri="{C183D7F6-B498-43B3-948B-1728B52AA6E4}">
                <adec:decorative xmlns:adec="http://schemas.microsoft.com/office/drawing/2017/decorative" val="1"/>
              </a:ext>
            </a:extLst>
          </p:cNvPr>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AUTHORIZED · WORKING EDITION</a:t>
            </a:r>
            <a:endParaRPr lang="en-US" sz="1200" dirty="0"/>
          </a:p>
        </p:txBody>
      </p:sp>
      <p:sp>
        <p:nvSpPr>
          <p:cNvPr id="13" name="Shape 11">
            <a:extLst>
              <a:ext uri="{C183D7F6-B498-43B3-948B-1728B52AA6E4}">
                <adec:decorative xmlns:adec="http://schemas.microsoft.com/office/drawing/2017/decorative" val="1"/>
              </a:ext>
            </a:extLst>
          </p:cNvPr>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2026-10-09</a:t>
            </a:r>
            <a:endParaRPr lang="en-US" sz="1200" dirty="0"/>
          </a:p>
        </p:txBody>
      </p:sp>
      <p:sp>
        <p:nvSpPr>
          <p:cNvPr id="16" name="Shape 14">
            <a:extLst>
              <a:ext uri="{C183D7F6-B498-43B3-948B-1728B52AA6E4}">
                <adec:decorative xmlns:adec="http://schemas.microsoft.com/office/drawing/2017/decorative" val="1"/>
              </a:ext>
            </a:extLst>
          </p:cNvPr>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a:extLst>
              <a:ext uri="{C183D7F6-B498-43B3-948B-1728B52AA6E4}">
                <adec:decorative xmlns:adec="http://schemas.microsoft.com/office/drawing/2017/decorative" val="1"/>
              </a:ext>
            </a:extLst>
          </p:cNvPr>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AUTHORIZED</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owner authorized baseline · formal deferrals recorded · gates open or deferred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V3.0 RC2 (2026-10-06), RC1 (undated) · Related: GEM-BG-V3.0 (Part A) · GEM-DDS-V3.0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V3.0 labels;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5">
            <a:extLst>
              <a:ext uri="{96DAC541-7B7A-43D3-8B79-37D633B846F1}">
                <asvg:svgBlip xmlns:asvg="http://schemas.microsoft.com/office/drawing/2016/SVG/main" r:embed="rId6"/>
              </a:ext>
            </a:extLst>
          </a:blip>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V3.0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V3.0 — Part C</dc:title>
  <dc:subject/>
  <dc:creator/>
  <cp:lastModifiedBy/>
  <cp:revision>1</cp:revision>
  <dcterms:created xsi:type="dcterms:W3CDTF">2026-10-06T02:06:29Z</dcterms:created>
  <dcterms:modified xsi:type="dcterms:W3CDTF">2026-10-06T02:06:29Z</dcterms:modified>
</cp:coreProperties>
</file>