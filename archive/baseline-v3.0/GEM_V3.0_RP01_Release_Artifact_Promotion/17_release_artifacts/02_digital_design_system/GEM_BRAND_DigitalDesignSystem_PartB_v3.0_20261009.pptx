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the owner-authorized final brand-system baseline, synchronized with Part A, Part C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V3.0; its production-standard edition state is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a:extLst>
              <a:ext uri="{C183D7F6-B498-43B3-948B-1728B52AA6E4}">
                <adec:decorative xmlns:adec="http://schemas.microsoft.com/office/drawing/2017/decorative" val="1"/>
              </a:ext>
            </a:extLst>
          </p:cNvPr>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 OWNER AUTHORIZED FINAL BRAND-SYSTEM BASELINE · GEM-DDS-V3.0 · ISSUED 2026-10-09</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firstRow="1"/>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V3.0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a:extLst>
              <a:ext uri="{C183D7F6-B498-43B3-948B-1728B52AA6E4}">
                <adec:decorative xmlns:adec="http://schemas.microsoft.com/office/drawing/2017/decorative" val="1"/>
              </a:ext>
            </a:extLst>
          </p:cNvPr>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firstRow="1"/>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firstRow="1"/>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firstRow="1"/>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descr="Spacing scale specimen: nine squares from 4 px to 96 px."/>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a:extLst>
              <a:ext uri="{C183D7F6-B498-43B3-948B-1728B52AA6E4}">
                <adec:decorative xmlns:adec="http://schemas.microsoft.com/office/drawing/2017/decorative" val="1"/>
              </a:ext>
            </a:extLst>
          </p:cNvPr>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a:extLst>
              <a:ext uri="{C183D7F6-B498-43B3-948B-1728B52AA6E4}">
                <adec:decorative xmlns:adec="http://schemas.microsoft.com/office/drawing/2017/decorative" val="1"/>
              </a:ext>
            </a:extLst>
          </p:cNvPr>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a:extLst>
              <a:ext uri="{C183D7F6-B498-43B3-948B-1728B52AA6E4}">
                <adec:decorative xmlns:adec="http://schemas.microsoft.com/office/drawing/2017/decorative" val="1"/>
              </a:ext>
            </a:extLst>
          </p:cNvPr>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a:extLst>
              <a:ext uri="{C183D7F6-B498-43B3-948B-1728B52AA6E4}">
                <adec:decorative xmlns:adec="http://schemas.microsoft.com/office/drawing/2017/decorative" val="1"/>
              </a:ext>
            </a:extLst>
          </p:cNvPr>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rtl="1">
              <a:lnSpc>
                <a:spcPts val="5280"/>
              </a:lnSpc>
              <a:buNone/>
            </a:pPr>
            <a:r>
              <a:rPr lang="ar-SA"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firstRow="1"/>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firstRow="1"/>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firstRow="1"/>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firstRow="1"/>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descr="Twelve-column grid specimen: twelve equal columns."/>
          <p:cNvSpPr/>
          <p:nvPr/>
        </p:nvSpPr>
        <p:spPr>
          <a:xfrm>
            <a:off x="812800" y="3989933"/>
            <a:ext cx="810667" cy="304800"/>
          </a:xfrm>
          <a:prstGeom prst="rect">
            <a:avLst/>
          </a:prstGeom>
          <a:solidFill>
            <a:srgbClr val="BCACA7"/>
          </a:solidFill>
          <a:ln/>
        </p:spPr>
        <p:txBody>
          <a:bodyPr/>
          <a:p/>
        </p:txBody>
      </p:sp>
      <p:sp>
        <p:nvSpPr>
          <p:cNvPr id="7" name="Shape 4">
            <a:extLst>
              <a:ext uri="{C183D7F6-B498-43B3-948B-1728B52AA6E4}">
                <adec:decorative xmlns:adec="http://schemas.microsoft.com/office/drawing/2017/decorative" val="1"/>
              </a:ext>
            </a:extLst>
          </p:cNvPr>
          <p:cNvSpPr/>
          <p:nvPr/>
        </p:nvSpPr>
        <p:spPr>
          <a:xfrm>
            <a:off x="1699667" y="3989933"/>
            <a:ext cx="810716" cy="304800"/>
          </a:xfrm>
          <a:prstGeom prst="rect">
            <a:avLst/>
          </a:prstGeom>
          <a:solidFill>
            <a:srgbClr val="BCACA7"/>
          </a:solidFill>
          <a:ln/>
        </p:spPr>
        <p:txBody>
          <a:bodyPr/>
          <a:p/>
        </p:txBody>
      </p:sp>
      <p:sp>
        <p:nvSpPr>
          <p:cNvPr id="8" name="Shape 5">
            <a:extLst>
              <a:ext uri="{C183D7F6-B498-43B3-948B-1728B52AA6E4}">
                <adec:decorative xmlns:adec="http://schemas.microsoft.com/office/drawing/2017/decorative" val="1"/>
              </a:ext>
            </a:extLst>
          </p:cNvPr>
          <p:cNvSpPr/>
          <p:nvPr/>
        </p:nvSpPr>
        <p:spPr>
          <a:xfrm>
            <a:off x="2586583" y="3989933"/>
            <a:ext cx="810667" cy="304800"/>
          </a:xfrm>
          <a:prstGeom prst="rect">
            <a:avLst/>
          </a:prstGeom>
          <a:solidFill>
            <a:srgbClr val="BCACA7"/>
          </a:solidFill>
          <a:ln/>
        </p:spPr>
        <p:txBody>
          <a:bodyPr/>
          <a:p/>
        </p:txBody>
      </p:sp>
      <p:sp>
        <p:nvSpPr>
          <p:cNvPr id="9" name="Shape 6">
            <a:extLst>
              <a:ext uri="{C183D7F6-B498-43B3-948B-1728B52AA6E4}">
                <adec:decorative xmlns:adec="http://schemas.microsoft.com/office/drawing/2017/decorative" val="1"/>
              </a:ext>
            </a:extLst>
          </p:cNvPr>
          <p:cNvSpPr/>
          <p:nvPr/>
        </p:nvSpPr>
        <p:spPr>
          <a:xfrm>
            <a:off x="3473450" y="3989933"/>
            <a:ext cx="810716" cy="304800"/>
          </a:xfrm>
          <a:prstGeom prst="rect">
            <a:avLst/>
          </a:prstGeom>
          <a:solidFill>
            <a:srgbClr val="BCACA7"/>
          </a:solidFill>
          <a:ln/>
        </p:spPr>
        <p:txBody>
          <a:bodyPr/>
          <a:p/>
        </p:txBody>
      </p:sp>
      <p:sp>
        <p:nvSpPr>
          <p:cNvPr id="10" name="Shape 7">
            <a:extLst>
              <a:ext uri="{C183D7F6-B498-43B3-948B-1728B52AA6E4}">
                <adec:decorative xmlns:adec="http://schemas.microsoft.com/office/drawing/2017/decorative" val="1"/>
              </a:ext>
            </a:extLst>
          </p:cNvPr>
          <p:cNvSpPr/>
          <p:nvPr/>
        </p:nvSpPr>
        <p:spPr>
          <a:xfrm>
            <a:off x="4360366" y="3989933"/>
            <a:ext cx="810667" cy="304800"/>
          </a:xfrm>
          <a:prstGeom prst="rect">
            <a:avLst/>
          </a:prstGeom>
          <a:solidFill>
            <a:srgbClr val="BCACA7"/>
          </a:solidFill>
          <a:ln/>
        </p:spPr>
        <p:txBody>
          <a:bodyPr/>
          <a:p/>
        </p:txBody>
      </p:sp>
      <p:sp>
        <p:nvSpPr>
          <p:cNvPr id="11" name="Shape 8">
            <a:extLst>
              <a:ext uri="{C183D7F6-B498-43B3-948B-1728B52AA6E4}">
                <adec:decorative xmlns:adec="http://schemas.microsoft.com/office/drawing/2017/decorative" val="1"/>
              </a:ext>
            </a:extLst>
          </p:cNvPr>
          <p:cNvSpPr/>
          <p:nvPr/>
        </p:nvSpPr>
        <p:spPr>
          <a:xfrm>
            <a:off x="5247233" y="3989933"/>
            <a:ext cx="810716" cy="304800"/>
          </a:xfrm>
          <a:prstGeom prst="rect">
            <a:avLst/>
          </a:prstGeom>
          <a:solidFill>
            <a:srgbClr val="BCACA7"/>
          </a:solidFill>
          <a:ln/>
        </p:spPr>
        <p:txBody>
          <a:bodyPr/>
          <a:p/>
        </p:txBody>
      </p:sp>
      <p:sp>
        <p:nvSpPr>
          <p:cNvPr id="12" name="Shape 9">
            <a:extLst>
              <a:ext uri="{C183D7F6-B498-43B3-948B-1728B52AA6E4}">
                <adec:decorative xmlns:adec="http://schemas.microsoft.com/office/drawing/2017/decorative" val="1"/>
              </a:ext>
            </a:extLst>
          </p:cNvPr>
          <p:cNvSpPr/>
          <p:nvPr/>
        </p:nvSpPr>
        <p:spPr>
          <a:xfrm>
            <a:off x="6134150" y="3989933"/>
            <a:ext cx="810667" cy="304800"/>
          </a:xfrm>
          <a:prstGeom prst="rect">
            <a:avLst/>
          </a:prstGeom>
          <a:solidFill>
            <a:srgbClr val="BCACA7"/>
          </a:solidFill>
          <a:ln/>
        </p:spPr>
        <p:txBody>
          <a:bodyPr/>
          <a:p/>
        </p:txBody>
      </p:sp>
      <p:sp>
        <p:nvSpPr>
          <p:cNvPr id="13" name="Shape 10">
            <a:extLst>
              <a:ext uri="{C183D7F6-B498-43B3-948B-1728B52AA6E4}">
                <adec:decorative xmlns:adec="http://schemas.microsoft.com/office/drawing/2017/decorative" val="1"/>
              </a:ext>
            </a:extLst>
          </p:cNvPr>
          <p:cNvSpPr/>
          <p:nvPr/>
        </p:nvSpPr>
        <p:spPr>
          <a:xfrm>
            <a:off x="7021016" y="3989933"/>
            <a:ext cx="810716" cy="304800"/>
          </a:xfrm>
          <a:prstGeom prst="rect">
            <a:avLst/>
          </a:prstGeom>
          <a:solidFill>
            <a:srgbClr val="BCACA7"/>
          </a:solidFill>
          <a:ln/>
        </p:spPr>
        <p:txBody>
          <a:bodyPr/>
          <a:p/>
        </p:txBody>
      </p:sp>
      <p:sp>
        <p:nvSpPr>
          <p:cNvPr id="14" name="Shape 11">
            <a:extLst>
              <a:ext uri="{C183D7F6-B498-43B3-948B-1728B52AA6E4}">
                <adec:decorative xmlns:adec="http://schemas.microsoft.com/office/drawing/2017/decorative" val="1"/>
              </a:ext>
            </a:extLst>
          </p:cNvPr>
          <p:cNvSpPr/>
          <p:nvPr/>
        </p:nvSpPr>
        <p:spPr>
          <a:xfrm>
            <a:off x="7907933" y="3989933"/>
            <a:ext cx="810667" cy="304800"/>
          </a:xfrm>
          <a:prstGeom prst="rect">
            <a:avLst/>
          </a:prstGeom>
          <a:solidFill>
            <a:srgbClr val="BCACA7"/>
          </a:solidFill>
          <a:ln/>
        </p:spPr>
        <p:txBody>
          <a:bodyPr/>
          <a:p/>
        </p:txBody>
      </p:sp>
      <p:sp>
        <p:nvSpPr>
          <p:cNvPr id="15" name="Shape 12">
            <a:extLst>
              <a:ext uri="{C183D7F6-B498-43B3-948B-1728B52AA6E4}">
                <adec:decorative xmlns:adec="http://schemas.microsoft.com/office/drawing/2017/decorative" val="1"/>
              </a:ext>
            </a:extLst>
          </p:cNvPr>
          <p:cNvSpPr/>
          <p:nvPr/>
        </p:nvSpPr>
        <p:spPr>
          <a:xfrm>
            <a:off x="8794800" y="3989933"/>
            <a:ext cx="810667" cy="304800"/>
          </a:xfrm>
          <a:prstGeom prst="rect">
            <a:avLst/>
          </a:prstGeom>
          <a:solidFill>
            <a:srgbClr val="BCACA7"/>
          </a:solidFill>
          <a:ln/>
        </p:spPr>
        <p:txBody>
          <a:bodyPr/>
          <a:p/>
        </p:txBody>
      </p:sp>
      <p:sp>
        <p:nvSpPr>
          <p:cNvPr id="16" name="Shape 13">
            <a:extLst>
              <a:ext uri="{C183D7F6-B498-43B3-948B-1728B52AA6E4}">
                <adec:decorative xmlns:adec="http://schemas.microsoft.com/office/drawing/2017/decorative" val="1"/>
              </a:ext>
            </a:extLst>
          </p:cNvPr>
          <p:cNvSpPr/>
          <p:nvPr/>
        </p:nvSpPr>
        <p:spPr>
          <a:xfrm>
            <a:off x="9681666" y="3989933"/>
            <a:ext cx="810667" cy="304800"/>
          </a:xfrm>
          <a:prstGeom prst="rect">
            <a:avLst/>
          </a:prstGeom>
          <a:solidFill>
            <a:srgbClr val="BCACA7"/>
          </a:solidFill>
          <a:ln/>
        </p:spPr>
        <p:txBody>
          <a:bodyPr/>
          <a:p/>
        </p:txBody>
      </p:sp>
      <p:sp>
        <p:nvSpPr>
          <p:cNvPr id="17" name="Shape 14">
            <a:extLst>
              <a:ext uri="{C183D7F6-B498-43B3-948B-1728B52AA6E4}">
                <adec:decorative xmlns:adec="http://schemas.microsoft.com/office/drawing/2017/decorative" val="1"/>
              </a:ext>
            </a:extLst>
          </p:cNvPr>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firstRow="1"/>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firstRow="1"/>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firstRow="1"/>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firstRow="1"/>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firstRow="1"/>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firstRow="1"/>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firstRow="1"/>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firstRow="1"/>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firstRow="1"/>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a:extLst>
              <a:ext uri="{C183D7F6-B498-43B3-948B-1728B52AA6E4}">
                <adec:decorative xmlns:adec="http://schemas.microsoft.com/office/drawing/2017/decorative" val="1"/>
              </a:ext>
            </a:extLst>
          </p:cNvPr>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a:extLst>
              <a:ext uri="{C183D7F6-B498-43B3-948B-1728B52AA6E4}">
                <adec:decorative xmlns:adec="http://schemas.microsoft.com/office/drawing/2017/decorative" val="1"/>
              </a:ext>
            </a:extLst>
          </p:cNvPr>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a:extLst>
              <a:ext uri="{C183D7F6-B498-43B3-948B-1728B52AA6E4}">
                <adec:decorative xmlns:adec="http://schemas.microsoft.com/office/drawing/2017/decorative" val="1"/>
              </a:ext>
            </a:extLst>
          </p:cNvPr>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a:extLst>
              <a:ext uri="{C183D7F6-B498-43B3-948B-1728B52AA6E4}">
                <adec:decorative xmlns:adec="http://schemas.microsoft.com/office/drawing/2017/decorative" val="1"/>
              </a:ext>
            </a:extLst>
          </p:cNvPr>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firstRow="1"/>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a:extLst>
              <a:ext uri="{C183D7F6-B498-43B3-948B-1728B52AA6E4}">
                <adec:decorative xmlns:adec="http://schemas.microsoft.com/office/drawing/2017/decorative" val="1"/>
              </a:ext>
            </a:extLst>
          </p:cNvPr>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a:extLst>
              <a:ext uri="{C183D7F6-B498-43B3-948B-1728B52AA6E4}">
                <adec:decorative xmlns:adec="http://schemas.microsoft.com/office/drawing/2017/decorative" val="1"/>
              </a:ext>
            </a:extLst>
          </p:cNvPr>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firstRow="1"/>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565400"/>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54655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 (document edition V3.0).</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firstRow="1"/>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V3.0,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 holders TBD (AC19 formally deferred); release authorization issued with formal deferrals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firstRow="1"/>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 · V3.0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(final brand-system baseline) · semantic 3.0.0</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OWNER AUTHORIZED FINAL BRAND-SYSTEM BASELINE · SPECIFICATION ONLY, NO COMPONENT IMPLEMENTATION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2026-10-09</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AUTHORIZED WITH FORMAL DEFERRALS</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Owner authorized baseline, synchronized with Parts A and C · formal deferrals recorded; release-checklist items (slide 33) deferred, not closed · evidence gates open or deferred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 (Part A) · GEM-PS-V3.0 (Part C) · V3 Approval Register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 · 2026-10-09 · release labels only; no content, token or layout change. 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firstRow="1"/>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