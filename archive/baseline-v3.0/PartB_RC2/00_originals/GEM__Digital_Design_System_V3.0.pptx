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source of the GEM Digital Design System V3.0 working specification. Updated from v2.1 under the V3 Final Brand Approval Register (466 decisions). Logo artwork is not reproduced here: production masters are PENDING (VAL-02).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controls before mass production: supplier dieline per SKU (T12), material, finish, print process, colour tolerances (T14–T19), physical proof (T17), signed reference sample archived (U13), supplier acceptance (T20), brand sign-off (T21). A concept mockup is never production approval (T23). Surfaces: uncoated warm neutral paper, deep INK board, selective deboss or blind emboss, soft-touch selectively, precision die-cut; foil only if approved; no chrome, holographic or high-gloss; gold is not a GEM colour (U01–U10).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VAL-01 Brand Owner + Commercial Lead; VAL-02 Design Custodian; VAL-03 Legal / IP Counsel; VAL-04 Brand Owner / Legal; VAL-05 Design Custodian / Legal; VAL-06 Art Direction / Legal; VAL-07 Arabic / Localization Lead; VAL-08 Accessibility QA; VAL-09 Product + Procurement + Supplier QA; VAL-10 Product / Regulatory / Legal; VAL-11 Procurement + Supplier QA; VAL-12 Environmental Design + Accessibility QA; VAL-13 Digital Design + Engineering; VAL-14 Motion / Digital Lead; VAL-15 Presentation Production / QA; VAL-16 Asset Librarian; VAL-17 Brand Governance; VAL-19 Design Custodian / Presentation QA; VAL-20 Digital Design + Engineering + Localization QA; VAL-21 Brand Governance / Design Custodian.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trace: Typography L01–L16; Accessibility K01–K09, V01–V15; Digital Q01–Q21; Arabic M01–M16; Motion P01–P09; Graphic language N01–N16; Imagery O01–O20; Amenities &amp; Packaging T01–T23, F01–F10; Wayfinding S01–S09; Verbal G01–G18; Governance AC01–AC20, Y01–Y08, DS01–DS05, AA01–AA04.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Logo artwork itself is not embedded in this editable source. Upload the approved PNGs into this slide if needed. Amenities &amp; Packaging has no stream logo: use "GEM™ — Amenities &amp; Packaging" as a typeset descriptive line beside the unchanged master lockup.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7531100" y="3594100"/>
            <a:ext cx="6273800" cy="6273800"/>
          </a:xfrm>
          <a:prstGeom prst="roundRect">
            <a:avLst>
              <a:gd name="adj" fmla="val 25304"/>
            </a:avLst>
          </a:prstGeom>
          <a:noFill/>
          <a:ln w="76200">
            <a:solidFill>
              <a:srgbClr val="BCACA7"/>
            </a:solidFill>
            <a:prstDash val="solid"/>
          </a:ln>
        </p:spPr>
      </p:sp>
      <p:sp>
        <p:nvSpPr>
          <p:cNvPr id="3" name="Shape 1"/>
          <p:cNvSpPr/>
          <p:nvPr/>
        </p:nvSpPr>
        <p:spPr>
          <a:xfrm>
            <a:off x="9525000" y="4826000"/>
            <a:ext cx="4064000" cy="4064000"/>
          </a:xfrm>
          <a:prstGeom prst="roundRect">
            <a:avLst>
              <a:gd name="adj" fmla="val 40000"/>
            </a:avLst>
          </a:prstGeom>
          <a:solidFill>
            <a:srgbClr val="BCACA7"/>
          </a:solidFill>
          <a:ln/>
        </p:spPr>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WORKING SPECIFICATION · NOT RELEASED (AC20 PENDING)</a:t>
            </a:r>
            <a:endParaRPr lang="en-US" sz="1200" dirty="0"/>
          </a:p>
        </p:txBody>
      </p:sp>
      <p:sp>
        <p:nvSpPr>
          <p:cNvPr id="5" name="Text 3"/>
          <p:cNvSpPr/>
          <p:nvPr>
            <p:ph type="title"/>
          </p:nvPr>
        </p:nvSpPr>
        <p:spPr>
          <a:xfrm>
            <a:off x="812800" y="117852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0" i="0" spc="950" kern="0" dirty="0">
                <a:solidFill>
                  <a:srgbClr val="BCACA7"/>
                </a:solidFill>
                <a:latin typeface="Jost" pitchFamily="34" charset="0"/>
                <a:ea typeface="Jost" pitchFamily="34" charset="-122"/>
                <a:cs typeface="Jost" pitchFamily="34" charset="-120"/>
              </a:rPr>
              <a:t>GEM™</a:t>
            </a:r>
            <a:endParaRPr lang="en-US" sz="8000" dirty="0"/>
          </a:p>
        </p:txBody>
      </p:sp>
      <p:sp>
        <p:nvSpPr>
          <p:cNvPr id="6" name="Text 4"/>
          <p:cNvSpPr/>
          <p:nvPr/>
        </p:nvSpPr>
        <p:spPr>
          <a:xfrm>
            <a:off x="812800" y="2397720"/>
            <a:ext cx="6540500" cy="492720"/>
          </a:xfrm>
          <a:prstGeom prst="rect">
            <a:avLst/>
          </a:prstGeom>
          <a:noFill/>
          <a:ln/>
        </p:spPr>
        <p:txBody>
          <a:bodyPr wrap="square" lIns="0" tIns="0" rIns="0" bIns="0" rtlCol="0" anchor="t">
            <a:normAutofit/>
          </a:bodyPr>
          <a:lstStyle/>
          <a:p>
            <a:pPr algn="l" indent="0" marL="0">
              <a:lnSpc>
                <a:spcPts val="3680"/>
              </a:lnSpc>
              <a:buNone/>
            </a:pPr>
            <a:r>
              <a:rPr lang="en-US" sz="3200" dirty="0">
                <a:solidFill>
                  <a:srgbClr val="FFFFFF"/>
                </a:solidFill>
                <a:latin typeface="Jost" pitchFamily="34" charset="0"/>
                <a:ea typeface="Jost" pitchFamily="34" charset="-122"/>
                <a:cs typeface="Jost" pitchFamily="34" charset="-120"/>
              </a:rPr>
              <a:t>Digital Design System V3.0</a:t>
            </a:r>
            <a:endParaRPr lang="en-US" sz="3200" dirty="0"/>
          </a:p>
        </p:txBody>
      </p:sp>
      <p:sp>
        <p:nvSpPr>
          <p:cNvPr id="7" name="Text 5"/>
          <p:cNvSpPr/>
          <p:nvPr/>
        </p:nvSpPr>
        <p:spPr>
          <a:xfrm>
            <a:off x="812800" y="5374680"/>
            <a:ext cx="6540500" cy="309860"/>
          </a:xfrm>
          <a:prstGeom prst="rect">
            <a:avLst/>
          </a:prstGeom>
          <a:noFill/>
          <a:ln/>
        </p:spPr>
        <p:txBody>
          <a:bodyPr wrap="square" lIns="0" tIns="0" rIns="0" bIns="0" rtlCol="0" anchor="t">
            <a:normAutofit/>
          </a:bodyPr>
          <a:lstStyle/>
          <a:p>
            <a:pPr algn="l" indent="0" marL="0">
              <a:lnSpc>
                <a:spcPts val="2240"/>
              </a:lnSpc>
              <a:buNone/>
            </a:pPr>
            <a:r>
              <a:rPr lang="en-US" sz="1600" spc="300" kern="0" dirty="0">
                <a:solidFill>
                  <a:srgbClr val="BCACA7"/>
                </a:solidFill>
                <a:latin typeface="Jost" pitchFamily="34" charset="0"/>
                <a:ea typeface="Jost" pitchFamily="34" charset="-122"/>
                <a:cs typeface="Jost" pitchFamily="34" charset="-120"/>
              </a:rPr>
              <a:t>HOSPITALITY, IN PERFECT PROPORTION</a:t>
            </a:r>
            <a:endParaRPr lang="en-US" sz="1600" dirty="0"/>
          </a:p>
        </p:txBody>
      </p:sp>
      <p:sp>
        <p:nvSpPr>
          <p:cNvPr id="8" name="Text 6"/>
          <p:cNvSpPr/>
          <p:nvPr/>
        </p:nvSpPr>
        <p:spPr>
          <a:xfrm>
            <a:off x="812800" y="5760740"/>
            <a:ext cx="65405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Every arrival, precisely composed.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Status classes and quick start</a:t>
            </a:r>
            <a:endParaRPr lang="en-US" sz="3200" dirty="0"/>
          </a:p>
        </p:txBody>
      </p:sp>
      <p:sp>
        <p:nvSpPr>
          <p:cNvPr id="5" name="Text 3"/>
          <p:cNvSpPr/>
          <p:nvPr/>
        </p:nvSpPr>
        <p:spPr>
          <a:xfrm>
            <a:off x="812800" y="1828750"/>
            <a:ext cx="1905000" cy="289520"/>
          </a:xfrm>
          <a:prstGeom prst="roundRect">
            <a:avLst>
              <a:gd name="adj" fmla="val 8773"/>
            </a:avLst>
          </a:prstGeom>
          <a:solidFill>
            <a:srgbClr val="12171D"/>
          </a:solidFill>
          <a:ln/>
        </p:spPr>
        <p:txBody>
          <a:bodyPr wrap="square" lIns="94161" tIns="30661" rIns="43107" bIns="5261" rtlCol="0" anchor="t">
            <a:normAutofit/>
          </a:bodyPr>
          <a:lstStyle/>
          <a:p>
            <a:pPr algn="l" indent="0" marL="0">
              <a:lnSpc>
                <a:spcPts val="1680"/>
              </a:lnSpc>
              <a:buNone/>
            </a:pPr>
            <a:r>
              <a:rPr lang="en-US" sz="1200" spc="100" kern="0" dirty="0">
                <a:solidFill>
                  <a:srgbClr val="FFFFFF"/>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2870200" y="1828750"/>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Final under the register. Filled ink label.</a:t>
            </a:r>
            <a:endParaRPr lang="en-US" sz="1200" dirty="0"/>
          </a:p>
        </p:txBody>
      </p:sp>
      <p:sp>
        <p:nvSpPr>
          <p:cNvPr id="7" name="Text 5"/>
          <p:cNvSpPr/>
          <p:nvPr/>
        </p:nvSpPr>
        <p:spPr>
          <a:xfrm>
            <a:off x="819150" y="2414141"/>
            <a:ext cx="1892300" cy="276820"/>
          </a:xfrm>
          <a:prstGeom prst="roundRect">
            <a:avLst>
              <a:gd name="adj" fmla="val 6882"/>
            </a:avLst>
          </a:prstGeom>
          <a:noFill/>
          <a:ln w="12700">
            <a:solidFill>
              <a:srgbClr val="12171D"/>
            </a:solidFill>
            <a:prstDash val="solid"/>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2870200" y="2407791"/>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Approved with a condition still open. 2px outline.</a:t>
            </a:r>
            <a:endParaRPr lang="en-US" sz="1200" dirty="0"/>
          </a:p>
        </p:txBody>
      </p:sp>
      <p:sp>
        <p:nvSpPr>
          <p:cNvPr id="9" name="Text 7"/>
          <p:cNvSpPr/>
          <p:nvPr/>
        </p:nvSpPr>
        <p:spPr>
          <a:xfrm>
            <a:off x="819150" y="2993182"/>
            <a:ext cx="1892300" cy="490141"/>
          </a:xfrm>
          <a:prstGeom prst="roundRect">
            <a:avLst>
              <a:gd name="adj" fmla="val 3887"/>
            </a:avLst>
          </a:prstGeom>
          <a:noFill/>
          <a:ln w="12700">
            <a:solidFill>
              <a:srgbClr val="12171D"/>
            </a:solidFill>
            <a:prstDash val="dash"/>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2870200" y="2986832"/>
            <a:ext cx="28516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Evidence, native QA or testing outstanding. Never present as final. Dashed 2px.</a:t>
            </a:r>
            <a:endParaRPr lang="en-US" sz="1200" dirty="0"/>
          </a:p>
        </p:txBody>
      </p:sp>
      <p:sp>
        <p:nvSpPr>
          <p:cNvPr id="11" name="Text 9"/>
          <p:cNvSpPr/>
          <p:nvPr/>
        </p:nvSpPr>
        <p:spPr>
          <a:xfrm>
            <a:off x="819150" y="3785543"/>
            <a:ext cx="1892300" cy="276820"/>
          </a:xfrm>
          <a:prstGeom prst="roundRect">
            <a:avLst>
              <a:gd name="adj" fmla="val 6882"/>
            </a:avLst>
          </a:prstGeom>
          <a:noFill/>
          <a:ln w="12700">
            <a:solidFill>
              <a:srgbClr val="12171D"/>
            </a:solidFill>
            <a:prstDash val="sysDot"/>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2870200" y="3779193"/>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Study or inspiration only. Not a GEM standard. Dotted 2px.</a:t>
            </a:r>
            <a:endParaRPr lang="en-US" sz="1200" dirty="0"/>
          </a:p>
        </p:txBody>
      </p:sp>
      <p:sp>
        <p:nvSpPr>
          <p:cNvPr id="13" name="Text 11"/>
          <p:cNvSpPr/>
          <p:nvPr/>
        </p:nvSpPr>
        <p:spPr>
          <a:xfrm>
            <a:off x="812800" y="4358233"/>
            <a:ext cx="497078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required: CONCEPT / NOT PRODUCTION ARTWORK · PENDING PRODUCTION MASTER · PENDING LOCALIZATION APPROVAL · PROJECT-SPECIFIC / REQUIRES SITE VALIDATION.</a:t>
            </a:r>
            <a:endParaRPr lang="en-US" sz="1200" dirty="0"/>
          </a:p>
        </p:txBody>
      </p:sp>
      <p:sp>
        <p:nvSpPr>
          <p:cNvPr id="14" name="Shape 12"/>
          <p:cNvSpPr/>
          <p:nvPr/>
        </p:nvSpPr>
        <p:spPr>
          <a:xfrm>
            <a:off x="6048375" y="1828750"/>
            <a:ext cx="0" cy="3169444"/>
          </a:xfrm>
          <a:prstGeom prst="line">
            <a:avLst/>
          </a:prstGeom>
          <a:noFill/>
          <a:ln w="6350">
            <a:solidFill>
              <a:srgbClr val="BCACA7"/>
            </a:solidFill>
            <a:prstDash val="solid"/>
          </a:ln>
        </p:spPr>
      </p:sp>
      <p:sp>
        <p:nvSpPr>
          <p:cNvPr id="15" name="Text 13"/>
          <p:cNvSpPr/>
          <p:nvPr/>
        </p:nvSpPr>
        <p:spPr>
          <a:xfrm>
            <a:off x="6356350" y="18287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Quick start for implementers</a:t>
            </a:r>
            <a:endParaRPr lang="en-US" sz="1600" dirty="0"/>
          </a:p>
        </p:txBody>
      </p:sp>
      <p:sp>
        <p:nvSpPr>
          <p:cNvPr id="16" name="Text 14"/>
          <p:cNvSpPr/>
          <p:nvPr/>
        </p:nvSpPr>
        <p:spPr>
          <a:xfrm>
            <a:off x="6429673" y="2174180"/>
            <a:ext cx="5092593" cy="237192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Load tokens.json or gem-tokens.v3.css / .json. Semantic tokens only, never raw hex.</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Use the 26 components (React 18, window.GEM); each README has 11 parts.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Set lang and dir on the root; Arabic uses dir="rtl" with logical CSS.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Tracking only on capitals, at the tracking-scale values. Body and Arabic at 0.</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Targets at least 44 × 44px. Focus ring 2px, 2px offset.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Label anything not approved.</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Never invent capability, claims, approvals, prices, times, MOQs or Arabic: use [PENDING], [TO BE VERIFIED], [REQUIRES OWNER].</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Brand foundation (unchanged)</a:t>
            </a:r>
            <a:endParaRPr lang="en-US" sz="3200" dirty="0"/>
          </a:p>
        </p:txBody>
      </p:sp>
      <p:sp>
        <p:nvSpPr>
          <p:cNvPr id="5" name="Shape 3"/>
          <p:cNvSpPr/>
          <p:nvPr/>
        </p:nvSpPr>
        <p:spPr>
          <a:xfrm>
            <a:off x="812800" y="1828750"/>
            <a:ext cx="2524125" cy="1391791"/>
          </a:xfrm>
          <a:prstGeom prst="rect">
            <a:avLst/>
          </a:prstGeom>
          <a:solidFill>
            <a:srgbClr val="12171D"/>
          </a:solidFill>
          <a:ln/>
        </p:spPr>
      </p:sp>
      <p:sp>
        <p:nvSpPr>
          <p:cNvPr id="6" name="Text 4"/>
          <p:cNvSpPr/>
          <p:nvPr/>
        </p:nvSpPr>
        <p:spPr>
          <a:xfrm>
            <a:off x="101600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INK</a:t>
            </a:r>
            <a:endParaRPr lang="en-US" sz="1600" dirty="0"/>
          </a:p>
        </p:txBody>
      </p:sp>
      <p:sp>
        <p:nvSpPr>
          <p:cNvPr id="7" name="Text 5"/>
          <p:cNvSpPr/>
          <p:nvPr/>
        </p:nvSpPr>
        <p:spPr>
          <a:xfrm>
            <a:off x="101600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#12171D</a:t>
            </a:r>
            <a:endParaRPr lang="en-US" sz="1200" dirty="0"/>
          </a:p>
        </p:txBody>
      </p:sp>
      <p:sp>
        <p:nvSpPr>
          <p:cNvPr id="8" name="Text 6"/>
          <p:cNvSpPr/>
          <p:nvPr/>
        </p:nvSpPr>
        <p:spPr>
          <a:xfrm>
            <a:off x="101600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Principal dark field and default text</a:t>
            </a:r>
            <a:endParaRPr lang="en-US" sz="1200" dirty="0"/>
          </a:p>
        </p:txBody>
      </p:sp>
      <p:sp>
        <p:nvSpPr>
          <p:cNvPr id="9" name="Shape 7"/>
          <p:cNvSpPr/>
          <p:nvPr/>
        </p:nvSpPr>
        <p:spPr>
          <a:xfrm>
            <a:off x="3489325" y="1828750"/>
            <a:ext cx="2524125" cy="1391791"/>
          </a:xfrm>
          <a:prstGeom prst="rect">
            <a:avLst/>
          </a:prstGeom>
          <a:solidFill>
            <a:srgbClr val="BCACA7"/>
          </a:solidFill>
          <a:ln/>
        </p:spPr>
      </p:sp>
      <p:sp>
        <p:nvSpPr>
          <p:cNvPr id="10" name="Text 8"/>
          <p:cNvSpPr/>
          <p:nvPr/>
        </p:nvSpPr>
        <p:spPr>
          <a:xfrm>
            <a:off x="3692525"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BEIGE</a:t>
            </a:r>
            <a:endParaRPr lang="en-US" sz="1600" dirty="0"/>
          </a:p>
        </p:txBody>
      </p:sp>
      <p:sp>
        <p:nvSpPr>
          <p:cNvPr id="11" name="Text 9"/>
          <p:cNvSpPr/>
          <p:nvPr/>
        </p:nvSpPr>
        <p:spPr>
          <a:xfrm>
            <a:off x="3692525"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2" name="Text 10"/>
          <p:cNvSpPr/>
          <p:nvPr/>
        </p:nvSpPr>
        <p:spPr>
          <a:xfrm>
            <a:off x="3692525"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Signature tone, selected fill, hairlines</a:t>
            </a:r>
            <a:endParaRPr lang="en-US" sz="1200" dirty="0"/>
          </a:p>
        </p:txBody>
      </p:sp>
      <p:sp>
        <p:nvSpPr>
          <p:cNvPr id="13" name="Shape 11"/>
          <p:cNvSpPr/>
          <p:nvPr/>
        </p:nvSpPr>
        <p:spPr>
          <a:xfrm>
            <a:off x="6165850" y="1828750"/>
            <a:ext cx="2524125" cy="1391791"/>
          </a:xfrm>
          <a:prstGeom prst="rect">
            <a:avLst/>
          </a:prstGeom>
          <a:solidFill>
            <a:srgbClr val="020202"/>
          </a:solidFill>
          <a:ln/>
        </p:spPr>
      </p:sp>
      <p:sp>
        <p:nvSpPr>
          <p:cNvPr id="14" name="Text 12"/>
          <p:cNvSpPr/>
          <p:nvPr/>
        </p:nvSpPr>
        <p:spPr>
          <a:xfrm>
            <a:off x="636905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BLACK</a:t>
            </a:r>
            <a:endParaRPr lang="en-US" sz="1600" dirty="0"/>
          </a:p>
        </p:txBody>
      </p:sp>
      <p:sp>
        <p:nvSpPr>
          <p:cNvPr id="15" name="Text 13"/>
          <p:cNvSpPr/>
          <p:nvPr/>
        </p:nvSpPr>
        <p:spPr>
          <a:xfrm>
            <a:off x="636905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#020202</a:t>
            </a:r>
            <a:endParaRPr lang="en-US" sz="1200" dirty="0"/>
          </a:p>
        </p:txBody>
      </p:sp>
      <p:sp>
        <p:nvSpPr>
          <p:cNvPr id="16" name="Text 14"/>
          <p:cNvSpPr/>
          <p:nvPr/>
        </p:nvSpPr>
        <p:spPr>
          <a:xfrm>
            <a:off x="636905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Monochrome, hover and pressed fill</a:t>
            </a:r>
            <a:endParaRPr lang="en-US" sz="1200" dirty="0"/>
          </a:p>
        </p:txBody>
      </p:sp>
      <p:sp>
        <p:nvSpPr>
          <p:cNvPr id="17" name="Shape 15"/>
          <p:cNvSpPr/>
          <p:nvPr/>
        </p:nvSpPr>
        <p:spPr>
          <a:xfrm>
            <a:off x="8845550" y="1831925"/>
            <a:ext cx="2530475" cy="1385441"/>
          </a:xfrm>
          <a:prstGeom prst="rect">
            <a:avLst/>
          </a:prstGeom>
          <a:solidFill>
            <a:srgbClr val="FFFFFF"/>
          </a:solidFill>
          <a:ln w="6350">
            <a:solidFill>
              <a:srgbClr val="12171D"/>
            </a:solidFill>
            <a:prstDash val="solid"/>
          </a:ln>
        </p:spPr>
      </p:sp>
      <p:sp>
        <p:nvSpPr>
          <p:cNvPr id="18" name="Text 16"/>
          <p:cNvSpPr/>
          <p:nvPr/>
        </p:nvSpPr>
        <p:spPr>
          <a:xfrm>
            <a:off x="9051925" y="203830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WHITE</a:t>
            </a:r>
            <a:endParaRPr lang="en-US" sz="1600" dirty="0"/>
          </a:p>
        </p:txBody>
      </p:sp>
      <p:sp>
        <p:nvSpPr>
          <p:cNvPr id="19" name="Text 17"/>
          <p:cNvSpPr/>
          <p:nvPr/>
        </p:nvSpPr>
        <p:spPr>
          <a:xfrm>
            <a:off x="9051925" y="233293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0" name="Text 18"/>
          <p:cNvSpPr/>
          <p:nvPr/>
        </p:nvSpPr>
        <p:spPr>
          <a:xfrm>
            <a:off x="9051925" y="2597051"/>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Canvas</a:t>
            </a:r>
            <a:endParaRPr lang="en-US" sz="1200" dirty="0"/>
          </a:p>
        </p:txBody>
      </p:sp>
      <p:sp>
        <p:nvSpPr>
          <p:cNvPr id="21" name="Text 19"/>
          <p:cNvSpPr/>
          <p:nvPr/>
        </p:nvSpPr>
        <p:spPr>
          <a:xfrm>
            <a:off x="812800" y="3474541"/>
            <a:ext cx="5284724" cy="2540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Character.</a:t>
            </a:r>
            <a:r>
              <a:rPr lang="en-US" sz="1200" dirty="0">
                <a:solidFill>
                  <a:srgbClr val="12171D"/>
                </a:solidFill>
                <a:latin typeface="Inter" pitchFamily="34" charset="0"/>
                <a:ea typeface="Inter" pitchFamily="34" charset="-122"/>
                <a:cs typeface="Inter" pitchFamily="34" charset="-120"/>
              </a:rPr>
              <a:t> Precise, restrained, geometric, composed.</a:t>
            </a:r>
            <a:endParaRPr lang="en-US" sz="1200" dirty="0"/>
          </a:p>
        </p:txBody>
      </p:sp>
      <p:sp>
        <p:nvSpPr>
          <p:cNvPr id="22" name="Text 20"/>
          <p:cNvSpPr/>
          <p:nvPr/>
        </p:nvSpPr>
        <p:spPr>
          <a:xfrm>
            <a:off x="812800" y="3779341"/>
            <a:ext cx="5284724"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Principles.</a:t>
            </a:r>
            <a:r>
              <a:rPr lang="en-US" sz="1200" dirty="0">
                <a:solidFill>
                  <a:srgbClr val="12171D"/>
                </a:solidFill>
                <a:latin typeface="Inter" pitchFamily="34" charset="0"/>
                <a:ea typeface="Inter" pitchFamily="34" charset="-122"/>
                <a:cs typeface="Inter" pitchFamily="34" charset="-120"/>
              </a:rPr>
              <a:t> Precision over decoration; restraint is the luxury; geometry is the language; space is part of the identity.</a:t>
            </a:r>
            <a:endParaRPr lang="en-US" sz="1200" dirty="0"/>
          </a:p>
        </p:txBody>
      </p:sp>
      <p:sp>
        <p:nvSpPr>
          <p:cNvPr id="23" name="Text 21"/>
          <p:cNvSpPr/>
          <p:nvPr/>
        </p:nvSpPr>
        <p:spPr>
          <a:xfrm>
            <a:off x="812800" y="4312741"/>
            <a:ext cx="5284724" cy="7112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Tagline.</a:t>
            </a:r>
            <a:r>
              <a:rPr lang="en-US" sz="1200" dirty="0">
                <a:solidFill>
                  <a:srgbClr val="12171D"/>
                </a:solidFill>
                <a:latin typeface="Inter" pitchFamily="34" charset="0"/>
                <a:ea typeface="Inter" pitchFamily="34" charset="-122"/>
                <a:cs typeface="Inter" pitchFamily="34" charset="-120"/>
              </a:rPr>
              <a:t> HOSPITALITY, IN PERFECT PROPORTION — fixed, not translated without brand approval (M10). Secondary line: Every arrival, precisely composed.</a:t>
            </a:r>
            <a:endParaRPr lang="en-US" sz="1200" dirty="0"/>
          </a:p>
        </p:txBody>
      </p:sp>
      <p:sp>
        <p:nvSpPr>
          <p:cNvPr id="24" name="Shape 22"/>
          <p:cNvSpPr/>
          <p:nvPr/>
        </p:nvSpPr>
        <p:spPr>
          <a:xfrm>
            <a:off x="6251575" y="3474541"/>
            <a:ext cx="0" cy="1524000"/>
          </a:xfrm>
          <a:prstGeom prst="line">
            <a:avLst/>
          </a:prstGeom>
          <a:noFill/>
          <a:ln w="6350">
            <a:solidFill>
              <a:srgbClr val="BCACA7"/>
            </a:solidFill>
            <a:prstDash val="solid"/>
          </a:ln>
        </p:spPr>
      </p:sp>
      <p:sp>
        <p:nvSpPr>
          <p:cNvPr id="25" name="Text 23"/>
          <p:cNvSpPr/>
          <p:nvPr/>
        </p:nvSpPr>
        <p:spPr>
          <a:xfrm>
            <a:off x="6559550" y="3474541"/>
            <a:ext cx="4964240" cy="7112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12171D"/>
                </a:solidFill>
                <a:latin typeface="Inter" pitchFamily="34" charset="0"/>
                <a:ea typeface="Inter" pitchFamily="34" charset="-122"/>
                <a:cs typeface="Inter" pitchFamily="34" charset="-120"/>
              </a:rPr>
              <a:t>Not allowed.</a:t>
            </a:r>
            <a:r>
              <a:rPr lang="en-US" sz="1200" dirty="0">
                <a:solidFill>
                  <a:srgbClr val="12171D"/>
                </a:solidFill>
                <a:latin typeface="Inter" pitchFamily="34" charset="0"/>
                <a:ea typeface="Inter" pitchFamily="34" charset="-122"/>
                <a:cs typeface="Inter" pitchFamily="34" charset="-120"/>
              </a:rPr>
              <a:t> Gradients, gold, decorative shadows, excessive rounding, SaaS styling, accent colours (Q21), and a new symbol or colour system for the Amenities &amp; Packaging stream.</a:t>
            </a:r>
            <a:endParaRPr lang="en-US" sz="12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Organisation and authority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10553700" cy="1544042"/>
        </p:xfrm>
        <a:graphic>
          <a:graphicData uri="http://schemas.openxmlformats.org/drawingml/2006/table">
            <a:tbl>
              <a:tblPr/>
              <a:tblGrid>
                <a:gridCol w="2955036"/>
                <a:gridCol w="4432554"/>
                <a:gridCol w="316611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Part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Owns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This file set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Brand Guidelines V3.0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identity, applications, editorial examples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Referenced; handoff rules only (DS02)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 Digital Design System V3.0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patterns, accessibility, localization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This system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 Production Standards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finishes, tolerances, supplier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Referenced; not yet issued (DS04, VAL-11)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3639493"/>
            <a:ext cx="5284724"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Authority order</a:t>
            </a:r>
            <a:endParaRPr lang="en-US" sz="1600" dirty="0"/>
          </a:p>
        </p:txBody>
      </p:sp>
      <p:sp>
        <p:nvSpPr>
          <p:cNvPr id="7" name="Text 4"/>
          <p:cNvSpPr/>
          <p:nvPr/>
        </p:nvSpPr>
        <p:spPr>
          <a:xfrm>
            <a:off x="886123" y="3959523"/>
            <a:ext cx="5203781" cy="1518642"/>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The approval register (final; Evidence Required stays conditional; Deferred stays deferred)</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Design System v2.1</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Brand Guidelines V2/2.1</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V1, historical only</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External benchmarks, inspiration only (RF01–RF03)</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WCAG 2.2 AA and other formal standards</a:t>
            </a:r>
            <a:endParaRPr lang="en-US" sz="1200" dirty="0"/>
          </a:p>
        </p:txBody>
      </p:sp>
      <p:sp>
        <p:nvSpPr>
          <p:cNvPr id="8" name="Shape 5"/>
          <p:cNvSpPr/>
          <p:nvPr/>
        </p:nvSpPr>
        <p:spPr>
          <a:xfrm>
            <a:off x="6251575" y="3639493"/>
            <a:ext cx="0" cy="1813272"/>
          </a:xfrm>
          <a:prstGeom prst="line">
            <a:avLst/>
          </a:prstGeom>
          <a:noFill/>
          <a:ln w="6350">
            <a:solidFill>
              <a:srgbClr val="BCACA7"/>
            </a:solidFill>
            <a:prstDash val="solid"/>
          </a:ln>
        </p:spPr>
      </p:sp>
      <p:sp>
        <p:nvSpPr>
          <p:cNvPr id="9" name="Text 6"/>
          <p:cNvSpPr/>
          <p:nvPr/>
        </p:nvSpPr>
        <p:spPr>
          <a:xfrm>
            <a:off x="6559550" y="3639493"/>
            <a:ext cx="496424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Source of truth</a:t>
            </a:r>
            <a:endParaRPr lang="en-US" sz="1600" dirty="0"/>
          </a:p>
        </p:txBody>
      </p:sp>
      <p:sp>
        <p:nvSpPr>
          <p:cNvPr id="10" name="Text 7"/>
          <p:cNvSpPr/>
          <p:nvPr/>
        </p:nvSpPr>
        <p:spPr>
          <a:xfrm>
            <a:off x="6559550" y="3959523"/>
            <a:ext cx="4964240"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2171D"/>
                </a:solidFill>
                <a:latin typeface="Inter" pitchFamily="34" charset="0"/>
                <a:ea typeface="Inter" pitchFamily="34" charset="-122"/>
                <a:cs typeface="Inter" pitchFamily="34" charset="-120"/>
              </a:rPr>
              <a:t>Where sources conflict, the register wins. Decision IDs (L09, Q17, M05…) are cited so every rule traces back. Futura PT, Montserrat, Aeonik, Satoshi and Whyte are reference or legacy only.</a:t>
            </a:r>
            <a:endParaRPr lang="en-US" sz="1200" dirty="0"/>
          </a:p>
        </p:txBody>
      </p:sp>
      <p:sp>
        <p:nvSpPr>
          <p:cNvPr id="11" name="Text 8"/>
          <p:cNvSpPr/>
          <p:nvPr/>
        </p:nvSpPr>
        <p:spPr>
          <a:xfrm>
            <a:off x="6559550" y="4721523"/>
            <a:ext cx="496424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2171D"/>
                </a:solidFill>
                <a:latin typeface="Inter" pitchFamily="34" charset="0"/>
                <a:ea typeface="Inter" pitchFamily="34" charset="-122"/>
                <a:cs typeface="Inter" pitchFamily="34" charset="-120"/>
              </a:rPr>
              <a:t>Read order: 01 governance → 02–10 rules → 11 components → 12–15 patterns → 16 engineering → 17 QA and release.</a:t>
            </a:r>
            <a:endParaRPr lang="en-US" sz="12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Owners (all role holders TBD) and change control</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067300" cy="2328763"/>
        </p:xfrm>
        <a:graphic>
          <a:graphicData uri="http://schemas.openxmlformats.org/drawingml/2006/table">
            <a:tbl>
              <a:tblPr/>
              <a:tblGrid>
                <a:gridCol w="2128266"/>
                <a:gridCol w="293903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architecture, final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artwork, templates,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Buyer, offer scope,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 Amenities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Range, SKU data, packaging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acceptance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Design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responsive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311900" y="1790650"/>
          <a:ext cx="5067300" cy="2328763"/>
        </p:xfrm>
        <a:graphic>
          <a:graphicData uri="http://schemas.openxmlformats.org/drawingml/2006/table">
            <a:tbl>
              <a:tblPr/>
              <a:tblGrid>
                <a:gridCol w="2128266"/>
                <a:gridCol w="293903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Engineering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 a11y mechanics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 RTL, mixed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WCAG and document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rights,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Document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Deck and PDF integrity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Librarian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Archive, manifest, versioning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322614"/>
            <a:ext cx="5232400"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Change control.</a:t>
            </a:r>
            <a:r>
              <a:rPr lang="en-US" sz="1200" dirty="0">
                <a:solidFill>
                  <a:srgbClr val="12171D"/>
                </a:solidFill>
                <a:latin typeface="Inter" pitchFamily="34" charset="0"/>
                <a:ea typeface="Inter" pitchFamily="34" charset="-122"/>
                <a:cs typeface="Inter" pitchFamily="34" charset="-120"/>
              </a:rPr>
              <a:t> Any new token, component or variant states its purpose, register decision, accessibility check and RTL check, signed off by the Design Custodian and Digital Design Lead.</a:t>
            </a:r>
            <a:endParaRPr lang="en-US" sz="1200" dirty="0"/>
          </a:p>
        </p:txBody>
      </p:sp>
      <p:sp>
        <p:nvSpPr>
          <p:cNvPr id="8" name="Text 4"/>
          <p:cNvSpPr/>
          <p:nvPr/>
        </p:nvSpPr>
        <p:spPr>
          <a:xfrm>
            <a:off x="6299200" y="4322614"/>
            <a:ext cx="52324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exceptions need explicit approval (K09). Legal approval gates any claim (Y08). Suppliers may not reuse GEM artwork (Y06). Parts A, B and C share version, IDs and status (VAL-21).</a:t>
            </a:r>
            <a:endParaRPr lang="en-US" sz="12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5 · Record named holders before AC20 release authorization.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Colour and semantic tokens</a:t>
            </a:r>
            <a:endParaRPr lang="en-US" sz="3200" dirty="0"/>
          </a:p>
        </p:txBody>
      </p:sp>
      <p:sp>
        <p:nvSpPr>
          <p:cNvPr id="5" name="Text 3"/>
          <p:cNvSpPr/>
          <p:nvPr/>
        </p:nvSpPr>
        <p:spPr>
          <a:xfrm>
            <a:off x="812800" y="1828750"/>
            <a:ext cx="91567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Foundation colours feed semantic tokens. Components read semantic tokens only.</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44341"/>
          <a:ext cx="10553700" cy="2542084"/>
        </p:xfrm>
        <a:graphic>
          <a:graphicData uri="http://schemas.openxmlformats.org/drawingml/2006/table">
            <a:tbl>
              <a:tblPr/>
              <a:tblGrid>
                <a:gridCol w="1477518"/>
                <a:gridCol w="9076182"/>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canvas (WHITE) · signature (INK) · selected (BEIGE) · disabled (WHITE) · scrim (INK at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(INK) · inverse (WHITE) · signatureAccent (BEIGE, on INK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essential (INK) · decorative (BEIGE) · focus (INK) · error (INK, 2px) · disabled (BEIGE)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background (INK) · foreground (WHITE) · hover / pressed background (BLACK) · disabledBackground (WHITE) · disabledText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focus-light (INK) · focus-dark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Feedback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errorText (INK) · successText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5140424"/>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Light mode is primary (Q20). No full dark mode (Q19): dark contexts use the INK signature surface with gem-dark (WHITE text, WHITE focus ring).</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Permitted pairings and functional status</a:t>
            </a:r>
            <a:endParaRPr lang="en-US" sz="3200" dirty="0"/>
          </a:p>
        </p:txBody>
      </p:sp>
      <p:sp>
        <p:nvSpPr>
          <p:cNvPr id="5" name="Text 3"/>
          <p:cNvSpPr/>
          <p:nvPr/>
        </p:nvSpPr>
        <p:spPr>
          <a:xfrm>
            <a:off x="812800" y="1828750"/>
            <a:ext cx="3454400" cy="731441"/>
          </a:xfrm>
          <a:prstGeom prst="rect">
            <a:avLst/>
          </a:prstGeom>
          <a:solidFill>
            <a:srgbClr val="12171D"/>
          </a:solidFill>
          <a:ln/>
        </p:spPr>
        <p:txBody>
          <a:bodyPr wrap="square" lIns="152400" tIns="152400" rIns="57912" bIns="12700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INK with WHITE text</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18.0 : 1 · K02 approved</a:t>
            </a:r>
            <a:endParaRPr lang="en-US" sz="1200" dirty="0"/>
          </a:p>
        </p:txBody>
      </p:sp>
      <p:sp>
        <p:nvSpPr>
          <p:cNvPr id="6" name="Text 4"/>
          <p:cNvSpPr/>
          <p:nvPr/>
        </p:nvSpPr>
        <p:spPr>
          <a:xfrm>
            <a:off x="4368800" y="1828750"/>
            <a:ext cx="3454400" cy="731441"/>
          </a:xfrm>
          <a:prstGeom prst="rect">
            <a:avLst/>
          </a:prstGeom>
          <a:solidFill>
            <a:srgbClr val="BCACA7"/>
          </a:solidFill>
          <a:ln/>
        </p:spPr>
        <p:txBody>
          <a:bodyPr wrap="square" lIns="152400" tIns="152400" rIns="57912" bIns="12700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BEIGE with INK text</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8.2 : 1 · K01 approved</a:t>
            </a:r>
            <a:endParaRPr lang="en-US" sz="1200" dirty="0"/>
          </a:p>
        </p:txBody>
      </p:sp>
      <p:sp>
        <p:nvSpPr>
          <p:cNvPr id="7" name="Text 5"/>
          <p:cNvSpPr/>
          <p:nvPr/>
        </p:nvSpPr>
        <p:spPr>
          <a:xfrm>
            <a:off x="7924800" y="1828750"/>
            <a:ext cx="3454400" cy="731441"/>
          </a:xfrm>
          <a:prstGeom prst="rect">
            <a:avLst/>
          </a:prstGeom>
          <a:solidFill>
            <a:srgbClr val="020202"/>
          </a:solidFill>
          <a:ln/>
        </p:spPr>
        <p:txBody>
          <a:bodyPr wrap="square" lIns="152400" tIns="152400" rIns="57912" bIns="127000" rtlCol="0" anchor="t">
            <a:normAutofit/>
          </a:bodyPr>
          <a:lstStyle/>
          <a:p>
            <a:pPr algn="l" indent="0" marL="0">
              <a:lnSpc>
                <a:spcPts val="1680"/>
              </a:lnSpc>
              <a:buNone/>
            </a:pPr>
            <a:r>
              <a:rPr lang="en-US" sz="1200" b="1" dirty="0">
                <a:solidFill>
                  <a:srgbClr val="BCACA7"/>
                </a:solidFill>
                <a:latin typeface="Inter" pitchFamily="34" charset="0"/>
                <a:ea typeface="Inter" pitchFamily="34" charset="-122"/>
                <a:cs typeface="Inter" pitchFamily="34" charset="-120"/>
              </a:rPr>
              <a:t>BEIGE on BLACK</a:t>
            </a:r>
            <a:endParaRPr lang="en-US" sz="1200" dirty="0"/>
          </a:p>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above 8 : 1 · K03 approved</a:t>
            </a:r>
            <a:endParaRPr lang="en-US" sz="1200" dirty="0"/>
          </a:p>
        </p:txBody>
      </p:sp>
      <p:sp>
        <p:nvSpPr>
          <p:cNvPr id="8" name="Text 6"/>
          <p:cNvSpPr/>
          <p:nvPr/>
        </p:nvSpPr>
        <p:spPr>
          <a:xfrm>
            <a:off x="815975" y="2664966"/>
            <a:ext cx="3448050" cy="737791"/>
          </a:xfrm>
          <a:prstGeom prst="rect">
            <a:avLst/>
          </a:prstGeom>
          <a:solidFill>
            <a:srgbClr val="FFFFFF"/>
          </a:solidFill>
          <a:ln w="6350">
            <a:solidFill>
              <a:srgbClr val="12171D"/>
            </a:solidFill>
            <a:prstDash val="solid"/>
          </a:ln>
        </p:spPr>
        <p:txBody>
          <a:bodyPr wrap="square" lIns="155575" tIns="155575" rIns="61468" bIns="130175" rtlCol="0" anchor="t">
            <a:normAutofit/>
          </a:bodyPr>
          <a:lstStyle/>
          <a:p>
            <a:pPr algn="l" indent="0" marL="0">
              <a:lnSpc>
                <a:spcPts val="1680"/>
              </a:lnSpc>
              <a:buNone/>
            </a:pPr>
            <a:r>
              <a:rPr lang="en-US" sz="1200" b="1" dirty="0">
                <a:solidFill>
                  <a:srgbClr val="020202"/>
                </a:solidFill>
                <a:latin typeface="Inter" pitchFamily="34" charset="0"/>
                <a:ea typeface="Inter" pitchFamily="34" charset="-122"/>
                <a:cs typeface="Inter" pitchFamily="34" charset="-120"/>
              </a:rPr>
              <a:t>BLACK on WHITE</a:t>
            </a:r>
            <a:endParaRPr lang="en-US" sz="1200" dirty="0"/>
          </a:p>
          <a:p>
            <a:pPr algn="l" indent="0" marL="0">
              <a:lnSpc>
                <a:spcPts val="1680"/>
              </a:lnSpc>
              <a:buNone/>
            </a:pPr>
            <a:r>
              <a:rPr lang="en-US" sz="1200" dirty="0">
                <a:solidFill>
                  <a:srgbClr val="020202"/>
                </a:solidFill>
                <a:latin typeface="Inter" pitchFamily="34" charset="0"/>
                <a:ea typeface="Inter" pitchFamily="34" charset="-122"/>
                <a:cs typeface="Inter" pitchFamily="34" charset="-120"/>
              </a:rPr>
              <a:t>20.8 : 1 · K04 approved</a:t>
            </a:r>
            <a:endParaRPr lang="en-US" sz="1200" dirty="0"/>
          </a:p>
        </p:txBody>
      </p:sp>
      <p:sp>
        <p:nvSpPr>
          <p:cNvPr id="9" name="Text 7"/>
          <p:cNvSpPr/>
          <p:nvPr/>
        </p:nvSpPr>
        <p:spPr>
          <a:xfrm>
            <a:off x="4371975" y="2664966"/>
            <a:ext cx="3448050" cy="737791"/>
          </a:xfrm>
          <a:prstGeom prst="rect">
            <a:avLst/>
          </a:prstGeom>
          <a:solidFill>
            <a:srgbClr val="FFFFFF"/>
          </a:solidFill>
          <a:ln w="6350">
            <a:solidFill>
              <a:srgbClr val="BCACA7"/>
            </a:solidFill>
            <a:prstDash val="solid"/>
          </a:ln>
        </p:spPr>
        <p:txBody>
          <a:bodyPr wrap="square" lIns="155575" tIns="155575" rIns="61468" bIns="130175"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BEIGE on WHITE</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2.2 : 1 · K05 prohibited for essential text</a:t>
            </a:r>
            <a:endParaRPr lang="en-US" sz="1200" dirty="0"/>
          </a:p>
        </p:txBody>
      </p:sp>
      <p:sp>
        <p:nvSpPr>
          <p:cNvPr id="10" name="Text 8"/>
          <p:cNvSpPr/>
          <p:nvPr/>
        </p:nvSpPr>
        <p:spPr>
          <a:xfrm>
            <a:off x="7924800" y="2661791"/>
            <a:ext cx="3454400" cy="744141"/>
          </a:xfrm>
          <a:prstGeom prst="rect">
            <a:avLst/>
          </a:prstGeom>
          <a:solidFill>
            <a:srgbClr val="020202"/>
          </a:solidFill>
          <a:ln/>
        </p:spPr>
        <p:txBody>
          <a:bodyPr wrap="square" lIns="152400" tIns="152400" rIns="57912" bIns="13970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INK on BLACK</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near 1 : 1 · K06 prohibited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3672632"/>
          <a:ext cx="10553700" cy="1663402"/>
        </p:xfrm>
        <a:graphic>
          <a:graphicData uri="http://schemas.openxmlformats.org/drawingml/2006/table">
            <a:tbl>
              <a:tblPr/>
              <a:tblGrid>
                <a:gridCol w="2321814"/>
                <a:gridCol w="2321814"/>
                <a:gridCol w="5910072"/>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Treatment (Q10: no functional colours)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border, text, optional warning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BEIGE fill with INK text,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1px 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Decorative border, aria-busy, no time estimate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7 · Low-contrast pairs may stay decorative if they carry no meaning (K07).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Spacing, shape, elevation and focus</a:t>
            </a:r>
            <a:endParaRPr lang="en-US" sz="3200" dirty="0"/>
          </a:p>
        </p:txBody>
      </p:sp>
      <p:sp>
        <p:nvSpPr>
          <p:cNvPr id="5" name="Shape 3"/>
          <p:cNvSpPr/>
          <p:nvPr/>
        </p:nvSpPr>
        <p:spPr>
          <a:xfrm>
            <a:off x="849313" y="2412950"/>
            <a:ext cx="25400" cy="25400"/>
          </a:xfrm>
          <a:prstGeom prst="rect">
            <a:avLst/>
          </a:prstGeom>
          <a:solidFill>
            <a:srgbClr val="12171D"/>
          </a:solidFill>
          <a:ln/>
        </p:spPr>
      </p:sp>
      <p:sp>
        <p:nvSpPr>
          <p:cNvPr id="6" name="Text 4"/>
          <p:cNvSpPr/>
          <p:nvPr/>
        </p:nvSpPr>
        <p:spPr>
          <a:xfrm>
            <a:off x="812800" y="2489150"/>
            <a:ext cx="1492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p>
        </p:txBody>
      </p:sp>
      <p:sp>
        <p:nvSpPr>
          <p:cNvPr id="7" name="Shape 5"/>
          <p:cNvSpPr/>
          <p:nvPr/>
        </p:nvSpPr>
        <p:spPr>
          <a:xfrm>
            <a:off x="1136204" y="2387550"/>
            <a:ext cx="50800" cy="50800"/>
          </a:xfrm>
          <a:prstGeom prst="rect">
            <a:avLst/>
          </a:prstGeom>
          <a:solidFill>
            <a:srgbClr val="12171D"/>
          </a:solidFill>
          <a:ln/>
        </p:spPr>
      </p:sp>
      <p:sp>
        <p:nvSpPr>
          <p:cNvPr id="8" name="Text 6"/>
          <p:cNvSpPr/>
          <p:nvPr/>
        </p:nvSpPr>
        <p:spPr>
          <a:xfrm>
            <a:off x="1114475" y="2489150"/>
            <a:ext cx="145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p>
        </p:txBody>
      </p:sp>
      <p:sp>
        <p:nvSpPr>
          <p:cNvPr id="9" name="Shape 7"/>
          <p:cNvSpPr/>
          <p:nvPr/>
        </p:nvSpPr>
        <p:spPr>
          <a:xfrm>
            <a:off x="1451322" y="2362150"/>
            <a:ext cx="76200" cy="76200"/>
          </a:xfrm>
          <a:prstGeom prst="rect">
            <a:avLst/>
          </a:prstGeom>
          <a:solidFill>
            <a:srgbClr val="12171D"/>
          </a:solidFill>
          <a:ln/>
        </p:spPr>
      </p:sp>
      <p:sp>
        <p:nvSpPr>
          <p:cNvPr id="10" name="Text 8"/>
          <p:cNvSpPr/>
          <p:nvPr/>
        </p:nvSpPr>
        <p:spPr>
          <a:xfrm>
            <a:off x="1411982" y="2489150"/>
            <a:ext cx="2057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p>
        </p:txBody>
      </p:sp>
      <p:sp>
        <p:nvSpPr>
          <p:cNvPr id="11" name="Shape 9"/>
          <p:cNvSpPr/>
          <p:nvPr/>
        </p:nvSpPr>
        <p:spPr>
          <a:xfrm>
            <a:off x="1797546" y="2336750"/>
            <a:ext cx="101600" cy="101600"/>
          </a:xfrm>
          <a:prstGeom prst="rect">
            <a:avLst/>
          </a:prstGeom>
          <a:solidFill>
            <a:srgbClr val="12171D"/>
          </a:solidFill>
          <a:ln/>
        </p:spPr>
      </p:sp>
      <p:sp>
        <p:nvSpPr>
          <p:cNvPr id="12" name="Text 10"/>
          <p:cNvSpPr/>
          <p:nvPr/>
        </p:nvSpPr>
        <p:spPr>
          <a:xfrm>
            <a:off x="1770112" y="2489150"/>
            <a:ext cx="2073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p>
        </p:txBody>
      </p:sp>
      <p:sp>
        <p:nvSpPr>
          <p:cNvPr id="13" name="Shape 11"/>
          <p:cNvSpPr/>
          <p:nvPr/>
        </p:nvSpPr>
        <p:spPr>
          <a:xfrm>
            <a:off x="2148136" y="2285950"/>
            <a:ext cx="152400" cy="152400"/>
          </a:xfrm>
          <a:prstGeom prst="rect">
            <a:avLst/>
          </a:prstGeom>
          <a:solidFill>
            <a:srgbClr val="12171D"/>
          </a:solidFill>
          <a:ln/>
        </p:spPr>
      </p:sp>
      <p:sp>
        <p:nvSpPr>
          <p:cNvPr id="14" name="Text 12"/>
          <p:cNvSpPr/>
          <p:nvPr/>
        </p:nvSpPr>
        <p:spPr>
          <a:xfrm>
            <a:off x="2129830" y="2489150"/>
            <a:ext cx="2398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p>
        </p:txBody>
      </p:sp>
      <p:sp>
        <p:nvSpPr>
          <p:cNvPr id="15" name="Shape 13"/>
          <p:cNvSpPr/>
          <p:nvPr/>
        </p:nvSpPr>
        <p:spPr>
          <a:xfrm>
            <a:off x="2522041" y="2235150"/>
            <a:ext cx="203200" cy="203200"/>
          </a:xfrm>
          <a:prstGeom prst="rect">
            <a:avLst/>
          </a:prstGeom>
          <a:solidFill>
            <a:srgbClr val="12171D"/>
          </a:solidFill>
          <a:ln/>
        </p:spPr>
      </p:sp>
      <p:sp>
        <p:nvSpPr>
          <p:cNvPr id="16" name="Text 14"/>
          <p:cNvSpPr/>
          <p:nvPr/>
        </p:nvSpPr>
        <p:spPr>
          <a:xfrm>
            <a:off x="2530078" y="2489150"/>
            <a:ext cx="237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
        <p:nvSpPr>
          <p:cNvPr id="17" name="Shape 15"/>
          <p:cNvSpPr/>
          <p:nvPr/>
        </p:nvSpPr>
        <p:spPr>
          <a:xfrm>
            <a:off x="2928441" y="2133550"/>
            <a:ext cx="304800" cy="304800"/>
          </a:xfrm>
          <a:prstGeom prst="rect">
            <a:avLst/>
          </a:prstGeom>
          <a:solidFill>
            <a:srgbClr val="12171D"/>
          </a:solidFill>
          <a:ln/>
        </p:spPr>
      </p:sp>
      <p:sp>
        <p:nvSpPr>
          <p:cNvPr id="18" name="Text 16"/>
          <p:cNvSpPr/>
          <p:nvPr/>
        </p:nvSpPr>
        <p:spPr>
          <a:xfrm>
            <a:off x="2959050" y="2489150"/>
            <a:ext cx="2435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p>
        </p:txBody>
      </p:sp>
      <p:sp>
        <p:nvSpPr>
          <p:cNvPr id="19" name="Shape 17"/>
          <p:cNvSpPr/>
          <p:nvPr/>
        </p:nvSpPr>
        <p:spPr>
          <a:xfrm>
            <a:off x="3436441" y="2031950"/>
            <a:ext cx="406400" cy="406400"/>
          </a:xfrm>
          <a:prstGeom prst="rect">
            <a:avLst/>
          </a:prstGeom>
          <a:solidFill>
            <a:srgbClr val="12171D"/>
          </a:solidFill>
          <a:ln/>
        </p:spPr>
      </p:sp>
      <p:sp>
        <p:nvSpPr>
          <p:cNvPr id="20" name="Text 18"/>
          <p:cNvSpPr/>
          <p:nvPr/>
        </p:nvSpPr>
        <p:spPr>
          <a:xfrm>
            <a:off x="3517751" y="2489150"/>
            <a:ext cx="2437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
        <p:nvSpPr>
          <p:cNvPr id="21" name="Shape 19"/>
          <p:cNvSpPr/>
          <p:nvPr/>
        </p:nvSpPr>
        <p:spPr>
          <a:xfrm>
            <a:off x="4046041" y="1828750"/>
            <a:ext cx="609600" cy="609600"/>
          </a:xfrm>
          <a:prstGeom prst="rect">
            <a:avLst/>
          </a:prstGeom>
          <a:solidFill>
            <a:srgbClr val="12171D"/>
          </a:solidFill>
          <a:ln/>
        </p:spPr>
      </p:sp>
      <p:sp>
        <p:nvSpPr>
          <p:cNvPr id="22" name="Text 20"/>
          <p:cNvSpPr/>
          <p:nvPr/>
        </p:nvSpPr>
        <p:spPr>
          <a:xfrm>
            <a:off x="4230936" y="2489150"/>
            <a:ext cx="23981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96</a:t>
            </a:r>
            <a:endParaRPr lang="en-US" sz="1200" dirty="0"/>
          </a:p>
        </p:txBody>
      </p:sp>
      <p:sp>
        <p:nvSpPr>
          <p:cNvPr id="23" name="Text 21"/>
          <p:cNvSpPr/>
          <p:nvPr/>
        </p:nvSpPr>
        <p:spPr>
          <a:xfrm>
            <a:off x="4858841" y="2275830"/>
            <a:ext cx="671596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Spacing scale in px. Use the nearest token, never arbitrary values. Component internals 4 to 24; section rhythm 32 to 96.</a:t>
            </a:r>
            <a:endParaRPr lang="en-US" sz="1200" dirty="0"/>
          </a:p>
        </p:txBody>
      </p:sp>
      <p:sp>
        <p:nvSpPr>
          <p:cNvPr id="24" name="Shape 22"/>
          <p:cNvSpPr/>
          <p:nvPr/>
        </p:nvSpPr>
        <p:spPr>
          <a:xfrm>
            <a:off x="815975" y="2959646"/>
            <a:ext cx="3414167" cy="1586061"/>
          </a:xfrm>
          <a:prstGeom prst="rect">
            <a:avLst/>
          </a:prstGeom>
          <a:noFill/>
          <a:ln w="6350">
            <a:solidFill>
              <a:srgbClr val="BCACA7"/>
            </a:solidFill>
            <a:prstDash val="solid"/>
          </a:ln>
        </p:spPr>
      </p:sp>
      <p:sp>
        <p:nvSpPr>
          <p:cNvPr id="25" name="Text 23"/>
          <p:cNvSpPr/>
          <p:nvPr/>
        </p:nvSpPr>
        <p:spPr>
          <a:xfrm>
            <a:off x="1022350"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Shape</a:t>
            </a:r>
            <a:endParaRPr lang="en-US" sz="1600" dirty="0"/>
          </a:p>
        </p:txBody>
      </p:sp>
      <p:sp>
        <p:nvSpPr>
          <p:cNvPr id="26" name="Text 24"/>
          <p:cNvSpPr/>
          <p:nvPr/>
        </p:nvSpPr>
        <p:spPr>
          <a:xfrm>
            <a:off x="1022350" y="3486051"/>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radius-editorial 0 for cards, panels, images and hero fields. radius-control 4px for buttons, inputs, selects, chips. No pills.</a:t>
            </a:r>
            <a:endParaRPr lang="en-US" sz="1200" dirty="0"/>
          </a:p>
        </p:txBody>
      </p:sp>
      <p:sp>
        <p:nvSpPr>
          <p:cNvPr id="27" name="Shape 25"/>
          <p:cNvSpPr/>
          <p:nvPr/>
        </p:nvSpPr>
        <p:spPr>
          <a:xfrm>
            <a:off x="4388892" y="2959646"/>
            <a:ext cx="3414167" cy="1586061"/>
          </a:xfrm>
          <a:prstGeom prst="rect">
            <a:avLst/>
          </a:prstGeom>
          <a:noFill/>
          <a:ln w="6350">
            <a:solidFill>
              <a:srgbClr val="BCACA7"/>
            </a:solidFill>
            <a:prstDash val="solid"/>
          </a:ln>
        </p:spPr>
      </p:sp>
      <p:sp>
        <p:nvSpPr>
          <p:cNvPr id="28" name="Text 26"/>
          <p:cNvSpPr/>
          <p:nvPr/>
        </p:nvSpPr>
        <p:spPr>
          <a:xfrm>
            <a:off x="4595267"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Elevation</a:t>
            </a:r>
            <a:endParaRPr lang="en-US" sz="1600" dirty="0"/>
          </a:p>
        </p:txBody>
      </p:sp>
      <p:sp>
        <p:nvSpPr>
          <p:cNvPr id="29" name="Text 27"/>
          <p:cNvSpPr/>
          <p:nvPr/>
        </p:nvSpPr>
        <p:spPr>
          <a:xfrm>
            <a:off x="4595267" y="34860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decorative shadows. Separate with 1px hairlines or colour fields. Only exception: the modal scrim, INK at 64%.</a:t>
            </a:r>
            <a:endParaRPr lang="en-US" sz="1200" dirty="0"/>
          </a:p>
        </p:txBody>
      </p:sp>
      <p:sp>
        <p:nvSpPr>
          <p:cNvPr id="30" name="Shape 28"/>
          <p:cNvSpPr/>
          <p:nvPr/>
        </p:nvSpPr>
        <p:spPr>
          <a:xfrm>
            <a:off x="7961809" y="2959646"/>
            <a:ext cx="3414216" cy="1586061"/>
          </a:xfrm>
          <a:prstGeom prst="rect">
            <a:avLst/>
          </a:prstGeom>
          <a:noFill/>
          <a:ln w="6350">
            <a:solidFill>
              <a:srgbClr val="BCACA7"/>
            </a:solidFill>
            <a:prstDash val="solid"/>
          </a:ln>
        </p:spPr>
      </p:sp>
      <p:sp>
        <p:nvSpPr>
          <p:cNvPr id="31" name="Text 29"/>
          <p:cNvSpPr/>
          <p:nvPr/>
        </p:nvSpPr>
        <p:spPr>
          <a:xfrm>
            <a:off x="8168184" y="31660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Borders and focus</a:t>
            </a:r>
            <a:endParaRPr lang="en-US" sz="1600" dirty="0"/>
          </a:p>
        </p:txBody>
      </p:sp>
      <p:sp>
        <p:nvSpPr>
          <p:cNvPr id="32" name="Text 30"/>
          <p:cNvSpPr/>
          <p:nvPr/>
        </p:nvSpPr>
        <p:spPr>
          <a:xfrm>
            <a:off x="8168184" y="3486051"/>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Hairline 1px for controls and dividers; emphasis 2px for error, selected tab and focus. Focus ring 2px, offset 2px; INK on light, WHITE on signature.</a:t>
            </a:r>
            <a:endParaRPr lang="en-US" sz="1200" dirty="0"/>
          </a:p>
        </p:txBody>
      </p:sp>
      <p:sp>
        <p:nvSpPr>
          <p:cNvPr id="33"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Families (L01, L02, L04)</a:t>
            </a:r>
            <a:endParaRPr lang="en-US" sz="3200" dirty="0"/>
          </a:p>
        </p:txBody>
      </p:sp>
      <p:sp>
        <p:nvSpPr>
          <p:cNvPr id="5" name="Shape 3"/>
          <p:cNvSpPr/>
          <p:nvPr/>
        </p:nvSpPr>
        <p:spPr>
          <a:xfrm>
            <a:off x="815975" y="1882725"/>
            <a:ext cx="3414167" cy="2170261"/>
          </a:xfrm>
          <a:prstGeom prst="rect">
            <a:avLst/>
          </a:prstGeom>
          <a:noFill/>
          <a:ln w="6350">
            <a:solidFill>
              <a:srgbClr val="BCACA7"/>
            </a:solidFill>
            <a:prstDash val="solid"/>
          </a:ln>
        </p:spPr>
      </p:sp>
      <p:sp>
        <p:nvSpPr>
          <p:cNvPr id="6" name="Text 4"/>
          <p:cNvSpPr/>
          <p:nvPr/>
        </p:nvSpPr>
        <p:spPr>
          <a:xfrm>
            <a:off x="1022350"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Jost" pitchFamily="34" charset="0"/>
                <a:ea typeface="Jost" pitchFamily="34" charset="-122"/>
                <a:cs typeface="Jost" pitchFamily="34" charset="-120"/>
              </a:rPr>
              <a:t>Aa</a:t>
            </a:r>
            <a:endParaRPr lang="en-US" sz="4800" dirty="0"/>
          </a:p>
        </p:txBody>
      </p:sp>
      <p:sp>
        <p:nvSpPr>
          <p:cNvPr id="7" name="Text 5"/>
          <p:cNvSpPr/>
          <p:nvPr/>
        </p:nvSpPr>
        <p:spPr>
          <a:xfrm>
            <a:off x="1022350"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Jost" pitchFamily="34" charset="0"/>
                <a:ea typeface="Jost" pitchFamily="34" charset="-122"/>
                <a:cs typeface="Jost" pitchFamily="34" charset="-120"/>
              </a:rPr>
              <a:t>Jost</a:t>
            </a:r>
            <a:endParaRPr lang="en-US" sz="1600" dirty="0"/>
          </a:p>
        </p:txBody>
      </p:sp>
      <p:sp>
        <p:nvSpPr>
          <p:cNvPr id="8" name="Text 6"/>
          <p:cNvSpPr/>
          <p:nvPr/>
        </p:nvSpPr>
        <p:spPr>
          <a:xfrm>
            <a:off x="1022350" y="32066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Display and headings. APPROVED architecture; exact build to freeze (L06, VAL-19).</a:t>
            </a:r>
            <a:endParaRPr lang="en-US" sz="1200" dirty="0"/>
          </a:p>
        </p:txBody>
      </p:sp>
      <p:sp>
        <p:nvSpPr>
          <p:cNvPr id="9" name="Shape 7"/>
          <p:cNvSpPr/>
          <p:nvPr/>
        </p:nvSpPr>
        <p:spPr>
          <a:xfrm>
            <a:off x="4388892" y="1882725"/>
            <a:ext cx="3414167" cy="2170261"/>
          </a:xfrm>
          <a:prstGeom prst="rect">
            <a:avLst/>
          </a:prstGeom>
          <a:noFill/>
          <a:ln w="6350">
            <a:solidFill>
              <a:srgbClr val="BCACA7"/>
            </a:solidFill>
            <a:prstDash val="solid"/>
          </a:ln>
        </p:spPr>
      </p:sp>
      <p:sp>
        <p:nvSpPr>
          <p:cNvPr id="10" name="Text 8"/>
          <p:cNvSpPr/>
          <p:nvPr/>
        </p:nvSpPr>
        <p:spPr>
          <a:xfrm>
            <a:off x="4595267"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Inter" pitchFamily="34" charset="0"/>
                <a:ea typeface="Inter" pitchFamily="34" charset="-122"/>
                <a:cs typeface="Inter" pitchFamily="34" charset="-120"/>
              </a:rPr>
              <a:t>Aa</a:t>
            </a:r>
            <a:endParaRPr lang="en-US" sz="4800" dirty="0"/>
          </a:p>
        </p:txBody>
      </p:sp>
      <p:sp>
        <p:nvSpPr>
          <p:cNvPr id="11" name="Text 9"/>
          <p:cNvSpPr/>
          <p:nvPr/>
        </p:nvSpPr>
        <p:spPr>
          <a:xfrm>
            <a:off x="4595267"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Inter</a:t>
            </a:r>
            <a:endParaRPr lang="en-US" sz="1600" dirty="0"/>
          </a:p>
        </p:txBody>
      </p:sp>
      <p:sp>
        <p:nvSpPr>
          <p:cNvPr id="12" name="Text 10"/>
          <p:cNvSpPr/>
          <p:nvPr/>
        </p:nvSpPr>
        <p:spPr>
          <a:xfrm>
            <a:off x="4595267" y="320665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Body, UI, office. APPROVED architecture; exact build to freeze.</a:t>
            </a:r>
            <a:endParaRPr lang="en-US" sz="1200" dirty="0"/>
          </a:p>
        </p:txBody>
      </p:sp>
      <p:sp>
        <p:nvSpPr>
          <p:cNvPr id="13" name="Shape 11"/>
          <p:cNvSpPr/>
          <p:nvPr/>
        </p:nvSpPr>
        <p:spPr>
          <a:xfrm>
            <a:off x="7961809" y="1882725"/>
            <a:ext cx="3414216" cy="2170261"/>
          </a:xfrm>
          <a:prstGeom prst="rect">
            <a:avLst/>
          </a:prstGeom>
          <a:noFill/>
          <a:ln w="6350">
            <a:solidFill>
              <a:srgbClr val="BCACA7"/>
            </a:solidFill>
            <a:prstDash val="dash"/>
          </a:ln>
        </p:spPr>
      </p:sp>
      <p:sp>
        <p:nvSpPr>
          <p:cNvPr id="14" name="Text 12"/>
          <p:cNvSpPr/>
          <p:nvPr/>
        </p:nvSpPr>
        <p:spPr>
          <a:xfrm>
            <a:off x="8168184" y="2089100"/>
            <a:ext cx="3091510"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Noto Sans Arabic" pitchFamily="34" charset="0"/>
                <a:ea typeface="Noto Sans Arabic" pitchFamily="34" charset="-122"/>
                <a:cs typeface="Noto Sans Arabic" pitchFamily="34" charset="-120"/>
              </a:rPr>
              <a:t>أب</a:t>
            </a:r>
            <a:endParaRPr lang="en-US" sz="4800" dirty="0"/>
          </a:p>
        </p:txBody>
      </p:sp>
      <p:sp>
        <p:nvSpPr>
          <p:cNvPr id="15" name="Text 13"/>
          <p:cNvSpPr/>
          <p:nvPr/>
        </p:nvSpPr>
        <p:spPr>
          <a:xfrm>
            <a:off x="8168184" y="28612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Noto Sans Arabic</a:t>
            </a:r>
            <a:endParaRPr lang="en-US" sz="1600" dirty="0"/>
          </a:p>
        </p:txBody>
      </p:sp>
      <p:sp>
        <p:nvSpPr>
          <p:cNvPr id="16" name="Text 14"/>
          <p:cNvSpPr/>
          <p:nvPr/>
        </p:nvSpPr>
        <p:spPr>
          <a:xfrm>
            <a:off x="8168184" y="320665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Arabic. Interim (M02); final approval PENDING VALIDATION (VAL-07).</a:t>
            </a:r>
            <a:endParaRPr lang="en-US" sz="1200" dirty="0"/>
          </a:p>
        </p:txBody>
      </p:sp>
      <p:sp>
        <p:nvSpPr>
          <p:cNvPr id="17" name="Text 15"/>
          <p:cNvSpPr/>
          <p:nvPr/>
        </p:nvSpPr>
        <p:spPr>
          <a:xfrm>
            <a:off x="812800" y="4360962"/>
            <a:ext cx="10464800"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FFFFF"/>
                </a:solidFill>
                <a:latin typeface="Inter" pitchFamily="34" charset="0"/>
                <a:ea typeface="Inter" pitchFamily="34" charset="-122"/>
                <a:cs typeface="Inter" pitchFamily="34" charset="-120"/>
              </a:rPr>
              <a:t>Futura PT, Montserrat, Aeonik, Satoshi and Whyte are reference or legacy only (L03, L07). No decorative serif or script (L15). The wordmark is never recreated in type (L16). Maximum two weights per composition (L08). Fonts ship under SIL OFL 1.1; deployment rights PENDING VALIDATION (VAL-05, Y03).</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 working specification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Type styles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6972300" cy="3928864"/>
        </p:xfrm>
        <a:graphic>
          <a:graphicData uri="http://schemas.openxmlformats.org/drawingml/2006/table">
            <a:tbl>
              <a:tblPr/>
              <a:tblGrid>
                <a:gridCol w="1394460"/>
                <a:gridCol w="1185291"/>
                <a:gridCol w="906399"/>
                <a:gridCol w="1045845"/>
                <a:gridCol w="2440305"/>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Weight</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Tracking</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displayXL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96 / 104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Hero, 1024px+,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64 / 72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statement,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h1</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 / 56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 / 40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0.01em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Section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h3</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 modal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eyebrow</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0.16em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 above heading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Capital navigation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labelSmall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 table headers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Running text (L12)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Help text, meta</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labels, controls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574750"/>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Body measure 45 to 75 characters (max-reading 70ch, L11).</a:t>
            </a:r>
            <a:endParaRPr lang="en-US" sz="1200" dirty="0"/>
          </a:p>
        </p:txBody>
      </p:sp>
      <p:sp>
        <p:nvSpPr>
          <p:cNvPr id="7" name="Text 4"/>
          <p:cNvSpPr/>
          <p:nvPr/>
        </p:nvSpPr>
        <p:spPr>
          <a:xfrm>
            <a:off x="8102600" y="2102991"/>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Left aligned (L13). Forced justification prohibited (L14).</a:t>
            </a:r>
            <a:endParaRPr lang="en-US" sz="1200" dirty="0"/>
          </a:p>
        </p:txBody>
      </p:sp>
      <p:sp>
        <p:nvSpPr>
          <p:cNvPr id="8" name="Text 5"/>
          <p:cNvSpPr/>
          <p:nvPr/>
        </p:nvSpPr>
        <p:spPr>
          <a:xfrm>
            <a:off x="8102600" y="2631232"/>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Sizes in CSS px. Body stays 16px at every width.</a:t>
            </a:r>
            <a:endParaRPr lang="en-US" sz="12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Tracking system (L09, L10)</a:t>
            </a:r>
            <a:endParaRPr lang="en-US" sz="3200" dirty="0"/>
          </a:p>
        </p:txBody>
      </p:sp>
      <p:sp>
        <p:nvSpPr>
          <p:cNvPr id="5" name="Text 3"/>
          <p:cNvSpPr/>
          <p:nvPr/>
        </p:nvSpPr>
        <p:spPr>
          <a:xfrm>
            <a:off x="812800" y="1777950"/>
            <a:ext cx="5886450" cy="528290"/>
          </a:xfrm>
          <a:prstGeom prst="rect">
            <a:avLst/>
          </a:prstGeom>
          <a:noFill/>
          <a:ln/>
        </p:spPr>
        <p:txBody>
          <a:bodyPr wrap="square" lIns="0" tIns="0" rIns="0" bIns="0" rtlCol="0" anchor="t">
            <a:normAutofit/>
          </a:bodyPr>
          <a:lstStyle/>
          <a:p>
            <a:pPr algn="l" indent="0" marL="0">
              <a:lnSpc>
                <a:spcPts val="3960"/>
              </a:lnSpc>
              <a:buNone/>
            </a:pPr>
            <a:r>
              <a:rPr lang="en-US" sz="3600" spc="450" kern="0" dirty="0">
                <a:solidFill>
                  <a:srgbClr val="12171D"/>
                </a:solidFill>
                <a:latin typeface="Jost" pitchFamily="34" charset="0"/>
                <a:ea typeface="Jost" pitchFamily="34" charset="-122"/>
                <a:cs typeface="Jost" pitchFamily="34" charset="-120"/>
              </a:rPr>
              <a:t>EVERY ARRIVAL</a:t>
            </a:r>
            <a:endParaRPr lang="en-US" sz="3600" dirty="0"/>
          </a:p>
        </p:txBody>
      </p:sp>
      <p:sp>
        <p:nvSpPr>
          <p:cNvPr id="6" name="Text 4"/>
          <p:cNvSpPr/>
          <p:nvPr/>
        </p:nvSpPr>
        <p:spPr>
          <a:xfrm>
            <a:off x="812800" y="240784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displayXL · 0.12em · CONDITIONAL</a:t>
            </a:r>
            <a:endParaRPr lang="en-US" sz="1200" dirty="0"/>
          </a:p>
        </p:txBody>
      </p:sp>
      <p:sp>
        <p:nvSpPr>
          <p:cNvPr id="7" name="Text 5"/>
          <p:cNvSpPr/>
          <p:nvPr/>
        </p:nvSpPr>
        <p:spPr>
          <a:xfrm>
            <a:off x="812800" y="2748161"/>
            <a:ext cx="5886450" cy="360660"/>
          </a:xfrm>
          <a:prstGeom prst="rect">
            <a:avLst/>
          </a:prstGeom>
          <a:noFill/>
          <a:ln/>
        </p:spPr>
        <p:txBody>
          <a:bodyPr wrap="square" lIns="0" tIns="0" rIns="0" bIns="0" rtlCol="0" anchor="t">
            <a:normAutofit/>
          </a:bodyPr>
          <a:lstStyle/>
          <a:p>
            <a:pPr algn="l" indent="0" marL="0">
              <a:lnSpc>
                <a:spcPts val="2640"/>
              </a:lnSpc>
              <a:buNone/>
            </a:pPr>
            <a:r>
              <a:rPr lang="en-US" sz="2400" spc="200" kern="0" dirty="0">
                <a:solidFill>
                  <a:srgbClr val="12171D"/>
                </a:solidFill>
                <a:latin typeface="Jost" pitchFamily="34" charset="0"/>
                <a:ea typeface="Jost" pitchFamily="34" charset="-122"/>
                <a:cs typeface="Jost" pitchFamily="34" charset="-120"/>
              </a:rPr>
              <a:t>EVERY ARRIVAL</a:t>
            </a:r>
            <a:endParaRPr lang="en-US" sz="2400" dirty="0"/>
          </a:p>
        </p:txBody>
      </p:sp>
      <p:sp>
        <p:nvSpPr>
          <p:cNvPr id="8" name="Text 6"/>
          <p:cNvSpPr/>
          <p:nvPr/>
        </p:nvSpPr>
        <p:spPr>
          <a:xfrm>
            <a:off x="812800" y="321042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 · 0.08em · CONDITIONAL</a:t>
            </a:r>
            <a:endParaRPr lang="en-US" sz="1200" dirty="0"/>
          </a:p>
        </p:txBody>
      </p:sp>
      <p:sp>
        <p:nvSpPr>
          <p:cNvPr id="9" name="Text 7"/>
          <p:cNvSpPr/>
          <p:nvPr/>
        </p:nvSpPr>
        <p:spPr>
          <a:xfrm>
            <a:off x="812800" y="3550741"/>
            <a:ext cx="5886450" cy="274290"/>
          </a:xfrm>
          <a:prstGeom prst="rect">
            <a:avLst/>
          </a:prstGeom>
          <a:noFill/>
          <a:ln/>
        </p:spPr>
        <p:txBody>
          <a:bodyPr wrap="square" lIns="0" tIns="0" rIns="0" bIns="0" rtlCol="0" anchor="t">
            <a:normAutofit/>
          </a:bodyPr>
          <a:lstStyle/>
          <a:p>
            <a:pPr algn="l" indent="0" marL="0">
              <a:lnSpc>
                <a:spcPts val="1960"/>
              </a:lnSpc>
              <a:buNone/>
            </a:pPr>
            <a:r>
              <a:rPr lang="en-US" sz="1400" spc="250" kern="0" dirty="0">
                <a:solidFill>
                  <a:srgbClr val="12171D"/>
                </a:solidFill>
                <a:latin typeface="Jost" pitchFamily="34" charset="0"/>
                <a:ea typeface="Jost" pitchFamily="34" charset="-122"/>
                <a:cs typeface="Jost" pitchFamily="34" charset="-120"/>
              </a:rPr>
              <a:t>EVERY ARRIVAL</a:t>
            </a:r>
            <a:endParaRPr lang="en-US" sz="1400" dirty="0"/>
          </a:p>
        </p:txBody>
      </p:sp>
      <p:sp>
        <p:nvSpPr>
          <p:cNvPr id="10" name="Text 8"/>
          <p:cNvSpPr/>
          <p:nvPr/>
        </p:nvSpPr>
        <p:spPr>
          <a:xfrm>
            <a:off x="812800" y="392663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tagline · 0.18em · APPROVED</a:t>
            </a:r>
            <a:endParaRPr lang="en-US" sz="1200" dirty="0"/>
          </a:p>
        </p:txBody>
      </p:sp>
      <p:sp>
        <p:nvSpPr>
          <p:cNvPr id="11" name="Text 9"/>
          <p:cNvSpPr/>
          <p:nvPr/>
        </p:nvSpPr>
        <p:spPr>
          <a:xfrm>
            <a:off x="812800" y="4266952"/>
            <a:ext cx="5886450" cy="345430"/>
          </a:xfrm>
          <a:prstGeom prst="rect">
            <a:avLst/>
          </a:prstGeom>
          <a:noFill/>
          <a:ln/>
        </p:spPr>
        <p:txBody>
          <a:bodyPr wrap="square" lIns="0" tIns="0" rIns="0" bIns="0" rtlCol="0" anchor="t">
            <a:normAutofit/>
          </a:bodyPr>
          <a:lstStyle/>
          <a:p>
            <a:pPr algn="l" indent="0" marL="0">
              <a:lnSpc>
                <a:spcPts val="2520"/>
              </a:lnSpc>
              <a:buNone/>
            </a:pPr>
            <a:r>
              <a:rPr lang="en-US" sz="1800" spc="50" kern="0" dirty="0">
                <a:solidFill>
                  <a:srgbClr val="12171D"/>
                </a:solidFill>
                <a:latin typeface="Jost" pitchFamily="34" charset="0"/>
                <a:ea typeface="Jost" pitchFamily="34" charset="-122"/>
                <a:cs typeface="Jost" pitchFamily="34" charset="-120"/>
              </a:rPr>
              <a:t>Every arrival</a:t>
            </a:r>
            <a:endParaRPr lang="en-US" sz="1800" dirty="0"/>
          </a:p>
        </p:txBody>
      </p:sp>
      <p:sp>
        <p:nvSpPr>
          <p:cNvPr id="12" name="Text 10"/>
          <p:cNvSpPr/>
          <p:nvPr/>
        </p:nvSpPr>
        <p:spPr>
          <a:xfrm>
            <a:off x="812800" y="471398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h1 0.02em · h2 0.01em · h3 0 · CONDITIONAL</a:t>
            </a:r>
            <a:endParaRPr lang="en-US" sz="1200" dirty="0"/>
          </a:p>
        </p:txBody>
      </p:sp>
      <p:sp>
        <p:nvSpPr>
          <p:cNvPr id="13" name="Shape 11"/>
          <p:cNvSpPr/>
          <p:nvPr/>
        </p:nvSpPr>
        <p:spPr>
          <a:xfrm>
            <a:off x="6835775" y="1777950"/>
            <a:ext cx="0" cy="3149352"/>
          </a:xfrm>
          <a:prstGeom prst="line">
            <a:avLst/>
          </a:prstGeom>
          <a:noFill/>
          <a:ln w="6350">
            <a:solidFill>
              <a:srgbClr val="BCACA7"/>
            </a:solidFill>
            <a:prstDash val="solid"/>
          </a:ln>
        </p:spPr>
      </p:sp>
      <p:sp>
        <p:nvSpPr>
          <p:cNvPr id="14" name="Text 12"/>
          <p:cNvSpPr/>
          <p:nvPr/>
        </p:nvSpPr>
        <p:spPr>
          <a:xfrm>
            <a:off x="7143750" y="1777950"/>
            <a:ext cx="436251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The generic 0.3 to 0.8em rule is retired, replaced by per-style tokens. All values CONDITIONAL until optical QA in templates and native PowerPoint (VAL-19).</a:t>
            </a:r>
            <a:endParaRPr lang="en-US" sz="1200" dirty="0"/>
          </a:p>
        </p:txBody>
      </p:sp>
      <p:sp>
        <p:nvSpPr>
          <p:cNvPr id="15" name="Text 13"/>
          <p:cNvSpPr/>
          <p:nvPr/>
        </p:nvSpPr>
        <p:spPr>
          <a:xfrm>
            <a:off x="7143750" y="2519511"/>
            <a:ext cx="436251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PowerPoint:</a:t>
            </a:r>
            <a:r>
              <a:rPr lang="en-US" sz="1200" dirty="0">
                <a:solidFill>
                  <a:srgbClr val="12171D"/>
                </a:solidFill>
                <a:latin typeface="Inter" pitchFamily="34" charset="0"/>
                <a:ea typeface="Inter" pitchFamily="34" charset="-122"/>
                <a:cs typeface="Inter" pitchFamily="34" charset="-120"/>
              </a:rPr>
              <a:t> Character Spacing › Expanded › By = em × font size in pt. Apply to the run; re-check after font substitution.</a:t>
            </a:r>
            <a:endParaRPr lang="en-US" sz="1200" dirty="0"/>
          </a:p>
        </p:txBody>
      </p:sp>
      <p:sp>
        <p:nvSpPr>
          <p:cNvPr id="16" name="Text 14"/>
          <p:cNvSpPr/>
          <p:nvPr/>
        </p:nvSpPr>
        <p:spPr>
          <a:xfrm>
            <a:off x="7143750" y="3261072"/>
            <a:ext cx="436251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Always 0:</a:t>
            </a:r>
            <a:r>
              <a:rPr lang="en-US" sz="1200" dirty="0">
                <a:solidFill>
                  <a:srgbClr val="12171D"/>
                </a:solidFill>
                <a:latin typeface="Inter" pitchFamily="34" charset="0"/>
                <a:ea typeface="Inter" pitchFamily="34" charset="-122"/>
                <a:cs typeface="Inter" pitchFamily="34" charset="-120"/>
              </a:rPr>
              <a:t> body, caption, label and all Arabic (M05).</a:t>
            </a:r>
            <a:endParaRPr lang="en-US" sz="1200" dirty="0"/>
          </a:p>
        </p:txBody>
      </p:sp>
      <p:sp>
        <p:nvSpPr>
          <p:cNvPr id="17" name="Text 15"/>
          <p:cNvSpPr/>
          <p:nvPr/>
        </p:nvSpPr>
        <p:spPr>
          <a:xfrm>
            <a:off x="7143750" y="3575993"/>
            <a:ext cx="436251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Prohibited:</a:t>
            </a:r>
            <a:r>
              <a:rPr lang="en-US" sz="1200" dirty="0">
                <a:solidFill>
                  <a:srgbClr val="12171D"/>
                </a:solidFill>
                <a:latin typeface="Inter" pitchFamily="34" charset="0"/>
                <a:ea typeface="Inter" pitchFamily="34" charset="-122"/>
                <a:cs typeface="Inter" pitchFamily="34" charset="-120"/>
              </a:rPr>
              <a:t> tracking on lowercase running text, on Arabic, below 12px, or to fit a word on a line.</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 · PENDING VALIDATION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Arabic hierarchy and RTL principles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4051300" cy="2661444"/>
        </p:xfrm>
        <a:graphic>
          <a:graphicData uri="http://schemas.openxmlformats.org/drawingml/2006/table">
            <a:tbl>
              <a:tblPr/>
              <a:tblGrid>
                <a:gridCol w="1944624"/>
                <a:gridCol w="1296416"/>
                <a:gridCol w="8102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 (M04)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Wt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arabicDisplay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56 / 76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 / 60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30 / 46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arabicBody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 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arabicCaption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5194300" y="1790650"/>
          <a:ext cx="6184900" cy="2994124"/>
        </p:xfrm>
        <a:graphic>
          <a:graphicData uri="http://schemas.openxmlformats.org/drawingml/2006/table">
            <a:tbl>
              <a:tblPr/>
              <a:tblGrid>
                <a:gridCol w="5195316"/>
                <a:gridCol w="98958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Decision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True RTL flow and dir="rtl" on the document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Mirror composition where semantically appropriate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Never mirror the GEM logo or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Latin tracking on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names translated case by case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Arabic-Indic numerals for guest copy; Latin for codes, URLs, phones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Standardised codes stay LTR inside 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Wayfinding: Arabic first and right, English left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987975"/>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 tracking 0, no italics, line-height at least 1.7, set larger than Latin to match x-height. Every Arabic string is a working layout string, PENDING LOCALIZATION APPROVAL; professional copyediting mandatory (M16).</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12 · Not production-ready until native QA passes (M01, VAL-07).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What mirrors, and mixed-language content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328763"/>
        </p:xfrm>
        <a:graphic>
          <a:graphicData uri="http://schemas.openxmlformats.org/drawingml/2006/table">
            <a:tbl>
              <a:tblPr/>
              <a:tblGrid>
                <a:gridCol w="5276850"/>
                <a:gridCol w="527685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Mirrors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Does not mirror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order, columns, navigation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and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alignment (start edge)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Clocks, play and media controls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and next glyphs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 calendar, language, check, plus, minus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 and input alignment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URL, email, phone, batch codes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 column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Numbers inside a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322614"/>
            <a:ext cx="3488233"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Implementation.</a:t>
            </a:r>
            <a:r>
              <a:rPr lang="en-US" sz="1200" dirty="0">
                <a:solidFill>
                  <a:srgbClr val="12171D"/>
                </a:solidFill>
                <a:latin typeface="Inter" pitchFamily="34" charset="0"/>
                <a:ea typeface="Inter" pitchFamily="34" charset="-122"/>
                <a:cs typeface="Inter" pitchFamily="34" charset="-120"/>
              </a:rPr>
              <a:t> Logical properties only (margin-inline-start, text-align: start, inset-inline). No left or right in component CSS.</a:t>
            </a:r>
            <a:endParaRPr lang="en-US" sz="1200" dirty="0"/>
          </a:p>
        </p:txBody>
      </p:sp>
      <p:sp>
        <p:nvSpPr>
          <p:cNvPr id="7" name="Text 4"/>
          <p:cNvSpPr/>
          <p:nvPr/>
        </p:nvSpPr>
        <p:spPr>
          <a:xfrm>
            <a:off x="4402634" y="4322614"/>
            <a:ext cx="348828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Mixed language.</a:t>
            </a:r>
            <a:r>
              <a:rPr lang="en-US" sz="1200" dirty="0">
                <a:solidFill>
                  <a:srgbClr val="12171D"/>
                </a:solidFill>
                <a:latin typeface="Inter" pitchFamily="34" charset="0"/>
                <a:ea typeface="Inter" pitchFamily="34" charset="-122"/>
                <a:cs typeface="Inter" pitchFamily="34" charset="-120"/>
              </a:rPr>
              <a:t> Wrap embedded Latin in &lt;bdi&gt; or a dir="ltr" span. Codes like GEM-[PENDING] stay LTR and separated.</a:t>
            </a:r>
            <a:endParaRPr lang="en-US" sz="1200" dirty="0"/>
          </a:p>
        </p:txBody>
      </p:sp>
      <p:sp>
        <p:nvSpPr>
          <p:cNvPr id="8" name="Text 5"/>
          <p:cNvSpPr/>
          <p:nvPr/>
        </p:nvSpPr>
        <p:spPr>
          <a:xfrm>
            <a:off x="7992517" y="4322614"/>
            <a:ext cx="3488233"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Focus.</a:t>
            </a:r>
            <a:r>
              <a:rPr lang="en-US" sz="1200" dirty="0">
                <a:solidFill>
                  <a:srgbClr val="12171D"/>
                </a:solidFill>
                <a:latin typeface="Inter" pitchFamily="34" charset="0"/>
                <a:ea typeface="Inter" pitchFamily="34" charset="-122"/>
                <a:cs typeface="Inter" pitchFamily="34" charset="-120"/>
              </a:rPr>
              <a:t> Tab order follows reading order; Left and Right swap in tablists and date grids. The focus ring is symmetric.</a:t>
            </a:r>
            <a:endParaRPr lang="en-US" sz="1200" dirty="0"/>
          </a:p>
        </p:txBody>
      </p:sp>
      <p:sp>
        <p:nvSpPr>
          <p:cNvPr id="9" name="Text 6"/>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13 · Responsive RTL (Q18) PENDING VALIDATION; Arabic signed off or deferred (AC10).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Breakpoints (Q17, approved)</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a:tblGrid>
                <a:gridCol w="1371981"/>
                <a:gridCol w="1583055"/>
                <a:gridCol w="1055370"/>
                <a:gridCol w="949833"/>
                <a:gridCol w="949833"/>
                <a:gridCol w="4643628"/>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Band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Width</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Columns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Gutter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Margin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Behaviour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0–479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Nav collapses. Primary action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Mobile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480–719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two-up only for glyph grids and image pairs.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720–1023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cards. Navigation may stay collapsed.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Desktop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1080px. Full 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1280px, centred. Not a separate model.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p:cNvSpPr/>
          <p:nvPr/>
        </p:nvSpPr>
        <p:spPr>
          <a:xfrm>
            <a:off x="812800" y="3989933"/>
            <a:ext cx="810667" cy="304800"/>
          </a:xfrm>
          <a:prstGeom prst="rect">
            <a:avLst/>
          </a:prstGeom>
          <a:solidFill>
            <a:srgbClr val="BCACA7"/>
          </a:solidFill>
          <a:ln/>
        </p:spPr>
      </p:sp>
      <p:sp>
        <p:nvSpPr>
          <p:cNvPr id="7" name="Shape 4"/>
          <p:cNvSpPr/>
          <p:nvPr/>
        </p:nvSpPr>
        <p:spPr>
          <a:xfrm>
            <a:off x="1699667" y="3989933"/>
            <a:ext cx="810716" cy="304800"/>
          </a:xfrm>
          <a:prstGeom prst="rect">
            <a:avLst/>
          </a:prstGeom>
          <a:solidFill>
            <a:srgbClr val="BCACA7"/>
          </a:solidFill>
          <a:ln/>
        </p:spPr>
      </p:sp>
      <p:sp>
        <p:nvSpPr>
          <p:cNvPr id="8" name="Shape 5"/>
          <p:cNvSpPr/>
          <p:nvPr/>
        </p:nvSpPr>
        <p:spPr>
          <a:xfrm>
            <a:off x="2586583" y="3989933"/>
            <a:ext cx="810667" cy="304800"/>
          </a:xfrm>
          <a:prstGeom prst="rect">
            <a:avLst/>
          </a:prstGeom>
          <a:solidFill>
            <a:srgbClr val="BCACA7"/>
          </a:solidFill>
          <a:ln/>
        </p:spPr>
      </p:sp>
      <p:sp>
        <p:nvSpPr>
          <p:cNvPr id="9" name="Shape 6"/>
          <p:cNvSpPr/>
          <p:nvPr/>
        </p:nvSpPr>
        <p:spPr>
          <a:xfrm>
            <a:off x="3473450" y="3989933"/>
            <a:ext cx="810716" cy="304800"/>
          </a:xfrm>
          <a:prstGeom prst="rect">
            <a:avLst/>
          </a:prstGeom>
          <a:solidFill>
            <a:srgbClr val="BCACA7"/>
          </a:solidFill>
          <a:ln/>
        </p:spPr>
      </p:sp>
      <p:sp>
        <p:nvSpPr>
          <p:cNvPr id="10" name="Shape 7"/>
          <p:cNvSpPr/>
          <p:nvPr/>
        </p:nvSpPr>
        <p:spPr>
          <a:xfrm>
            <a:off x="4360366" y="3989933"/>
            <a:ext cx="810667" cy="304800"/>
          </a:xfrm>
          <a:prstGeom prst="rect">
            <a:avLst/>
          </a:prstGeom>
          <a:solidFill>
            <a:srgbClr val="BCACA7"/>
          </a:solidFill>
          <a:ln/>
        </p:spPr>
      </p:sp>
      <p:sp>
        <p:nvSpPr>
          <p:cNvPr id="11" name="Shape 8"/>
          <p:cNvSpPr/>
          <p:nvPr/>
        </p:nvSpPr>
        <p:spPr>
          <a:xfrm>
            <a:off x="5247233" y="3989933"/>
            <a:ext cx="810716" cy="304800"/>
          </a:xfrm>
          <a:prstGeom prst="rect">
            <a:avLst/>
          </a:prstGeom>
          <a:solidFill>
            <a:srgbClr val="BCACA7"/>
          </a:solidFill>
          <a:ln/>
        </p:spPr>
      </p:sp>
      <p:sp>
        <p:nvSpPr>
          <p:cNvPr id="12" name="Shape 9"/>
          <p:cNvSpPr/>
          <p:nvPr/>
        </p:nvSpPr>
        <p:spPr>
          <a:xfrm>
            <a:off x="6134150" y="3989933"/>
            <a:ext cx="810667" cy="304800"/>
          </a:xfrm>
          <a:prstGeom prst="rect">
            <a:avLst/>
          </a:prstGeom>
          <a:solidFill>
            <a:srgbClr val="BCACA7"/>
          </a:solidFill>
          <a:ln/>
        </p:spPr>
      </p:sp>
      <p:sp>
        <p:nvSpPr>
          <p:cNvPr id="13" name="Shape 10"/>
          <p:cNvSpPr/>
          <p:nvPr/>
        </p:nvSpPr>
        <p:spPr>
          <a:xfrm>
            <a:off x="7021016" y="3989933"/>
            <a:ext cx="810716" cy="304800"/>
          </a:xfrm>
          <a:prstGeom prst="rect">
            <a:avLst/>
          </a:prstGeom>
          <a:solidFill>
            <a:srgbClr val="BCACA7"/>
          </a:solidFill>
          <a:ln/>
        </p:spPr>
      </p:sp>
      <p:sp>
        <p:nvSpPr>
          <p:cNvPr id="14" name="Shape 11"/>
          <p:cNvSpPr/>
          <p:nvPr/>
        </p:nvSpPr>
        <p:spPr>
          <a:xfrm>
            <a:off x="7907933" y="3989933"/>
            <a:ext cx="810667" cy="304800"/>
          </a:xfrm>
          <a:prstGeom prst="rect">
            <a:avLst/>
          </a:prstGeom>
          <a:solidFill>
            <a:srgbClr val="BCACA7"/>
          </a:solidFill>
          <a:ln/>
        </p:spPr>
      </p:sp>
      <p:sp>
        <p:nvSpPr>
          <p:cNvPr id="15" name="Shape 12"/>
          <p:cNvSpPr/>
          <p:nvPr/>
        </p:nvSpPr>
        <p:spPr>
          <a:xfrm>
            <a:off x="8794800" y="3989933"/>
            <a:ext cx="810667" cy="304800"/>
          </a:xfrm>
          <a:prstGeom prst="rect">
            <a:avLst/>
          </a:prstGeom>
          <a:solidFill>
            <a:srgbClr val="BCACA7"/>
          </a:solidFill>
          <a:ln/>
        </p:spPr>
      </p:sp>
      <p:sp>
        <p:nvSpPr>
          <p:cNvPr id="16" name="Shape 13"/>
          <p:cNvSpPr/>
          <p:nvPr/>
        </p:nvSpPr>
        <p:spPr>
          <a:xfrm>
            <a:off x="9681666" y="3989933"/>
            <a:ext cx="810667" cy="304800"/>
          </a:xfrm>
          <a:prstGeom prst="rect">
            <a:avLst/>
          </a:prstGeom>
          <a:solidFill>
            <a:srgbClr val="BCACA7"/>
          </a:solidFill>
          <a:ln/>
        </p:spPr>
      </p:sp>
      <p:sp>
        <p:nvSpPr>
          <p:cNvPr id="17" name="Shape 14"/>
          <p:cNvSpPr/>
          <p:nvPr/>
        </p:nvSpPr>
        <p:spPr>
          <a:xfrm>
            <a:off x="10568533" y="3989933"/>
            <a:ext cx="810667" cy="304800"/>
          </a:xfrm>
          <a:prstGeom prst="rect">
            <a:avLst/>
          </a:prstGeom>
          <a:solidFill>
            <a:srgbClr val="BCACA7"/>
          </a:solidFill>
          <a:ln/>
        </p:spPr>
      </p:sp>
      <p:sp>
        <p:nvSpPr>
          <p:cNvPr id="18" name="Text 15"/>
          <p:cNvSpPr/>
          <p:nvPr/>
        </p:nvSpPr>
        <p:spPr>
          <a:xfrm>
            <a:off x="812800" y="449793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Columns, gutters, margins and max widths are CONDITIONAL until validated in templates. Type scaling (CONDITIONAL): Display XL 96 at 1024px+; step-downs 64 at 720px, 48 at 480px, 40 at Compact. Body stays 16px.</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14 · Desktop 12-column grid, 24px gutter.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Behaviour by component family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661444"/>
        </p:xfrm>
        <a:graphic>
          <a:graphicData uri="http://schemas.openxmlformats.org/drawingml/2006/table">
            <a:tbl>
              <a:tblPr/>
              <a:tblGrid>
                <a:gridCol w="1477518"/>
                <a:gridCol w="3799332"/>
                <a:gridCol w="2638425"/>
                <a:gridCol w="2638425"/>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Compact and Mobile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Desktop and Wide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column, margins 16 or 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8-column grid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columns, max 1080/1280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steps down; body 16px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XL 96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Stacked,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Three- or four-up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 44px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Collapsed or inline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Inline, primary visible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width minus 24px; actions 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labels above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Optional 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for paired fields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Scroll in a labelled region, or restack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Horizontal scroll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Reflow at 320 CSS px and 400% zoom without two-direction scrolling (WCAG 1.4.10). Never fix heights on text. Remove content before reducing space. Align to the start edge; trim trailing tracking when centring capitals.</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15 · Image ratios (CONDITIONAL): 3:2 rooms, 4:5 products, 16:9 hero.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ACCESSIBILITY · WCAG 2.2 AA (K08, V01)</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Requirements and where they live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a:tblGrid>
                <a:gridCol w="1740154"/>
                <a:gridCol w="3377946"/>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4.5:1; large text, UI 3:1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by colour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weight or glyph (V10)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Target size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 × 44 CSS px (V12)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ring, 2px offset (V08)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operable, no traps (V09)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aria-current="page"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aria-selected / aria-pressed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Invalid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aria-invalid + describedby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role=alert; else role=status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aria-busy, no invented time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a:tblGrid>
                <a:gridCol w="1740154"/>
                <a:gridCol w="3377946"/>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Dialogs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in, trapped, Esc, returns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Disabled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aria-disabled, reason in text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 scope, caption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Descriptive; announce new window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Alt text (V02); decor hidden (V03)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0ms (V11)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 on document and runs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DOM, also RTL (V05,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in text; native 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Matches visual reading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1507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Per release: axe-core, keyboard-only, screen reader in English and Arabic, 400% zoom, 320px reflow, reduced motion, forced colours. Official PDFs tagged (V13); signage legibility-tested (V15).</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16 · Implementation QA in progress (VAL-08); exceptions need approval (K09).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MOTION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Motion tokens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845300" cy="3540125"/>
        </p:xfrm>
        <a:graphic>
          <a:graphicData uri="http://schemas.openxmlformats.org/drawingml/2006/table">
            <a:tbl>
              <a:tblPr/>
              <a:tblGrid>
                <a:gridCol w="2190496"/>
                <a:gridCol w="1916684"/>
                <a:gridCol w="273812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duration-instant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under 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duration-hover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Hover colour change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duration-reveal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mark reveal (P02)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reveal-ring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900ms from 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Ring draws 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reveal-spark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 from 900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Spark flashes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reveal-quarter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400ms from 1100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Quarter fills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easing-out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cubic-bezier(0.22, 0.61, 0.36, 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Only easing; reversed for exits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7975600" y="1777950"/>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All APPROVED except * CONDITIONAL.</a:t>
            </a:r>
            <a:endParaRPr lang="en-US" sz="1200" dirty="0"/>
          </a:p>
        </p:txBody>
      </p:sp>
      <p:sp>
        <p:nvSpPr>
          <p:cNvPr id="7" name="Text 4"/>
          <p:cNvSpPr/>
          <p:nvPr/>
        </p:nvSpPr>
        <p:spPr>
          <a:xfrm>
            <a:off x="7975600" y="2092871"/>
            <a:ext cx="3505708"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bounce, elastic, overshoot, parallax or autoplay loops. Motion explains a change, never decorates. UI controls animate opacity and colour only.</a:t>
            </a:r>
            <a:endParaRPr lang="en-US" sz="1200" dirty="0"/>
          </a:p>
        </p:txBody>
      </p:sp>
      <p:sp>
        <p:nvSpPr>
          <p:cNvPr id="8" name="Text 5"/>
          <p:cNvSpPr/>
          <p:nvPr/>
        </p:nvSpPr>
        <p:spPr>
          <a:xfrm>
            <a:off x="7975600" y="3047752"/>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every duration to 0; keep the state change, drop the movement.</a:t>
            </a:r>
            <a:endParaRPr lang="en-US" sz="1200" dirty="0"/>
          </a:p>
        </p:txBody>
      </p:sp>
      <p:sp>
        <p:nvSpPr>
          <p:cNvPr id="9" name="Text 6"/>
          <p:cNvSpPr/>
          <p:nvPr/>
        </p:nvSpPr>
        <p:spPr>
          <a:xfrm>
            <a:off x="7975600" y="3575993"/>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 PENDING VALIDATION (VAL-14).</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GLYPHS (Z11)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Functional Glyph System</a:t>
            </a:r>
            <a:endParaRPr lang="en-US" sz="3200" dirty="0"/>
          </a:p>
        </p:txBody>
      </p:sp>
      <p:sp>
        <p:nvSpPr>
          <p:cNvPr id="5" name="Text 3"/>
          <p:cNvSpPr/>
          <p:nvPr/>
        </p:nvSpPr>
        <p:spPr>
          <a:xfrm>
            <a:off x="812800" y="1777950"/>
            <a:ext cx="10464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27 outline glyphs: 24px optical box, 2px stroke, square caps, miter joins, ink only (currentColor). Sizes 16, 20, 24, 32. No fills, gradients or two-tone. A glyph never replaces a text label on its own.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420491"/>
          <a:ext cx="10553700" cy="1876723"/>
        </p:xfrm>
        <a:graphic>
          <a:graphicData uri="http://schemas.openxmlformats.org/drawingml/2006/table">
            <a:tbl>
              <a:tblPr/>
              <a:tblGrid>
                <a:gridCol w="1899666"/>
                <a:gridCol w="5910072"/>
                <a:gridCol w="2743962"/>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 previous, next, expand, collapse, check, plus, minus, calendar, search, download, external,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 (VAL-13)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Contact, guest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 phone, email, guest, bed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wifi, dining, spa, pool, fitness, transport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 warning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4500414"/>
            <a:ext cx="3488233"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Optics.</a:t>
            </a:r>
            <a:r>
              <a:rPr lang="en-US" sz="1200" dirty="0">
                <a:solidFill>
                  <a:srgbClr val="12171D"/>
                </a:solidFill>
                <a:latin typeface="Inter" pitchFamily="34" charset="0"/>
                <a:ea typeface="Inter" pitchFamily="34" charset="-122"/>
                <a:cs typeface="Inter" pitchFamily="34" charset="-120"/>
              </a:rPr>
              <a:t> Shapes sit 2px inside the box; round shapes overshoot 0.5px. Never scale to change the stroke.</a:t>
            </a:r>
            <a:endParaRPr lang="en-US" sz="1200" dirty="0"/>
          </a:p>
        </p:txBody>
      </p:sp>
      <p:sp>
        <p:nvSpPr>
          <p:cNvPr id="8" name="Text 5"/>
          <p:cNvSpPr/>
          <p:nvPr/>
        </p:nvSpPr>
        <p:spPr>
          <a:xfrm>
            <a:off x="4402634" y="4500414"/>
            <a:ext cx="348828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Accessibility.</a:t>
            </a:r>
            <a:r>
              <a:rPr lang="en-US" sz="1200" dirty="0">
                <a:solidFill>
                  <a:srgbClr val="12171D"/>
                </a:solidFill>
                <a:latin typeface="Inter" pitchFamily="34" charset="0"/>
                <a:ea typeface="Inter" pitchFamily="34" charset="-122"/>
                <a:cs typeface="Inter" pitchFamily="34" charset="-120"/>
              </a:rPr>
              <a:t> Decorative glyphs aria-hidden; standalone glyphs get a label. Targets 44px.</a:t>
            </a:r>
            <a:endParaRPr lang="en-US" sz="1200" dirty="0"/>
          </a:p>
        </p:txBody>
      </p:sp>
      <p:sp>
        <p:nvSpPr>
          <p:cNvPr id="9" name="Text 6"/>
          <p:cNvSpPr/>
          <p:nvPr/>
        </p:nvSpPr>
        <p:spPr>
          <a:xfrm>
            <a:off x="7992517" y="4500414"/>
            <a:ext cx="3488233"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RTL.</a:t>
            </a:r>
            <a:r>
              <a:rPr lang="en-US" sz="1200" dirty="0">
                <a:solidFill>
                  <a:srgbClr val="12171D"/>
                </a:solidFill>
                <a:latin typeface="Inter" pitchFamily="34" charset="0"/>
                <a:ea typeface="Inter" pitchFamily="34" charset="-122"/>
                <a:cs typeface="Inter" pitchFamily="34" charset="-120"/>
              </a:rPr>
              <a:t> Only previous and next mirror. SVGs are working geometry, not supplier artwork (DS05).</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Voice and feedback hierarchy</a:t>
            </a:r>
            <a:endParaRPr lang="en-US" sz="3200" dirty="0"/>
          </a:p>
        </p:txBody>
      </p:sp>
      <p:sp>
        <p:nvSpPr>
          <p:cNvPr id="5" name="Text 3"/>
          <p:cNvSpPr/>
          <p:nvPr/>
        </p:nvSpPr>
        <p:spPr>
          <a:xfrm>
            <a:off x="8128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Voice (G01–G10).</a:t>
            </a:r>
            <a:r>
              <a:rPr lang="en-US" sz="1200" dirty="0">
                <a:solidFill>
                  <a:srgbClr val="12171D"/>
                </a:solidFill>
                <a:latin typeface="Inter" pitchFamily="34" charset="0"/>
                <a:ea typeface="Inter" pitchFamily="34" charset="-122"/>
                <a:cs typeface="Inter" pitchFamily="34" charset="-120"/>
              </a:rPr>
              <a:t> Measured. Warm, not effusive. Quietly confident. Short sentences. State rather than sell. No exclamation marks, no unsupported superlatives.</a:t>
            </a:r>
            <a:endParaRPr lang="en-US" sz="1200" dirty="0"/>
          </a:p>
        </p:txBody>
      </p:sp>
      <p:sp>
        <p:nvSpPr>
          <p:cNvPr id="6" name="Text 4"/>
          <p:cNvSpPr/>
          <p:nvPr/>
        </p:nvSpPr>
        <p:spPr>
          <a:xfrm>
            <a:off x="62484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r>
              <a:rPr lang="en-US" sz="1200" dirty="0">
                <a:solidFill>
                  <a:srgbClr val="12171D"/>
                </a:solidFill>
                <a:latin typeface="Inter" pitchFamily="34" charset="0"/>
                <a:ea typeface="Inter" pitchFamily="34" charset="-122"/>
                <a:cs typeface="Inter" pitchFamily="34" charset="-120"/>
              </a:rPr>
              <a:t> arrival, stay, proportion, composed, measured, quiet, exact, welcome, crafted.</a:t>
            </a:r>
            <a:endParaRPr lang="en-US" sz="1200" dirty="0"/>
          </a:p>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Avoid:</a:t>
            </a:r>
            <a:r>
              <a:rPr lang="en-US" sz="1200" dirty="0">
                <a:solidFill>
                  <a:srgbClr val="12171D"/>
                </a:solidFill>
                <a:latin typeface="Inter" pitchFamily="34" charset="0"/>
                <a:ea typeface="Inter" pitchFamily="34" charset="-122"/>
                <a:cs typeface="Inter" pitchFamily="34" charset="-120"/>
              </a:rPr>
              <a:t> luxurious, world-class, indulge, oasis, escape, pamper, unforgettable, best.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847132"/>
          <a:ext cx="10553700" cy="1663402"/>
        </p:xfrm>
        <a:graphic>
          <a:graphicData uri="http://schemas.openxmlformats.org/drawingml/2006/table">
            <a:tbl>
              <a:tblPr/>
              <a:tblGrid>
                <a:gridCol w="2110740"/>
                <a:gridCol w="3377184"/>
                <a:gridCol w="5065776"/>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1. State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2. Title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3.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Availability has changed.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your 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Checking availability…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estimated completion time is available.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received.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We'll confirm the delivery time here.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Field errors state the fix.</a:t>
            </a:r>
            <a:r>
              <a:rPr lang="en-US" sz="1200" dirty="0">
                <a:solidFill>
                  <a:srgbClr val="12171D"/>
                </a:solidFill>
                <a:latin typeface="Inter" pitchFamily="34" charset="0"/>
                <a:ea typeface="Inter" pitchFamily="34" charset="-122"/>
                <a:cs typeface="Inter" pitchFamily="34" charset="-120"/>
              </a:rPr>
              <a:t> "Invalid date" → Choose an arrival date before the departure date.</a:t>
            </a:r>
            <a:endParaRPr lang="en-US" sz="1200" dirty="0"/>
          </a:p>
        </p:txBody>
      </p:sp>
      <p:sp>
        <p:nvSpPr>
          <p:cNvPr id="9" name="Text 6"/>
          <p:cNvSpPr/>
          <p:nvPr/>
        </p:nvSpPr>
        <p:spPr>
          <a:xfrm>
            <a:off x="62484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Buttons and links.</a:t>
            </a:r>
            <a:r>
              <a:rPr lang="en-US" sz="1200" dirty="0">
                <a:solidFill>
                  <a:srgbClr val="12171D"/>
                </a:solidFill>
                <a:latin typeface="Inter" pitchFamily="34" charset="0"/>
                <a:ea typeface="Inter" pitchFamily="34" charset="-122"/>
                <a:cs typeface="Inter" pitchFamily="34" charset="-120"/>
              </a:rPr>
              <a:t> Sentence case, outcome verbs, one primary per view. Never "Click here".</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19 · Arabic is written for Arabic, not translated word for word (G18).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Examples by journey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a:tblGrid>
                <a:gridCol w="1794129"/>
                <a:gridCol w="5593461"/>
                <a:gridCol w="316611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Context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Example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Note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booking · Choose your dates · Keep dates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Verbs naming the 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room name] · [Size], [Bed type], [Occupancy]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Facts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 a table · [Venue] · Seating for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availability promise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We're sorry the room wasn't ready. We have noted it and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compensation stated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samples · Core collection · Property edition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product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B2B inquiry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Tell us about your property or project. We'll reply to [email].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response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a quotation · Quotation reference: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price until supplied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Delivery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Replenishment programme: [TO BE VERIFIED]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MOQ, schedule or lead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20 · Prohibited: claims such as best, leading, world-class (F01, F02) and unevidenced claims (F03–F08).</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LOCALIZATION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Locale tokens and date picker</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448300" cy="1996083"/>
        </p:xfrm>
        <a:graphic>
          <a:graphicData uri="http://schemas.openxmlformats.org/drawingml/2006/table">
            <a:tbl>
              <a:tblPr/>
              <a:tblGrid>
                <a:gridCol w="2397252"/>
                <a:gridCol w="980694"/>
                <a:gridCol w="207035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locale-source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ar-SA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numerals-technical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numerals-guestArabic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calendar-default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6683756" y="1777950"/>
            <a:ext cx="4831842" cy="2034183"/>
          </a:xfrm>
          <a:prstGeom prst="rect">
            <a:avLst/>
          </a:prstGeom>
          <a:noFill/>
          <a:ln/>
        </p:spPr>
        <p:txBody>
          <a:bodyPr wrap="square" lIns="0" tIns="0" rIns="0" bIns="0" rtlCol="0" anchor="t">
            <a:normAutofit/>
          </a:bodyPr>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Format with Intl.DateTimeFormat and Intl.NumberFormat; never concatenate.</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Week start from Intl.Locale weekInfo; never hardcoded.</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Latin digits for SKUs, codes, URLs and phones (M11, M12).</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Allow 30–40% text expansion; no fixed label widths.</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Hijri display: [REQUIRES OWNER: Arabic / Localization Lead].</a:t>
            </a:r>
            <a:endParaRPr lang="en-US" sz="1200" dirty="0"/>
          </a:p>
        </p:txBody>
      </p:sp>
      <p:sp>
        <p:nvSpPr>
          <p:cNvPr id="7" name="Text 4"/>
          <p:cNvSpPr/>
          <p:nvPr/>
        </p:nvSpPr>
        <p:spPr>
          <a:xfrm>
            <a:off x="812800" y="3989933"/>
            <a:ext cx="10883392"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DatePicker.</a:t>
            </a:r>
            <a:r>
              <a:rPr lang="en-US" sz="1200" dirty="0">
                <a:solidFill>
                  <a:srgbClr val="12171D"/>
                </a:solidFill>
                <a:latin typeface="Inter" pitchFamily="34" charset="0"/>
                <a:ea typeface="Inter" pitchFamily="34" charset="-122"/>
                <a:cs typeface="Inter" pitchFamily="34" charset="-120"/>
              </a:rPr>
              <a:t> Props: locale, mode (single or range), ISO value, min, max, isUnavailable, firstDay, showText. A text summary states the selection; selected cells have a 2px border; unavailable dates are struck through with text in the name; arrows swap in RTL; range filled BEIGE with INK text (8.2:1).</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21 · Do not release Arabic before AC10 is resolved.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1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Alert to Link</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661444"/>
        </p:xfrm>
        <a:graphic>
          <a:graphicData uri="http://schemas.openxmlformats.org/drawingml/2006/table">
            <a:tbl>
              <a:tblPr/>
              <a:tblGrid>
                <a:gridCol w="1842516"/>
                <a:gridCol w="327558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title,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action; one primary per 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Checkbox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Independent yes or no choices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DatePicker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date or a range, by locale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 terms or product care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EmptyState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Explains empty; offers next step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Collects one short text value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661444"/>
        </p:xfrm>
        <a:graphic>
          <a:graphicData uri="http://schemas.openxmlformats.org/drawingml/2006/table">
            <a:tbl>
              <a:tblPr/>
              <a:tblGrid>
                <a:gridCol w="1842516"/>
                <a:gridCol w="3275584"/>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FilterChip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An applied, removable filter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functional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IconButton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 glyph control, named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LanguageSelector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language and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Navigates; underlined, 500,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decision that blocks the 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Moves between sections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26 components in components/, exposed as window.GEM (React 18), typed in index.d.ts. Each README: Purpose, Anatomy, Tokens, Variants, States, Content, Accessibility, Responsive, RTL, Do/Don't, Code.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2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ProductCard to ToggleButton</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328763"/>
        </p:xfrm>
        <a:graphic>
          <a:graphicData uri="http://schemas.openxmlformats.org/drawingml/2006/table">
            <a:tbl>
              <a:tblPr/>
              <a:tblGrid>
                <a:gridCol w="2047240"/>
                <a:gridCol w="30708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SKU in approved 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without implying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QuantityStepper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Guests, rooms, units,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RadioGroup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Exactly one from a short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room, verified facts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Finds content or products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328763"/>
        </p:xfrm>
        <a:graphic>
          <a:graphicData uri="http://schemas.openxmlformats.org/drawingml/2006/table">
            <a:tbl>
              <a:tblPr/>
              <a:tblGrid>
                <a:gridCol w="2047240"/>
                <a:gridCol w="30708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from a short fixed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SpecificationTable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spec as a real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Approval status of an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views in place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Free text: brief or note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ToggleButton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choice on or off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32261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Tokens and behaviour APPROVED in principle; implementation CONDITIONAL on VAL-13 and VAL-20. Every preview shows English and Arabic, the Arabic flagged PENDING LOCALIZATION APPROVAL.</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Evaluation matrix</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a:tblGrid>
                <a:gridCol w="2743962"/>
                <a:gridCol w="7809738"/>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Semantic tokens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automated scan, no raw colour variables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44px minimum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in all previews; checkbox and radio rows are the 44px target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ring light/dark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by token; dark surfaces use gem-dark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 operation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Scripted for Tabs, DatePicker, aria-disabled Button; screen reader PENDING (VAL-08)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properties, dir="rtl" previews; native QA PENDING (VAL-07)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Transitions removed under the media query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colour alone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border weight, glyph and text on every 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Console and axe-core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errors or violations; known harness notes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987975"/>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"Tested" means a local render harness (Chromium, axe-core 4, scripted keyboard), not an independent QA team. </a:t>
            </a:r>
            <a:r>
              <a:rPr lang="en-US" sz="1200" b="1" dirty="0">
                <a:solidFill>
                  <a:srgbClr val="12171D"/>
                </a:solidFill>
                <a:latin typeface="Inter" pitchFamily="34" charset="0"/>
                <a:ea typeface="Inter" pitchFamily="34" charset="-122"/>
                <a:cs typeface="Inter" pitchFamily="34" charset="-120"/>
              </a:rPr>
              <a:t>Not yet included:</a:t>
            </a:r>
            <a:r>
              <a:rPr lang="en-US" sz="1200" dirty="0">
                <a:solidFill>
                  <a:srgbClr val="12171D"/>
                </a:solidFill>
                <a:latin typeface="Inter" pitchFamily="34" charset="0"/>
                <a:ea typeface="Inter" pitchFamily="34" charset="-122"/>
                <a:cs typeface="Inter" pitchFamily="34" charset="-120"/>
              </a:rPr>
              <a:t> destructive button, toast, tooltip, popover, sortable table, file upload, carousel, date-time picker, full dark theme.</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Hospitality patterns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972300" cy="2994124"/>
        </p:xfrm>
        <a:graphic>
          <a:graphicData uri="http://schemas.openxmlformats.org/drawingml/2006/table">
            <a:tbl>
              <a:tblPr/>
              <a:tblGrid>
                <a:gridCol w="2091690"/>
                <a:gridCol w="488061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Pattern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Components · 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flow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 Select, DatePicker, Stepper, Button · 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 SpecificationTable, Tabs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(CONFIRMED), table, Link ·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Concierge, arrival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Field, Button, Disclosure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Tabs, Field, DatePicker · pricing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Service 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Button · [action]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scale, Button, Link · Arial or system-ui fallback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Part A templates · native QA PENDING (VAL-15)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777950"/>
            <a:ext cx="3374898"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Page anatomy</a:t>
            </a:r>
            <a:endParaRPr lang="en-US" sz="1600" dirty="0"/>
          </a:p>
        </p:txBody>
      </p:sp>
      <p:sp>
        <p:nvSpPr>
          <p:cNvPr id="7" name="Text 4"/>
          <p:cNvSpPr/>
          <p:nvPr/>
        </p:nvSpPr>
        <p:spPr>
          <a:xfrm>
            <a:off x="8175923" y="2097980"/>
            <a:ext cx="3293955" cy="194528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Header: logo (min 120px, H10), navigation, language</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Content band: eyebrow, heading, one sentence, one action</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One oversized ring or quarter cropped off the edge; never touching the logo; one spark at most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Footer: language, legal [PENDING], contact [REQUIRES OWNER]</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25 · Vehicle livery Deferred (R17). Principle → specimen → rule → application.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B2B STREAM (T01, AC02)</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GEM™ — Amenities &amp; Packaging</a:t>
            </a:r>
            <a:endParaRPr lang="en-US" sz="3200" dirty="0"/>
          </a:p>
        </p:txBody>
      </p:sp>
      <p:sp>
        <p:nvSpPr>
          <p:cNvPr id="5" name="Text 3"/>
          <p:cNvSpPr/>
          <p:nvPr/>
        </p:nvSpPr>
        <p:spPr>
          <a:xfrm>
            <a:off x="812800" y="1549350"/>
            <a:ext cx="1088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 descriptive stream under the master brand, not a sub-brand: no new symbol, colour system or stream logo. Hierarchy (T04, T05): GEM → collection or tier → product and function → quantity → instructions → SKU and artwork version. Pilot family: Shampoo, Conditioner, Body Wash, Body Lotion, Hand Wash.</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79811"/>
          <a:ext cx="10553700" cy="2719983"/>
        </p:xfrm>
        <a:graphic>
          <a:graphicData uri="http://schemas.openxmlformats.org/drawingml/2006/table">
            <a:tbl>
              <a:tblPr/>
              <a:tblGrid>
                <a:gridCol w="2955036"/>
                <a:gridCol w="5276850"/>
                <a:gridCol w="2321814"/>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 and function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Functional, English; Arabic per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Metric first: mL, g, count (T06)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Instructions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From verified data only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Regulated; verified data only (T10)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 lot · GTIN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fields where required (T07, T08)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Country of origin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Where required; verified per SKU (F06, T09)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Mandatory for Saudi market unless exempted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and artwork version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and held in records (T22)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26 · Capability, MOQs, prices, lead times and claims are not stated (VAL-01, VAL-09–11).</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07 · IMAGERY · LIBRARY PENDING (O19)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Imagery and art direction</a:t>
            </a:r>
            <a:endParaRPr lang="en-US" sz="3200" dirty="0"/>
          </a:p>
        </p:txBody>
      </p:sp>
      <p:sp>
        <p:nvSpPr>
          <p:cNvPr id="5" name="Shape 3"/>
          <p:cNvSpPr/>
          <p:nvPr/>
        </p:nvSpPr>
        <p:spPr>
          <a:xfrm>
            <a:off x="815975" y="1781125"/>
            <a:ext cx="3414167" cy="1799382"/>
          </a:xfrm>
          <a:prstGeom prst="rect">
            <a:avLst/>
          </a:prstGeom>
          <a:noFill/>
          <a:ln w="6350">
            <a:solidFill>
              <a:srgbClr val="BCACA7"/>
            </a:solidFill>
            <a:prstDash val="solid"/>
          </a:ln>
        </p:spPr>
      </p:sp>
      <p:sp>
        <p:nvSpPr>
          <p:cNvPr id="6" name="Text 4"/>
          <p:cNvSpPr/>
          <p:nvPr/>
        </p:nvSpPr>
        <p:spPr>
          <a:xfrm>
            <a:off x="1022350"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Direction · Approved</a:t>
            </a:r>
            <a:endParaRPr lang="en-US" sz="1600" dirty="0"/>
          </a:p>
        </p:txBody>
      </p:sp>
      <p:sp>
        <p:nvSpPr>
          <p:cNvPr id="7" name="Text 5"/>
          <p:cNvSpPr/>
          <p:nvPr/>
        </p:nvSpPr>
        <p:spPr>
          <a:xfrm>
            <a:off x="1022350" y="2307530"/>
            <a:ext cx="3091459"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Editorial, architectural, restrained (O01). Guests shown obliquely: hands, ritual, material, thresholds (O04). Strong negative space. Single-source light. Warm-neutral grade.</a:t>
            </a:r>
            <a:endParaRPr lang="en-US" sz="1200" dirty="0"/>
          </a:p>
        </p:txBody>
      </p:sp>
      <p:sp>
        <p:nvSpPr>
          <p:cNvPr id="8" name="Shape 6"/>
          <p:cNvSpPr/>
          <p:nvPr/>
        </p:nvSpPr>
        <p:spPr>
          <a:xfrm>
            <a:off x="4388892" y="1781125"/>
            <a:ext cx="3414167" cy="1799382"/>
          </a:xfrm>
          <a:prstGeom prst="rect">
            <a:avLst/>
          </a:prstGeom>
          <a:noFill/>
          <a:ln w="6350">
            <a:solidFill>
              <a:srgbClr val="BCACA7"/>
            </a:solidFill>
            <a:prstDash val="solid"/>
          </a:ln>
        </p:spPr>
      </p:sp>
      <p:sp>
        <p:nvSpPr>
          <p:cNvPr id="9" name="Text 7"/>
          <p:cNvSpPr/>
          <p:nvPr/>
        </p:nvSpPr>
        <p:spPr>
          <a:xfrm>
            <a:off x="4595267"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Crops and grade</a:t>
            </a:r>
            <a:endParaRPr lang="en-US" sz="1600" dirty="0"/>
          </a:p>
        </p:txBody>
      </p:sp>
      <p:sp>
        <p:nvSpPr>
          <p:cNvPr id="10" name="Text 8"/>
          <p:cNvSpPr/>
          <p:nvPr/>
        </p:nvSpPr>
        <p:spPr>
          <a:xfrm>
            <a:off x="4595267" y="2307530"/>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Subject on a third; a quarter of the frame empty; crop to an edge, not through it. Whites slightly warm, blacks lift to INK; never push BEIGE to gold.</a:t>
            </a:r>
            <a:endParaRPr lang="en-US" sz="1200" dirty="0"/>
          </a:p>
        </p:txBody>
      </p:sp>
      <p:sp>
        <p:nvSpPr>
          <p:cNvPr id="11" name="Shape 9"/>
          <p:cNvSpPr/>
          <p:nvPr/>
        </p:nvSpPr>
        <p:spPr>
          <a:xfrm>
            <a:off x="7961809" y="1781125"/>
            <a:ext cx="3414216" cy="1799382"/>
          </a:xfrm>
          <a:prstGeom prst="rect">
            <a:avLst/>
          </a:prstGeom>
          <a:noFill/>
          <a:ln w="6350">
            <a:solidFill>
              <a:srgbClr val="BCACA7"/>
            </a:solidFill>
            <a:prstDash val="solid"/>
          </a:ln>
        </p:spPr>
      </p:sp>
      <p:sp>
        <p:nvSpPr>
          <p:cNvPr id="12" name="Text 10"/>
          <p:cNvSpPr/>
          <p:nvPr/>
        </p:nvSpPr>
        <p:spPr>
          <a:xfrm>
            <a:off x="8168184" y="1987500"/>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Avoid</a:t>
            </a:r>
            <a:endParaRPr lang="en-US" sz="1600" dirty="0"/>
          </a:p>
        </p:txBody>
      </p:sp>
      <p:sp>
        <p:nvSpPr>
          <p:cNvPr id="13" name="Text 11"/>
          <p:cNvSpPr/>
          <p:nvPr/>
        </p:nvSpPr>
        <p:spPr>
          <a:xfrm>
            <a:off x="8168184" y="2307530"/>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Generic stock (O02), posed smiling guests (O03), oversaturation, filters, artificial glow, gold highlights, text over busy areas.</a:t>
            </a:r>
            <a:endParaRPr lang="en-US" sz="1200" dirty="0"/>
          </a:p>
        </p:txBody>
      </p:sp>
      <p:sp>
        <p:nvSpPr>
          <p:cNvPr id="14" name="Text 12"/>
          <p:cNvSpPr/>
          <p:nvPr/>
        </p:nvSpPr>
        <p:spPr>
          <a:xfrm>
            <a:off x="812800" y="3786882"/>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Required categories: architecture, material detail, arrival and threshold, amenities and product; dining and service where relevant. Every production image carries rights metadata (O18, VAL-06); AI or rendered mockups are never presented as photography (O17).</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 working specification · 27 · Study images are REFERENCE, CONCEPT / NOT PRODUCTION ARTWORK.</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WAYFINDING · FRAMEWORK ONLY (S01)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Wayfinding and environmental identity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661444"/>
        </p:xfrm>
        <a:graphic>
          <a:graphicData uri="http://schemas.openxmlformats.org/drawingml/2006/table">
            <a:tbl>
              <a:tblPr/>
              <a:tblGrid>
                <a:gridCol w="2110740"/>
                <a:gridCol w="8442960"/>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Principle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Lobby (S03), directional (S04), room-number (S05), amenity and facility (S06)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first and right, English secondary and left, equal information (S07)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32px minimum in digital (H11); signage needs its own validated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INK on WHITE or BEIGE; WHITE or BEIGE on INK;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 capitals for headings; Inter for instructions; Noto Sans 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and Braille where required (S08, S09); legibility testing (V15)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Geometry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oversized ring or quarter per surface at most; never behind 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Viewing distances, letter heights, illumination, materials and mounting are [REQUIRES SITE VALIDATION] and belong to Part C. External signage Deferred (S02).</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28 · Fabrication detail: PROJECT-SPECIFIC / REQUIRES SITE VALIDATION (VAL-12).</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ENGINEERING (Q01–Q09)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Token architecture and implementation</a:t>
            </a:r>
            <a:endParaRPr lang="en-US" sz="3200" dirty="0"/>
          </a:p>
        </p:txBody>
      </p:sp>
      <p:sp>
        <p:nvSpPr>
          <p:cNvPr id="5" name="Text 3"/>
          <p:cNvSpPr/>
          <p:nvPr/>
        </p:nvSpPr>
        <p:spPr>
          <a:xfrm>
            <a:off x="812800" y="1777950"/>
            <a:ext cx="4826000" cy="2112963"/>
          </a:xfrm>
          <a:prstGeom prst="rect">
            <a:avLst/>
          </a:prstGeom>
          <a:solidFill>
            <a:srgbClr val="12171D"/>
          </a:solidFill>
          <a:ln/>
        </p:spPr>
        <p:txBody>
          <a:bodyPr wrap="square" lIns="203200" tIns="203200" rIns="70612" bIns="177800" rtlCol="0" anchor="t">
            <a:normAutofit/>
          </a:bodyPr>
          <a:lstStyle/>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foundation.color</a:t>
            </a:r>
            <a:endParaRPr lang="en-US" sz="1200" dirty="0"/>
          </a:p>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ink #12171D · beige #BCACA7</a:t>
            </a:r>
            <a:endParaRPr lang="en-US" sz="1200" dirty="0"/>
          </a:p>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black #020202 · white #FFFFFF</a:t>
            </a:r>
            <a:endParaRPr lang="en-US" sz="1200" dirty="0"/>
          </a:p>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semantic</a:t>
            </a:r>
            <a:endParaRPr lang="en-US" sz="1200" dirty="0"/>
          </a:p>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surface · text · border</a:t>
            </a:r>
            <a:endParaRPr lang="en-US" sz="1200" dirty="0"/>
          </a:p>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action · focus</a:t>
            </a:r>
            <a:endParaRPr lang="en-US" sz="1200" dirty="0"/>
          </a:p>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type · space · radius · size</a:t>
            </a:r>
            <a:endParaRPr lang="en-US" sz="1200" dirty="0"/>
          </a:p>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motion · layout · locale</a:t>
            </a:r>
            <a:endParaRPr lang="en-US" sz="1200" dirty="0"/>
          </a:p>
        </p:txBody>
      </p:sp>
      <p:sp>
        <p:nvSpPr>
          <p:cNvPr id="6" name="Text 4"/>
          <p:cNvSpPr/>
          <p:nvPr/>
        </p:nvSpPr>
        <p:spPr>
          <a:xfrm>
            <a:off x="6048756" y="1777950"/>
            <a:ext cx="5485892" cy="2138363"/>
          </a:xfrm>
          <a:prstGeom prst="rect">
            <a:avLst/>
          </a:prstGeom>
          <a:noFill/>
          <a:ln/>
        </p:spPr>
        <p:txBody>
          <a:bodyPr wrap="square" lIns="0" tIns="0" rIns="0" bIns="0" rtlCol="0" anchor="t">
            <a:normAutofit/>
          </a:bodyPr>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Source: tokens.json; portable gem-tokens.v3.json and .css (--gem- prefix). Aliases use {path}; status in the description.</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Semantic HTML first; ARIA only where no native element exists.</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CSS custom properties for every token; logical properties for direction.</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Every string is a prop; Intl for dates and numbers.</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:focus-visible with focus tokens; modal traps and returns focus.</a:t>
            </a:r>
            <a:endParaRPr lang="en-US" sz="1200" dirty="0"/>
          </a:p>
        </p:txBody>
      </p:sp>
      <p:sp>
        <p:nvSpPr>
          <p:cNvPr id="7" name="Text 5"/>
          <p:cNvSpPr/>
          <p:nvPr/>
        </p:nvSpPr>
        <p:spPr>
          <a:xfrm>
            <a:off x="812800" y="409411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Storybook-ready (DS03, VAL-20):</a:t>
            </a:r>
            <a:r>
              <a:rPr lang="en-US" sz="1200" dirty="0">
                <a:solidFill>
                  <a:srgbClr val="12171D"/>
                </a:solidFill>
                <a:latin typeface="Inter" pitchFamily="34" charset="0"/>
                <a:ea typeface="Inter" pitchFamily="34" charset="-122"/>
                <a:cs typeface="Inter" pitchFamily="34" charset="-120"/>
              </a:rPr>
              <a:t> tokens/ · components/&lt;Name&gt;/ (tsx, css, stories, README, test) · docs/. Stories show every state, EN and AR, reduced motion, 320 and 1440px. Versioning: semantic (V3.0.0).</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29 · No running Storybook yet (DS03 evidence open).</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Final QA audit (self-audit against the V3 brief)</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10553700" cy="3324423"/>
        </p:xfrm>
        <a:graphic>
          <a:graphicData uri="http://schemas.openxmlformats.org/drawingml/2006/table">
            <a:tbl>
              <a:tblPr/>
              <a:tblGrid>
                <a:gridCol w="1899666"/>
                <a:gridCol w="1688592"/>
                <a:gridCol w="6965442"/>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Area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Notes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Palette, tagline, logo unchanged; no gradients, gold, shadows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Consistency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status vocabulary; tokens everywhere; one README template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Rules in place; screen reader and Arabic order untested (VAL-08,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Five bands defined; template validation outstanding (VAL-20)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working strings only; native QA not started (VAL-07)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Placeholders for every unverified fact; no invented claims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Raster logos only; no supplier data; Part C not issued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Governance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role holders TBD; release authorization pending (AC20)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bundle; no independent QA or Storybook (VAL-13, DS03)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Tracking values CONDITIONAL on optical QA (VAL-19)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30 · "Open" cannot close without owner evidence.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Open validation gates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a:tblGrid>
                <a:gridCol w="1023620"/>
                <a:gridCol w="2661412"/>
                <a:gridCol w="1433068"/>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scope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production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ownership</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 licence, deployment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 rights register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and RTL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proof</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claims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a:tblGrid>
                <a:gridCol w="1023620"/>
                <a:gridCol w="2661412"/>
                <a:gridCol w="1433068"/>
              </a:tblGrid>
              <a:tr h="30222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acceptance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Wayfinding fabrication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PDF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manifest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Guideline usability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Typography, tracking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 locale, docs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Cross-document check</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31 · Owners per gate are listed in the speaker notes.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Release checklist and change log</a:t>
            </a:r>
            <a:endParaRPr lang="en-US" sz="3200" dirty="0"/>
          </a:p>
        </p:txBody>
      </p:sp>
      <p:sp>
        <p:nvSpPr>
          <p:cNvPr id="5" name="Text 3"/>
          <p:cNvSpPr/>
          <p:nvPr/>
        </p:nvSpPr>
        <p:spPr>
          <a:xfrm>
            <a:off x="886123" y="1777950"/>
            <a:ext cx="4889837" cy="2067272"/>
          </a:xfrm>
          <a:prstGeom prst="rect">
            <a:avLst/>
          </a:prstGeom>
          <a:noFill/>
          <a:ln/>
        </p:spPr>
        <p:txBody>
          <a:bodyPr wrap="square" lIns="0" tIns="0" rIns="0" bIns="0" rtlCol="0" anchor="t">
            <a:normAutofit/>
          </a:bodyPr>
          <a:lstStyle/>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All role holders named.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VAL-02 to VAL-07 closed or formally deferred.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VAL-08, VAL-13, VAL-19, VAL-20 closed.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Arabic signed off or explicitly excluded (AC10).</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Production specifications approved (AC17).</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Cross-document check against Parts A and C (VAL-21).</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Release manifest and checksums (VAL-16).</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Brand Owner authorization (AC20).</a:t>
            </a:r>
            <a:endParaRPr lang="en-US" sz="1200" dirty="0"/>
          </a:p>
        </p:txBody>
      </p:sp>
      <p:sp>
        <p:nvSpPr>
          <p:cNvPr id="6" name="Shape 4"/>
          <p:cNvSpPr/>
          <p:nvPr/>
        </p:nvSpPr>
        <p:spPr>
          <a:xfrm>
            <a:off x="6048375" y="1777950"/>
            <a:ext cx="0" cy="2041872"/>
          </a:xfrm>
          <a:prstGeom prst="line">
            <a:avLst/>
          </a:prstGeom>
          <a:noFill/>
          <a:ln w="6350">
            <a:solidFill>
              <a:srgbClr val="BCACA7"/>
            </a:solidFill>
            <a:prstDash val="solid"/>
          </a:ln>
        </p:spPr>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3.0.0 draft</a:t>
            </a:r>
            <a:endParaRPr lang="en-US" sz="1600" dirty="0"/>
          </a:p>
        </p:txBody>
      </p:sp>
      <p:sp>
        <p:nvSpPr>
          <p:cNvPr id="8" name="Text 6"/>
          <p:cNvSpPr/>
          <p:nvPr/>
        </p:nvSpPr>
        <p:spPr>
          <a:xfrm>
            <a:off x="6356350" y="2123380"/>
            <a:ext cx="5173536"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Added:</a:t>
            </a:r>
            <a:r>
              <a:rPr lang="en-US" sz="1200" dirty="0">
                <a:solidFill>
                  <a:srgbClr val="12171D"/>
                </a:solidFill>
                <a:latin typeface="Inter" pitchFamily="34" charset="0"/>
                <a:ea typeface="Inter" pitchFamily="34" charset="-122"/>
                <a:cs typeface="Inter" pitchFamily="34" charset="-120"/>
              </a:rPr>
              <a:t> tracking scale, Arabic hierarchy, semantic tokens, layout tokens, 27 glyphs, 26 components (from 12), locale DatePicker, feedback hierarchy, Amenities &amp; Packaging, imagery studies, QA audit.</a:t>
            </a:r>
            <a:endParaRPr lang="en-US" sz="1200" dirty="0"/>
          </a:p>
        </p:txBody>
      </p:sp>
      <p:sp>
        <p:nvSpPr>
          <p:cNvPr id="9" name="Text 7"/>
          <p:cNvSpPr/>
          <p:nvPr/>
        </p:nvSpPr>
        <p:spPr>
          <a:xfrm>
            <a:off x="6356350" y="3078262"/>
            <a:ext cx="5173536"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Changed:</a:t>
            </a:r>
            <a:r>
              <a:rPr lang="en-US" sz="1200" dirty="0">
                <a:solidFill>
                  <a:srgbClr val="12171D"/>
                </a:solidFill>
                <a:latin typeface="Inter" pitchFamily="34" charset="0"/>
                <a:ea typeface="Inter" pitchFamily="34" charset="-122"/>
                <a:cs typeface="Inter" pitchFamily="34" charset="-120"/>
              </a:rPr>
              <a:t> Futura PT and Montserrat to reference; 0.3–0.8em tracking retired. </a:t>
            </a:r>
            <a:r>
              <a:rPr lang="en-US" sz="1200" b="1" dirty="0">
                <a:solidFill>
                  <a:srgbClr val="12171D"/>
                </a:solidFill>
                <a:latin typeface="Inter" pitchFamily="34" charset="0"/>
                <a:ea typeface="Inter" pitchFamily="34" charset="-122"/>
                <a:cs typeface="Inter" pitchFamily="34" charset="-120"/>
              </a:rPr>
              <a:t>Removed:</a:t>
            </a:r>
            <a:r>
              <a:rPr lang="en-US" sz="1200" dirty="0">
                <a:solidFill>
                  <a:srgbClr val="12171D"/>
                </a:solidFill>
                <a:latin typeface="Inter" pitchFamily="34" charset="0"/>
                <a:ea typeface="Inter" pitchFamily="34" charset="-122"/>
                <a:cs typeface="Inter" pitchFamily="34" charset="-120"/>
              </a:rPr>
              <a:t> unconditional manufacturing statements.</a:t>
            </a:r>
            <a:endParaRPr lang="en-US" sz="1200" dirty="0"/>
          </a:p>
        </p:txBody>
      </p:sp>
      <p:sp>
        <p:nvSpPr>
          <p:cNvPr id="10" name="Text 8"/>
          <p:cNvSpPr/>
          <p:nvPr/>
        </p:nvSpPr>
        <p:spPr>
          <a:xfrm>
            <a:off x="6356350" y="3606502"/>
            <a:ext cx="517353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2171D"/>
                </a:solidFill>
                <a:latin typeface="Inter" pitchFamily="34" charset="0"/>
                <a:ea typeface="Inter" pitchFamily="34" charset="-122"/>
                <a:cs typeface="Inter" pitchFamily="34" charset="-120"/>
              </a:rPr>
              <a:t>2.1:</a:t>
            </a:r>
            <a:r>
              <a:rPr lang="en-US" sz="1200" dirty="0">
                <a:solidFill>
                  <a:srgbClr val="12171D"/>
                </a:solidFill>
                <a:latin typeface="Inter" pitchFamily="34" charset="0"/>
                <a:ea typeface="Inter" pitchFamily="34" charset="-122"/>
                <a:cs typeface="Inter" pitchFamily="34" charset="-120"/>
              </a:rPr>
              <a:t>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 working specification · 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ASSETS · PENDING PRODUCTION MASTER</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Logos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a:tblGrid>
                <a:gridCol w="4432554"/>
                <a:gridCol w="1477518"/>
                <a:gridCol w="4643628"/>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File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Ink</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GEM_Logo_Horizontal_Beige.png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Signature lockup on INK · 654 × 207</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GEM_Logo_Horizontal_Black.png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Monochrome lockup on white · 654 × 207</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GEM_Logo_Horizontal_White.png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Reversed on INK or black only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GEM_Symbol_Beige.png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INK · 229 × 207</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GEM_Symbol_Black.png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white · 229 × 207</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6" name="Text 3"/>
          <p:cNvSpPr/>
          <p:nvPr/>
        </p:nvSpPr>
        <p:spPr>
          <a:xfrm>
            <a:off x="812800" y="3989933"/>
            <a:ext cx="528472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Rules (H10–H15).</a:t>
            </a:r>
            <a:r>
              <a:rPr lang="en-US" sz="1200" dirty="0">
                <a:solidFill>
                  <a:srgbClr val="FFFFFF"/>
                </a:solidFill>
                <a:latin typeface="Inter" pitchFamily="34" charset="0"/>
                <a:ea typeface="Inter" pitchFamily="34" charset="-122"/>
                <a:cs typeface="Inter" pitchFamily="34" charset="-120"/>
              </a:rPr>
              <a:t> Lockup min 120px; symbol min 32px; below that the no-spark micro mark (H12, not supplied). Clearspace u = G-ring radius, min 1u, preferred 2u. Never mirror (M08) or recreate in type (L16).</a:t>
            </a:r>
            <a:endParaRPr lang="en-US" sz="1200" dirty="0"/>
          </a:p>
        </p:txBody>
      </p:sp>
      <p:sp>
        <p:nvSpPr>
          <p:cNvPr id="7" name="Text 4"/>
          <p:cNvSpPr/>
          <p:nvPr/>
        </p:nvSpPr>
        <p:spPr>
          <a:xfrm>
            <a:off x="6248400" y="3989933"/>
            <a:ext cx="5284724"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Required, not supplied.</a:t>
            </a:r>
            <a:r>
              <a:rPr lang="en-US" sz="1200" dirty="0">
                <a:solidFill>
                  <a:srgbClr val="FFFFFF"/>
                </a:solidFill>
                <a:latin typeface="Inter" pitchFamily="34" charset="0"/>
                <a:ea typeface="Inter" pitchFamily="34" charset="-122"/>
                <a:cs typeface="Inter" pitchFamily="34" charset="-120"/>
              </a:rPr>
              <a:t> SVG/PDF/EPS/PNG masters, micro mark, stacked lockup, white symbol, embroidery and deboss masters, favicon and app icons, versioned file names (H16–H21).</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 working specification · 33 · Raster PNGs are layout references only; never auto-traced (DS05).</a:t>
            </a:r>
            <a:endParaRPr lang="en-US" sz="1200" dirty="0"/>
          </a:p>
        </p:txBody>
      </p:sp>
    </p:spTree>
  </p:cSld>
  <p:clrMapOvr>
    <a:masterClrMapping/>
  </p:clrMapOvr>
</p:sld>
</file>

<file path=ppt/theme/theme1.xml><?xml version="1.0" encoding="utf-8"?>
<a:theme xmlns:a="http://schemas.openxmlformats.org/drawingml/2006/main" name="GEM™ Digital Design System V3.0">
  <a:themeElements>
    <a:clrScheme name="GEM™ Digital Design System V3.0">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Digital Design System V3.0">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Digital Design System V3.0</dc:title>
  <dc:subject/>
  <dc:creator/>
  <cp:lastModifiedBy/>
  <cp:revision>1</cp:revision>
  <dcterms:created xsi:type="dcterms:W3CDTF">2026-10-06T13:48:45Z</dcterms:created>
  <dcterms:modified xsi:type="dcterms:W3CDTF">2026-10-06T13:48:45Z</dcterms:modified>
</cp:coreProperties>
</file>