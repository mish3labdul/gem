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the supplied vector kit is received and its acceptance as production master is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a:tblGrid>
                <a:gridCol w="2955036"/>
                <a:gridCol w="4432554"/>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RC2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a:tblGrid>
                <a:gridCol w="1477518"/>
                <a:gridCol w="907618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0"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a:tblGrid>
                <a:gridCol w="2321814"/>
                <a:gridCol w="2321814"/>
                <a:gridCol w="591007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rtl="1">
              <a:lnSpc>
                <a:spcPts val="5280"/>
              </a:lnSpc>
              <a:buNone/>
            </a:pPr>
            <a:r>
              <a:rPr lang="ar-SA"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400 only until accepted font files exist; 500 WEIGHT PENDING ACCEPTED FONT FILE (Jost controlled labels, Inter, Noto Sans Arabic).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a:tblGrid>
                <a:gridCol w="1394460"/>
                <a:gridCol w="1185291"/>
                <a:gridCol w="906399"/>
                <a:gridCol w="1045845"/>
                <a:gridCol w="2440305"/>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10" name="Text 7"/>
          <p:cNvSpPr/>
          <p:nvPr/>
        </p:nvSpPr>
        <p:spPr>
          <a:xfrm>
            <a:off x="8102600" y="3159473"/>
            <a:ext cx="3374898" cy="6780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CURRENT IMPLEMENTATION: 400 for every row. 500: PENDING ACCEPTED FONT FILE.</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a:tblGrid>
                <a:gridCol w="1944624"/>
                <a:gridCol w="1296416"/>
                <a:gridCol w="8102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a:tblGrid>
                <a:gridCol w="5195316"/>
                <a:gridCol w="989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9" name="Text 5"/>
          <p:cNvSpPr/>
          <p:nvPr/>
        </p:nvSpPr>
        <p:spPr>
          <a:xfrm>
            <a:off x="812800" y="5650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Wt column = current implementation weight: 400 only. arabicH3 and arabicLabel carry 500 as FUTURE DESIGN INTENT; 500 PENDING ACCEPTED FONT FILE.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a:tblGrid>
                <a:gridCol w="5276850"/>
                <a:gridCol w="527685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1371981"/>
                <a:gridCol w="1583055"/>
                <a:gridCol w="1055370"/>
                <a:gridCol w="949833"/>
                <a:gridCol w="949833"/>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txBody>
          <a:bodyPr/>
          <a:p/>
        </p:txBody>
      </p:sp>
      <p:sp>
        <p:nvSpPr>
          <p:cNvPr id="7" name="Shape 4"/>
          <p:cNvSpPr/>
          <p:nvPr/>
        </p:nvSpPr>
        <p:spPr>
          <a:xfrm>
            <a:off x="1699667" y="3989933"/>
            <a:ext cx="810716" cy="304800"/>
          </a:xfrm>
          <a:prstGeom prst="rect">
            <a:avLst/>
          </a:prstGeom>
          <a:solidFill>
            <a:srgbClr val="BCACA7"/>
          </a:solidFill>
          <a:ln/>
        </p:spPr>
        <p:txBody>
          <a:bodyPr/>
          <a:p/>
        </p:txBody>
      </p:sp>
      <p:sp>
        <p:nvSpPr>
          <p:cNvPr id="8" name="Shape 5"/>
          <p:cNvSpPr/>
          <p:nvPr/>
        </p:nvSpPr>
        <p:spPr>
          <a:xfrm>
            <a:off x="2586583" y="3989933"/>
            <a:ext cx="810667" cy="304800"/>
          </a:xfrm>
          <a:prstGeom prst="rect">
            <a:avLst/>
          </a:prstGeom>
          <a:solidFill>
            <a:srgbClr val="BCACA7"/>
          </a:solidFill>
          <a:ln/>
        </p:spPr>
        <p:txBody>
          <a:bodyPr/>
          <a:p/>
        </p:txBody>
      </p:sp>
      <p:sp>
        <p:nvSpPr>
          <p:cNvPr id="9" name="Shape 6"/>
          <p:cNvSpPr/>
          <p:nvPr/>
        </p:nvSpPr>
        <p:spPr>
          <a:xfrm>
            <a:off x="3473450" y="3989933"/>
            <a:ext cx="810716" cy="304800"/>
          </a:xfrm>
          <a:prstGeom prst="rect">
            <a:avLst/>
          </a:prstGeom>
          <a:solidFill>
            <a:srgbClr val="BCACA7"/>
          </a:solidFill>
          <a:ln/>
        </p:spPr>
        <p:txBody>
          <a:bodyPr/>
          <a:p/>
        </p:txBody>
      </p:sp>
      <p:sp>
        <p:nvSpPr>
          <p:cNvPr id="10" name="Shape 7"/>
          <p:cNvSpPr/>
          <p:nvPr/>
        </p:nvSpPr>
        <p:spPr>
          <a:xfrm>
            <a:off x="4360366" y="3989933"/>
            <a:ext cx="810667" cy="304800"/>
          </a:xfrm>
          <a:prstGeom prst="rect">
            <a:avLst/>
          </a:prstGeom>
          <a:solidFill>
            <a:srgbClr val="BCACA7"/>
          </a:solidFill>
          <a:ln/>
        </p:spPr>
        <p:txBody>
          <a:bodyPr/>
          <a:p/>
        </p:txBody>
      </p:sp>
      <p:sp>
        <p:nvSpPr>
          <p:cNvPr id="11" name="Shape 8"/>
          <p:cNvSpPr/>
          <p:nvPr/>
        </p:nvSpPr>
        <p:spPr>
          <a:xfrm>
            <a:off x="5247233" y="3989933"/>
            <a:ext cx="810716" cy="304800"/>
          </a:xfrm>
          <a:prstGeom prst="rect">
            <a:avLst/>
          </a:prstGeom>
          <a:solidFill>
            <a:srgbClr val="BCACA7"/>
          </a:solidFill>
          <a:ln/>
        </p:spPr>
        <p:txBody>
          <a:bodyPr/>
          <a:p/>
        </p:txBody>
      </p:sp>
      <p:sp>
        <p:nvSpPr>
          <p:cNvPr id="12" name="Shape 9"/>
          <p:cNvSpPr/>
          <p:nvPr/>
        </p:nvSpPr>
        <p:spPr>
          <a:xfrm>
            <a:off x="6134150" y="3989933"/>
            <a:ext cx="810667" cy="304800"/>
          </a:xfrm>
          <a:prstGeom prst="rect">
            <a:avLst/>
          </a:prstGeom>
          <a:solidFill>
            <a:srgbClr val="BCACA7"/>
          </a:solidFill>
          <a:ln/>
        </p:spPr>
        <p:txBody>
          <a:bodyPr/>
          <a:p/>
        </p:txBody>
      </p:sp>
      <p:sp>
        <p:nvSpPr>
          <p:cNvPr id="13" name="Shape 10"/>
          <p:cNvSpPr/>
          <p:nvPr/>
        </p:nvSpPr>
        <p:spPr>
          <a:xfrm>
            <a:off x="7021016" y="3989933"/>
            <a:ext cx="810716" cy="304800"/>
          </a:xfrm>
          <a:prstGeom prst="rect">
            <a:avLst/>
          </a:prstGeom>
          <a:solidFill>
            <a:srgbClr val="BCACA7"/>
          </a:solidFill>
          <a:ln/>
        </p:spPr>
        <p:txBody>
          <a:bodyPr/>
          <a:p/>
        </p:txBody>
      </p:sp>
      <p:sp>
        <p:nvSpPr>
          <p:cNvPr id="14" name="Shape 11"/>
          <p:cNvSpPr/>
          <p:nvPr/>
        </p:nvSpPr>
        <p:spPr>
          <a:xfrm>
            <a:off x="7907933" y="3989933"/>
            <a:ext cx="810667" cy="304800"/>
          </a:xfrm>
          <a:prstGeom prst="rect">
            <a:avLst/>
          </a:prstGeom>
          <a:solidFill>
            <a:srgbClr val="BCACA7"/>
          </a:solidFill>
          <a:ln/>
        </p:spPr>
        <p:txBody>
          <a:bodyPr/>
          <a:p/>
        </p:txBody>
      </p:sp>
      <p:sp>
        <p:nvSpPr>
          <p:cNvPr id="15" name="Shape 12"/>
          <p:cNvSpPr/>
          <p:nvPr/>
        </p:nvSpPr>
        <p:spPr>
          <a:xfrm>
            <a:off x="8794800" y="3989933"/>
            <a:ext cx="810667" cy="304800"/>
          </a:xfrm>
          <a:prstGeom prst="rect">
            <a:avLst/>
          </a:prstGeom>
          <a:solidFill>
            <a:srgbClr val="BCACA7"/>
          </a:solidFill>
          <a:ln/>
        </p:spPr>
        <p:txBody>
          <a:bodyPr/>
          <a:p/>
        </p:txBody>
      </p:sp>
      <p:sp>
        <p:nvSpPr>
          <p:cNvPr id="16" name="Shape 13"/>
          <p:cNvSpPr/>
          <p:nvPr/>
        </p:nvSpPr>
        <p:spPr>
          <a:xfrm>
            <a:off x="9681666" y="3989933"/>
            <a:ext cx="810667" cy="304800"/>
          </a:xfrm>
          <a:prstGeom prst="rect">
            <a:avLst/>
          </a:prstGeom>
          <a:solidFill>
            <a:srgbClr val="BCACA7"/>
          </a:solidFill>
          <a:ln/>
        </p:spPr>
        <p:txBody>
          <a:bodyPr/>
          <a:p/>
        </p:txBody>
      </p:sp>
      <p:sp>
        <p:nvSpPr>
          <p:cNvPr id="17" name="Shape 14"/>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1477518"/>
                <a:gridCol w="3799332"/>
                <a:gridCol w="2638425"/>
                <a:gridCol w="2638425"/>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a:tblGrid>
                <a:gridCol w="2190496"/>
                <a:gridCol w="1916684"/>
                <a:gridCol w="273812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a:tblGrid>
                <a:gridCol w="1899666"/>
                <a:gridCol w="5910072"/>
                <a:gridCol w="274396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1794129"/>
                <a:gridCol w="5593461"/>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a:tblGrid>
                <a:gridCol w="2397252"/>
                <a:gridCol w="980694"/>
                <a:gridCol w="207035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400,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2743962"/>
                <a:gridCol w="780973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0"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0">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0">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0">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0">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0">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a:tblGrid>
                <a:gridCol w="2955036"/>
                <a:gridCol w="5276850"/>
                <a:gridCol w="2321814"/>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a:tblGrid>
                <a:gridCol w="2110740"/>
                <a:gridCol w="84429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565400"/>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gem-tokens.v3.0-rc2.json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gem-tokens.v3.0-rc2.json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54655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a:tblGrid>
                <a:gridCol w="1899666"/>
                <a:gridCol w="1688592"/>
                <a:gridCol w="6965442"/>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Vector logo kit received, acceptance pending; no supplier data; Part C issued as RC2,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0"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RC2 (Release Candidate 2) · semantic 3.0.0-rc.2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WORKING SPECIFICATION · NOT RELEASED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2026-10-06</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PENDING</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RC2 synchronized with Parts A and C · evidence gates open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GEM-BG-V3.0-RC2 (Part A) · GEM-PS-V3.0-RC2 (Part C) · V3 Approval Register</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VECTOR KIT RECEIVED · ACCEPTANCE PENDING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4432554"/>
                <a:gridCol w="1477518"/>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gem-horizontal-white.svg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Rules (H10–H15). Lockup min 120px; symbol min 32px; below that the no-spark symbol (H12; supplied in the kit).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Also in the kit: ink and white colourways, stacked lockup, no-spark symbol, clearspace versions, PDF, EPS and PNG, favicon and app icons (H16–H20). Renamed to GEM_[STREAM]_[ASSET]_[VARIANT]_vX.Y_YYYYMMDD.ext (X12) at first manifest (VAL-16), never redrawn. Embroidery and deboss masters not supplied. Acceptance PENDING (VAL-02).</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35 · Logos are the supplied vector kit; never redrawn or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