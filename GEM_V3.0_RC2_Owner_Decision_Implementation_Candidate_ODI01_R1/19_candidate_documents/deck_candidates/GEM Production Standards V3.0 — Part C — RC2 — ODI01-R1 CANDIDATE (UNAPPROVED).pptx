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4"/>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8.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Part C governs physical production and supplier release. Edition: V3.0 Release Candidate 2 (RC2), a working edition synchronized with Part A and Part B RC2 and the V3 Final Brand Approval Register. It may be labelled APPROVED PRODUCTION STANDARD only when the six release gates are met and the Brand Owner authorizes release (AC20). Logo is the supplied vector kit (SVG), used unchanged; its acceptance as production master is pending (VAL-02). Document control and change log: slide 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with Part A slide 3 and Part B (RF01, RF02, DS01). Part A governs what GEM should look and feel like, Part B digital implementation, Part C physical production and supplier release; where domains differ, the owning document governs unless the register overrides it. Approved brand decisions in the register are not reopened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status is shown as a word and a border style, never by colour alone: filled, solid, dashed, dotted. A proof level or release is never called approved unless the evidence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 names follow the register's twelve-role list; Part A slide 72 is the canonical statement. The allocation of prepare / check / approve / release / archive is a proposed framework for the Brand Owner to confirm (A06, AC19). No names are supplied.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control. Release at step 13 is a distinct act, taken only after final approval at step 12. A formally approved bypass must be recorded in the job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supplied with this release replaces the earlier raster references; it is not a production master until the Brand Owner accepts it (VAL-02). No file may be traced, redrawn or rebuilt to fill a gap; the owner must supply the vector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lets any released item be traced back to the exact master. Checksum, owner and approval date live in the manifest, not in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each process test are recorded in the asset manifest and the process-specific production record, then carried back here as evidence-based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Clearspace and digital minimums are approved in Part A. Physical minimums depend on process and substrate and must come from actual tests; no conversion from pixels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colours and their HEX values are approved brand identity references. They define digital appearance only. Print and physical values must be validated per process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build is stated until step 5 is complete. The archived value is recorded against the process, substrate and job in the asset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borders mean PENDING VALIDATION. Tolerances are evidence-based and process-specific; they are recorded with the colour proof approval form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is not the default text colour. Substitution of one for the other is a production deviation (see the deviation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architecture follows Part A and Part B. Part C adds the control: no font is released to a supplier without a recorded source, licence owner and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after final proof only, so a late text correction never requires editing outlined shapes. Record the source file ID next to the outlined file in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Arabic mechanics and numeral mechanics follow Part B (M11, M12, DS06): guest-facing Arabic may use Arabic-Indic numerals where approved for the locale or property; technical identifiers always remain Latin digits. Part A states the principle; Part B owns the implementation rule. Locale policy is pending sign-off.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is run internally at workflow step 6, before the supplier proof. The same list is the supplier's check at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relationships only; proportions are illustrative and not dimensions. Brand safe areas protect the identity; structural tolerances belong to the supplier's dieline.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 recipe is agreed with each printer and recorded in the job record. Where the standard is pending, the supplier's written workflow governs after Brand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carried from Part A. These are principles, not process specifications; every process still needs its own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stock is approved. The first approved sample becomes the reference, recorded in the golden sample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finish is a brand direction, not a specification. Trial results are recorded in the material and finish approval form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NOT DEFAULT. Any metallic process is [PROJECT-SPECIFIC] and requires all three steps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Tiers are carried from Part A slide 60 with the same status: CONDITIONAL under AC03 / VAL-01. No packaging data is invented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products come from Part A. Every attribute is a placeholder until a packaging master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Hierarchy approved in the register (T05) and stated in Part A slide 61. Type sizes per level are [PENDING PRODUCTION MASTER] and set per dieline.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of the SKU master record. The blank working form is appendix F. Technical identifiers always use Latin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shows line roles only: dashed outer = bleed, solid = trim, inner = safe area. It carries no dimensions. The dieline approval record is appendix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structural specification exists in the source set. Each line is closed only by a supplier proof recorded in the material and finish approval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items are [REGULATORY REVIEW REQUIRED]. Approvals are recorded in the regulatory copy approval record, appendix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Symbology, size and quiet zones follow the retail and regulatory standard for the market. They are not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direction is carried from Part A. The tagline stays in English unless a translation is explicitly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on the physical sample approval form (appendix I). Packaging physical proof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identity is PROJECT-SPECIFIC.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lists the principle types from Part A. Each project adds its own rows with site data. Safety signage follows the local code, not GEM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text outlined, one file per sign type and version. Supplier scaling is proportional only; it never licenses redrawing or re-spacing. Schematic shows zones only, no sizes. Approval is recorded on the signage fabrication approval form, appendix J; limitations go to appendix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Bilingual order follows register decision S07 and Part A slide 65: Arabic first and right, English secondary and left, with equivalent information and legibility. Arabic native QA is an open validation gate (VAL-07). Working Arabic text is never treated as approved copy.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tactile value is invented. A local accessibility specialist confirms the code for each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sample is logged in the golden sample register. Fabrication begins only after sign-off on appendix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paper size is fixed because market formats differ. Each template is released as a production master with its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Large-format values come from the printer and the site. A full-size proof is mandatory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items stay visible in the brief. The supplier is told what is not yet decided, so no gap is filled by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is appendix B. Production does not start until the acknowledgement is returned and filed.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P1–P5 retained. Which level each job needs is set on the release form (appendix A). Skipping a level is a deviation (appendix K). Method and tolerance for each level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golden sample exists yet. Register form is appendix M. Until a sample is signed, no production run has a physical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form is appendix K. Decision holder is [REQUIRES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limits and sampling plan are not defined. They are set from golden sample trials and supplier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result is recorded on the physical sample approval form,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coding scheme is not defined and is owned by the supplier and regulatory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form is appendix L. Nothing nonconforming ships without a recorded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carried from Part A. Category and variant lists follow the asset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form is appendix N. Artwork ownership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folder follows the Part A asset library. Retention length is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form. A RELEASED state is blocked while mandatory open items remain. Release authorization holder is [REQUIRES OWNER]. No technical values are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before any production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eighteen checks on the preflight slide. Mark P (pass), F (fail) or N/A. N/A only where the check does not apply to the job, with a note. No technical values are pre-filled; colour profile and output intent are [PENDING PREPRESS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proof approval. No Delta E tolerance is stated or implied. Physical colour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and finish approval. Records the trials that close pending finish and material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copy of the SKU master record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dimension is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never edits regulatory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sample approval. An approved sample may be promoted to golden sample and logged in appendix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fabrication approval. Artwork is scaled proportionally only; any adaptation goes to appendix K.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request. Raised by the supplier, never actioned independently. Accepted deviations are logged in appendix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Non-conformance report. Nothing nonconforming ships without a recorded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sample register. No sample exists yet. Review intervals are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fields per record. Release status uses APPROVED, CONDITIONAL, PENDING VALIDATION or REFERENCE. Artwork ownership is an open validation gate; checksum algorithm is not yet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change log. Links to appendix K (deviations) and appendix 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seventeen items are PENDING VALIDATION and map to the register's VAL and AC identifiers; Part A slide 78 lists the same IDs. Each closes only with evidence logged in the asset manifest and change log.</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edition is Release Candidate 2, a working edition. No gate is closed; gate IDs follow the register.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Appendix O remains the production change log for assets and standards; this slide records the edition history of Part C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3048000" cy="965200"/>
          </a:xfrm>
          <a:prstGeom prst="rect">
            <a:avLst/>
          </a:prstGeom>
        </p:spPr>
      </p:pic>
      <p:sp>
        <p:nvSpPr>
          <p:cNvPr id="4" name="Text 0"/>
          <p:cNvSpPr/>
          <p:nvPr/>
        </p:nvSpPr>
        <p:spPr>
          <a:xfrm>
            <a:off x="812800" y="2159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RELEASE CANDIDATE 2</a:t>
            </a:r>
            <a:endParaRPr lang="en-US" sz="1200" dirty="0"/>
          </a:p>
        </p:txBody>
      </p:sp>
      <p:sp>
        <p:nvSpPr>
          <p:cNvPr id="5" name="Text 1"/>
          <p:cNvSpPr/>
          <p:nvPr/>
        </p:nvSpPr>
        <p:spPr>
          <a:xfrm>
            <a:off x="812800" y="2540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Production Standards</a:t>
            </a:r>
            <a:endParaRPr lang="en-US" sz="4800" dirty="0"/>
          </a:p>
        </p:txBody>
      </p:sp>
      <p:sp>
        <p:nvSpPr>
          <p:cNvPr id="6" name="Text 2"/>
          <p:cNvSpPr/>
          <p:nvPr/>
        </p:nvSpPr>
        <p:spPr>
          <a:xfrm>
            <a:off x="812800" y="321052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V3.0</a:t>
            </a:r>
            <a:endParaRPr lang="en-US" sz="4800" dirty="0"/>
          </a:p>
        </p:txBody>
      </p:sp>
      <p:sp>
        <p:nvSpPr>
          <p:cNvPr id="7" name="Text 3"/>
          <p:cNvSpPr/>
          <p:nvPr/>
        </p:nvSpPr>
        <p:spPr>
          <a:xfrm>
            <a:off x="812800" y="4127500"/>
            <a:ext cx="71945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ACA7"/>
                </a:solidFill>
                <a:latin typeface="Inter" pitchFamily="34" charset="0"/>
                <a:ea typeface="Inter" pitchFamily="34" charset="-122"/>
                <a:cs typeface="Inter" pitchFamily="34" charset="-120"/>
              </a:rPr>
              <a:t>Part C — Production &amp; Supplier Standards</a:t>
            </a:r>
            <a:endParaRPr lang="en-US" sz="1800" dirty="0"/>
          </a:p>
        </p:txBody>
      </p:sp>
      <p:sp>
        <p:nvSpPr>
          <p:cNvPr id="8" name="Text 4"/>
          <p:cNvSpPr/>
          <p:nvPr/>
        </p:nvSpPr>
        <p:spPr>
          <a:xfrm>
            <a:off x="819150" y="4768850"/>
            <a:ext cx="6972300" cy="447030"/>
          </a:xfrm>
          <a:prstGeom prst="rect">
            <a:avLst/>
          </a:prstGeom>
          <a:solidFill>
            <a:srgbClr val="12171D"/>
          </a:solidFill>
          <a:ln w="12700">
            <a:solidFill>
              <a:srgbClr val="BCACA7"/>
            </a:solidFill>
            <a:prstDash val="dash"/>
          </a:ln>
        </p:spPr>
        <p:txBody>
          <a:bodyPr wrap="square" lIns="158750" tIns="107950" rIns="0" bIns="82550" rtlCol="0" anchor="t">
            <a:normAutofit/>
          </a:bodyPr>
          <a:lstStyle/>
          <a:p>
            <a:pPr algn="l" indent="0" marL="0">
              <a:lnSpc>
                <a:spcPts val="1820"/>
              </a:lnSpc>
              <a:buNone/>
            </a:pPr>
            <a:r>
              <a:rPr lang="en-US" sz="1300" spc="105" kern="0" dirty="0">
                <a:solidFill>
                  <a:srgbClr val="FFFFFF"/>
                </a:solidFill>
                <a:latin typeface="Inter" pitchFamily="34" charset="0"/>
                <a:ea typeface="Inter" pitchFamily="34" charset="-122"/>
                <a:cs typeface="Inter" pitchFamily="34" charset="-120"/>
              </a:rPr>
              <a:t>WORKING EDITION / PENDING PRODUCTION VALIDATION</a:t>
            </a:r>
            <a:endParaRPr lang="en-US" sz="1300" dirty="0"/>
          </a:p>
        </p:txBody>
      </p:sp>
      <p:sp>
        <p:nvSpPr>
          <p:cNvPr id="9" name="Text 5"/>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Release conditions incomplete · release authorization [REQUIRES OWNER] (AC20) · logo from supplied vector kit, acceptance PENDING (VAL-02) · Document ID GEM-PS-V3.0-RC2 · V3.0 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02 · PURPOSE AND AUTHORITY</a:t>
            </a:r>
            <a:endParaRPr lang="en-US" sz="1200" dirty="0"/>
          </a:p>
        </p:txBody>
      </p:sp>
      <p:sp>
        <p:nvSpPr>
          <p:cNvPr id="3" name="Text 1"/>
          <p:cNvSpPr/>
          <p:nvPr>
            <p:ph type="title"/>
          </p:nvPr>
        </p:nvSpPr>
        <p:spPr>
          <a:xfrm>
            <a:off x="812800" y="1229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 C turns the approved identity into controlled production.</a:t>
            </a:r>
            <a:endParaRPr lang="en-US" sz="3000" dirty="0"/>
          </a:p>
        </p:txBody>
      </p:sp>
      <p:sp>
        <p:nvSpPr>
          <p:cNvPr id="4" name="Shape 2"/>
          <p:cNvSpPr/>
          <p:nvPr/>
        </p:nvSpPr>
        <p:spPr>
          <a:xfrm>
            <a:off x="819150" y="1857970"/>
            <a:ext cx="3433217" cy="1107380"/>
          </a:xfrm>
          <a:prstGeom prst="rect">
            <a:avLst/>
          </a:prstGeom>
          <a:noFill/>
          <a:ln w="12700">
            <a:solidFill>
              <a:srgbClr val="12171D"/>
            </a:solidFill>
            <a:prstDash val="solid"/>
          </a:ln>
        </p:spPr>
        <p:txBody>
          <a:bodyPr/>
          <a:p/>
        </p:txBody>
      </p:sp>
      <p:sp>
        <p:nvSpPr>
          <p:cNvPr id="5" name="Text 3"/>
          <p:cNvSpPr/>
          <p:nvPr/>
        </p:nvSpPr>
        <p:spPr>
          <a:xfrm>
            <a:off x="1003300" y="20421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 · BRAND GUIDELINES</a:t>
            </a:r>
            <a:endParaRPr lang="en-US" sz="1200" dirty="0"/>
          </a:p>
        </p:txBody>
      </p:sp>
      <p:sp>
        <p:nvSpPr>
          <p:cNvPr id="6" name="Text 4"/>
          <p:cNvSpPr/>
          <p:nvPr/>
        </p:nvSpPr>
        <p:spPr>
          <a:xfrm>
            <a:off x="1003300" y="23189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What GEM looks and feels like. Identity, logo, colour, type, direction.</a:t>
            </a:r>
            <a:endParaRPr lang="en-US" sz="1300" dirty="0"/>
          </a:p>
        </p:txBody>
      </p:sp>
      <p:sp>
        <p:nvSpPr>
          <p:cNvPr id="7" name="Shape 5"/>
          <p:cNvSpPr/>
          <p:nvPr/>
        </p:nvSpPr>
        <p:spPr>
          <a:xfrm>
            <a:off x="4392067" y="1857970"/>
            <a:ext cx="3433266" cy="1107380"/>
          </a:xfrm>
          <a:prstGeom prst="rect">
            <a:avLst/>
          </a:prstGeom>
          <a:noFill/>
          <a:ln w="12700">
            <a:solidFill>
              <a:srgbClr val="12171D"/>
            </a:solidFill>
            <a:prstDash val="solid"/>
          </a:ln>
        </p:spPr>
        <p:txBody>
          <a:bodyPr/>
          <a:p/>
        </p:txBody>
      </p:sp>
      <p:sp>
        <p:nvSpPr>
          <p:cNvPr id="8" name="Text 6"/>
          <p:cNvSpPr/>
          <p:nvPr/>
        </p:nvSpPr>
        <p:spPr>
          <a:xfrm>
            <a:off x="4576217" y="20421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 · DIGITAL DESIGN SYSTEM</a:t>
            </a:r>
            <a:endParaRPr lang="en-US" sz="1200" dirty="0"/>
          </a:p>
        </p:txBody>
      </p:sp>
      <p:sp>
        <p:nvSpPr>
          <p:cNvPr id="9" name="Text 7"/>
          <p:cNvSpPr/>
          <p:nvPr/>
        </p:nvSpPr>
        <p:spPr>
          <a:xfrm>
            <a:off x="4576217" y="231894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Digital implementation: tokens, components, accessibility, RTL.</a:t>
            </a:r>
            <a:endParaRPr lang="en-US" sz="1300" dirty="0"/>
          </a:p>
        </p:txBody>
      </p:sp>
      <p:sp>
        <p:nvSpPr>
          <p:cNvPr id="10" name="Shape 8"/>
          <p:cNvSpPr/>
          <p:nvPr/>
        </p:nvSpPr>
        <p:spPr>
          <a:xfrm>
            <a:off x="7958683" y="1851620"/>
            <a:ext cx="3420517" cy="1120080"/>
          </a:xfrm>
          <a:prstGeom prst="rect">
            <a:avLst/>
          </a:prstGeom>
          <a:solidFill>
            <a:srgbClr val="12171D"/>
          </a:solidFill>
          <a:ln/>
        </p:spPr>
        <p:txBody>
          <a:bodyPr/>
          <a:p/>
        </p:txBody>
      </p:sp>
      <p:sp>
        <p:nvSpPr>
          <p:cNvPr id="11" name="Text 9"/>
          <p:cNvSpPr/>
          <p:nvPr/>
        </p:nvSpPr>
        <p:spPr>
          <a:xfrm>
            <a:off x="8136483" y="20294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 · PRODUCTION STANDARDS</a:t>
            </a:r>
            <a:endParaRPr lang="en-US" sz="1200" dirty="0"/>
          </a:p>
        </p:txBody>
      </p:sp>
      <p:sp>
        <p:nvSpPr>
          <p:cNvPr id="12" name="Text 10"/>
          <p:cNvSpPr/>
          <p:nvPr/>
        </p:nvSpPr>
        <p:spPr>
          <a:xfrm>
            <a:off x="8136483" y="23062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Physical production and supplier release. This document.</a:t>
            </a:r>
            <a:endParaRPr lang="en-US" sz="1300" dirty="0"/>
          </a:p>
        </p:txBody>
      </p:sp>
      <p:sp>
        <p:nvSpPr>
          <p:cNvPr id="13" name="Text 11"/>
          <p:cNvSpPr/>
          <p:nvPr/>
        </p:nvSpPr>
        <p:spPr>
          <a:xfrm>
            <a:off x="8128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PART C OWNS</a:t>
            </a:r>
            <a:endParaRPr lang="en-US" sz="1200" dirty="0"/>
          </a:p>
        </p:txBody>
      </p:sp>
      <p:sp>
        <p:nvSpPr>
          <p:cNvPr id="14" name="Text 12"/>
          <p:cNvSpPr/>
          <p:nvPr/>
        </p:nvSpPr>
        <p:spPr>
          <a:xfrm>
            <a:off x="812800" y="343902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Production artwork, colour reproduction, print, materials, packaging production, supplier handoff, fabrication, physical proofing, tolerances and production release.</a:t>
            </a:r>
            <a:endParaRPr lang="en-US" sz="1300" dirty="0"/>
          </a:p>
        </p:txBody>
      </p:sp>
      <p:sp>
        <p:nvSpPr>
          <p:cNvPr id="15" name="Text 13"/>
          <p:cNvSpPr/>
          <p:nvPr/>
        </p:nvSpPr>
        <p:spPr>
          <a:xfrm>
            <a:off x="62484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WHICH SOURCE WINS</a:t>
            </a:r>
            <a:endParaRPr lang="en-US" sz="1200" dirty="0"/>
          </a:p>
        </p:txBody>
      </p:sp>
      <p:sp>
        <p:nvSpPr>
          <p:cNvPr id="16" name="Text 14"/>
          <p:cNvSpPr/>
          <p:nvPr/>
        </p:nvSpPr>
        <p:spPr>
          <a:xfrm>
            <a:off x="6248400" y="3401568"/>
            <a:ext cx="5284724" cy="11430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1 V3 Final Brand Approval Register · 2 Part A, brand and identity · 3 Part B, digital implementation · 4 Part C, physical production · 5 formal technical and legal standards where they apply · 6 V2 / V2.1 and V1, historical · 7 benchmarks and inspiration only. The owning document governs its domain unless the register overrides it.</a:t>
            </a:r>
            <a:endParaRPr lang="en-US" sz="1300" dirty="0"/>
          </a:p>
        </p:txBody>
      </p:sp>
      <p:sp>
        <p:nvSpPr>
          <p:cNvPr id="17" name="Shape 15"/>
          <p:cNvSpPr/>
          <p:nvPr/>
        </p:nvSpPr>
        <p:spPr>
          <a:xfrm>
            <a:off x="812800" y="4681728"/>
            <a:ext cx="10566400" cy="0"/>
          </a:xfrm>
          <a:prstGeom prst="line">
            <a:avLst/>
          </a:prstGeom>
          <a:noFill/>
          <a:ln w="12700">
            <a:solidFill>
              <a:srgbClr val="12171D"/>
            </a:solidFill>
            <a:prstDash val="solid"/>
          </a:ln>
        </p:spPr>
        <p:txBody>
          <a:bodyPr/>
          <a:p/>
        </p:txBody>
      </p:sp>
      <p:sp>
        <p:nvSpPr>
          <p:cNvPr id="18" name="Text 16"/>
          <p:cNvSpPr/>
          <p:nvPr/>
        </p:nvSpPr>
        <p:spPr>
          <a:xfrm>
            <a:off x="812800" y="4773168"/>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Core rule: no production data is invented. A value without evidence is marked, never guessed.</a:t>
            </a:r>
            <a:endParaRPr lang="en-US" sz="13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03 · STATUS AND RELEASE LANGUAGE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Pending material never looks approved.</a:t>
            </a:r>
            <a:endParaRPr lang="en-US" sz="2800" dirty="0"/>
          </a:p>
        </p:txBody>
      </p:sp>
      <p:sp>
        <p:nvSpPr>
          <p:cNvPr id="4" name="Text 2"/>
          <p:cNvSpPr/>
          <p:nvPr/>
        </p:nvSpPr>
        <p:spPr>
          <a:xfrm>
            <a:off x="812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STATUS</a:t>
            </a:r>
            <a:endParaRPr lang="en-US" sz="1200" dirty="0"/>
          </a:p>
        </p:txBody>
      </p:sp>
      <p:sp>
        <p:nvSpPr>
          <p:cNvPr id="5" name="Text 3"/>
          <p:cNvSpPr/>
          <p:nvPr/>
        </p:nvSpPr>
        <p:spPr>
          <a:xfrm>
            <a:off x="812800" y="2125861"/>
            <a:ext cx="2095500" cy="314920"/>
          </a:xfrm>
          <a:prstGeom prst="rect">
            <a:avLst/>
          </a:prstGeom>
          <a:solidFill>
            <a:srgbClr val="FFFFFF"/>
          </a:solidFill>
          <a:ln/>
        </p:spPr>
        <p:txBody>
          <a:bodyPr wrap="square" lIns="73216" tIns="50800" rIns="73216" bIns="25400" rtlCol="0" anchor="t">
            <a:normAutofit/>
          </a:bodyPr>
          <a:lstStyle/>
          <a:p>
            <a:pPr algn="ctr" indent="0" marL="0">
              <a:lnSpc>
                <a:spcPts val="1680"/>
              </a:lnSpc>
              <a:buNone/>
            </a:pPr>
            <a:r>
              <a:rPr lang="en-US" sz="1200" spc="70" kern="0" dirty="0">
                <a:solidFill>
                  <a:srgbClr val="12171D"/>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060700" y="2180431"/>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Final. Use as written.</a:t>
            </a:r>
            <a:endParaRPr lang="en-US" sz="1200" dirty="0"/>
          </a:p>
        </p:txBody>
      </p:sp>
      <p:sp>
        <p:nvSpPr>
          <p:cNvPr id="7" name="Text 5"/>
          <p:cNvSpPr/>
          <p:nvPr/>
        </p:nvSpPr>
        <p:spPr>
          <a:xfrm>
            <a:off x="819150" y="2536031"/>
            <a:ext cx="2082800" cy="302220"/>
          </a:xfrm>
          <a:prstGeom prst="rect">
            <a:avLst/>
          </a:prstGeom>
          <a:noFill/>
          <a:ln w="12700">
            <a:solidFill>
              <a:srgbClr val="FFFFFF"/>
            </a:solidFill>
            <a:prstDash val="solid"/>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3060700" y="258425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Usable once a stated condition is met.</a:t>
            </a:r>
            <a:endParaRPr lang="en-US" sz="1200" dirty="0"/>
          </a:p>
        </p:txBody>
      </p:sp>
      <p:sp>
        <p:nvSpPr>
          <p:cNvPr id="9" name="Text 7"/>
          <p:cNvSpPr/>
          <p:nvPr/>
        </p:nvSpPr>
        <p:spPr>
          <a:xfrm>
            <a:off x="819150" y="2988121"/>
            <a:ext cx="2082800" cy="302220"/>
          </a:xfrm>
          <a:prstGeom prst="rect">
            <a:avLst/>
          </a:prstGeom>
          <a:noFill/>
          <a:ln w="12700">
            <a:solidFill>
              <a:srgbClr val="BCACA7"/>
            </a:solidFill>
            <a:prstDash val="dash"/>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3060700" y="2933502"/>
            <a:ext cx="294322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Evidence outstanding. Never shown as final.</a:t>
            </a:r>
            <a:endParaRPr lang="en-US" sz="1200" dirty="0"/>
          </a:p>
        </p:txBody>
      </p:sp>
      <p:sp>
        <p:nvSpPr>
          <p:cNvPr id="11" name="Text 9"/>
          <p:cNvSpPr/>
          <p:nvPr/>
        </p:nvSpPr>
        <p:spPr>
          <a:xfrm>
            <a:off x="819150" y="3440212"/>
            <a:ext cx="2082800" cy="302220"/>
          </a:xfrm>
          <a:prstGeom prst="rect">
            <a:avLst/>
          </a:prstGeom>
          <a:noFill/>
          <a:ln w="12700">
            <a:solidFill>
              <a:srgbClr val="BCACA7"/>
            </a:solidFill>
            <a:prstDash val="sysDot"/>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3060700" y="348843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Illustrative. Not a production standard.</a:t>
            </a:r>
            <a:endParaRPr lang="en-US" sz="1200" dirty="0"/>
          </a:p>
        </p:txBody>
      </p:sp>
      <p:sp>
        <p:nvSpPr>
          <p:cNvPr id="13" name="Text 11"/>
          <p:cNvSpPr/>
          <p:nvPr/>
        </p:nvSpPr>
        <p:spPr>
          <a:xfrm>
            <a:off x="6273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PRODUCTION STATUS</a:t>
            </a:r>
            <a:endParaRPr lang="en-US" sz="1200" dirty="0"/>
          </a:p>
        </p:txBody>
      </p:sp>
      <p:sp>
        <p:nvSpPr>
          <p:cNvPr id="14" name="Text 12"/>
          <p:cNvSpPr/>
          <p:nvPr/>
        </p:nvSpPr>
        <p:spPr>
          <a:xfrm>
            <a:off x="6280150" y="2132211"/>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PRODUCTION MASTER</a:t>
            </a:r>
            <a:endParaRPr lang="en-US" sz="1200" dirty="0"/>
          </a:p>
        </p:txBody>
      </p:sp>
      <p:sp>
        <p:nvSpPr>
          <p:cNvPr id="15" name="Text 13"/>
          <p:cNvSpPr/>
          <p:nvPr/>
        </p:nvSpPr>
        <p:spPr>
          <a:xfrm>
            <a:off x="8839200" y="2287091"/>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Master file not yet accepted.</a:t>
            </a:r>
            <a:endParaRPr lang="en-US" sz="1200" dirty="0"/>
          </a:p>
        </p:txBody>
      </p:sp>
      <p:sp>
        <p:nvSpPr>
          <p:cNvPr id="16" name="Text 14"/>
          <p:cNvSpPr/>
          <p:nvPr/>
        </p:nvSpPr>
        <p:spPr>
          <a:xfrm>
            <a:off x="6280150" y="2749352"/>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PHYSICAL PROOF</a:t>
            </a:r>
            <a:endParaRPr lang="en-US" sz="1200" dirty="0"/>
          </a:p>
        </p:txBody>
      </p:sp>
      <p:sp>
        <p:nvSpPr>
          <p:cNvPr id="17" name="Text 15"/>
          <p:cNvSpPr/>
          <p:nvPr/>
        </p:nvSpPr>
        <p:spPr>
          <a:xfrm>
            <a:off x="8839200" y="279757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physical proof approved.</a:t>
            </a:r>
            <a:endParaRPr lang="en-US" sz="1200" dirty="0"/>
          </a:p>
        </p:txBody>
      </p:sp>
      <p:sp>
        <p:nvSpPr>
          <p:cNvPr id="18" name="Text 16"/>
          <p:cNvSpPr/>
          <p:nvPr/>
        </p:nvSpPr>
        <p:spPr>
          <a:xfrm>
            <a:off x="6280150" y="3153172"/>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SUPPLIER PROOF REQUIRED</a:t>
            </a:r>
            <a:endParaRPr lang="en-US" sz="1200" dirty="0"/>
          </a:p>
        </p:txBody>
      </p:sp>
      <p:sp>
        <p:nvSpPr>
          <p:cNvPr id="19" name="Text 17"/>
          <p:cNvSpPr/>
          <p:nvPr/>
        </p:nvSpPr>
        <p:spPr>
          <a:xfrm>
            <a:off x="8839200" y="330805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Supplier must prove the process.</a:t>
            </a:r>
            <a:endParaRPr lang="en-US" sz="1200" dirty="0"/>
          </a:p>
        </p:txBody>
      </p:sp>
      <p:sp>
        <p:nvSpPr>
          <p:cNvPr id="20" name="Text 18"/>
          <p:cNvSpPr/>
          <p:nvPr/>
        </p:nvSpPr>
        <p:spPr>
          <a:xfrm>
            <a:off x="6280150" y="3770313"/>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REGULATORY REVIEW REQUIRED</a:t>
            </a:r>
            <a:endParaRPr lang="en-US" sz="1200" dirty="0"/>
          </a:p>
        </p:txBody>
      </p:sp>
      <p:sp>
        <p:nvSpPr>
          <p:cNvPr id="21" name="Text 19"/>
          <p:cNvSpPr/>
          <p:nvPr/>
        </p:nvSpPr>
        <p:spPr>
          <a:xfrm>
            <a:off x="8839200" y="392519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Legal copy needs review.</a:t>
            </a:r>
            <a:endParaRPr lang="en-US" sz="1200" dirty="0"/>
          </a:p>
        </p:txBody>
      </p:sp>
      <p:sp>
        <p:nvSpPr>
          <p:cNvPr id="22" name="Text 20"/>
          <p:cNvSpPr/>
          <p:nvPr/>
        </p:nvSpPr>
        <p:spPr>
          <a:xfrm>
            <a:off x="6280150" y="4387453"/>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PROJECT-SPECIFIC</a:t>
            </a:r>
            <a:endParaRPr lang="en-US" sz="1200" dirty="0"/>
          </a:p>
        </p:txBody>
      </p:sp>
      <p:sp>
        <p:nvSpPr>
          <p:cNvPr id="23" name="Text 21"/>
          <p:cNvSpPr/>
          <p:nvPr/>
        </p:nvSpPr>
        <p:spPr>
          <a:xfrm>
            <a:off x="8839200" y="443567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Set per project or site.</a:t>
            </a:r>
            <a:endParaRPr lang="en-US" sz="1200" dirty="0"/>
          </a:p>
        </p:txBody>
      </p:sp>
      <p:sp>
        <p:nvSpPr>
          <p:cNvPr id="24" name="Text 22"/>
          <p:cNvSpPr/>
          <p:nvPr/>
        </p:nvSpPr>
        <p:spPr>
          <a:xfrm>
            <a:off x="812800" y="52120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Placeholders: [PENDING] [TO BE VERIFIED] [TO BE VERIFIED BY PROCESS TEST] [REQUIRES OWNER] [REQUIRES SUPPLIER] [REQUIRES SUPPLIER / OWNER] [ENTER] [PENDING PRODUCTION MASTER] [PENDING PHYSICAL PROOF] [PENDING PREPRESS STANDARD] [PROJECT-SPECIFIC] [REGULATORY REVIEW REQUIRED] [LEGAL REVIEW REQUIRED]</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7" name="Text 25"/>
          <p:cNvSpPr/>
          <p:nvPr/>
        </p:nvSpPr>
        <p:spPr>
          <a:xfrm>
            <a:off x="812800" y="5779008"/>
            <a:ext cx="10883392" cy="384048"/>
          </a:xfrm>
          <a:prstGeom prst="rect">
            <a:avLst/>
          </a:prstGeom>
          <a:noFill/>
          <a:ln/>
        </p:spPr>
        <p:txBody>
          <a:bodyPr wrap="square" lIns="0" tIns="0" rIns="0" bIns="0" rtlCol="0" anchor="t"/>
          <a:lstStyle/>
          <a:p>
            <a:pPr algn="l" indent="0" marL="0">
              <a:lnSpc>
                <a:spcPts val="1680"/>
              </a:lnSpc>
              <a:buNone/>
            </a:pPr>
            <a:r>
              <a:rPr lang="en-US" sz="1100" dirty="0">
                <a:solidFill>
                  <a:srgbClr val="BCACA7"/>
                </a:solidFill>
                <a:latin typeface="Inter" pitchFamily="34" charset="0"/>
                <a:ea typeface="Inter" pitchFamily="34" charset="-122"/>
                <a:cs typeface="Inter" pitchFamily="34" charset="-120"/>
              </a:rPr>
              <a:t>Edition states: WORKING EDITION → RELEASE CANDIDATE (RC) → APPROVED PRODUCTION STANDARD. An RC is a synchronized working edition issued for validation; it becomes APPROVED only when all six release gates are met and the Brand Owner authorizes release (AC20).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04 · PRODUCTION GOVERNANCE · PROPOSED ALLOCATION · [REQUIRES OWNER]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Every step has a role. No names are assigned yet.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994125"/>
        </p:xfrm>
        <a:graphic>
          <a:graphicData uri="http://schemas.openxmlformats.org/drawingml/2006/table">
            <a:tbl>
              <a:tblPr/>
              <a:tblGrid>
                <a:gridCol w="2276288"/>
                <a:gridCol w="1655482"/>
                <a:gridCol w="1655482"/>
                <a:gridCol w="1655482"/>
                <a:gridCol w="1655482"/>
                <a:gridCol w="165548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Prepares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Approves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Releases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Archives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Authorizes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Lead [REQUIRES OWNER]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Issues job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Terms · proof, goods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 Fabricator (external party)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Proofs, samples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9834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Named holders: [REQUIRES OWNER]. Roles are the twelve of the V3 Approval Register (Owners &amp; Governance; Part A slide 72). * Production Lead is not a register role: proposed as a delegate of Procurement / Supplier QA, for the Brand Owner to confirm. The allocation is a proposal, not an approved RACI.</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05 · PRODUCTION RELEASE WORKFLOW</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Fourteen steps. None may be skipped.</a:t>
            </a:r>
            <a:endParaRPr lang="en-US" sz="2600" dirty="0"/>
          </a:p>
        </p:txBody>
      </p:sp>
      <p:sp>
        <p:nvSpPr>
          <p:cNvPr id="4" name="Shape 2"/>
          <p:cNvSpPr/>
          <p:nvPr/>
        </p:nvSpPr>
        <p:spPr>
          <a:xfrm>
            <a:off x="819150" y="1751261"/>
            <a:ext cx="2029420" cy="835620"/>
          </a:xfrm>
          <a:prstGeom prst="rect">
            <a:avLst/>
          </a:prstGeom>
          <a:noFill/>
          <a:ln w="12700">
            <a:solidFill>
              <a:srgbClr val="BCACA7"/>
            </a:solidFill>
            <a:prstDash val="solid"/>
          </a:ln>
        </p:spPr>
        <p:txBody>
          <a:bodyPr/>
          <a:p/>
        </p:txBody>
      </p:sp>
      <p:sp>
        <p:nvSpPr>
          <p:cNvPr id="5" name="Text 3"/>
          <p:cNvSpPr/>
          <p:nvPr/>
        </p:nvSpPr>
        <p:spPr>
          <a:xfrm>
            <a:off x="939800" y="185921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39800" y="209793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Brief received</a:t>
            </a:r>
            <a:endParaRPr lang="en-US" sz="1200" dirty="0"/>
          </a:p>
        </p:txBody>
      </p:sp>
      <p:sp>
        <p:nvSpPr>
          <p:cNvPr id="7" name="Shape 5"/>
          <p:cNvSpPr/>
          <p:nvPr/>
        </p:nvSpPr>
        <p:spPr>
          <a:xfrm>
            <a:off x="2950170" y="1751261"/>
            <a:ext cx="2029470" cy="835620"/>
          </a:xfrm>
          <a:prstGeom prst="rect">
            <a:avLst/>
          </a:prstGeom>
          <a:noFill/>
          <a:ln w="12700">
            <a:solidFill>
              <a:srgbClr val="BCACA7"/>
            </a:solidFill>
            <a:prstDash val="solid"/>
          </a:ln>
        </p:spPr>
        <p:txBody>
          <a:bodyPr/>
          <a:p/>
        </p:txBody>
      </p:sp>
      <p:sp>
        <p:nvSpPr>
          <p:cNvPr id="8" name="Text 6"/>
          <p:cNvSpPr/>
          <p:nvPr/>
        </p:nvSpPr>
        <p:spPr>
          <a:xfrm>
            <a:off x="307082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7082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 master asset identified</a:t>
            </a:r>
            <a:endParaRPr lang="en-US" sz="1200" dirty="0"/>
          </a:p>
        </p:txBody>
      </p:sp>
      <p:sp>
        <p:nvSpPr>
          <p:cNvPr id="10" name="Shape 8"/>
          <p:cNvSpPr/>
          <p:nvPr/>
        </p:nvSpPr>
        <p:spPr>
          <a:xfrm>
            <a:off x="5081240" y="1751261"/>
            <a:ext cx="2029470" cy="835620"/>
          </a:xfrm>
          <a:prstGeom prst="rect">
            <a:avLst/>
          </a:prstGeom>
          <a:noFill/>
          <a:ln w="12700">
            <a:solidFill>
              <a:srgbClr val="BCACA7"/>
            </a:solidFill>
            <a:prstDash val="solid"/>
          </a:ln>
        </p:spPr>
        <p:txBody>
          <a:bodyPr/>
          <a:p/>
        </p:txBody>
      </p:sp>
      <p:sp>
        <p:nvSpPr>
          <p:cNvPr id="11" name="Text 9"/>
          <p:cNvSpPr/>
          <p:nvPr/>
        </p:nvSpPr>
        <p:spPr>
          <a:xfrm>
            <a:off x="520189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0189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specification confirmed</a:t>
            </a:r>
            <a:endParaRPr lang="en-US" sz="1200" dirty="0"/>
          </a:p>
        </p:txBody>
      </p:sp>
      <p:sp>
        <p:nvSpPr>
          <p:cNvPr id="13" name="Shape 11"/>
          <p:cNvSpPr/>
          <p:nvPr/>
        </p:nvSpPr>
        <p:spPr>
          <a:xfrm>
            <a:off x="7212310" y="1751261"/>
            <a:ext cx="2029470" cy="835620"/>
          </a:xfrm>
          <a:prstGeom prst="rect">
            <a:avLst/>
          </a:prstGeom>
          <a:noFill/>
          <a:ln w="12700">
            <a:solidFill>
              <a:srgbClr val="BCACA7"/>
            </a:solidFill>
            <a:prstDash val="solid"/>
          </a:ln>
        </p:spPr>
        <p:txBody>
          <a:bodyPr/>
          <a:p/>
        </p:txBody>
      </p:sp>
      <p:sp>
        <p:nvSpPr>
          <p:cNvPr id="14" name="Text 12"/>
          <p:cNvSpPr/>
          <p:nvPr/>
        </p:nvSpPr>
        <p:spPr>
          <a:xfrm>
            <a:off x="733296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33296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template or dieline received</a:t>
            </a:r>
            <a:endParaRPr lang="en-US" sz="1200" dirty="0"/>
          </a:p>
        </p:txBody>
      </p:sp>
      <p:sp>
        <p:nvSpPr>
          <p:cNvPr id="16" name="Shape 14"/>
          <p:cNvSpPr/>
          <p:nvPr/>
        </p:nvSpPr>
        <p:spPr>
          <a:xfrm>
            <a:off x="9343380" y="1751261"/>
            <a:ext cx="2029470" cy="835620"/>
          </a:xfrm>
          <a:prstGeom prst="rect">
            <a:avLst/>
          </a:prstGeom>
          <a:noFill/>
          <a:ln w="12700">
            <a:solidFill>
              <a:srgbClr val="BCACA7"/>
            </a:solidFill>
            <a:prstDash val="solid"/>
          </a:ln>
        </p:spPr>
        <p:txBody>
          <a:bodyPr/>
          <a:p/>
        </p:txBody>
      </p:sp>
      <p:sp>
        <p:nvSpPr>
          <p:cNvPr id="17" name="Text 15"/>
          <p:cNvSpPr/>
          <p:nvPr/>
        </p:nvSpPr>
        <p:spPr>
          <a:xfrm>
            <a:off x="946403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464030" y="209793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Artwork prepared</a:t>
            </a:r>
            <a:endParaRPr lang="en-US" sz="1200" dirty="0"/>
          </a:p>
        </p:txBody>
      </p:sp>
      <p:sp>
        <p:nvSpPr>
          <p:cNvPr id="19" name="Shape 17"/>
          <p:cNvSpPr/>
          <p:nvPr/>
        </p:nvSpPr>
        <p:spPr>
          <a:xfrm>
            <a:off x="819150" y="2688481"/>
            <a:ext cx="2029420" cy="835620"/>
          </a:xfrm>
          <a:prstGeom prst="rect">
            <a:avLst/>
          </a:prstGeom>
          <a:noFill/>
          <a:ln w="12700">
            <a:solidFill>
              <a:srgbClr val="BCACA7"/>
            </a:solidFill>
            <a:prstDash val="solid"/>
          </a:ln>
        </p:spPr>
        <p:txBody>
          <a:bodyPr/>
          <a:p/>
        </p:txBody>
      </p:sp>
      <p:sp>
        <p:nvSpPr>
          <p:cNvPr id="20" name="Text 18"/>
          <p:cNvSpPr/>
          <p:nvPr/>
        </p:nvSpPr>
        <p:spPr>
          <a:xfrm>
            <a:off x="939800" y="279643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39800" y="303515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Internal preflight</a:t>
            </a:r>
            <a:endParaRPr lang="en-US" sz="1200" dirty="0"/>
          </a:p>
        </p:txBody>
      </p:sp>
      <p:sp>
        <p:nvSpPr>
          <p:cNvPr id="22" name="Shape 20"/>
          <p:cNvSpPr/>
          <p:nvPr/>
        </p:nvSpPr>
        <p:spPr>
          <a:xfrm>
            <a:off x="2950170" y="2688481"/>
            <a:ext cx="2029470" cy="835620"/>
          </a:xfrm>
          <a:prstGeom prst="rect">
            <a:avLst/>
          </a:prstGeom>
          <a:noFill/>
          <a:ln w="12700">
            <a:solidFill>
              <a:srgbClr val="BCACA7"/>
            </a:solidFill>
            <a:prstDash val="solid"/>
          </a:ln>
        </p:spPr>
        <p:txBody>
          <a:bodyPr/>
          <a:p/>
        </p:txBody>
      </p:sp>
      <p:sp>
        <p:nvSpPr>
          <p:cNvPr id="23" name="Text 21"/>
          <p:cNvSpPr/>
          <p:nvPr/>
        </p:nvSpPr>
        <p:spPr>
          <a:xfrm>
            <a:off x="307082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07082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proof</a:t>
            </a:r>
            <a:endParaRPr lang="en-US" sz="1200" dirty="0"/>
          </a:p>
        </p:txBody>
      </p:sp>
      <p:sp>
        <p:nvSpPr>
          <p:cNvPr id="25" name="Shape 23"/>
          <p:cNvSpPr/>
          <p:nvPr/>
        </p:nvSpPr>
        <p:spPr>
          <a:xfrm>
            <a:off x="5081240" y="2688481"/>
            <a:ext cx="2029470" cy="835620"/>
          </a:xfrm>
          <a:prstGeom prst="rect">
            <a:avLst/>
          </a:prstGeom>
          <a:noFill/>
          <a:ln w="12700">
            <a:solidFill>
              <a:srgbClr val="BCACA7"/>
            </a:solidFill>
            <a:prstDash val="solid"/>
          </a:ln>
        </p:spPr>
        <p:txBody>
          <a:bodyPr/>
          <a:p/>
        </p:txBody>
      </p:sp>
      <p:sp>
        <p:nvSpPr>
          <p:cNvPr id="26" name="Text 24"/>
          <p:cNvSpPr/>
          <p:nvPr/>
        </p:nvSpPr>
        <p:spPr>
          <a:xfrm>
            <a:off x="520189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520189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Brand review</a:t>
            </a:r>
            <a:endParaRPr lang="en-US" sz="1200" dirty="0"/>
          </a:p>
        </p:txBody>
      </p:sp>
      <p:sp>
        <p:nvSpPr>
          <p:cNvPr id="28" name="Shape 26"/>
          <p:cNvSpPr/>
          <p:nvPr/>
        </p:nvSpPr>
        <p:spPr>
          <a:xfrm>
            <a:off x="7212310" y="2688481"/>
            <a:ext cx="2029470" cy="835620"/>
          </a:xfrm>
          <a:prstGeom prst="rect">
            <a:avLst/>
          </a:prstGeom>
          <a:noFill/>
          <a:ln w="12700">
            <a:solidFill>
              <a:srgbClr val="BCACA7"/>
            </a:solidFill>
            <a:prstDash val="solid"/>
          </a:ln>
        </p:spPr>
        <p:txBody>
          <a:bodyPr/>
          <a:p/>
        </p:txBody>
      </p:sp>
      <p:sp>
        <p:nvSpPr>
          <p:cNvPr id="29" name="Text 27"/>
          <p:cNvSpPr/>
          <p:nvPr/>
        </p:nvSpPr>
        <p:spPr>
          <a:xfrm>
            <a:off x="733296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
        <p:nvSpPr>
          <p:cNvPr id="30" name="Text 28"/>
          <p:cNvSpPr/>
          <p:nvPr/>
        </p:nvSpPr>
        <p:spPr>
          <a:xfrm>
            <a:off x="7332960" y="303515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and regulatory review</a:t>
            </a:r>
            <a:endParaRPr lang="en-US" sz="1200" dirty="0"/>
          </a:p>
        </p:txBody>
      </p:sp>
      <p:sp>
        <p:nvSpPr>
          <p:cNvPr id="31" name="Shape 29"/>
          <p:cNvSpPr/>
          <p:nvPr/>
        </p:nvSpPr>
        <p:spPr>
          <a:xfrm>
            <a:off x="9343380" y="2688481"/>
            <a:ext cx="2029470" cy="835620"/>
          </a:xfrm>
          <a:prstGeom prst="rect">
            <a:avLst/>
          </a:prstGeom>
          <a:noFill/>
          <a:ln w="12700">
            <a:solidFill>
              <a:srgbClr val="BCACA7"/>
            </a:solidFill>
            <a:prstDash val="solid"/>
          </a:ln>
        </p:spPr>
        <p:txBody>
          <a:bodyPr/>
          <a:p/>
        </p:txBody>
      </p:sp>
      <p:sp>
        <p:nvSpPr>
          <p:cNvPr id="32" name="Text 30"/>
          <p:cNvSpPr/>
          <p:nvPr/>
        </p:nvSpPr>
        <p:spPr>
          <a:xfrm>
            <a:off x="946403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10</a:t>
            </a:r>
            <a:endParaRPr lang="en-US" sz="1200" dirty="0"/>
          </a:p>
        </p:txBody>
      </p:sp>
      <p:sp>
        <p:nvSpPr>
          <p:cNvPr id="33" name="Text 31"/>
          <p:cNvSpPr/>
          <p:nvPr/>
        </p:nvSpPr>
        <p:spPr>
          <a:xfrm>
            <a:off x="9464030" y="3035151"/>
            <a:ext cx="19024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Physical proof or sample</a:t>
            </a:r>
            <a:endParaRPr lang="en-US" sz="1200" dirty="0"/>
          </a:p>
        </p:txBody>
      </p:sp>
      <p:sp>
        <p:nvSpPr>
          <p:cNvPr id="34" name="Shape 32"/>
          <p:cNvSpPr/>
          <p:nvPr/>
        </p:nvSpPr>
        <p:spPr>
          <a:xfrm>
            <a:off x="819150" y="3625701"/>
            <a:ext cx="2029420" cy="835620"/>
          </a:xfrm>
          <a:prstGeom prst="rect">
            <a:avLst/>
          </a:prstGeom>
          <a:noFill/>
          <a:ln w="12700">
            <a:solidFill>
              <a:srgbClr val="BCACA7"/>
            </a:solidFill>
            <a:prstDash val="solid"/>
          </a:ln>
        </p:spPr>
        <p:txBody>
          <a:bodyPr/>
          <a:p/>
        </p:txBody>
      </p:sp>
      <p:sp>
        <p:nvSpPr>
          <p:cNvPr id="35" name="Text 33"/>
          <p:cNvSpPr/>
          <p:nvPr/>
        </p:nvSpPr>
        <p:spPr>
          <a:xfrm>
            <a:off x="939800" y="373365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
        <p:nvSpPr>
          <p:cNvPr id="36" name="Text 34"/>
          <p:cNvSpPr/>
          <p:nvPr/>
        </p:nvSpPr>
        <p:spPr>
          <a:xfrm>
            <a:off x="939800" y="397237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Corrections</a:t>
            </a:r>
            <a:endParaRPr lang="en-US" sz="1200" dirty="0"/>
          </a:p>
        </p:txBody>
      </p:sp>
      <p:sp>
        <p:nvSpPr>
          <p:cNvPr id="37" name="Shape 35"/>
          <p:cNvSpPr/>
          <p:nvPr/>
        </p:nvSpPr>
        <p:spPr>
          <a:xfrm>
            <a:off x="2950170" y="3625701"/>
            <a:ext cx="2029470" cy="835620"/>
          </a:xfrm>
          <a:prstGeom prst="rect">
            <a:avLst/>
          </a:prstGeom>
          <a:noFill/>
          <a:ln w="12700">
            <a:solidFill>
              <a:srgbClr val="BCACA7"/>
            </a:solidFill>
            <a:prstDash val="solid"/>
          </a:ln>
        </p:spPr>
        <p:txBody>
          <a:bodyPr/>
          <a:p/>
        </p:txBody>
      </p:sp>
      <p:sp>
        <p:nvSpPr>
          <p:cNvPr id="38" name="Text 36"/>
          <p:cNvSpPr/>
          <p:nvPr/>
        </p:nvSpPr>
        <p:spPr>
          <a:xfrm>
            <a:off x="307082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
        <p:nvSpPr>
          <p:cNvPr id="39" name="Text 37"/>
          <p:cNvSpPr/>
          <p:nvPr/>
        </p:nvSpPr>
        <p:spPr>
          <a:xfrm>
            <a:off x="3070820" y="397237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Final approval</a:t>
            </a:r>
            <a:endParaRPr lang="en-US" sz="1200" dirty="0"/>
          </a:p>
        </p:txBody>
      </p:sp>
      <p:sp>
        <p:nvSpPr>
          <p:cNvPr id="40" name="Shape 38"/>
          <p:cNvSpPr/>
          <p:nvPr/>
        </p:nvSpPr>
        <p:spPr>
          <a:xfrm>
            <a:off x="5074890" y="3619351"/>
            <a:ext cx="2042170" cy="848320"/>
          </a:xfrm>
          <a:prstGeom prst="rect">
            <a:avLst/>
          </a:prstGeom>
          <a:solidFill>
            <a:srgbClr val="BCACA7"/>
          </a:solidFill>
          <a:ln/>
        </p:spPr>
        <p:txBody>
          <a:bodyPr/>
          <a:p/>
        </p:txBody>
      </p:sp>
      <p:sp>
        <p:nvSpPr>
          <p:cNvPr id="41" name="Text 39"/>
          <p:cNvSpPr/>
          <p:nvPr/>
        </p:nvSpPr>
        <p:spPr>
          <a:xfrm>
            <a:off x="5189190" y="3720951"/>
            <a:ext cx="18679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
        <p:nvSpPr>
          <p:cNvPr id="42" name="Text 40"/>
          <p:cNvSpPr/>
          <p:nvPr/>
        </p:nvSpPr>
        <p:spPr>
          <a:xfrm>
            <a:off x="5189190" y="3959671"/>
            <a:ext cx="18679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release</a:t>
            </a:r>
            <a:endParaRPr lang="en-US" sz="1200" dirty="0"/>
          </a:p>
        </p:txBody>
      </p:sp>
      <p:sp>
        <p:nvSpPr>
          <p:cNvPr id="43" name="Shape 41"/>
          <p:cNvSpPr/>
          <p:nvPr/>
        </p:nvSpPr>
        <p:spPr>
          <a:xfrm>
            <a:off x="7212310" y="3625701"/>
            <a:ext cx="2029470" cy="835620"/>
          </a:xfrm>
          <a:prstGeom prst="rect">
            <a:avLst/>
          </a:prstGeom>
          <a:noFill/>
          <a:ln w="12700">
            <a:solidFill>
              <a:srgbClr val="BCACA7"/>
            </a:solidFill>
            <a:prstDash val="solid"/>
          </a:ln>
        </p:spPr>
        <p:txBody>
          <a:bodyPr/>
          <a:p/>
        </p:txBody>
      </p:sp>
      <p:sp>
        <p:nvSpPr>
          <p:cNvPr id="44" name="Text 42"/>
          <p:cNvSpPr/>
          <p:nvPr/>
        </p:nvSpPr>
        <p:spPr>
          <a:xfrm>
            <a:off x="733296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
        <p:nvSpPr>
          <p:cNvPr id="45" name="Text 43"/>
          <p:cNvSpPr/>
          <p:nvPr/>
        </p:nvSpPr>
        <p:spPr>
          <a:xfrm>
            <a:off x="7332960" y="397237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Batch or job record archived</a:t>
            </a:r>
            <a:endParaRPr lang="en-US" sz="1200" dirty="0"/>
          </a:p>
        </p:txBody>
      </p:sp>
      <p:sp>
        <p:nvSpPr>
          <p:cNvPr id="46" name="Text 44"/>
          <p:cNvSpPr/>
          <p:nvPr/>
        </p:nvSpPr>
        <p:spPr>
          <a:xfrm>
            <a:off x="812800" y="4645471"/>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production may bypass the sequence unless formally approved in writing. Corrections at step 11 return the job to step 5.</a:t>
            </a:r>
            <a:endParaRPr lang="en-US" sz="1300" dirty="0"/>
          </a:p>
        </p:txBody>
      </p:sp>
      <p:sp>
        <p:nvSpPr>
          <p:cNvPr id="47"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84860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IDENTITY</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Master artwork, colour, type and Arabic, as production controls.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06 · MASTER ARTWORK REGISTER</a:t>
            </a:r>
            <a:endParaRPr lang="en-US" sz="1196" dirty="0"/>
          </a:p>
        </p:txBody>
      </p:sp>
      <p:sp>
        <p:nvSpPr>
          <p:cNvPr id="3" name="Text 1"/>
          <p:cNvSpPr/>
          <p:nvPr>
            <p:ph type="title"/>
          </p:nvPr>
        </p:nvSpPr>
        <p:spPr>
          <a:xfrm>
            <a:off x="812800" y="1148110"/>
            <a:ext cx="10883392" cy="352822"/>
          </a:xfrm>
          <a:prstGeom prst="rect">
            <a:avLst/>
          </a:prstGeom>
          <a:noFill/>
          <a:ln/>
        </p:spPr>
        <p:txBody>
          <a:bodyPr wrap="square" lIns="0" tIns="0" rIns="0" bIns="0" rtlCol="0" anchor="t">
            <a:normAutofit/>
          </a:bodyPr>
          <a:lstStyle/>
          <a:p>
            <a:pPr algn="l" indent="0" marL="0">
              <a:lnSpc>
                <a:spcPts val="2624"/>
              </a:lnSpc>
              <a:buNone/>
            </a:pPr>
            <a:r>
              <a:rPr lang="en-US" sz="2385" b="0" i="0" spc="50" kern="0" dirty="0">
                <a:solidFill>
                  <a:srgbClr val="12171D"/>
                </a:solidFill>
                <a:latin typeface="Jost" pitchFamily="34" charset="0"/>
                <a:ea typeface="Jost" pitchFamily="34" charset="-122"/>
                <a:cs typeface="Jost" pitchFamily="34" charset="-120"/>
              </a:rPr>
              <a:t>Required masters: SVG, PDF, EPS if the workflow needs it.</a:t>
            </a:r>
            <a:endParaRPr lang="en-US" sz="23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5232"/>
          <a:ext cx="10553700" cy="3898850"/>
        </p:xfrm>
        <a:graphic>
          <a:graphicData uri="http://schemas.openxmlformats.org/drawingml/2006/table">
            <a:tbl>
              <a:tblPr/>
              <a:tblGrid>
                <a:gridCol w="3799332"/>
                <a:gridCol w="2743962"/>
                <a:gridCol w="4010406"/>
              </a:tblGrid>
              <a:tr h="324892">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Asset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On file today</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Vector master</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Primary horizontal signature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Monochrome (Black)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Reversed (White)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Black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Beige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White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Stacked configuration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Micro / no-spark mark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Fabrication version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[REQUIRES SUPPLIER]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Embroidery version, if needed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[PROJECT-SPECIFIC]</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Favicon / app assets, if relevant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Icon set supplied (kit)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577840"/>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Vector kit supplied: SVG, PDF, EPS, PNG (see Part B). Controlled names follow X12 at first manifest (VAL-16); files are renamed, never redrawn. Acceptance as production master PENDING (VAL-02).</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07 · ARTWORK SOURCE AND PROVENANCE</a:t>
            </a:r>
            <a:endParaRPr lang="en-US" sz="1200" dirty="0"/>
          </a:p>
        </p:txBody>
      </p:sp>
      <p:sp>
        <p:nvSpPr>
          <p:cNvPr id="3" name="Text 1"/>
          <p:cNvSpPr/>
          <p:nvPr>
            <p:ph type="title"/>
          </p:nvPr>
        </p:nvSpPr>
        <p:spPr>
          <a:xfrm>
            <a:off x="812800" y="1391841"/>
            <a:ext cx="405511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One geometry source. Every master on record.</a:t>
            </a:r>
            <a:endParaRPr lang="en-US" sz="2800" dirty="0"/>
          </a:p>
        </p:txBody>
      </p:sp>
      <p:sp>
        <p:nvSpPr>
          <p:cNvPr id="4" name="Shape 2"/>
          <p:cNvSpPr/>
          <p:nvPr/>
        </p:nvSpPr>
        <p:spPr>
          <a:xfrm>
            <a:off x="812800" y="5103515"/>
            <a:ext cx="3937000" cy="0"/>
          </a:xfrm>
          <a:prstGeom prst="line">
            <a:avLst/>
          </a:prstGeom>
          <a:noFill/>
          <a:ln w="6350">
            <a:solidFill>
              <a:srgbClr val="BCACA7"/>
            </a:solidFill>
            <a:prstDash val="solid"/>
          </a:ln>
        </p:spPr>
        <p:txBody>
          <a:bodyPr/>
          <a:p/>
        </p:txBody>
      </p:sp>
      <p:sp>
        <p:nvSpPr>
          <p:cNvPr id="5" name="Text 3"/>
          <p:cNvSpPr/>
          <p:nvPr/>
        </p:nvSpPr>
        <p:spPr>
          <a:xfrm>
            <a:off x="812800" y="519559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One authoritative geometry source.</a:t>
            </a:r>
            <a:endParaRPr lang="en-US" sz="1300" dirty="0"/>
          </a:p>
        </p:txBody>
      </p:sp>
      <p:sp>
        <p:nvSpPr>
          <p:cNvPr id="6" name="Shape 4"/>
          <p:cNvSpPr/>
          <p:nvPr/>
        </p:nvSpPr>
        <p:spPr>
          <a:xfrm>
            <a:off x="812800" y="5518795"/>
            <a:ext cx="3937000" cy="0"/>
          </a:xfrm>
          <a:prstGeom prst="line">
            <a:avLst/>
          </a:prstGeom>
          <a:noFill/>
          <a:ln w="6350">
            <a:solidFill>
              <a:srgbClr val="BCACA7"/>
            </a:solidFill>
            <a:prstDash val="solid"/>
          </a:ln>
        </p:spPr>
        <p:txBody>
          <a:bodyPr/>
          <a:p/>
        </p:txBody>
      </p:sp>
      <p:sp>
        <p:nvSpPr>
          <p:cNvPr id="7" name="Text 5"/>
          <p:cNvSpPr/>
          <p:nvPr/>
        </p:nvSpPr>
        <p:spPr>
          <a:xfrm>
            <a:off x="812800" y="561087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tracing from raster references.</a:t>
            </a:r>
            <a:endParaRPr lang="en-US" sz="1300" dirty="0"/>
          </a:p>
        </p:txBody>
      </p:sp>
      <p:sp>
        <p:nvSpPr>
          <p:cNvPr id="8" name="Text 6"/>
          <p:cNvSpPr/>
          <p:nvPr/>
        </p:nvSpPr>
        <p:spPr>
          <a:xfrm>
            <a:off x="5257800" y="1499939"/>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EACH MASTER RECORDS</a:t>
            </a:r>
            <a:endParaRPr lang="en-US" sz="1200" dirty="0"/>
          </a:p>
        </p:txBody>
      </p:sp>
      <p:sp>
        <p:nvSpPr>
          <p:cNvPr id="9" name="Text 7"/>
          <p:cNvSpPr/>
          <p:nvPr/>
        </p:nvSpPr>
        <p:spPr>
          <a:xfrm>
            <a:off x="526415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ID</a:t>
            </a:r>
            <a:endParaRPr lang="en-US" sz="1300" dirty="0"/>
          </a:p>
        </p:txBody>
      </p:sp>
      <p:sp>
        <p:nvSpPr>
          <p:cNvPr id="10" name="Text 8"/>
          <p:cNvSpPr/>
          <p:nvPr/>
        </p:nvSpPr>
        <p:spPr>
          <a:xfrm>
            <a:off x="836930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name</a:t>
            </a:r>
            <a:endParaRPr lang="en-US" sz="1300" dirty="0"/>
          </a:p>
        </p:txBody>
      </p:sp>
      <p:sp>
        <p:nvSpPr>
          <p:cNvPr id="11" name="Text 9"/>
          <p:cNvSpPr/>
          <p:nvPr/>
        </p:nvSpPr>
        <p:spPr>
          <a:xfrm>
            <a:off x="526415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Version</a:t>
            </a:r>
            <a:endParaRPr lang="en-US" sz="1300" dirty="0"/>
          </a:p>
        </p:txBody>
      </p:sp>
      <p:sp>
        <p:nvSpPr>
          <p:cNvPr id="12" name="Text 10"/>
          <p:cNvSpPr/>
          <p:nvPr/>
        </p:nvSpPr>
        <p:spPr>
          <a:xfrm>
            <a:off x="836930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Owner</a:t>
            </a:r>
            <a:endParaRPr lang="en-US" sz="1300" dirty="0"/>
          </a:p>
        </p:txBody>
      </p:sp>
      <p:sp>
        <p:nvSpPr>
          <p:cNvPr id="13" name="Text 11"/>
          <p:cNvSpPr/>
          <p:nvPr/>
        </p:nvSpPr>
        <p:spPr>
          <a:xfrm>
            <a:off x="526415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Approval date</a:t>
            </a:r>
            <a:endParaRPr lang="en-US" sz="1300" dirty="0"/>
          </a:p>
        </p:txBody>
      </p:sp>
      <p:sp>
        <p:nvSpPr>
          <p:cNvPr id="14" name="Text 12"/>
          <p:cNvSpPr/>
          <p:nvPr/>
        </p:nvSpPr>
        <p:spPr>
          <a:xfrm>
            <a:off x="836930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Source file</a:t>
            </a:r>
            <a:endParaRPr lang="en-US" sz="1300" dirty="0"/>
          </a:p>
        </p:txBody>
      </p:sp>
      <p:sp>
        <p:nvSpPr>
          <p:cNvPr id="15" name="Text 13"/>
          <p:cNvSpPr/>
          <p:nvPr/>
        </p:nvSpPr>
        <p:spPr>
          <a:xfrm>
            <a:off x="526415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 checksum</a:t>
            </a:r>
            <a:endParaRPr lang="en-US" sz="1300" dirty="0"/>
          </a:p>
        </p:txBody>
      </p:sp>
      <p:sp>
        <p:nvSpPr>
          <p:cNvPr id="16" name="Text 14"/>
          <p:cNvSpPr/>
          <p:nvPr/>
        </p:nvSpPr>
        <p:spPr>
          <a:xfrm>
            <a:off x="836930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Colour mode</a:t>
            </a:r>
            <a:endParaRPr lang="en-US" sz="1300" dirty="0"/>
          </a:p>
        </p:txBody>
      </p:sp>
      <p:sp>
        <p:nvSpPr>
          <p:cNvPr id="17" name="Text 15"/>
          <p:cNvSpPr/>
          <p:nvPr/>
        </p:nvSpPr>
        <p:spPr>
          <a:xfrm>
            <a:off x="526415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Intended use</a:t>
            </a:r>
            <a:endParaRPr lang="en-US" sz="1300" dirty="0"/>
          </a:p>
        </p:txBody>
      </p:sp>
      <p:sp>
        <p:nvSpPr>
          <p:cNvPr id="18" name="Text 16"/>
          <p:cNvSpPr/>
          <p:nvPr/>
        </p:nvSpPr>
        <p:spPr>
          <a:xfrm>
            <a:off x="836930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Superseded version</a:t>
            </a:r>
            <a:endParaRPr lang="en-US" sz="1300" dirty="0"/>
          </a:p>
        </p:txBody>
      </p:sp>
      <p:sp>
        <p:nvSpPr>
          <p:cNvPr id="19" name="Text 17"/>
          <p:cNvSpPr/>
          <p:nvPr/>
        </p:nvSpPr>
        <p:spPr>
          <a:xfrm>
            <a:off x="5264150" y="442466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 status</a:t>
            </a:r>
            <a:endParaRPr lang="en-US" sz="1300" dirty="0"/>
          </a:p>
        </p:txBody>
      </p:sp>
      <p:sp>
        <p:nvSpPr>
          <p:cNvPr id="20" name="Text 18"/>
          <p:cNvSpPr/>
          <p:nvPr/>
        </p:nvSpPr>
        <p:spPr>
          <a:xfrm>
            <a:off x="5257800" y="4941540"/>
            <a:ext cx="693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Unknown values stay [PENDING]. The full record is the asset manifest, appendix N.</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IDENTITY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08 · LOGO REPRODUCTION LIMITS</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Minimum line weights: [TO BE VERIFIED BY PROCESS TEST].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659485"/>
        </p:xfrm>
        <a:graphic>
          <a:graphicData uri="http://schemas.openxmlformats.org/drawingml/2006/table">
            <a:tbl>
              <a:tblPr/>
              <a:tblGrid>
                <a:gridCol w="3377184"/>
                <a:gridCol w="7176516"/>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 required before use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Offset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Press proof of the logo at final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at final size on the job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Screen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Test print with fine-line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Laser marking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Embroidery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Stitched sample from a controlled 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Deboss and emboss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Tooling trial and 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Die-cut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Cut test on the approved die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Signage fabrication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fabricated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Small-format labels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proof at the smallest planned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414566"/>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line weight, gap or feature size is stated until process samples exist.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09 · CLEARSPACE AND MINIMUM SIZE</a:t>
            </a:r>
            <a:endParaRPr lang="en-US" sz="1200" dirty="0"/>
          </a:p>
        </p:txBody>
      </p:sp>
      <p:sp>
        <p:nvSpPr>
          <p:cNvPr id="3" name="Shape 1"/>
          <p:cNvSpPr/>
          <p:nvPr/>
        </p:nvSpPr>
        <p:spPr>
          <a:xfrm>
            <a:off x="822325" y="1188045"/>
            <a:ext cx="3702050" cy="1879600"/>
          </a:xfrm>
          <a:prstGeom prst="rect">
            <a:avLst/>
          </a:prstGeom>
          <a:noFill/>
          <a:ln w="19050">
            <a:solidFill>
              <a:srgbClr val="12171D"/>
            </a:solidFill>
            <a:prstDash val="dash"/>
          </a:ln>
        </p:spPr>
        <p:txBody>
          <a:bodyPr/>
          <a:p/>
        </p:txBody>
      </p:sp>
      <p:pic>
        <p:nvPicPr>
          <p:cNvPr id="4" name="Image 0" descr="Primary signature inside the dashed one-u clearspace boundary, schematic only." title="Primary signature inside the dashed one-u clearspace boundar">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339850" y="1705570"/>
            <a:ext cx="2667000" cy="844550"/>
          </a:xfrm>
          <a:prstGeom prst="rect">
            <a:avLst/>
          </a:prstGeom>
        </p:spPr>
      </p:pic>
      <p:sp>
        <p:nvSpPr>
          <p:cNvPr id="5" name="Text 2"/>
          <p:cNvSpPr/>
          <p:nvPr/>
        </p:nvSpPr>
        <p:spPr>
          <a:xfrm>
            <a:off x="812800" y="322957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only: the dashed boundary is 1u on every side.</a:t>
            </a:r>
            <a:endParaRPr lang="en-US" sz="1200" dirty="0"/>
          </a:p>
        </p:txBody>
      </p:sp>
      <p:sp>
        <p:nvSpPr>
          <p:cNvPr id="6" name="Text 3"/>
          <p:cNvSpPr/>
          <p:nvPr/>
        </p:nvSpPr>
        <p:spPr>
          <a:xfrm>
            <a:off x="6146800" y="1795264"/>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CARRIED FROM PART A · APPROVED</a:t>
            </a:r>
            <a:endParaRPr lang="en-US" sz="1200" dirty="0"/>
          </a:p>
        </p:txBody>
      </p:sp>
      <p:sp>
        <p:nvSpPr>
          <p:cNvPr id="7" name="Shape 4"/>
          <p:cNvSpPr/>
          <p:nvPr/>
        </p:nvSpPr>
        <p:spPr>
          <a:xfrm>
            <a:off x="6146800" y="2138759"/>
            <a:ext cx="5232400" cy="0"/>
          </a:xfrm>
          <a:prstGeom prst="line">
            <a:avLst/>
          </a:prstGeom>
          <a:noFill/>
          <a:ln w="6350">
            <a:solidFill>
              <a:srgbClr val="BCACA7"/>
            </a:solidFill>
            <a:prstDash val="solid"/>
          </a:ln>
        </p:spPr>
        <p:txBody>
          <a:bodyPr/>
          <a:p/>
        </p:txBody>
      </p:sp>
      <p:sp>
        <p:nvSpPr>
          <p:cNvPr id="8" name="Text 5"/>
          <p:cNvSpPr/>
          <p:nvPr/>
        </p:nvSpPr>
        <p:spPr>
          <a:xfrm>
            <a:off x="6146800" y="2218134"/>
            <a:ext cx="53893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u = the G-ring radius. 1u minimum, 2u preferred.</a:t>
            </a:r>
            <a:endParaRPr lang="en-US" sz="1400" dirty="0"/>
          </a:p>
        </p:txBody>
      </p:sp>
      <p:sp>
        <p:nvSpPr>
          <p:cNvPr id="9" name="Shape 6"/>
          <p:cNvSpPr/>
          <p:nvPr/>
        </p:nvSpPr>
        <p:spPr>
          <a:xfrm>
            <a:off x="6146800" y="2597200"/>
            <a:ext cx="5232400" cy="0"/>
          </a:xfrm>
          <a:prstGeom prst="line">
            <a:avLst/>
          </a:prstGeom>
          <a:noFill/>
          <a:ln w="6350">
            <a:solidFill>
              <a:srgbClr val="BCACA7"/>
            </a:solidFill>
            <a:prstDash val="solid"/>
          </a:ln>
        </p:spPr>
        <p:txBody>
          <a:bodyPr/>
          <a:p/>
        </p:txBody>
      </p:sp>
      <p:sp>
        <p:nvSpPr>
          <p:cNvPr id="10" name="Text 7"/>
          <p:cNvSpPr/>
          <p:nvPr/>
        </p:nvSpPr>
        <p:spPr>
          <a:xfrm>
            <a:off x="6146800" y="267657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Digital: lockup 120px, symbol 32px. Below 32px use the micro / no-spark mark.</a:t>
            </a:r>
            <a:endParaRPr lang="en-US" sz="1400" dirty="0"/>
          </a:p>
        </p:txBody>
      </p:sp>
      <p:sp>
        <p:nvSpPr>
          <p:cNvPr id="11" name="Text 8"/>
          <p:cNvSpPr/>
          <p:nvPr/>
        </p:nvSpPr>
        <p:spPr>
          <a:xfrm>
            <a:off x="6146800" y="3377555"/>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PHYSICAL SIZES</a:t>
            </a:r>
            <a:endParaRPr lang="en-US" sz="1200" dirty="0"/>
          </a:p>
        </p:txBody>
      </p:sp>
      <p:sp>
        <p:nvSpPr>
          <p:cNvPr id="12" name="Shape 9"/>
          <p:cNvSpPr/>
          <p:nvPr/>
        </p:nvSpPr>
        <p:spPr>
          <a:xfrm>
            <a:off x="6146800" y="3721050"/>
            <a:ext cx="5232400" cy="0"/>
          </a:xfrm>
          <a:prstGeom prst="line">
            <a:avLst/>
          </a:prstGeom>
          <a:noFill/>
          <a:ln w="6350">
            <a:solidFill>
              <a:srgbClr val="BCACA7"/>
            </a:solidFill>
            <a:prstDash val="solid"/>
          </a:ln>
        </p:spPr>
        <p:txBody>
          <a:bodyPr/>
          <a:p/>
        </p:txBody>
      </p:sp>
      <p:sp>
        <p:nvSpPr>
          <p:cNvPr id="13" name="Text 10"/>
          <p:cNvSpPr/>
          <p:nvPr/>
        </p:nvSpPr>
        <p:spPr>
          <a:xfrm>
            <a:off x="6146800" y="380042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Physical minimum sizes: [TO BE VERIFIED BY PROCESS TEST]. Pixels are never converted to millimetres.</a:t>
            </a:r>
            <a:endParaRPr lang="en-US" sz="1400" dirty="0"/>
          </a:p>
        </p:txBody>
      </p:sp>
      <p:sp>
        <p:nvSpPr>
          <p:cNvPr id="14" name="Text 11"/>
          <p:cNvSpPr/>
          <p:nvPr/>
        </p:nvSpPr>
        <p:spPr>
          <a:xfrm>
            <a:off x="6153150" y="4431556"/>
            <a:ext cx="5219700" cy="421630"/>
          </a:xfrm>
          <a:prstGeom prst="rect">
            <a:avLst/>
          </a:prstGeom>
          <a:noFill/>
          <a:ln w="12700">
            <a:solidFill>
              <a:srgbClr val="12171D"/>
            </a:solidFill>
            <a:prstDash val="dash"/>
          </a:ln>
        </p:spPr>
        <p:txBody>
          <a:bodyPr wrap="square" lIns="120650" tIns="95250" rIns="0" bIns="698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No-spark symbol: supplied in kit · ACCEPTANCE PENDING</a:t>
            </a:r>
            <a:endParaRPr lang="en-US" sz="13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16"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10 · MASTER COLOUR SPECIFICATION</a:t>
            </a:r>
            <a:endParaRPr lang="en-US" sz="1200" dirty="0"/>
          </a:p>
        </p:txBody>
      </p:sp>
      <p:sp>
        <p:nvSpPr>
          <p:cNvPr id="3" name="Text 1"/>
          <p:cNvSpPr/>
          <p:nvPr>
            <p:ph type="title"/>
          </p:nvPr>
        </p:nvSpPr>
        <p:spPr>
          <a:xfrm>
            <a:off x="812800" y="1178520"/>
            <a:ext cx="11379200"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HEX values are digital references. Physical values are not yet validated.</a:t>
            </a:r>
            <a:endParaRPr lang="en-US" sz="2600" dirty="0"/>
          </a:p>
        </p:txBody>
      </p:sp>
      <p:sp>
        <p:nvSpPr>
          <p:cNvPr id="4" name="Shape 2"/>
          <p:cNvSpPr/>
          <p:nvPr/>
        </p:nvSpPr>
        <p:spPr>
          <a:xfrm>
            <a:off x="812800" y="1694111"/>
            <a:ext cx="2546350" cy="1079500"/>
          </a:xfrm>
          <a:prstGeom prst="rect">
            <a:avLst/>
          </a:prstGeom>
          <a:solidFill>
            <a:srgbClr val="12171D"/>
          </a:solidFill>
          <a:ln/>
        </p:spPr>
        <p:txBody>
          <a:bodyPr/>
          <a:p/>
        </p:txBody>
      </p:sp>
      <p:sp>
        <p:nvSpPr>
          <p:cNvPr id="5" name="Text 3"/>
          <p:cNvSpPr/>
          <p:nvPr/>
        </p:nvSpPr>
        <p:spPr>
          <a:xfrm>
            <a:off x="8128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INK</a:t>
            </a:r>
            <a:endParaRPr lang="en-US" sz="1800" dirty="0"/>
          </a:p>
        </p:txBody>
      </p:sp>
      <p:sp>
        <p:nvSpPr>
          <p:cNvPr id="6" name="Text 4"/>
          <p:cNvSpPr/>
          <p:nvPr/>
        </p:nvSpPr>
        <p:spPr>
          <a:xfrm>
            <a:off x="8128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#12171D</a:t>
            </a:r>
            <a:endParaRPr lang="en-US" sz="1200" dirty="0"/>
          </a:p>
        </p:txBody>
      </p:sp>
      <p:sp>
        <p:nvSpPr>
          <p:cNvPr id="7" name="Text 5"/>
          <p:cNvSpPr/>
          <p:nvPr/>
        </p:nvSpPr>
        <p:spPr>
          <a:xfrm>
            <a:off x="81280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dark brand field and default text colour.</a:t>
            </a:r>
            <a:endParaRPr lang="en-US" sz="1200" dirty="0"/>
          </a:p>
        </p:txBody>
      </p:sp>
      <p:sp>
        <p:nvSpPr>
          <p:cNvPr id="8" name="Text 6"/>
          <p:cNvSpPr/>
          <p:nvPr/>
        </p:nvSpPr>
        <p:spPr>
          <a:xfrm>
            <a:off x="81280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9" name="Text 7"/>
          <p:cNvSpPr/>
          <p:nvPr/>
        </p:nvSpPr>
        <p:spPr>
          <a:xfrm>
            <a:off x="81280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0" name="Shape 8"/>
          <p:cNvSpPr/>
          <p:nvPr/>
        </p:nvSpPr>
        <p:spPr>
          <a:xfrm>
            <a:off x="3486150" y="1694111"/>
            <a:ext cx="2546350" cy="1079500"/>
          </a:xfrm>
          <a:prstGeom prst="rect">
            <a:avLst/>
          </a:prstGeom>
          <a:solidFill>
            <a:srgbClr val="BCACA7"/>
          </a:solidFill>
          <a:ln/>
        </p:spPr>
        <p:txBody>
          <a:bodyPr/>
          <a:p/>
        </p:txBody>
      </p:sp>
      <p:sp>
        <p:nvSpPr>
          <p:cNvPr id="11" name="Text 9"/>
          <p:cNvSpPr/>
          <p:nvPr/>
        </p:nvSpPr>
        <p:spPr>
          <a:xfrm>
            <a:off x="34861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BEIGE</a:t>
            </a:r>
            <a:endParaRPr lang="en-US" sz="1800" dirty="0"/>
          </a:p>
        </p:txBody>
      </p:sp>
      <p:sp>
        <p:nvSpPr>
          <p:cNvPr id="12" name="Text 10"/>
          <p:cNvSpPr/>
          <p:nvPr/>
        </p:nvSpPr>
        <p:spPr>
          <a:xfrm>
            <a:off x="34861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3" name="Text 11"/>
          <p:cNvSpPr/>
          <p:nvPr/>
        </p:nvSpPr>
        <p:spPr>
          <a:xfrm>
            <a:off x="34861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Warm-neutral counterpart to Ink. Not for essential text on White.</a:t>
            </a:r>
            <a:endParaRPr lang="en-US" sz="1200" dirty="0"/>
          </a:p>
        </p:txBody>
      </p:sp>
      <p:sp>
        <p:nvSpPr>
          <p:cNvPr id="14" name="Text 12"/>
          <p:cNvSpPr/>
          <p:nvPr/>
        </p:nvSpPr>
        <p:spPr>
          <a:xfrm>
            <a:off x="34861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15" name="Text 13"/>
          <p:cNvSpPr/>
          <p:nvPr/>
        </p:nvSpPr>
        <p:spPr>
          <a:xfrm>
            <a:off x="34861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6" name="Shape 14"/>
          <p:cNvSpPr/>
          <p:nvPr/>
        </p:nvSpPr>
        <p:spPr>
          <a:xfrm>
            <a:off x="6159500" y="1694111"/>
            <a:ext cx="2546350" cy="1079500"/>
          </a:xfrm>
          <a:prstGeom prst="rect">
            <a:avLst/>
          </a:prstGeom>
          <a:solidFill>
            <a:srgbClr val="020202"/>
          </a:solidFill>
          <a:ln/>
        </p:spPr>
        <p:txBody>
          <a:bodyPr/>
          <a:p/>
        </p:txBody>
      </p:sp>
      <p:sp>
        <p:nvSpPr>
          <p:cNvPr id="17" name="Text 15"/>
          <p:cNvSpPr/>
          <p:nvPr/>
        </p:nvSpPr>
        <p:spPr>
          <a:xfrm>
            <a:off x="61595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BLACK</a:t>
            </a:r>
            <a:endParaRPr lang="en-US" sz="1800" dirty="0"/>
          </a:p>
        </p:txBody>
      </p:sp>
      <p:sp>
        <p:nvSpPr>
          <p:cNvPr id="18" name="Text 16"/>
          <p:cNvSpPr/>
          <p:nvPr/>
        </p:nvSpPr>
        <p:spPr>
          <a:xfrm>
            <a:off x="61595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#020202</a:t>
            </a:r>
            <a:endParaRPr lang="en-US" sz="1200" dirty="0"/>
          </a:p>
        </p:txBody>
      </p:sp>
      <p:sp>
        <p:nvSpPr>
          <p:cNvPr id="19" name="Text 17"/>
          <p:cNvSpPr/>
          <p:nvPr/>
        </p:nvSpPr>
        <p:spPr>
          <a:xfrm>
            <a:off x="6159500" y="3497461"/>
            <a:ext cx="262274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Monochrome and one-colour production, approved functional states.</a:t>
            </a:r>
            <a:endParaRPr lang="en-US" sz="1200" dirty="0"/>
          </a:p>
        </p:txBody>
      </p:sp>
      <p:sp>
        <p:nvSpPr>
          <p:cNvPr id="20" name="Text 18"/>
          <p:cNvSpPr/>
          <p:nvPr/>
        </p:nvSpPr>
        <p:spPr>
          <a:xfrm>
            <a:off x="6159500" y="417815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1" name="Text 19"/>
          <p:cNvSpPr/>
          <p:nvPr/>
        </p:nvSpPr>
        <p:spPr>
          <a:xfrm>
            <a:off x="6159500" y="444738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2" name="Shape 20"/>
          <p:cNvSpPr/>
          <p:nvPr/>
        </p:nvSpPr>
        <p:spPr>
          <a:xfrm>
            <a:off x="8839200" y="1700461"/>
            <a:ext cx="2533650" cy="1066800"/>
          </a:xfrm>
          <a:prstGeom prst="rect">
            <a:avLst/>
          </a:prstGeom>
          <a:solidFill>
            <a:srgbClr val="FFFFFF"/>
          </a:solidFill>
          <a:ln w="12700">
            <a:solidFill>
              <a:srgbClr val="12171D"/>
            </a:solidFill>
            <a:prstDash val="solid"/>
          </a:ln>
        </p:spPr>
        <p:txBody>
          <a:bodyPr/>
          <a:p/>
        </p:txBody>
      </p:sp>
      <p:sp>
        <p:nvSpPr>
          <p:cNvPr id="23" name="Text 21"/>
          <p:cNvSpPr/>
          <p:nvPr/>
        </p:nvSpPr>
        <p:spPr>
          <a:xfrm>
            <a:off x="88328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WHITE</a:t>
            </a:r>
            <a:endParaRPr lang="en-US" sz="1800" dirty="0"/>
          </a:p>
        </p:txBody>
      </p:sp>
      <p:sp>
        <p:nvSpPr>
          <p:cNvPr id="24" name="Text 22"/>
          <p:cNvSpPr/>
          <p:nvPr/>
        </p:nvSpPr>
        <p:spPr>
          <a:xfrm>
            <a:off x="88328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5" name="Text 23"/>
          <p:cNvSpPr/>
          <p:nvPr/>
        </p:nvSpPr>
        <p:spPr>
          <a:xfrm>
            <a:off x="88328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light canvas and inverse text colour.</a:t>
            </a:r>
            <a:endParaRPr lang="en-US" sz="1200" dirty="0"/>
          </a:p>
        </p:txBody>
      </p:sp>
      <p:sp>
        <p:nvSpPr>
          <p:cNvPr id="26" name="Text 24"/>
          <p:cNvSpPr/>
          <p:nvPr/>
        </p:nvSpPr>
        <p:spPr>
          <a:xfrm>
            <a:off x="88328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7" name="Text 25"/>
          <p:cNvSpPr/>
          <p:nvPr/>
        </p:nvSpPr>
        <p:spPr>
          <a:xfrm>
            <a:off x="88328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8" name="Text 26"/>
          <p:cNvSpPr/>
          <p:nvPr/>
        </p:nvSpPr>
        <p:spPr>
          <a:xfrm>
            <a:off x="812800" y="5636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Pantone or CMYK value is stated until validated by a process proof.</a:t>
            </a:r>
            <a:endParaRPr lang="en-US" sz="12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11 · COLOUR CONVERSION AND PROOFING</a:t>
            </a:r>
            <a:endParaRPr lang="en-US" sz="1200" dirty="0"/>
          </a:p>
        </p:txBody>
      </p:sp>
      <p:sp>
        <p:nvSpPr>
          <p:cNvPr id="3" name="Text 1"/>
          <p:cNvSpPr/>
          <p:nvPr>
            <p:ph type="title"/>
          </p:nvPr>
        </p:nvSpPr>
        <p:spPr>
          <a:xfrm>
            <a:off x="812800" y="1229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Each process earns its own value.</a:t>
            </a:r>
            <a:endParaRPr lang="en-US" sz="2600" dirty="0"/>
          </a:p>
        </p:txBody>
      </p:sp>
      <p:sp>
        <p:nvSpPr>
          <p:cNvPr id="4" name="Shape 2"/>
          <p:cNvSpPr/>
          <p:nvPr/>
        </p:nvSpPr>
        <p:spPr>
          <a:xfrm>
            <a:off x="819150" y="1802061"/>
            <a:ext cx="1678484" cy="1136551"/>
          </a:xfrm>
          <a:prstGeom prst="rect">
            <a:avLst/>
          </a:prstGeom>
          <a:noFill/>
          <a:ln w="12700">
            <a:solidFill>
              <a:srgbClr val="BCACA7"/>
            </a:solidFill>
            <a:prstDash val="solid"/>
          </a:ln>
        </p:spPr>
        <p:txBody>
          <a:bodyPr/>
          <a:p/>
        </p:txBody>
      </p:sp>
      <p:sp>
        <p:nvSpPr>
          <p:cNvPr id="5" name="Text 3"/>
          <p:cNvSpPr/>
          <p:nvPr/>
        </p:nvSpPr>
        <p:spPr>
          <a:xfrm>
            <a:off x="939800"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39800" y="2174131"/>
            <a:ext cx="14879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Select the process</a:t>
            </a:r>
            <a:endParaRPr lang="en-US" sz="1300" dirty="0"/>
          </a:p>
        </p:txBody>
      </p:sp>
      <p:sp>
        <p:nvSpPr>
          <p:cNvPr id="7" name="Shape 5"/>
          <p:cNvSpPr/>
          <p:nvPr/>
        </p:nvSpPr>
        <p:spPr>
          <a:xfrm>
            <a:off x="2599234" y="1802061"/>
            <a:ext cx="1678533" cy="1136551"/>
          </a:xfrm>
          <a:prstGeom prst="rect">
            <a:avLst/>
          </a:prstGeom>
          <a:noFill/>
          <a:ln w="12700">
            <a:solidFill>
              <a:srgbClr val="BCACA7"/>
            </a:solidFill>
            <a:prstDash val="solid"/>
          </a:ln>
        </p:spPr>
        <p:txBody>
          <a:bodyPr/>
          <a:p/>
        </p:txBody>
      </p:sp>
      <p:sp>
        <p:nvSpPr>
          <p:cNvPr id="8" name="Text 6"/>
          <p:cNvSpPr/>
          <p:nvPr/>
        </p:nvSpPr>
        <p:spPr>
          <a:xfrm>
            <a:off x="271988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2719884"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Generate a controlled conversion</a:t>
            </a:r>
            <a:endParaRPr lang="en-US" sz="1300" dirty="0"/>
          </a:p>
        </p:txBody>
      </p:sp>
      <p:sp>
        <p:nvSpPr>
          <p:cNvPr id="10" name="Shape 8"/>
          <p:cNvSpPr/>
          <p:nvPr/>
        </p:nvSpPr>
        <p:spPr>
          <a:xfrm>
            <a:off x="4379367" y="1802061"/>
            <a:ext cx="1678484" cy="1136551"/>
          </a:xfrm>
          <a:prstGeom prst="rect">
            <a:avLst/>
          </a:prstGeom>
          <a:noFill/>
          <a:ln w="12700">
            <a:solidFill>
              <a:srgbClr val="BCACA7"/>
            </a:solidFill>
            <a:prstDash val="solid"/>
          </a:ln>
        </p:spPr>
        <p:txBody>
          <a:bodyPr/>
          <a:p/>
        </p:txBody>
      </p:sp>
      <p:sp>
        <p:nvSpPr>
          <p:cNvPr id="11" name="Text 9"/>
          <p:cNvSpPr/>
          <p:nvPr/>
        </p:nvSpPr>
        <p:spPr>
          <a:xfrm>
            <a:off x="4500017"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3</a:t>
            </a:r>
            <a:endParaRPr lang="en-US" sz="1200" dirty="0"/>
          </a:p>
        </p:txBody>
      </p:sp>
      <p:sp>
        <p:nvSpPr>
          <p:cNvPr id="12" name="Text 10"/>
          <p:cNvSpPr/>
          <p:nvPr/>
        </p:nvSpPr>
        <p:spPr>
          <a:xfrm>
            <a:off x="4500017" y="2174131"/>
            <a:ext cx="14879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Output a proof</a:t>
            </a:r>
            <a:endParaRPr lang="en-US" sz="1300" dirty="0"/>
          </a:p>
        </p:txBody>
      </p:sp>
      <p:sp>
        <p:nvSpPr>
          <p:cNvPr id="13" name="Shape 11"/>
          <p:cNvSpPr/>
          <p:nvPr/>
        </p:nvSpPr>
        <p:spPr>
          <a:xfrm>
            <a:off x="6159450" y="1802061"/>
            <a:ext cx="1678533" cy="1136551"/>
          </a:xfrm>
          <a:prstGeom prst="rect">
            <a:avLst/>
          </a:prstGeom>
          <a:noFill/>
          <a:ln w="12700">
            <a:solidFill>
              <a:srgbClr val="BCACA7"/>
            </a:solidFill>
            <a:prstDash val="solid"/>
          </a:ln>
        </p:spPr>
        <p:txBody>
          <a:bodyPr/>
          <a:p/>
        </p:txBody>
      </p:sp>
      <p:sp>
        <p:nvSpPr>
          <p:cNvPr id="14" name="Text 12"/>
          <p:cNvSpPr/>
          <p:nvPr/>
        </p:nvSpPr>
        <p:spPr>
          <a:xfrm>
            <a:off x="6280100"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4</a:t>
            </a:r>
            <a:endParaRPr lang="en-US" sz="1200" dirty="0"/>
          </a:p>
        </p:txBody>
      </p:sp>
      <p:sp>
        <p:nvSpPr>
          <p:cNvPr id="15" name="Text 13"/>
          <p:cNvSpPr/>
          <p:nvPr/>
        </p:nvSpPr>
        <p:spPr>
          <a:xfrm>
            <a:off x="6280100"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Compare with the approved visual target</a:t>
            </a:r>
            <a:endParaRPr lang="en-US" sz="1300" dirty="0"/>
          </a:p>
        </p:txBody>
      </p:sp>
      <p:sp>
        <p:nvSpPr>
          <p:cNvPr id="16" name="Shape 14"/>
          <p:cNvSpPr/>
          <p:nvPr/>
        </p:nvSpPr>
        <p:spPr>
          <a:xfrm>
            <a:off x="7939584" y="1802061"/>
            <a:ext cx="1678533" cy="1136551"/>
          </a:xfrm>
          <a:prstGeom prst="rect">
            <a:avLst/>
          </a:prstGeom>
          <a:noFill/>
          <a:ln w="12700">
            <a:solidFill>
              <a:srgbClr val="BCACA7"/>
            </a:solidFill>
            <a:prstDash val="solid"/>
          </a:ln>
        </p:spPr>
        <p:txBody>
          <a:bodyPr/>
          <a:p/>
        </p:txBody>
      </p:sp>
      <p:sp>
        <p:nvSpPr>
          <p:cNvPr id="17" name="Text 15"/>
          <p:cNvSpPr/>
          <p:nvPr/>
        </p:nvSpPr>
        <p:spPr>
          <a:xfrm>
            <a:off x="806023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5</a:t>
            </a:r>
            <a:endParaRPr lang="en-US" sz="1200" dirty="0"/>
          </a:p>
        </p:txBody>
      </p:sp>
      <p:sp>
        <p:nvSpPr>
          <p:cNvPr id="18" name="Text 16"/>
          <p:cNvSpPr/>
          <p:nvPr/>
        </p:nvSpPr>
        <p:spPr>
          <a:xfrm>
            <a:off x="8060234" y="21741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 physically</a:t>
            </a:r>
            <a:endParaRPr lang="en-US" sz="1300" dirty="0"/>
          </a:p>
        </p:txBody>
      </p:sp>
      <p:sp>
        <p:nvSpPr>
          <p:cNvPr id="19" name="Shape 17"/>
          <p:cNvSpPr/>
          <p:nvPr/>
        </p:nvSpPr>
        <p:spPr>
          <a:xfrm>
            <a:off x="9713367" y="1795711"/>
            <a:ext cx="1665833" cy="1149251"/>
          </a:xfrm>
          <a:prstGeom prst="rect">
            <a:avLst/>
          </a:prstGeom>
          <a:solidFill>
            <a:srgbClr val="BCACA7"/>
          </a:solidFill>
          <a:ln/>
        </p:spPr>
        <p:txBody>
          <a:bodyPr/>
          <a:p/>
        </p:txBody>
      </p:sp>
      <p:sp>
        <p:nvSpPr>
          <p:cNvPr id="20" name="Text 18"/>
          <p:cNvSpPr/>
          <p:nvPr/>
        </p:nvSpPr>
        <p:spPr>
          <a:xfrm>
            <a:off x="9827667" y="19100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6</a:t>
            </a:r>
            <a:endParaRPr lang="en-US" sz="1200" dirty="0"/>
          </a:p>
        </p:txBody>
      </p:sp>
      <p:sp>
        <p:nvSpPr>
          <p:cNvPr id="21" name="Text 19"/>
          <p:cNvSpPr/>
          <p:nvPr/>
        </p:nvSpPr>
        <p:spPr>
          <a:xfrm>
            <a:off x="9827667" y="21614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Archive the final process value</a:t>
            </a:r>
            <a:endParaRPr lang="en-US" sz="1300" dirty="0"/>
          </a:p>
        </p:txBody>
      </p:sp>
      <p:sp>
        <p:nvSpPr>
          <p:cNvPr id="22" name="Text 20"/>
          <p:cNvSpPr/>
          <p:nvPr/>
        </p:nvSpPr>
        <p:spPr>
          <a:xfrm>
            <a:off x="812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APPLIES TO</a:t>
            </a:r>
            <a:endParaRPr lang="en-US" sz="1200" dirty="0"/>
          </a:p>
        </p:txBody>
      </p:sp>
      <p:sp>
        <p:nvSpPr>
          <p:cNvPr id="23" name="Text 21"/>
          <p:cNvSpPr/>
          <p:nvPr/>
        </p:nvSpPr>
        <p:spPr>
          <a:xfrm>
            <a:off x="812800" y="3424982"/>
            <a:ext cx="52585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CMYK builds · spot colours if required · material colour references · painted finishes · textile · plastics · vinyl · coatings</a:t>
            </a:r>
            <a:endParaRPr lang="en-US" sz="1300" dirty="0"/>
          </a:p>
        </p:txBody>
      </p:sp>
      <p:sp>
        <p:nvSpPr>
          <p:cNvPr id="24" name="Text 22"/>
          <p:cNvSpPr/>
          <p:nvPr/>
        </p:nvSpPr>
        <p:spPr>
          <a:xfrm>
            <a:off x="6273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WHY</a:t>
            </a:r>
            <a:endParaRPr lang="en-US" sz="1200" dirty="0"/>
          </a:p>
        </p:txBody>
      </p:sp>
      <p:sp>
        <p:nvSpPr>
          <p:cNvPr id="25" name="Text 23"/>
          <p:cNvSpPr/>
          <p:nvPr/>
        </p:nvSpPr>
        <p:spPr>
          <a:xfrm>
            <a:off x="6273800" y="3424982"/>
            <a:ext cx="5258562" cy="1188720"/>
          </a:xfrm>
          <a:prstGeom prst="rect">
            <a:avLst/>
          </a:prstGeom>
          <a:noFill/>
          <a:ln/>
        </p:spPr>
        <p:txBody>
          <a:bodyPr wrap="square" lIns="0" tIns="0" rIns="0" bIns="0" rtlCol="0" anchor="t"/>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Different processes may need different technical values to match the same GEM target. The visual target is the standard; the value is the evidence. The first formally approved physical proof for a process and substrate becomes the controlled process-specific reference target and is logged as a golden sample (Appendix M).</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12 · COLOUR TOLERANCE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No tolerance is stated until a supplier proof validates it.</a:t>
            </a:r>
            <a:endParaRPr lang="en-US" sz="2800" dirty="0"/>
          </a:p>
        </p:txBody>
      </p:sp>
      <p:sp>
        <p:nvSpPr>
          <p:cNvPr id="4" name="Shape 2"/>
          <p:cNvSpPr/>
          <p:nvPr/>
        </p:nvSpPr>
        <p:spPr>
          <a:xfrm>
            <a:off x="819150" y="1829991"/>
            <a:ext cx="3424734" cy="868611"/>
          </a:xfrm>
          <a:prstGeom prst="rect">
            <a:avLst/>
          </a:prstGeom>
          <a:noFill/>
          <a:ln w="12700">
            <a:solidFill>
              <a:srgbClr val="12171D"/>
            </a:solidFill>
            <a:prstDash val="dash"/>
          </a:ln>
        </p:spPr>
        <p:txBody>
          <a:bodyPr/>
          <a:p/>
        </p:txBody>
      </p:sp>
      <p:sp>
        <p:nvSpPr>
          <p:cNvPr id="5" name="Text 3"/>
          <p:cNvSpPr/>
          <p:nvPr/>
        </p:nvSpPr>
        <p:spPr>
          <a:xfrm>
            <a:off x="990600"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MEASUREMENT METHOD</a:t>
            </a:r>
            <a:endParaRPr lang="en-US" sz="1200" dirty="0"/>
          </a:p>
        </p:txBody>
      </p:sp>
      <p:sp>
        <p:nvSpPr>
          <p:cNvPr id="6" name="Text 4"/>
          <p:cNvSpPr/>
          <p:nvPr/>
        </p:nvSpPr>
        <p:spPr>
          <a:xfrm>
            <a:off x="990600"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7" name="Shape 5"/>
          <p:cNvSpPr/>
          <p:nvPr/>
        </p:nvSpPr>
        <p:spPr>
          <a:xfrm>
            <a:off x="4383584" y="1829991"/>
            <a:ext cx="3424783" cy="868611"/>
          </a:xfrm>
          <a:prstGeom prst="rect">
            <a:avLst/>
          </a:prstGeom>
          <a:noFill/>
          <a:ln w="12700">
            <a:solidFill>
              <a:srgbClr val="12171D"/>
            </a:solidFill>
            <a:prstDash val="dash"/>
          </a:ln>
        </p:spPr>
        <p:txBody>
          <a:bodyPr/>
          <a:p/>
        </p:txBody>
      </p:sp>
      <p:sp>
        <p:nvSpPr>
          <p:cNvPr id="8" name="Text 6"/>
          <p:cNvSpPr/>
          <p:nvPr/>
        </p:nvSpPr>
        <p:spPr>
          <a:xfrm>
            <a:off x="4555034" y="200144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INSTRUMENT</a:t>
            </a:r>
            <a:endParaRPr lang="en-US" sz="1200" dirty="0"/>
          </a:p>
        </p:txBody>
      </p:sp>
      <p:sp>
        <p:nvSpPr>
          <p:cNvPr id="9" name="Text 7"/>
          <p:cNvSpPr/>
          <p:nvPr/>
        </p:nvSpPr>
        <p:spPr>
          <a:xfrm>
            <a:off x="4555034" y="227826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0" name="Shape 8"/>
          <p:cNvSpPr/>
          <p:nvPr/>
        </p:nvSpPr>
        <p:spPr>
          <a:xfrm>
            <a:off x="7948067" y="1829991"/>
            <a:ext cx="3424734" cy="868611"/>
          </a:xfrm>
          <a:prstGeom prst="rect">
            <a:avLst/>
          </a:prstGeom>
          <a:noFill/>
          <a:ln w="12700">
            <a:solidFill>
              <a:srgbClr val="12171D"/>
            </a:solidFill>
            <a:prstDash val="dash"/>
          </a:ln>
        </p:spPr>
        <p:txBody>
          <a:bodyPr/>
          <a:p/>
        </p:txBody>
      </p:sp>
      <p:sp>
        <p:nvSpPr>
          <p:cNvPr id="11" name="Text 9"/>
          <p:cNvSpPr/>
          <p:nvPr/>
        </p:nvSpPr>
        <p:spPr>
          <a:xfrm>
            <a:off x="8119517"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ILLUMINANT</a:t>
            </a:r>
            <a:endParaRPr lang="en-US" sz="1200" dirty="0"/>
          </a:p>
        </p:txBody>
      </p:sp>
      <p:sp>
        <p:nvSpPr>
          <p:cNvPr id="12" name="Text 10"/>
          <p:cNvSpPr/>
          <p:nvPr/>
        </p:nvSpPr>
        <p:spPr>
          <a:xfrm>
            <a:off x="8119517"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3" name="Shape 11"/>
          <p:cNvSpPr/>
          <p:nvPr/>
        </p:nvSpPr>
        <p:spPr>
          <a:xfrm>
            <a:off x="819150" y="2838301"/>
            <a:ext cx="3424734" cy="868611"/>
          </a:xfrm>
          <a:prstGeom prst="rect">
            <a:avLst/>
          </a:prstGeom>
          <a:noFill/>
          <a:ln w="12700">
            <a:solidFill>
              <a:srgbClr val="12171D"/>
            </a:solidFill>
            <a:prstDash val="dash"/>
          </a:ln>
        </p:spPr>
        <p:txBody>
          <a:bodyPr/>
          <a:p/>
        </p:txBody>
      </p:sp>
      <p:sp>
        <p:nvSpPr>
          <p:cNvPr id="14" name="Text 12"/>
          <p:cNvSpPr/>
          <p:nvPr/>
        </p:nvSpPr>
        <p:spPr>
          <a:xfrm>
            <a:off x="990600"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SUBSTRATE</a:t>
            </a:r>
            <a:endParaRPr lang="en-US" sz="1200" dirty="0"/>
          </a:p>
        </p:txBody>
      </p:sp>
      <p:sp>
        <p:nvSpPr>
          <p:cNvPr id="15" name="Text 13"/>
          <p:cNvSpPr/>
          <p:nvPr/>
        </p:nvSpPr>
        <p:spPr>
          <a:xfrm>
            <a:off x="990600"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6" name="Shape 14"/>
          <p:cNvSpPr/>
          <p:nvPr/>
        </p:nvSpPr>
        <p:spPr>
          <a:xfrm>
            <a:off x="4383584" y="2838301"/>
            <a:ext cx="3424783" cy="868611"/>
          </a:xfrm>
          <a:prstGeom prst="rect">
            <a:avLst/>
          </a:prstGeom>
          <a:noFill/>
          <a:ln w="12700">
            <a:solidFill>
              <a:srgbClr val="12171D"/>
            </a:solidFill>
            <a:prstDash val="dash"/>
          </a:ln>
        </p:spPr>
        <p:txBody>
          <a:bodyPr/>
          <a:p/>
        </p:txBody>
      </p:sp>
      <p:sp>
        <p:nvSpPr>
          <p:cNvPr id="17" name="Text 15"/>
          <p:cNvSpPr/>
          <p:nvPr/>
        </p:nvSpPr>
        <p:spPr>
          <a:xfrm>
            <a:off x="4555034" y="300975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TOLERANCE</a:t>
            </a:r>
            <a:endParaRPr lang="en-US" sz="1200" dirty="0"/>
          </a:p>
        </p:txBody>
      </p:sp>
      <p:sp>
        <p:nvSpPr>
          <p:cNvPr id="18" name="Text 16"/>
          <p:cNvSpPr/>
          <p:nvPr/>
        </p:nvSpPr>
        <p:spPr>
          <a:xfrm>
            <a:off x="4555034" y="328657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9" name="Shape 17"/>
          <p:cNvSpPr/>
          <p:nvPr/>
        </p:nvSpPr>
        <p:spPr>
          <a:xfrm>
            <a:off x="7948067" y="2838301"/>
            <a:ext cx="3424734" cy="868611"/>
          </a:xfrm>
          <a:prstGeom prst="rect">
            <a:avLst/>
          </a:prstGeom>
          <a:noFill/>
          <a:ln w="12700">
            <a:solidFill>
              <a:srgbClr val="12171D"/>
            </a:solidFill>
            <a:prstDash val="dash"/>
          </a:ln>
        </p:spPr>
        <p:txBody>
          <a:bodyPr/>
          <a:p/>
        </p:txBody>
      </p:sp>
      <p:sp>
        <p:nvSpPr>
          <p:cNvPr id="20" name="Text 18"/>
          <p:cNvSpPr/>
          <p:nvPr/>
        </p:nvSpPr>
        <p:spPr>
          <a:xfrm>
            <a:off x="8119517"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VIEWING CONDITIONS</a:t>
            </a:r>
            <a:endParaRPr lang="en-US" sz="1200" dirty="0"/>
          </a:p>
        </p:txBody>
      </p:sp>
      <p:sp>
        <p:nvSpPr>
          <p:cNvPr id="21" name="Text 19"/>
          <p:cNvSpPr/>
          <p:nvPr/>
        </p:nvSpPr>
        <p:spPr>
          <a:xfrm>
            <a:off x="8119517"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22" name="Text 20"/>
          <p:cNvSpPr/>
          <p:nvPr/>
        </p:nvSpPr>
        <p:spPr>
          <a:xfrm>
            <a:off x="812800" y="391646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follows printer or supplier proof validation. Until then no Delta E value, instrument or condition may be quoted to a supplier as a GEM standard. The first approved proof for a process and substrate is promoted to the golden sample register (Appendix M) and becomes the comparison reference for that process. No value is created by this standard.</a:t>
            </a:r>
            <a:endParaRPr lang="en-US" sz="13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064000" cy="6858000"/>
          </a:xfrm>
          <a:prstGeom prst="rect">
            <a:avLst/>
          </a:prstGeom>
          <a:solidFill>
            <a:srgbClr val="12171D"/>
          </a:solidFill>
          <a:ln/>
        </p:spPr>
        <p:txBody>
          <a:bodyPr/>
          <a:p/>
        </p:txBody>
      </p:sp>
      <p:sp>
        <p:nvSpPr>
          <p:cNvPr id="3" name="Text 1"/>
          <p:cNvSpPr/>
          <p:nvPr/>
        </p:nvSpPr>
        <p:spPr>
          <a:xfrm>
            <a:off x="812800" y="81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13 · INK AND BLACK</a:t>
            </a:r>
            <a:endParaRPr lang="en-US" sz="1200" dirty="0"/>
          </a:p>
        </p:txBody>
      </p:sp>
      <p:sp>
        <p:nvSpPr>
          <p:cNvPr id="4" name="Text 2"/>
          <p:cNvSpPr/>
          <p:nvPr/>
        </p:nvSpPr>
        <p:spPr>
          <a:xfrm>
            <a:off x="812800" y="4401889"/>
            <a:ext cx="2982468" cy="878830"/>
          </a:xfrm>
          <a:prstGeom prst="rect">
            <a:avLst/>
          </a:prstGeom>
          <a:noFill/>
          <a:ln/>
        </p:spPr>
        <p:txBody>
          <a:bodyPr wrap="square" lIns="0" tIns="0" rIns="0" bIns="0" rtlCol="0" anchor="t">
            <a:normAutofit/>
          </a:bodyPr>
          <a:lstStyle/>
          <a:p>
            <a:pPr algn="l" indent="0" marL="0">
              <a:lnSpc>
                <a:spcPts val="6720"/>
              </a:lnSpc>
              <a:buNone/>
            </a:pPr>
            <a:r>
              <a:rPr lang="en-US" sz="4800" spc="290" kern="0" dirty="0">
                <a:solidFill>
                  <a:srgbClr val="FFFFFF"/>
                </a:solidFill>
                <a:latin typeface="Jost" pitchFamily="34" charset="0"/>
                <a:ea typeface="Jost" pitchFamily="34" charset="-122"/>
                <a:cs typeface="Jost" pitchFamily="34" charset="-120"/>
              </a:rPr>
              <a:t>INK</a:t>
            </a:r>
            <a:endParaRPr lang="en-US" sz="4800" dirty="0"/>
          </a:p>
        </p:txBody>
      </p:sp>
      <p:sp>
        <p:nvSpPr>
          <p:cNvPr id="5" name="Text 3"/>
          <p:cNvSpPr/>
          <p:nvPr/>
        </p:nvSpPr>
        <p:spPr>
          <a:xfrm>
            <a:off x="812800" y="5344220"/>
            <a:ext cx="29824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colour. Default dark brand field and default text colour.</a:t>
            </a:r>
            <a:endParaRPr lang="en-US" sz="1400" dirty="0"/>
          </a:p>
        </p:txBody>
      </p:sp>
      <p:sp>
        <p:nvSpPr>
          <p:cNvPr id="6" name="Shape 4"/>
          <p:cNvSpPr/>
          <p:nvPr/>
        </p:nvSpPr>
        <p:spPr>
          <a:xfrm>
            <a:off x="4064000" y="0"/>
            <a:ext cx="2794000" cy="6858000"/>
          </a:xfrm>
          <a:prstGeom prst="rect">
            <a:avLst/>
          </a:prstGeom>
          <a:solidFill>
            <a:srgbClr val="020202"/>
          </a:solidFill>
          <a:ln/>
        </p:spPr>
        <p:txBody>
          <a:bodyPr/>
          <a:p/>
        </p:txBody>
      </p:sp>
      <p:sp>
        <p:nvSpPr>
          <p:cNvPr id="7" name="Text 5"/>
          <p:cNvSpPr/>
          <p:nvPr/>
        </p:nvSpPr>
        <p:spPr>
          <a:xfrm>
            <a:off x="4368800" y="4419650"/>
            <a:ext cx="2249932" cy="665460"/>
          </a:xfrm>
          <a:prstGeom prst="rect">
            <a:avLst/>
          </a:prstGeom>
          <a:noFill/>
          <a:ln/>
        </p:spPr>
        <p:txBody>
          <a:bodyPr wrap="square" lIns="0" tIns="0" rIns="0" bIns="0" rtlCol="0" anchor="t">
            <a:normAutofit/>
          </a:bodyPr>
          <a:lstStyle/>
          <a:p>
            <a:pPr algn="l" indent="0" marL="0">
              <a:lnSpc>
                <a:spcPts val="5040"/>
              </a:lnSpc>
              <a:buNone/>
            </a:pPr>
            <a:r>
              <a:rPr lang="en-US" sz="3600" spc="215" kern="0" dirty="0">
                <a:solidFill>
                  <a:srgbClr val="FFFFFF"/>
                </a:solidFill>
                <a:latin typeface="Jost" pitchFamily="34" charset="0"/>
                <a:ea typeface="Jost" pitchFamily="34" charset="-122"/>
                <a:cs typeface="Jost" pitchFamily="34" charset="-120"/>
              </a:rPr>
              <a:t>BLACK</a:t>
            </a:r>
            <a:endParaRPr lang="en-US" sz="3600" dirty="0"/>
          </a:p>
        </p:txBody>
      </p:sp>
      <p:sp>
        <p:nvSpPr>
          <p:cNvPr id="8" name="Text 6"/>
          <p:cNvSpPr/>
          <p:nvPr/>
        </p:nvSpPr>
        <p:spPr>
          <a:xfrm>
            <a:off x="4368800" y="5148610"/>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and one-colour production, where approved.</a:t>
            </a:r>
            <a:endParaRPr lang="en-US" sz="1300" dirty="0"/>
          </a:p>
        </p:txBody>
      </p:sp>
      <p:sp>
        <p:nvSpPr>
          <p:cNvPr id="9" name="Text 7"/>
          <p:cNvSpPr/>
          <p:nvPr/>
        </p:nvSpPr>
        <p:spPr>
          <a:xfrm>
            <a:off x="7213600" y="2500709"/>
            <a:ext cx="42905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PRODUCTION RULE</a:t>
            </a:r>
            <a:endParaRPr lang="en-US" sz="1200" dirty="0"/>
          </a:p>
        </p:txBody>
      </p:sp>
      <p:sp>
        <p:nvSpPr>
          <p:cNvPr id="10" name="Shape 8"/>
          <p:cNvSpPr/>
          <p:nvPr/>
        </p:nvSpPr>
        <p:spPr>
          <a:xfrm>
            <a:off x="7213600" y="2856905"/>
            <a:ext cx="4165600" cy="0"/>
          </a:xfrm>
          <a:prstGeom prst="line">
            <a:avLst/>
          </a:prstGeom>
          <a:noFill/>
          <a:ln w="6350">
            <a:solidFill>
              <a:srgbClr val="BCACA7"/>
            </a:solidFill>
            <a:prstDash val="solid"/>
          </a:ln>
        </p:spPr>
        <p:txBody>
          <a:bodyPr/>
          <a:p/>
        </p:txBody>
      </p:sp>
      <p:sp>
        <p:nvSpPr>
          <p:cNvPr id="11" name="Text 9"/>
          <p:cNvSpPr/>
          <p:nvPr/>
        </p:nvSpPr>
        <p:spPr>
          <a:xfrm>
            <a:off x="7213600" y="293628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Do not casually substitute Black for Ink in premium colour applications.</a:t>
            </a:r>
            <a:endParaRPr lang="en-US" sz="1400" dirty="0"/>
          </a:p>
        </p:txBody>
      </p:sp>
      <p:sp>
        <p:nvSpPr>
          <p:cNvPr id="12" name="Shape 10"/>
          <p:cNvSpPr/>
          <p:nvPr/>
        </p:nvSpPr>
        <p:spPr>
          <a:xfrm>
            <a:off x="7213600" y="3576935"/>
            <a:ext cx="4165600" cy="0"/>
          </a:xfrm>
          <a:prstGeom prst="line">
            <a:avLst/>
          </a:prstGeom>
          <a:noFill/>
          <a:ln w="6350">
            <a:solidFill>
              <a:srgbClr val="BCACA7"/>
            </a:solidFill>
            <a:prstDash val="solid"/>
          </a:ln>
        </p:spPr>
        <p:txBody>
          <a:bodyPr/>
          <a:p/>
        </p:txBody>
      </p:sp>
      <p:sp>
        <p:nvSpPr>
          <p:cNvPr id="13" name="Text 11"/>
          <p:cNvSpPr/>
          <p:nvPr/>
        </p:nvSpPr>
        <p:spPr>
          <a:xfrm>
            <a:off x="7213600" y="365631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The supplier uses the artwork variant specified for the job.</a:t>
            </a:r>
            <a:endParaRPr lang="en-US" sz="1400" dirty="0"/>
          </a:p>
        </p:txBody>
      </p:sp>
      <p:sp>
        <p:nvSpPr>
          <p:cNvPr id="14" name="Text 12"/>
          <p:cNvSpPr/>
          <p:nvPr/>
        </p:nvSpPr>
        <p:spPr>
          <a:xfrm>
            <a:off x="812800" y="6238280"/>
            <a:ext cx="59436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14 · FONT CONTROL · FONT BUILD VALIDATION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Three families. Source, licence and build on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330722"/>
        </p:xfrm>
        <a:graphic>
          <a:graphicData uri="http://schemas.openxmlformats.org/drawingml/2006/table">
            <a:tbl>
              <a:tblPr/>
              <a:tblGrid>
                <a:gridCol w="2321814"/>
                <a:gridCol w="2743962"/>
                <a:gridCol w="168859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Weights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Build and licence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and headings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 and operational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LOCALIZATION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 BE DOCUMENTED PER FAMILY</a:t>
            </a:r>
            <a:endParaRPr lang="en-US" sz="1200" dirty="0"/>
          </a:p>
        </p:txBody>
      </p:sp>
      <p:sp>
        <p:nvSpPr>
          <p:cNvPr id="6" name="Text 3"/>
          <p:cNvSpPr/>
          <p:nvPr/>
        </p:nvSpPr>
        <p:spPr>
          <a:xfrm>
            <a:off x="812800" y="3349923"/>
            <a:ext cx="525856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Approved font source [PENDING] · licence owner [REQUIRES OWNER] · version and build number [PENDING] · platform use [PENDING] · embedded-font rules [PENDING]</a:t>
            </a:r>
            <a:endParaRPr lang="en-US" sz="1200" dirty="0"/>
          </a:p>
        </p:txBody>
      </p:sp>
      <p:sp>
        <p:nvSpPr>
          <p:cNvPr id="7" name="Text 4"/>
          <p:cNvSpPr/>
          <p:nvPr/>
        </p:nvSpPr>
        <p:spPr>
          <a:xfrm>
            <a:off x="6273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NOT FOR PRODUCTION</a:t>
            </a:r>
            <a:endParaRPr lang="en-US" sz="1200" dirty="0"/>
          </a:p>
        </p:txBody>
      </p:sp>
      <p:sp>
        <p:nvSpPr>
          <p:cNvPr id="8" name="Text 5"/>
          <p:cNvSpPr/>
          <p:nvPr/>
        </p:nvSpPr>
        <p:spPr>
          <a:xfrm>
            <a:off x="6273800" y="3349923"/>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Futura PT, Montserrat, Aeonik, Satoshi and Whyte are legacy or reference only. Maximum two weights per composition.</a:t>
            </a:r>
            <a:endParaRPr lang="en-US" sz="1200" dirty="0"/>
          </a:p>
        </p:txBody>
      </p:sp>
      <p:sp>
        <p:nvSpPr>
          <p:cNvPr id="11" name="Text 8"/>
          <p:cNvSpPr/>
          <p:nvPr/>
        </p:nvSpPr>
        <p:spPr>
          <a:xfrm>
            <a:off x="812800" y="4250000"/>
            <a:ext cx="108833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CURRENT IMPLEMENTED WEIGHT = 400 (Jost, Inter). 500 is PENDING ACCEPTED FONT FILE and is not available to any current build. Noto Sans Arabic weights remain [PENDING].</a:t>
            </a:r>
            <a:endParaRPr lang="en-US" sz="12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15 · TEXT TO OUTLINES</a:t>
            </a:r>
            <a:endParaRPr lang="en-US" sz="1200" dirty="0"/>
          </a:p>
        </p:txBody>
      </p:sp>
      <p:sp>
        <p:nvSpPr>
          <p:cNvPr id="3" name="Text 1"/>
          <p:cNvSpPr/>
          <p:nvPr>
            <p:ph type="title"/>
          </p:nvPr>
        </p:nvSpPr>
        <p:spPr>
          <a:xfrm>
            <a:off x="812800" y="1178520"/>
            <a:ext cx="457835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Outline only the final duplicate.</a:t>
            </a:r>
            <a:endParaRPr lang="en-US" sz="2800" dirty="0"/>
          </a:p>
        </p:txBody>
      </p:sp>
      <p:sp>
        <p:nvSpPr>
          <p:cNvPr id="4" name="Text 2"/>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Outlined artwork is a production copy, never an editing master.</a:t>
            </a:r>
            <a:endParaRPr lang="en-US" sz="1300" dirty="0"/>
          </a:p>
        </p:txBody>
      </p:sp>
      <p:sp>
        <p:nvSpPr>
          <p:cNvPr id="5" name="Text 3"/>
          <p:cNvSpPr/>
          <p:nvPr/>
        </p:nvSpPr>
        <p:spPr>
          <a:xfrm>
            <a:off x="5867400" y="2018159"/>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PERMITTED FOR</a:t>
            </a:r>
            <a:endParaRPr lang="en-US" sz="1200" dirty="0"/>
          </a:p>
        </p:txBody>
      </p:sp>
      <p:sp>
        <p:nvSpPr>
          <p:cNvPr id="6" name="Shape 4"/>
          <p:cNvSpPr/>
          <p:nvPr/>
        </p:nvSpPr>
        <p:spPr>
          <a:xfrm>
            <a:off x="5867400" y="2285454"/>
            <a:ext cx="5511800" cy="0"/>
          </a:xfrm>
          <a:prstGeom prst="line">
            <a:avLst/>
          </a:prstGeom>
          <a:noFill/>
          <a:ln w="6350">
            <a:solidFill>
              <a:srgbClr val="BCACA7"/>
            </a:solidFill>
            <a:prstDash val="solid"/>
          </a:ln>
        </p:spPr>
        <p:txBody>
          <a:bodyPr/>
          <a:p/>
        </p:txBody>
      </p:sp>
      <p:sp>
        <p:nvSpPr>
          <p:cNvPr id="7" name="Text 5"/>
          <p:cNvSpPr/>
          <p:nvPr/>
        </p:nvSpPr>
        <p:spPr>
          <a:xfrm>
            <a:off x="5867400" y="2364829"/>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Fabrication artwork · supplier compatibility · cutting and engraving · final closed artwork</a:t>
            </a:r>
            <a:endParaRPr lang="en-US" sz="1400" dirty="0"/>
          </a:p>
        </p:txBody>
      </p:sp>
      <p:sp>
        <p:nvSpPr>
          <p:cNvPr id="8" name="Text 6"/>
          <p:cNvSpPr/>
          <p:nvPr/>
        </p:nvSpPr>
        <p:spPr>
          <a:xfrm>
            <a:off x="5867400" y="3027710"/>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a:t>
            </a:r>
            <a:endParaRPr lang="en-US" sz="1200" dirty="0"/>
          </a:p>
        </p:txBody>
      </p:sp>
      <p:sp>
        <p:nvSpPr>
          <p:cNvPr id="9" name="Shape 7"/>
          <p:cNvSpPr/>
          <p:nvPr/>
        </p:nvSpPr>
        <p:spPr>
          <a:xfrm>
            <a:off x="5867400" y="3295005"/>
            <a:ext cx="5511800" cy="0"/>
          </a:xfrm>
          <a:prstGeom prst="line">
            <a:avLst/>
          </a:prstGeom>
          <a:noFill/>
          <a:ln w="6350">
            <a:solidFill>
              <a:srgbClr val="BCACA7"/>
            </a:solidFill>
            <a:prstDash val="solid"/>
          </a:ln>
        </p:spPr>
        <p:txBody>
          <a:bodyPr/>
          <a:p/>
        </p:txBody>
      </p:sp>
      <p:sp>
        <p:nvSpPr>
          <p:cNvPr id="10" name="Text 8"/>
          <p:cNvSpPr/>
          <p:nvPr/>
        </p:nvSpPr>
        <p:spPr>
          <a:xfrm>
            <a:off x="5867400" y="337438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the editable source separately.</a:t>
            </a:r>
            <a:endParaRPr lang="en-US" sz="1400" dirty="0"/>
          </a:p>
        </p:txBody>
      </p:sp>
      <p:sp>
        <p:nvSpPr>
          <p:cNvPr id="11" name="Shape 9"/>
          <p:cNvSpPr/>
          <p:nvPr/>
        </p:nvSpPr>
        <p:spPr>
          <a:xfrm>
            <a:off x="5867400" y="3677245"/>
            <a:ext cx="5511800" cy="0"/>
          </a:xfrm>
          <a:prstGeom prst="line">
            <a:avLst/>
          </a:prstGeom>
          <a:noFill/>
          <a:ln w="6350">
            <a:solidFill>
              <a:srgbClr val="BCACA7"/>
            </a:solidFill>
            <a:prstDash val="solid"/>
          </a:ln>
        </p:spPr>
        <p:txBody>
          <a:bodyPr/>
          <a:p/>
        </p:txBody>
      </p:sp>
      <p:sp>
        <p:nvSpPr>
          <p:cNvPr id="12" name="Text 10"/>
          <p:cNvSpPr/>
          <p:nvPr/>
        </p:nvSpPr>
        <p:spPr>
          <a:xfrm>
            <a:off x="5867400" y="375662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live, searchable text where accessibility or future editing needs it.</a:t>
            </a:r>
            <a:endParaRPr lang="en-US" sz="1400" dirty="0"/>
          </a:p>
        </p:txBody>
      </p:sp>
      <p:sp>
        <p:nvSpPr>
          <p:cNvPr id="13" name="Shape 11"/>
          <p:cNvSpPr/>
          <p:nvPr/>
        </p:nvSpPr>
        <p:spPr>
          <a:xfrm>
            <a:off x="5867400" y="4308376"/>
            <a:ext cx="5511800" cy="0"/>
          </a:xfrm>
          <a:prstGeom prst="line">
            <a:avLst/>
          </a:prstGeom>
          <a:noFill/>
          <a:ln w="6350">
            <a:solidFill>
              <a:srgbClr val="BCACA7"/>
            </a:solidFill>
            <a:prstDash val="solid"/>
          </a:ln>
        </p:spPr>
        <p:txBody>
          <a:bodyPr/>
          <a:p/>
        </p:txBody>
      </p:sp>
      <p:sp>
        <p:nvSpPr>
          <p:cNvPr id="14" name="Text 12"/>
          <p:cNvSpPr/>
          <p:nvPr/>
        </p:nvSpPr>
        <p:spPr>
          <a:xfrm>
            <a:off x="5867400" y="4387751"/>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Never outline malformed Arabic text.</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TYPOGRAPHY</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16 · ARABIC PRODUCTION · PENDING LOCALIZATION APPROVAL</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A native specialist reviews every Arabic proof before production.</a:t>
            </a:r>
            <a:endParaRPr lang="en-US" sz="2600" dirty="0"/>
          </a:p>
        </p:txBody>
      </p:sp>
      <p:sp>
        <p:nvSpPr>
          <p:cNvPr id="4" name="Shape 2"/>
          <p:cNvSpPr/>
          <p:nvPr/>
        </p:nvSpPr>
        <p:spPr>
          <a:xfrm>
            <a:off x="812800" y="1748086"/>
            <a:ext cx="5283200" cy="0"/>
          </a:xfrm>
          <a:prstGeom prst="line">
            <a:avLst/>
          </a:prstGeom>
          <a:noFill/>
          <a:ln w="6350">
            <a:solidFill>
              <a:srgbClr val="12171D"/>
            </a:solidFill>
            <a:prstDash val="solid"/>
          </a:ln>
        </p:spPr>
        <p:txBody>
          <a:bodyPr/>
          <a:p/>
        </p:txBody>
      </p:sp>
      <p:sp>
        <p:nvSpPr>
          <p:cNvPr id="5" name="Text 3"/>
          <p:cNvSpPr/>
          <p:nvPr/>
        </p:nvSpPr>
        <p:spPr>
          <a:xfrm>
            <a:off x="8128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shaping, no broken or disconnected letters</a:t>
            </a:r>
            <a:endParaRPr lang="en-US" sz="1300" dirty="0"/>
          </a:p>
        </p:txBody>
      </p:sp>
      <p:sp>
        <p:nvSpPr>
          <p:cNvPr id="6" name="Shape 4"/>
          <p:cNvSpPr/>
          <p:nvPr/>
        </p:nvSpPr>
        <p:spPr>
          <a:xfrm>
            <a:off x="6096000" y="1748086"/>
            <a:ext cx="5283200" cy="0"/>
          </a:xfrm>
          <a:prstGeom prst="line">
            <a:avLst/>
          </a:prstGeom>
          <a:noFill/>
          <a:ln w="6350">
            <a:solidFill>
              <a:srgbClr val="12171D"/>
            </a:solidFill>
            <a:prstDash val="solid"/>
          </a:ln>
        </p:spPr>
        <p:txBody>
          <a:bodyPr/>
          <a:p/>
        </p:txBody>
      </p:sp>
      <p:sp>
        <p:nvSpPr>
          <p:cNvPr id="7" name="Text 5"/>
          <p:cNvSpPr/>
          <p:nvPr/>
        </p:nvSpPr>
        <p:spPr>
          <a:xfrm>
            <a:off x="60960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True right-to-left setting</a:t>
            </a:r>
            <a:endParaRPr lang="en-US" sz="1300" dirty="0"/>
          </a:p>
        </p:txBody>
      </p:sp>
      <p:sp>
        <p:nvSpPr>
          <p:cNvPr id="8" name="Shape 6"/>
          <p:cNvSpPr/>
          <p:nvPr/>
        </p:nvSpPr>
        <p:spPr>
          <a:xfrm>
            <a:off x="812800" y="2053481"/>
            <a:ext cx="5283200" cy="0"/>
          </a:xfrm>
          <a:prstGeom prst="line">
            <a:avLst/>
          </a:prstGeom>
          <a:noFill/>
          <a:ln w="6350">
            <a:solidFill>
              <a:srgbClr val="12171D"/>
            </a:solidFill>
            <a:prstDash val="solid"/>
          </a:ln>
        </p:spPr>
        <p:txBody>
          <a:bodyPr/>
          <a:p/>
        </p:txBody>
      </p:sp>
      <p:sp>
        <p:nvSpPr>
          <p:cNvPr id="9" name="Text 7"/>
          <p:cNvSpPr/>
          <p:nvPr/>
        </p:nvSpPr>
        <p:spPr>
          <a:xfrm>
            <a:off x="8128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No Latin tracking on Arabic</a:t>
            </a:r>
            <a:endParaRPr lang="en-US" sz="1300" dirty="0"/>
          </a:p>
        </p:txBody>
      </p:sp>
      <p:sp>
        <p:nvSpPr>
          <p:cNvPr id="10" name="Shape 8"/>
          <p:cNvSpPr/>
          <p:nvPr/>
        </p:nvSpPr>
        <p:spPr>
          <a:xfrm>
            <a:off x="6096000" y="2053481"/>
            <a:ext cx="5283200" cy="0"/>
          </a:xfrm>
          <a:prstGeom prst="line">
            <a:avLst/>
          </a:prstGeom>
          <a:noFill/>
          <a:ln w="6350">
            <a:solidFill>
              <a:srgbClr val="12171D"/>
            </a:solidFill>
            <a:prstDash val="solid"/>
          </a:ln>
        </p:spPr>
        <p:txBody>
          <a:bodyPr/>
          <a:p/>
        </p:txBody>
      </p:sp>
      <p:sp>
        <p:nvSpPr>
          <p:cNvPr id="11" name="Text 9"/>
          <p:cNvSpPr/>
          <p:nvPr/>
        </p:nvSpPr>
        <p:spPr>
          <a:xfrm>
            <a:off x="60960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order in mixed-language lines</a:t>
            </a:r>
            <a:endParaRPr lang="en-US" sz="1300" dirty="0"/>
          </a:p>
        </p:txBody>
      </p:sp>
      <p:sp>
        <p:nvSpPr>
          <p:cNvPr id="12" name="Shape 10"/>
          <p:cNvSpPr/>
          <p:nvPr/>
        </p:nvSpPr>
        <p:spPr>
          <a:xfrm>
            <a:off x="812800" y="2358876"/>
            <a:ext cx="5283200" cy="0"/>
          </a:xfrm>
          <a:prstGeom prst="line">
            <a:avLst/>
          </a:prstGeom>
          <a:noFill/>
          <a:ln w="6350">
            <a:solidFill>
              <a:srgbClr val="12171D"/>
            </a:solidFill>
            <a:prstDash val="solid"/>
          </a:ln>
        </p:spPr>
        <p:txBody>
          <a:bodyPr/>
          <a:p/>
        </p:txBody>
      </p:sp>
      <p:sp>
        <p:nvSpPr>
          <p:cNvPr id="13" name="Text 11"/>
          <p:cNvSpPr/>
          <p:nvPr/>
        </p:nvSpPr>
        <p:spPr>
          <a:xfrm>
            <a:off x="8128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Latin digits for technical identifiers</a:t>
            </a:r>
            <a:endParaRPr lang="en-US" sz="1300" dirty="0"/>
          </a:p>
        </p:txBody>
      </p:sp>
      <p:sp>
        <p:nvSpPr>
          <p:cNvPr id="14" name="Shape 12"/>
          <p:cNvSpPr/>
          <p:nvPr/>
        </p:nvSpPr>
        <p:spPr>
          <a:xfrm>
            <a:off x="6096000" y="2358876"/>
            <a:ext cx="5283200" cy="0"/>
          </a:xfrm>
          <a:prstGeom prst="line">
            <a:avLst/>
          </a:prstGeom>
          <a:noFill/>
          <a:ln w="6350">
            <a:solidFill>
              <a:srgbClr val="12171D"/>
            </a:solidFill>
            <a:prstDash val="solid"/>
          </a:ln>
        </p:spPr>
        <p:txBody>
          <a:bodyPr/>
          <a:p/>
        </p:txBody>
      </p:sp>
      <p:sp>
        <p:nvSpPr>
          <p:cNvPr id="15" name="Text 13"/>
          <p:cNvSpPr/>
          <p:nvPr/>
        </p:nvSpPr>
        <p:spPr>
          <a:xfrm>
            <a:off x="60960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numeral policy for guest-facing Arabic [PENDING VALIDATION]</a:t>
            </a:r>
            <a:endParaRPr lang="en-US" sz="1300" dirty="0"/>
          </a:p>
        </p:txBody>
      </p:sp>
      <p:sp>
        <p:nvSpPr>
          <p:cNvPr id="16" name="Shape 14"/>
          <p:cNvSpPr/>
          <p:nvPr/>
        </p:nvSpPr>
        <p:spPr>
          <a:xfrm>
            <a:off x="812800" y="2887117"/>
            <a:ext cx="5283200" cy="0"/>
          </a:xfrm>
          <a:prstGeom prst="line">
            <a:avLst/>
          </a:prstGeom>
          <a:noFill/>
          <a:ln w="6350">
            <a:solidFill>
              <a:srgbClr val="12171D"/>
            </a:solidFill>
            <a:prstDash val="solid"/>
          </a:ln>
        </p:spPr>
        <p:txBody>
          <a:bodyPr/>
          <a:p/>
        </p:txBody>
      </p:sp>
      <p:sp>
        <p:nvSpPr>
          <p:cNvPr id="17" name="Text 15"/>
          <p:cNvSpPr/>
          <p:nvPr/>
        </p:nvSpPr>
        <p:spPr>
          <a:xfrm>
            <a:off x="8128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Native Arabic proof review before release</a:t>
            </a:r>
            <a:endParaRPr lang="en-US" sz="1300" dirty="0"/>
          </a:p>
        </p:txBody>
      </p:sp>
      <p:sp>
        <p:nvSpPr>
          <p:cNvPr id="18" name="Shape 16"/>
          <p:cNvSpPr/>
          <p:nvPr/>
        </p:nvSpPr>
        <p:spPr>
          <a:xfrm>
            <a:off x="6096000" y="2887117"/>
            <a:ext cx="5283200" cy="0"/>
          </a:xfrm>
          <a:prstGeom prst="line">
            <a:avLst/>
          </a:prstGeom>
          <a:noFill/>
          <a:ln w="6350">
            <a:solidFill>
              <a:srgbClr val="12171D"/>
            </a:solidFill>
            <a:prstDash val="solid"/>
          </a:ln>
        </p:spPr>
        <p:txBody>
          <a:bodyPr/>
          <a:p/>
        </p:txBody>
      </p:sp>
      <p:sp>
        <p:nvSpPr>
          <p:cNvPr id="19" name="Text 17"/>
          <p:cNvSpPr/>
          <p:nvPr/>
        </p:nvSpPr>
        <p:spPr>
          <a:xfrm>
            <a:off x="60960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Never outline malformed Arabic text</a:t>
            </a:r>
            <a:endParaRPr lang="en-US" sz="1300" dirty="0"/>
          </a:p>
        </p:txBody>
      </p:sp>
      <p:sp>
        <p:nvSpPr>
          <p:cNvPr id="20" name="Text 18"/>
          <p:cNvSpPr/>
          <p:nvPr/>
        </p:nvSpPr>
        <p:spPr>
          <a:xfrm>
            <a:off x="819150" y="3373487"/>
            <a:ext cx="10553700" cy="694630"/>
          </a:xfrm>
          <a:prstGeom prst="rect">
            <a:avLst/>
          </a:prstGeom>
          <a:noFill/>
          <a:ln w="12700">
            <a:solidFill>
              <a:srgbClr val="12171D"/>
            </a:solidFill>
            <a:prstDash val="dash"/>
          </a:ln>
        </p:spPr>
        <p:txBody>
          <a:bodyPr wrap="square" lIns="146050" tIns="107950" rIns="0" bIns="8255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Working Arabic copy is not approved copy. The tagline stays English only until an Arabic version is explicitly approved. The logo is never mirrored.</a:t>
            </a:r>
            <a:endParaRPr lang="en-US" sz="13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812800" y="2540000"/>
            <a:ext cx="10883392" cy="612130"/>
          </a:xfrm>
          <a:prstGeom prst="rect">
            <a:avLst/>
          </a:prstGeom>
          <a:noFill/>
          <a:ln/>
        </p:spPr>
        <p:txBody>
          <a:bodyPr wrap="square" lIns="0" tIns="0" rIns="0" bIns="0" rtlCol="0" anchor="t">
            <a:normAutofit/>
          </a:bodyPr>
          <a:lstStyle/>
          <a:p>
            <a:pPr algn="l" indent="0" marL="0">
              <a:lnSpc>
                <a:spcPts val="4620"/>
              </a:lnSpc>
              <a:buNone/>
            </a:pPr>
            <a:r>
              <a:rPr lang="en-US" sz="4400" b="0" i="0" spc="350" kern="0" dirty="0">
                <a:solidFill>
                  <a:srgbClr val="FFFFFF"/>
                </a:solidFill>
                <a:latin typeface="Jost" pitchFamily="34" charset="0"/>
                <a:ea typeface="Jost" pitchFamily="34" charset="-122"/>
                <a:cs typeface="Jost" pitchFamily="34" charset="-120"/>
              </a:rPr>
              <a:t>ARTWORK &amp; MATERIALS</a:t>
            </a:r>
            <a:endParaRPr lang="en-US" sz="4400" dirty="0"/>
          </a:p>
        </p:txBody>
      </p:sp>
      <p:sp>
        <p:nvSpPr>
          <p:cNvPr id="5" name="Text 2"/>
          <p:cNvSpPr/>
          <p:nvPr/>
        </p:nvSpPr>
        <p:spPr>
          <a:xfrm>
            <a:off x="812800" y="3683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Preflight, export, print principles, stock and finishes.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17 · ARTWORK PREFLIGHT CHECKLIST</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production file passes eighteen checks.</a:t>
            </a:r>
            <a:endParaRPr lang="en-US" sz="2400" dirty="0"/>
          </a:p>
        </p:txBody>
      </p:sp>
      <p:sp>
        <p:nvSpPr>
          <p:cNvPr id="4" name="Shape 2"/>
          <p:cNvSpPr/>
          <p:nvPr/>
        </p:nvSpPr>
        <p:spPr>
          <a:xfrm>
            <a:off x="819150" y="1672530"/>
            <a:ext cx="139700" cy="139700"/>
          </a:xfrm>
          <a:prstGeom prst="rect">
            <a:avLst/>
          </a:prstGeom>
          <a:noFill/>
          <a:ln w="12700">
            <a:solidFill>
              <a:srgbClr val="12171D"/>
            </a:solidFill>
            <a:prstDash val="solid"/>
          </a:ln>
        </p:spPr>
        <p:txBody>
          <a:bodyPr/>
          <a:p/>
        </p:txBody>
      </p:sp>
      <p:sp>
        <p:nvSpPr>
          <p:cNvPr id="5" name="Text 3"/>
          <p:cNvSpPr/>
          <p:nvPr/>
        </p:nvSpPr>
        <p:spPr>
          <a:xfrm>
            <a:off x="1054100"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master asset</a:t>
            </a:r>
            <a:endParaRPr lang="en-US" sz="1200" dirty="0"/>
          </a:p>
        </p:txBody>
      </p:sp>
      <p:sp>
        <p:nvSpPr>
          <p:cNvPr id="6" name="Shape 4"/>
          <p:cNvSpPr/>
          <p:nvPr/>
        </p:nvSpPr>
        <p:spPr>
          <a:xfrm>
            <a:off x="4341267" y="1672530"/>
            <a:ext cx="139700" cy="139700"/>
          </a:xfrm>
          <a:prstGeom prst="rect">
            <a:avLst/>
          </a:prstGeom>
          <a:noFill/>
          <a:ln w="12700">
            <a:solidFill>
              <a:srgbClr val="12171D"/>
            </a:solidFill>
            <a:prstDash val="solid"/>
          </a:ln>
        </p:spPr>
        <p:txBody>
          <a:bodyPr/>
          <a:p/>
        </p:txBody>
      </p:sp>
      <p:sp>
        <p:nvSpPr>
          <p:cNvPr id="7" name="Text 5"/>
          <p:cNvSpPr/>
          <p:nvPr/>
        </p:nvSpPr>
        <p:spPr>
          <a:xfrm>
            <a:off x="4576217"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version</a:t>
            </a:r>
            <a:endParaRPr lang="en-US" sz="1200" dirty="0"/>
          </a:p>
        </p:txBody>
      </p:sp>
      <p:sp>
        <p:nvSpPr>
          <p:cNvPr id="8" name="Shape 6"/>
          <p:cNvSpPr/>
          <p:nvPr/>
        </p:nvSpPr>
        <p:spPr>
          <a:xfrm>
            <a:off x="7863384" y="1672530"/>
            <a:ext cx="139700" cy="139700"/>
          </a:xfrm>
          <a:prstGeom prst="rect">
            <a:avLst/>
          </a:prstGeom>
          <a:noFill/>
          <a:ln w="12700">
            <a:solidFill>
              <a:srgbClr val="12171D"/>
            </a:solidFill>
            <a:prstDash val="solid"/>
          </a:ln>
        </p:spPr>
        <p:txBody>
          <a:bodyPr/>
          <a:p/>
        </p:txBody>
      </p:sp>
      <p:sp>
        <p:nvSpPr>
          <p:cNvPr id="9" name="Text 7"/>
          <p:cNvSpPr/>
          <p:nvPr/>
        </p:nvSpPr>
        <p:spPr>
          <a:xfrm>
            <a:off x="8098334" y="1666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colour mode</a:t>
            </a:r>
            <a:endParaRPr lang="en-US" sz="1200" dirty="0"/>
          </a:p>
        </p:txBody>
      </p:sp>
      <p:sp>
        <p:nvSpPr>
          <p:cNvPr id="10" name="Shape 8"/>
          <p:cNvSpPr/>
          <p:nvPr/>
        </p:nvSpPr>
        <p:spPr>
          <a:xfrm>
            <a:off x="819150" y="1863030"/>
            <a:ext cx="139700" cy="139700"/>
          </a:xfrm>
          <a:prstGeom prst="rect">
            <a:avLst/>
          </a:prstGeom>
          <a:noFill/>
          <a:ln w="12700">
            <a:solidFill>
              <a:srgbClr val="12171D"/>
            </a:solidFill>
            <a:prstDash val="solid"/>
          </a:ln>
        </p:spPr>
        <p:txBody>
          <a:bodyPr/>
          <a:p/>
        </p:txBody>
      </p:sp>
      <p:sp>
        <p:nvSpPr>
          <p:cNvPr id="11" name="Text 9"/>
          <p:cNvSpPr/>
          <p:nvPr/>
        </p:nvSpPr>
        <p:spPr>
          <a:xfrm>
            <a:off x="1054100"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bleed</a:t>
            </a:r>
            <a:endParaRPr lang="en-US" sz="1200" dirty="0"/>
          </a:p>
        </p:txBody>
      </p:sp>
      <p:sp>
        <p:nvSpPr>
          <p:cNvPr id="12" name="Shape 10"/>
          <p:cNvSpPr/>
          <p:nvPr/>
        </p:nvSpPr>
        <p:spPr>
          <a:xfrm>
            <a:off x="4341267" y="1863030"/>
            <a:ext cx="139700" cy="139700"/>
          </a:xfrm>
          <a:prstGeom prst="rect">
            <a:avLst/>
          </a:prstGeom>
          <a:noFill/>
          <a:ln w="12700">
            <a:solidFill>
              <a:srgbClr val="12171D"/>
            </a:solidFill>
            <a:prstDash val="solid"/>
          </a:ln>
        </p:spPr>
        <p:txBody>
          <a:bodyPr/>
          <a:p/>
        </p:txBody>
      </p:sp>
      <p:sp>
        <p:nvSpPr>
          <p:cNvPr id="13" name="Text 11"/>
          <p:cNvSpPr/>
          <p:nvPr/>
        </p:nvSpPr>
        <p:spPr>
          <a:xfrm>
            <a:off x="4576217"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Safe area</a:t>
            </a:r>
            <a:endParaRPr lang="en-US" sz="1200" dirty="0"/>
          </a:p>
        </p:txBody>
      </p:sp>
      <p:sp>
        <p:nvSpPr>
          <p:cNvPr id="14" name="Shape 12"/>
          <p:cNvSpPr/>
          <p:nvPr/>
        </p:nvSpPr>
        <p:spPr>
          <a:xfrm>
            <a:off x="7863384" y="1863030"/>
            <a:ext cx="139700" cy="139700"/>
          </a:xfrm>
          <a:prstGeom prst="rect">
            <a:avLst/>
          </a:prstGeom>
          <a:noFill/>
          <a:ln w="12700">
            <a:solidFill>
              <a:srgbClr val="12171D"/>
            </a:solidFill>
            <a:prstDash val="solid"/>
          </a:ln>
        </p:spPr>
        <p:txBody>
          <a:bodyPr/>
          <a:p/>
        </p:txBody>
      </p:sp>
      <p:sp>
        <p:nvSpPr>
          <p:cNvPr id="15" name="Text 13"/>
          <p:cNvSpPr/>
          <p:nvPr/>
        </p:nvSpPr>
        <p:spPr>
          <a:xfrm>
            <a:off x="8098334" y="1856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Dieline visibility</a:t>
            </a:r>
            <a:endParaRPr lang="en-US" sz="1200" dirty="0"/>
          </a:p>
        </p:txBody>
      </p:sp>
      <p:sp>
        <p:nvSpPr>
          <p:cNvPr id="16" name="Shape 14"/>
          <p:cNvSpPr/>
          <p:nvPr/>
        </p:nvSpPr>
        <p:spPr>
          <a:xfrm>
            <a:off x="819150" y="2053530"/>
            <a:ext cx="139700" cy="139700"/>
          </a:xfrm>
          <a:prstGeom prst="rect">
            <a:avLst/>
          </a:prstGeom>
          <a:noFill/>
          <a:ln w="12700">
            <a:solidFill>
              <a:srgbClr val="12171D"/>
            </a:solidFill>
            <a:prstDash val="solid"/>
          </a:ln>
        </p:spPr>
        <p:txBody>
          <a:bodyPr/>
          <a:p/>
        </p:txBody>
      </p:sp>
      <p:sp>
        <p:nvSpPr>
          <p:cNvPr id="17" name="Text 15"/>
          <p:cNvSpPr/>
          <p:nvPr/>
        </p:nvSpPr>
        <p:spPr>
          <a:xfrm>
            <a:off x="1054100"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Overprint</a:t>
            </a:r>
            <a:endParaRPr lang="en-US" sz="1200" dirty="0"/>
          </a:p>
        </p:txBody>
      </p:sp>
      <p:sp>
        <p:nvSpPr>
          <p:cNvPr id="18" name="Shape 16"/>
          <p:cNvSpPr/>
          <p:nvPr/>
        </p:nvSpPr>
        <p:spPr>
          <a:xfrm>
            <a:off x="4341267" y="2053530"/>
            <a:ext cx="139700" cy="139700"/>
          </a:xfrm>
          <a:prstGeom prst="rect">
            <a:avLst/>
          </a:prstGeom>
          <a:noFill/>
          <a:ln w="12700">
            <a:solidFill>
              <a:srgbClr val="12171D"/>
            </a:solidFill>
            <a:prstDash val="solid"/>
          </a:ln>
        </p:spPr>
        <p:txBody>
          <a:bodyPr/>
          <a:p/>
        </p:txBody>
      </p:sp>
      <p:sp>
        <p:nvSpPr>
          <p:cNvPr id="19" name="Text 17"/>
          <p:cNvSpPr/>
          <p:nvPr/>
        </p:nvSpPr>
        <p:spPr>
          <a:xfrm>
            <a:off x="4576217"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Transparency</a:t>
            </a:r>
            <a:endParaRPr lang="en-US" sz="1200" dirty="0"/>
          </a:p>
        </p:txBody>
      </p:sp>
      <p:sp>
        <p:nvSpPr>
          <p:cNvPr id="20" name="Shape 18"/>
          <p:cNvSpPr/>
          <p:nvPr/>
        </p:nvSpPr>
        <p:spPr>
          <a:xfrm>
            <a:off x="7863384" y="2053530"/>
            <a:ext cx="139700" cy="139700"/>
          </a:xfrm>
          <a:prstGeom prst="rect">
            <a:avLst/>
          </a:prstGeom>
          <a:noFill/>
          <a:ln w="12700">
            <a:solidFill>
              <a:srgbClr val="12171D"/>
            </a:solidFill>
            <a:prstDash val="solid"/>
          </a:ln>
        </p:spPr>
        <p:txBody>
          <a:bodyPr/>
          <a:p/>
        </p:txBody>
      </p:sp>
      <p:sp>
        <p:nvSpPr>
          <p:cNvPr id="21" name="Text 19"/>
          <p:cNvSpPr/>
          <p:nvPr/>
        </p:nvSpPr>
        <p:spPr>
          <a:xfrm>
            <a:off x="8098334" y="2047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resolution</a:t>
            </a:r>
            <a:endParaRPr lang="en-US" sz="1200" dirty="0"/>
          </a:p>
        </p:txBody>
      </p:sp>
      <p:sp>
        <p:nvSpPr>
          <p:cNvPr id="22" name="Shape 20"/>
          <p:cNvSpPr/>
          <p:nvPr/>
        </p:nvSpPr>
        <p:spPr>
          <a:xfrm>
            <a:off x="819150" y="2244030"/>
            <a:ext cx="139700" cy="139700"/>
          </a:xfrm>
          <a:prstGeom prst="rect">
            <a:avLst/>
          </a:prstGeom>
          <a:noFill/>
          <a:ln w="12700">
            <a:solidFill>
              <a:srgbClr val="12171D"/>
            </a:solidFill>
            <a:prstDash val="solid"/>
          </a:ln>
        </p:spPr>
        <p:txBody>
          <a:bodyPr/>
          <a:p/>
        </p:txBody>
      </p:sp>
      <p:sp>
        <p:nvSpPr>
          <p:cNvPr id="23" name="Text 21"/>
          <p:cNvSpPr/>
          <p:nvPr/>
        </p:nvSpPr>
        <p:spPr>
          <a:xfrm>
            <a:off x="1054100"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Linked assets</a:t>
            </a:r>
            <a:endParaRPr lang="en-US" sz="1200" dirty="0"/>
          </a:p>
        </p:txBody>
      </p:sp>
      <p:sp>
        <p:nvSpPr>
          <p:cNvPr id="24" name="Shape 22"/>
          <p:cNvSpPr/>
          <p:nvPr/>
        </p:nvSpPr>
        <p:spPr>
          <a:xfrm>
            <a:off x="4341267" y="2244030"/>
            <a:ext cx="139700" cy="139700"/>
          </a:xfrm>
          <a:prstGeom prst="rect">
            <a:avLst/>
          </a:prstGeom>
          <a:noFill/>
          <a:ln w="12700">
            <a:solidFill>
              <a:srgbClr val="12171D"/>
            </a:solidFill>
            <a:prstDash val="solid"/>
          </a:ln>
        </p:spPr>
        <p:txBody>
          <a:bodyPr/>
          <a:p/>
        </p:txBody>
      </p:sp>
      <p:sp>
        <p:nvSpPr>
          <p:cNvPr id="25" name="Text 23"/>
          <p:cNvSpPr/>
          <p:nvPr/>
        </p:nvSpPr>
        <p:spPr>
          <a:xfrm>
            <a:off x="4576217"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Fonts</a:t>
            </a:r>
            <a:endParaRPr lang="en-US" sz="1200" dirty="0"/>
          </a:p>
        </p:txBody>
      </p:sp>
      <p:sp>
        <p:nvSpPr>
          <p:cNvPr id="26" name="Shape 24"/>
          <p:cNvSpPr/>
          <p:nvPr/>
        </p:nvSpPr>
        <p:spPr>
          <a:xfrm>
            <a:off x="7863384" y="2244030"/>
            <a:ext cx="139700" cy="139700"/>
          </a:xfrm>
          <a:prstGeom prst="rect">
            <a:avLst/>
          </a:prstGeom>
          <a:noFill/>
          <a:ln w="12700">
            <a:solidFill>
              <a:srgbClr val="12171D"/>
            </a:solidFill>
            <a:prstDash val="solid"/>
          </a:ln>
        </p:spPr>
        <p:txBody>
          <a:bodyPr/>
          <a:p/>
        </p:txBody>
      </p:sp>
      <p:sp>
        <p:nvSpPr>
          <p:cNvPr id="27" name="Text 25"/>
          <p:cNvSpPr/>
          <p:nvPr/>
        </p:nvSpPr>
        <p:spPr>
          <a:xfrm>
            <a:off x="8098334" y="2237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Barcode or QR integrity, if used</a:t>
            </a:r>
            <a:endParaRPr lang="en-US" sz="1200" dirty="0"/>
          </a:p>
        </p:txBody>
      </p:sp>
      <p:sp>
        <p:nvSpPr>
          <p:cNvPr id="28" name="Shape 26"/>
          <p:cNvSpPr/>
          <p:nvPr/>
        </p:nvSpPr>
        <p:spPr>
          <a:xfrm>
            <a:off x="819150" y="2434530"/>
            <a:ext cx="139700" cy="139700"/>
          </a:xfrm>
          <a:prstGeom prst="rect">
            <a:avLst/>
          </a:prstGeom>
          <a:noFill/>
          <a:ln w="12700">
            <a:solidFill>
              <a:srgbClr val="12171D"/>
            </a:solidFill>
            <a:prstDash val="solid"/>
          </a:ln>
        </p:spPr>
        <p:txBody>
          <a:bodyPr/>
          <a:p/>
        </p:txBody>
      </p:sp>
      <p:sp>
        <p:nvSpPr>
          <p:cNvPr id="29" name="Text 27"/>
          <p:cNvSpPr/>
          <p:nvPr/>
        </p:nvSpPr>
        <p:spPr>
          <a:xfrm>
            <a:off x="1054100"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Spelling</a:t>
            </a:r>
            <a:endParaRPr lang="en-US" sz="1200" dirty="0"/>
          </a:p>
        </p:txBody>
      </p:sp>
      <p:sp>
        <p:nvSpPr>
          <p:cNvPr id="30" name="Shape 28"/>
          <p:cNvSpPr/>
          <p:nvPr/>
        </p:nvSpPr>
        <p:spPr>
          <a:xfrm>
            <a:off x="4341267" y="2434530"/>
            <a:ext cx="139700" cy="139700"/>
          </a:xfrm>
          <a:prstGeom prst="rect">
            <a:avLst/>
          </a:prstGeom>
          <a:noFill/>
          <a:ln w="12700">
            <a:solidFill>
              <a:srgbClr val="12171D"/>
            </a:solidFill>
            <a:prstDash val="solid"/>
          </a:ln>
        </p:spPr>
        <p:txBody>
          <a:bodyPr/>
          <a:p/>
        </p:txBody>
      </p:sp>
      <p:sp>
        <p:nvSpPr>
          <p:cNvPr id="31" name="Text 29"/>
          <p:cNvSpPr/>
          <p:nvPr/>
        </p:nvSpPr>
        <p:spPr>
          <a:xfrm>
            <a:off x="4576217"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shaping</a:t>
            </a:r>
            <a:endParaRPr lang="en-US" sz="1200" dirty="0"/>
          </a:p>
        </p:txBody>
      </p:sp>
      <p:sp>
        <p:nvSpPr>
          <p:cNvPr id="32" name="Shape 30"/>
          <p:cNvSpPr/>
          <p:nvPr/>
        </p:nvSpPr>
        <p:spPr>
          <a:xfrm>
            <a:off x="7863384" y="2434530"/>
            <a:ext cx="139700" cy="139700"/>
          </a:xfrm>
          <a:prstGeom prst="rect">
            <a:avLst/>
          </a:prstGeom>
          <a:noFill/>
          <a:ln w="12700">
            <a:solidFill>
              <a:srgbClr val="12171D"/>
            </a:solidFill>
            <a:prstDash val="solid"/>
          </a:ln>
        </p:spPr>
        <p:txBody>
          <a:bodyPr/>
          <a:p/>
        </p:txBody>
      </p:sp>
      <p:sp>
        <p:nvSpPr>
          <p:cNvPr id="33" name="Text 31"/>
          <p:cNvSpPr/>
          <p:nvPr/>
        </p:nvSpPr>
        <p:spPr>
          <a:xfrm>
            <a:off x="8098334" y="2428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p>
        </p:txBody>
      </p:sp>
      <p:sp>
        <p:nvSpPr>
          <p:cNvPr id="34" name="Shape 32"/>
          <p:cNvSpPr/>
          <p:nvPr/>
        </p:nvSpPr>
        <p:spPr>
          <a:xfrm>
            <a:off x="819150" y="2625030"/>
            <a:ext cx="139700" cy="139700"/>
          </a:xfrm>
          <a:prstGeom prst="rect">
            <a:avLst/>
          </a:prstGeom>
          <a:noFill/>
          <a:ln w="12700">
            <a:solidFill>
              <a:srgbClr val="12171D"/>
            </a:solidFill>
            <a:prstDash val="solid"/>
          </a:ln>
        </p:spPr>
        <p:txBody>
          <a:bodyPr/>
          <a:p/>
        </p:txBody>
      </p:sp>
      <p:sp>
        <p:nvSpPr>
          <p:cNvPr id="35" name="Text 33"/>
          <p:cNvSpPr/>
          <p:nvPr/>
        </p:nvSpPr>
        <p:spPr>
          <a:xfrm>
            <a:off x="1054100"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Hidden objects</a:t>
            </a:r>
            <a:endParaRPr lang="en-US" sz="1200" dirty="0"/>
          </a:p>
        </p:txBody>
      </p:sp>
      <p:sp>
        <p:nvSpPr>
          <p:cNvPr id="36" name="Shape 34"/>
          <p:cNvSpPr/>
          <p:nvPr/>
        </p:nvSpPr>
        <p:spPr>
          <a:xfrm>
            <a:off x="4341267" y="2625030"/>
            <a:ext cx="139700" cy="139700"/>
          </a:xfrm>
          <a:prstGeom prst="rect">
            <a:avLst/>
          </a:prstGeom>
          <a:noFill/>
          <a:ln w="12700">
            <a:solidFill>
              <a:srgbClr val="12171D"/>
            </a:solidFill>
            <a:prstDash val="solid"/>
          </a:ln>
        </p:spPr>
        <p:txBody>
          <a:bodyPr/>
          <a:p/>
        </p:txBody>
      </p:sp>
      <p:sp>
        <p:nvSpPr>
          <p:cNvPr id="37" name="Text 35"/>
          <p:cNvSpPr/>
          <p:nvPr/>
        </p:nvSpPr>
        <p:spPr>
          <a:xfrm>
            <a:off x="4576217"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Non-printing guides</a:t>
            </a:r>
            <a:endParaRPr lang="en-US" sz="1200" dirty="0"/>
          </a:p>
        </p:txBody>
      </p:sp>
      <p:sp>
        <p:nvSpPr>
          <p:cNvPr id="38" name="Shape 36"/>
          <p:cNvSpPr/>
          <p:nvPr/>
        </p:nvSpPr>
        <p:spPr>
          <a:xfrm>
            <a:off x="7863384" y="2625030"/>
            <a:ext cx="139700" cy="139700"/>
          </a:xfrm>
          <a:prstGeom prst="rect">
            <a:avLst/>
          </a:prstGeom>
          <a:noFill/>
          <a:ln w="12700">
            <a:solidFill>
              <a:srgbClr val="12171D"/>
            </a:solidFill>
            <a:prstDash val="solid"/>
          </a:ln>
        </p:spPr>
        <p:txBody>
          <a:bodyPr/>
          <a:p/>
        </p:txBody>
      </p:sp>
      <p:sp>
        <p:nvSpPr>
          <p:cNvPr id="39" name="Text 37"/>
          <p:cNvSpPr/>
          <p:nvPr/>
        </p:nvSpPr>
        <p:spPr>
          <a:xfrm>
            <a:off x="8098334" y="2618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Output intent and profile</a:t>
            </a:r>
            <a:endParaRPr lang="en-US" sz="1200" dirty="0"/>
          </a:p>
        </p:txBody>
      </p:sp>
      <p:sp>
        <p:nvSpPr>
          <p:cNvPr id="40" name="Text 38"/>
          <p:cNvSpPr/>
          <p:nvPr/>
        </p:nvSpPr>
        <p:spPr>
          <a:xfrm>
            <a:off x="812800" y="296158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Supplier-ready form: appendix C. A file with any open check is not sent.</a:t>
            </a:r>
            <a:endParaRPr lang="en-US" sz="1200" dirty="0"/>
          </a:p>
        </p:txBody>
      </p:sp>
      <p:sp>
        <p:nvSpPr>
          <p:cNvPr id="41" name="Text 3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42" name="Text 4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13945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18 · BLEED AND SAFE AREA</a:t>
            </a:r>
            <a:endParaRPr lang="en-US" sz="1200" dirty="0"/>
          </a:p>
        </p:txBody>
      </p:sp>
      <p:pic>
        <p:nvPicPr>
          <p:cNvPr id="3" name="Image 0" descr="Bleed, trim and safe-area schematic: dashed outer bleed, solid trim, dotted inner brand safe area. Not to scale." title="Bleed, trim and safe-area schematic: dashed outer bleed, sol">    </p:cNvPr>
          <p:cNvPicPr>
            <a:picLocks noChangeAspect="1"/>
          </p:cNvPicPr>
          <p:nvPr/>
        </p:nvPicPr>
        <p:blipFill>
          <a:blip r:embed="rId1"/>
          <a:srcRect l="0" r="0" t="0" b="0"/>
          <a:stretch/>
        </p:blipFill>
        <p:spPr>
          <a:xfrm>
            <a:off x="812800" y="1760240"/>
            <a:ext cx="4064000" cy="2921000"/>
          </a:xfrm>
          <a:prstGeom prst="rect">
            <a:avLst/>
          </a:prstGeom>
        </p:spPr>
      </p:pic>
      <p:sp>
        <p:nvSpPr>
          <p:cNvPr id="4" name="Text 1"/>
          <p:cNvSpPr/>
          <p:nvPr/>
        </p:nvSpPr>
        <p:spPr>
          <a:xfrm>
            <a:off x="812800" y="483364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Dashed outer: bleed · Solid: trim · Dotted inner: brand safe area</a:t>
            </a:r>
            <a:endParaRPr lang="en-US" sz="1200" dirty="0"/>
          </a:p>
        </p:txBody>
      </p:sp>
      <p:sp>
        <p:nvSpPr>
          <p:cNvPr id="5" name="Text 2"/>
          <p:cNvSpPr/>
          <p:nvPr>
            <p:ph type="title"/>
          </p:nvPr>
        </p:nvSpPr>
        <p:spPr>
          <a:xfrm>
            <a:off x="5867400" y="2080964"/>
            <a:ext cx="5677154"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governs bleed and trim.</a:t>
            </a:r>
            <a:endParaRPr lang="en-US" sz="2600" dirty="0"/>
          </a:p>
        </p:txBody>
      </p:sp>
      <p:sp>
        <p:nvSpPr>
          <p:cNvPr id="6" name="Shape 3"/>
          <p:cNvSpPr/>
          <p:nvPr/>
        </p:nvSpPr>
        <p:spPr>
          <a:xfrm>
            <a:off x="5867400" y="2950220"/>
            <a:ext cx="5511800" cy="0"/>
          </a:xfrm>
          <a:prstGeom prst="line">
            <a:avLst/>
          </a:prstGeom>
          <a:noFill/>
          <a:ln w="6350">
            <a:solidFill>
              <a:srgbClr val="BCACA7"/>
            </a:solidFill>
            <a:prstDash val="solid"/>
          </a:ln>
        </p:spPr>
        <p:txBody>
          <a:bodyPr/>
          <a:p/>
        </p:txBody>
      </p:sp>
      <p:sp>
        <p:nvSpPr>
          <p:cNvPr id="7" name="Text 4"/>
          <p:cNvSpPr/>
          <p:nvPr/>
        </p:nvSpPr>
        <p:spPr>
          <a:xfrm>
            <a:off x="5867400" y="3029595"/>
            <a:ext cx="5677154" cy="457200"/>
          </a:xfrm>
          <a:prstGeom prst="rect">
            <a:avLst/>
          </a:prstGeom>
          <a:noFill/>
          <a:ln/>
        </p:spPr>
        <p:txBody>
          <a:bodyPr wrap="square" lIns="0" tIns="0" rIns="0" bIns="0" rtlCol="0" anchor="t"/>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Safe-zone and bleed roles are standardised (T13); their dimensions come from the supplier dieline, never from this standard.</a:t>
            </a:r>
            <a:endParaRPr lang="en-US" sz="1400" dirty="0"/>
          </a:p>
        </p:txBody>
      </p:sp>
      <p:sp>
        <p:nvSpPr>
          <p:cNvPr id="8" name="Shape 5"/>
          <p:cNvSpPr/>
          <p:nvPr/>
        </p:nvSpPr>
        <p:spPr>
          <a:xfrm>
            <a:off x="5867400" y="3622528"/>
            <a:ext cx="5511800" cy="0"/>
          </a:xfrm>
          <a:prstGeom prst="line">
            <a:avLst/>
          </a:prstGeom>
          <a:noFill/>
          <a:ln w="6350">
            <a:solidFill>
              <a:srgbClr val="BCACA7"/>
            </a:solidFill>
            <a:prstDash val="solid"/>
          </a:ln>
        </p:spPr>
        <p:txBody>
          <a:bodyPr/>
          <a:p/>
        </p:txBody>
      </p:sp>
      <p:sp>
        <p:nvSpPr>
          <p:cNvPr id="9" name="Text 6"/>
          <p:cNvSpPr/>
          <p:nvPr/>
        </p:nvSpPr>
        <p:spPr>
          <a:xfrm>
            <a:off x="5867400" y="370190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safe areas stay separate from structural tolerances.</a:t>
            </a:r>
            <a:endParaRPr lang="en-US" sz="1400" dirty="0"/>
          </a:p>
        </p:txBody>
      </p:sp>
      <p:sp>
        <p:nvSpPr>
          <p:cNvPr id="10" name="Shape 7"/>
          <p:cNvSpPr/>
          <p:nvPr/>
        </p:nvSpPr>
        <p:spPr>
          <a:xfrm>
            <a:off x="5867400" y="4093668"/>
            <a:ext cx="5511800" cy="0"/>
          </a:xfrm>
          <a:prstGeom prst="line">
            <a:avLst/>
          </a:prstGeom>
          <a:noFill/>
          <a:ln w="6350">
            <a:solidFill>
              <a:srgbClr val="BCACA7"/>
            </a:solidFill>
            <a:prstDash val="solid"/>
          </a:ln>
        </p:spPr>
        <p:txBody>
          <a:bodyPr/>
          <a:p/>
        </p:txBody>
      </p:sp>
      <p:sp>
        <p:nvSpPr>
          <p:cNvPr id="11" name="Text 8"/>
          <p:cNvSpPr/>
          <p:nvPr/>
        </p:nvSpPr>
        <p:spPr>
          <a:xfrm>
            <a:off x="5867400" y="417304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Every dieline is approved before artwork preparation.</a:t>
            </a:r>
            <a:endParaRPr lang="en-US" sz="1400" dirty="0"/>
          </a:p>
        </p:txBody>
      </p:sp>
      <p:sp>
        <p:nvSpPr>
          <p:cNvPr id="12" name="Text 9"/>
          <p:cNvSpPr/>
          <p:nvPr/>
        </p:nvSpPr>
        <p:spPr>
          <a:xfrm>
            <a:off x="5867400" y="4561634"/>
            <a:ext cx="567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Values: [REQUIRES SUPPLIER] · Diagram not to scale</a:t>
            </a:r>
            <a:endParaRPr lang="en-US" sz="1200" dirty="0"/>
          </a:p>
        </p:txBody>
      </p:sp>
      <p:sp>
        <p:nvSpPr>
          <p:cNvPr id="13"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ARTWORK</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19 · PRODUCTION PDF STANDARD · PENDING PREPRESS STANDARD</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export follows the printer's actual workflow.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Export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PDF standard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Output intent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or outlined, as the supplier requires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Transparencies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and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Set from the approved supplier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layer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Separate, named, non-printing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Varnish, foil, emboss layers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Named spot layers where the job uses them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49205"/>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PDF/X version is chosen until the printer workflow is known.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20 · PRINT PRINCIPLES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Tactile, restrained, exact.</a:t>
            </a:r>
            <a:endParaRPr lang="en-US" sz="2800" dirty="0"/>
          </a:p>
        </p:txBody>
      </p:sp>
      <p:sp>
        <p:nvSpPr>
          <p:cNvPr id="4" name="Shape 2"/>
          <p:cNvSpPr/>
          <p:nvPr/>
        </p:nvSpPr>
        <p:spPr>
          <a:xfrm>
            <a:off x="812800" y="1823641"/>
            <a:ext cx="5207000" cy="4018359"/>
          </a:xfrm>
          <a:prstGeom prst="rect">
            <a:avLst/>
          </a:prstGeom>
          <a:solidFill>
            <a:srgbClr val="BCACA7"/>
          </a:solidFill>
          <a:ln/>
        </p:spPr>
        <p:txBody>
          <a:bodyPr/>
          <a:p/>
        </p:txBody>
      </p:sp>
      <p:sp>
        <p:nvSpPr>
          <p:cNvPr id="5" name="Text 3"/>
          <p:cNvSpPr/>
          <p:nvPr/>
        </p:nvSpPr>
        <p:spPr>
          <a:xfrm>
            <a:off x="1041400" y="20522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PRIORITISE</a:t>
            </a:r>
            <a:endParaRPr lang="en-US" sz="1200" dirty="0"/>
          </a:p>
        </p:txBody>
      </p:sp>
      <p:sp>
        <p:nvSpPr>
          <p:cNvPr id="6" name="Text 4"/>
          <p:cNvSpPr/>
          <p:nvPr/>
        </p:nvSpPr>
        <p:spPr>
          <a:xfrm>
            <a:off x="1041400" y="23671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Tactile quality</a:t>
            </a:r>
            <a:endParaRPr lang="en-US" sz="1400" dirty="0"/>
          </a:p>
        </p:txBody>
      </p:sp>
      <p:sp>
        <p:nvSpPr>
          <p:cNvPr id="7" name="Text 5"/>
          <p:cNvSpPr/>
          <p:nvPr/>
        </p:nvSpPr>
        <p:spPr>
          <a:xfrm>
            <a:off x="1041400" y="27176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Restraint</a:t>
            </a:r>
            <a:endParaRPr lang="en-US" sz="1400" dirty="0"/>
          </a:p>
        </p:txBody>
      </p:sp>
      <p:sp>
        <p:nvSpPr>
          <p:cNvPr id="8" name="Text 6"/>
          <p:cNvSpPr/>
          <p:nvPr/>
        </p:nvSpPr>
        <p:spPr>
          <a:xfrm>
            <a:off x="1041400" y="30681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Accurate colour</a:t>
            </a:r>
            <a:endParaRPr lang="en-US" sz="1400" dirty="0"/>
          </a:p>
        </p:txBody>
      </p:sp>
      <p:sp>
        <p:nvSpPr>
          <p:cNvPr id="9" name="Text 7"/>
          <p:cNvSpPr/>
          <p:nvPr/>
        </p:nvSpPr>
        <p:spPr>
          <a:xfrm>
            <a:off x="1041400" y="34186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Matte, controlled surfaces</a:t>
            </a:r>
            <a:endParaRPr lang="en-US" sz="1400" dirty="0"/>
          </a:p>
        </p:txBody>
      </p:sp>
      <p:sp>
        <p:nvSpPr>
          <p:cNvPr id="10" name="Text 8"/>
          <p:cNvSpPr/>
          <p:nvPr/>
        </p:nvSpPr>
        <p:spPr>
          <a:xfrm>
            <a:off x="1041400" y="37691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Precision</a:t>
            </a:r>
            <a:endParaRPr lang="en-US" sz="1400" dirty="0"/>
          </a:p>
        </p:txBody>
      </p:sp>
      <p:sp>
        <p:nvSpPr>
          <p:cNvPr id="11" name="Text 9"/>
          <p:cNvSpPr/>
          <p:nvPr/>
        </p:nvSpPr>
        <p:spPr>
          <a:xfrm>
            <a:off x="1041400" y="41196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Durable execution</a:t>
            </a:r>
            <a:endParaRPr lang="en-US" sz="1400" dirty="0"/>
          </a:p>
        </p:txBody>
      </p:sp>
      <p:sp>
        <p:nvSpPr>
          <p:cNvPr id="12" name="Shape 10"/>
          <p:cNvSpPr/>
          <p:nvPr/>
        </p:nvSpPr>
        <p:spPr>
          <a:xfrm>
            <a:off x="6153150" y="1829991"/>
            <a:ext cx="5219700" cy="4005659"/>
          </a:xfrm>
          <a:prstGeom prst="rect">
            <a:avLst/>
          </a:prstGeom>
          <a:noFill/>
          <a:ln w="12700">
            <a:solidFill>
              <a:srgbClr val="BCACA7"/>
            </a:solidFill>
            <a:prstDash val="dash"/>
          </a:ln>
        </p:spPr>
        <p:txBody>
          <a:bodyPr/>
          <a:p/>
        </p:txBody>
      </p:sp>
      <p:sp>
        <p:nvSpPr>
          <p:cNvPr id="13" name="Text 11"/>
          <p:cNvSpPr/>
          <p:nvPr/>
        </p:nvSpPr>
        <p:spPr>
          <a:xfrm>
            <a:off x="6388100" y="20649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4" name="Text 12"/>
          <p:cNvSpPr/>
          <p:nvPr/>
        </p:nvSpPr>
        <p:spPr>
          <a:xfrm>
            <a:off x="6388100" y="23798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Decorative gold as a default</a:t>
            </a:r>
            <a:endParaRPr lang="en-US" sz="1400" dirty="0"/>
          </a:p>
        </p:txBody>
      </p:sp>
      <p:sp>
        <p:nvSpPr>
          <p:cNvPr id="15" name="Text 13"/>
          <p:cNvSpPr/>
          <p:nvPr/>
        </p:nvSpPr>
        <p:spPr>
          <a:xfrm>
            <a:off x="6388100" y="27303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Chrome</a:t>
            </a:r>
            <a:endParaRPr lang="en-US" sz="1400" dirty="0"/>
          </a:p>
        </p:txBody>
      </p:sp>
      <p:sp>
        <p:nvSpPr>
          <p:cNvPr id="16" name="Text 14"/>
          <p:cNvSpPr/>
          <p:nvPr/>
        </p:nvSpPr>
        <p:spPr>
          <a:xfrm>
            <a:off x="6388100" y="30808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Holographic effects</a:t>
            </a:r>
            <a:endParaRPr lang="en-US" sz="1400" dirty="0"/>
          </a:p>
        </p:txBody>
      </p:sp>
      <p:sp>
        <p:nvSpPr>
          <p:cNvPr id="17" name="Text 15"/>
          <p:cNvSpPr/>
          <p:nvPr/>
        </p:nvSpPr>
        <p:spPr>
          <a:xfrm>
            <a:off x="6388100" y="34313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Excessive foil</a:t>
            </a:r>
            <a:endParaRPr lang="en-US" sz="1400" dirty="0"/>
          </a:p>
        </p:txBody>
      </p:sp>
      <p:sp>
        <p:nvSpPr>
          <p:cNvPr id="18" name="Text 16"/>
          <p:cNvSpPr/>
          <p:nvPr/>
        </p:nvSpPr>
        <p:spPr>
          <a:xfrm>
            <a:off x="6388100" y="37818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Heavy gloss</a:t>
            </a:r>
            <a:endParaRPr lang="en-US" sz="1400" dirty="0"/>
          </a:p>
        </p:txBody>
      </p:sp>
      <p:sp>
        <p:nvSpPr>
          <p:cNvPr id="19" name="Text 17"/>
          <p:cNvSpPr/>
          <p:nvPr/>
        </p:nvSpPr>
        <p:spPr>
          <a:xfrm>
            <a:off x="6388100" y="41323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Unnecessary effects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PRINT</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21 · PAPER AND BOARD</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Direction is set. Specification is not.</a:t>
            </a:r>
            <a:endParaRPr lang="en-US" sz="2600" dirty="0"/>
          </a:p>
        </p:txBody>
      </p:sp>
      <p:sp>
        <p:nvSpPr>
          <p:cNvPr id="4" name="Text 2"/>
          <p:cNvSpPr/>
          <p:nvPr/>
        </p:nvSpPr>
        <p:spPr>
          <a:xfrm>
            <a:off x="812800" y="5102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DIRECTION · PART A</a:t>
            </a:r>
            <a:endParaRPr lang="en-US" sz="1200" dirty="0"/>
          </a:p>
        </p:txBody>
      </p:sp>
      <p:sp>
        <p:nvSpPr>
          <p:cNvPr id="5" name="Text 3"/>
          <p:cNvSpPr/>
          <p:nvPr/>
        </p:nvSpPr>
        <p:spPr>
          <a:xfrm>
            <a:off x="812800" y="537974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Warm uncoated stock · Ink board · Beige · premium matte surfaces</a:t>
            </a:r>
            <a:endParaRPr lang="en-US" sz="1300" dirty="0"/>
          </a:p>
        </p:txBody>
      </p:sp>
      <p:sp>
        <p:nvSpPr>
          <p:cNvPr id="6" name="Text 4"/>
          <p:cNvSpPr/>
          <p:nvPr/>
        </p:nvSpPr>
        <p:spPr>
          <a:xfrm>
            <a:off x="5384800" y="1832868"/>
            <a:ext cx="617423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REMAIN OPEN UNTIL APPROVED SAMPLES EXIST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7500" y="2160488"/>
          <a:ext cx="5981700" cy="2661444"/>
        </p:xfrm>
        <a:graphic>
          <a:graphicData uri="http://schemas.openxmlformats.org/drawingml/2006/table">
            <a:tbl>
              <a:tblPr/>
              <a:tblGrid>
                <a:gridCol w="2691765"/>
                <a:gridCol w="3289935"/>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Attribute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Caliper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Recycled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Coating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22 · SPECIAL FINISHES · PENDING PHYSICAL PROOF</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 approved directions. Each needs a physical test.</a:t>
            </a:r>
            <a:endParaRPr lang="en-US" sz="2600" dirty="0"/>
          </a:p>
        </p:txBody>
      </p:sp>
      <p:sp>
        <p:nvSpPr>
          <p:cNvPr id="4" name="Shape 2"/>
          <p:cNvSpPr/>
          <p:nvPr/>
        </p:nvSpPr>
        <p:spPr>
          <a:xfrm>
            <a:off x="819150" y="1751261"/>
            <a:ext cx="2552700" cy="927050"/>
          </a:xfrm>
          <a:prstGeom prst="rect">
            <a:avLst/>
          </a:prstGeom>
          <a:noFill/>
          <a:ln w="12700">
            <a:solidFill>
              <a:srgbClr val="BCACA7"/>
            </a:solidFill>
            <a:prstDash val="solid"/>
          </a:ln>
        </p:spPr>
        <p:txBody>
          <a:bodyPr/>
          <a:p/>
        </p:txBody>
      </p:sp>
      <p:sp>
        <p:nvSpPr>
          <p:cNvPr id="5" name="Text 3"/>
          <p:cNvSpPr/>
          <p:nvPr/>
        </p:nvSpPr>
        <p:spPr>
          <a:xfrm>
            <a:off x="990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Deboss</a:t>
            </a:r>
            <a:endParaRPr lang="en-US" sz="1800" dirty="0"/>
          </a:p>
        </p:txBody>
      </p:sp>
      <p:sp>
        <p:nvSpPr>
          <p:cNvPr id="6" name="Text 4"/>
          <p:cNvSpPr/>
          <p:nvPr/>
        </p:nvSpPr>
        <p:spPr>
          <a:xfrm>
            <a:off x="990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7" name="Shape 5"/>
          <p:cNvSpPr/>
          <p:nvPr/>
        </p:nvSpPr>
        <p:spPr>
          <a:xfrm>
            <a:off x="3486150" y="1751261"/>
            <a:ext cx="2552700" cy="927050"/>
          </a:xfrm>
          <a:prstGeom prst="rect">
            <a:avLst/>
          </a:prstGeom>
          <a:noFill/>
          <a:ln w="12700">
            <a:solidFill>
              <a:srgbClr val="BCACA7"/>
            </a:solidFill>
            <a:prstDash val="solid"/>
          </a:ln>
        </p:spPr>
        <p:txBody>
          <a:bodyPr/>
          <a:p/>
        </p:txBody>
      </p:sp>
      <p:sp>
        <p:nvSpPr>
          <p:cNvPr id="8" name="Text 6"/>
          <p:cNvSpPr/>
          <p:nvPr/>
        </p:nvSpPr>
        <p:spPr>
          <a:xfrm>
            <a:off x="3657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Blind emboss</a:t>
            </a:r>
            <a:endParaRPr lang="en-US" sz="1800" dirty="0"/>
          </a:p>
        </p:txBody>
      </p:sp>
      <p:sp>
        <p:nvSpPr>
          <p:cNvPr id="9" name="Text 7"/>
          <p:cNvSpPr/>
          <p:nvPr/>
        </p:nvSpPr>
        <p:spPr>
          <a:xfrm>
            <a:off x="3657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0" name="Shape 8"/>
          <p:cNvSpPr/>
          <p:nvPr/>
        </p:nvSpPr>
        <p:spPr>
          <a:xfrm>
            <a:off x="6153150" y="1751261"/>
            <a:ext cx="2552700" cy="927050"/>
          </a:xfrm>
          <a:prstGeom prst="rect">
            <a:avLst/>
          </a:prstGeom>
          <a:noFill/>
          <a:ln w="12700">
            <a:solidFill>
              <a:srgbClr val="BCACA7"/>
            </a:solidFill>
            <a:prstDash val="solid"/>
          </a:ln>
        </p:spPr>
        <p:txBody>
          <a:bodyPr/>
          <a:p/>
        </p:txBody>
      </p:sp>
      <p:sp>
        <p:nvSpPr>
          <p:cNvPr id="11" name="Text 9"/>
          <p:cNvSpPr/>
          <p:nvPr/>
        </p:nvSpPr>
        <p:spPr>
          <a:xfrm>
            <a:off x="6324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Soft-touch</a:t>
            </a:r>
            <a:endParaRPr lang="en-US" sz="1800" dirty="0"/>
          </a:p>
        </p:txBody>
      </p:sp>
      <p:sp>
        <p:nvSpPr>
          <p:cNvPr id="12" name="Text 10"/>
          <p:cNvSpPr/>
          <p:nvPr/>
        </p:nvSpPr>
        <p:spPr>
          <a:xfrm>
            <a:off x="6324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3" name="Shape 11"/>
          <p:cNvSpPr/>
          <p:nvPr/>
        </p:nvSpPr>
        <p:spPr>
          <a:xfrm>
            <a:off x="8820150" y="1751261"/>
            <a:ext cx="2552700" cy="927050"/>
          </a:xfrm>
          <a:prstGeom prst="rect">
            <a:avLst/>
          </a:prstGeom>
          <a:noFill/>
          <a:ln w="12700">
            <a:solidFill>
              <a:srgbClr val="BCACA7"/>
            </a:solidFill>
            <a:prstDash val="solid"/>
          </a:ln>
        </p:spPr>
        <p:txBody>
          <a:bodyPr/>
          <a:p/>
        </p:txBody>
      </p:sp>
      <p:sp>
        <p:nvSpPr>
          <p:cNvPr id="14" name="Text 12"/>
          <p:cNvSpPr/>
          <p:nvPr/>
        </p:nvSpPr>
        <p:spPr>
          <a:xfrm>
            <a:off x="8991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Precision die-cut</a:t>
            </a:r>
            <a:endParaRPr lang="en-US" sz="1800" dirty="0"/>
          </a:p>
        </p:txBody>
      </p:sp>
      <p:sp>
        <p:nvSpPr>
          <p:cNvPr id="15" name="Text 13"/>
          <p:cNvSpPr/>
          <p:nvPr/>
        </p:nvSpPr>
        <p:spPr>
          <a:xfrm>
            <a:off x="8991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6" name="Text 14"/>
          <p:cNvSpPr/>
          <p:nvPr/>
        </p:nvSpPr>
        <p:spPr>
          <a:xfrm>
            <a:off x="812800" y="28624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NOT DEFINED UNTIL SUPPLIER TRIALS ARE COMPLETE</a:t>
            </a:r>
            <a:endParaRPr lang="en-US" sz="1200" dirty="0"/>
          </a:p>
        </p:txBody>
      </p:sp>
      <p:sp>
        <p:nvSpPr>
          <p:cNvPr id="17" name="Text 15"/>
          <p:cNvSpPr/>
          <p:nvPr/>
        </p:nvSpPr>
        <p:spPr>
          <a:xfrm>
            <a:off x="819150"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Depth</a:t>
            </a:r>
            <a:endParaRPr lang="en-US" sz="1200" dirty="0"/>
          </a:p>
        </p:txBody>
      </p:sp>
      <p:sp>
        <p:nvSpPr>
          <p:cNvPr id="18" name="Text 16"/>
          <p:cNvSpPr/>
          <p:nvPr/>
        </p:nvSpPr>
        <p:spPr>
          <a:xfrm>
            <a:off x="4366667"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Pressure</a:t>
            </a:r>
            <a:endParaRPr lang="en-US" sz="1200" dirty="0"/>
          </a:p>
        </p:txBody>
      </p:sp>
      <p:sp>
        <p:nvSpPr>
          <p:cNvPr id="19" name="Text 17"/>
          <p:cNvSpPr/>
          <p:nvPr/>
        </p:nvSpPr>
        <p:spPr>
          <a:xfrm>
            <a:off x="7914184" y="3158331"/>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Plate specification</a:t>
            </a:r>
            <a:endParaRPr lang="en-US" sz="1200" dirty="0"/>
          </a:p>
        </p:txBody>
      </p:sp>
      <p:sp>
        <p:nvSpPr>
          <p:cNvPr id="20" name="Text 18"/>
          <p:cNvSpPr/>
          <p:nvPr/>
        </p:nvSpPr>
        <p:spPr>
          <a:xfrm>
            <a:off x="819150"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Minimum feature size</a:t>
            </a:r>
            <a:endParaRPr lang="en-US" sz="1200" dirty="0"/>
          </a:p>
        </p:txBody>
      </p:sp>
      <p:sp>
        <p:nvSpPr>
          <p:cNvPr id="21" name="Text 19"/>
          <p:cNvSpPr/>
          <p:nvPr/>
        </p:nvSpPr>
        <p:spPr>
          <a:xfrm>
            <a:off x="4366667"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Registration tolerance</a:t>
            </a:r>
            <a:endParaRPr lang="en-US" sz="1200" dirty="0"/>
          </a:p>
        </p:txBody>
      </p:sp>
      <p:sp>
        <p:nvSpPr>
          <p:cNvPr id="22" name="Text 20"/>
          <p:cNvSpPr/>
          <p:nvPr/>
        </p:nvSpPr>
        <p:spPr>
          <a:xfrm>
            <a:off x="7914184" y="3625652"/>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Tooling</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MATERIALS</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23 · FOIL AND METALLIC USE</a:t>
            </a:r>
            <a:endParaRPr lang="en-US" sz="1200" dirty="0"/>
          </a:p>
        </p:txBody>
      </p:sp>
      <p:sp>
        <p:nvSpPr>
          <p:cNvPr id="3" name="Text 1"/>
          <p:cNvSpPr/>
          <p:nvPr>
            <p:ph type="title"/>
          </p:nvPr>
        </p:nvSpPr>
        <p:spPr>
          <a:xfrm>
            <a:off x="812800" y="125472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Gold is not a GEM colour. Foil is not a default.</a:t>
            </a:r>
            <a:endParaRPr lang="en-US" sz="4000" dirty="0"/>
          </a:p>
        </p:txBody>
      </p:sp>
      <p:sp>
        <p:nvSpPr>
          <p:cNvPr id="4" name="Text 2"/>
          <p:cNvSpPr/>
          <p:nvPr/>
        </p:nvSpPr>
        <p:spPr>
          <a:xfrm>
            <a:off x="812800" y="5020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IF A PROJECT REQUIRES METALLIC PRODUCTION</a:t>
            </a:r>
            <a:endParaRPr lang="en-US" sz="1200" dirty="0"/>
          </a:p>
        </p:txBody>
      </p:sp>
      <p:sp>
        <p:nvSpPr>
          <p:cNvPr id="5" name="Text 3"/>
          <p:cNvSpPr/>
          <p:nvPr/>
        </p:nvSpPr>
        <p:spPr>
          <a:xfrm>
            <a:off x="819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1 · Brand Owner approval</a:t>
            </a:r>
            <a:endParaRPr lang="en-US" sz="1400" dirty="0"/>
          </a:p>
        </p:txBody>
      </p:sp>
      <p:sp>
        <p:nvSpPr>
          <p:cNvPr id="6" name="Text 4"/>
          <p:cNvSpPr/>
          <p:nvPr/>
        </p:nvSpPr>
        <p:spPr>
          <a:xfrm>
            <a:off x="4375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2 · Physical proof</a:t>
            </a:r>
            <a:endParaRPr lang="en-US" sz="1400" dirty="0"/>
          </a:p>
        </p:txBody>
      </p:sp>
      <p:sp>
        <p:nvSpPr>
          <p:cNvPr id="7" name="Text 5"/>
          <p:cNvSpPr/>
          <p:nvPr/>
        </p:nvSpPr>
        <p:spPr>
          <a:xfrm>
            <a:off x="7931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3 · A project-specific standard</a:t>
            </a:r>
            <a:endParaRPr lang="en-US" sz="14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PACKAGING</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Governance, SKU record, dielines, regulatory copy, codes and proof.</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24 · PACKAGING GOVERNANCE · CONDITIONAL</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One packaging system. Three tiers. Nothing invented.</a:t>
            </a:r>
            <a:endParaRPr lang="en-US" sz="2600" dirty="0"/>
          </a:p>
        </p:txBody>
      </p:sp>
      <p:sp>
        <p:nvSpPr>
          <p:cNvPr id="4" name="Shape 2"/>
          <p:cNvSpPr/>
          <p:nvPr/>
        </p:nvSpPr>
        <p:spPr>
          <a:xfrm>
            <a:off x="819150" y="1700461"/>
            <a:ext cx="3441700" cy="909241"/>
          </a:xfrm>
          <a:prstGeom prst="rect">
            <a:avLst/>
          </a:prstGeom>
          <a:noFill/>
          <a:ln w="12700">
            <a:solidFill>
              <a:srgbClr val="12171D"/>
            </a:solidFill>
            <a:prstDash val="solid"/>
          </a:ln>
        </p:spPr>
        <p:txBody>
          <a:bodyPr/>
          <a:p/>
        </p:txBody>
      </p:sp>
      <p:sp>
        <p:nvSpPr>
          <p:cNvPr id="5" name="Text 3"/>
          <p:cNvSpPr/>
          <p:nvPr/>
        </p:nvSpPr>
        <p:spPr>
          <a:xfrm>
            <a:off x="990600" y="1871911"/>
            <a:ext cx="3191764" cy="327620"/>
          </a:xfrm>
          <a:prstGeom prst="rect">
            <a:avLst/>
          </a:prstGeom>
          <a:noFill/>
          <a:ln/>
        </p:spPr>
        <p:txBody>
          <a:bodyPr wrap="square" lIns="0" tIns="0" rIns="0" bIns="0" rtlCol="0" anchor="t"/>
          <a:lstStyle/>
          <a:p>
            <a:pPr algn="l" indent="0" marL="0">
              <a:lnSpc>
                <a:spcPts val="2380"/>
              </a:lnSpc>
              <a:buNone/>
            </a:pPr>
            <a:r>
              <a:rPr lang="en-US" sz="1300" spc="35" kern="0" dirty="0">
                <a:solidFill>
                  <a:srgbClr val="12171D"/>
                </a:solidFill>
                <a:latin typeface="Jost" pitchFamily="34" charset="0"/>
                <a:ea typeface="Jost" pitchFamily="34" charset="-122"/>
                <a:cs typeface="Jost" pitchFamily="34" charset="-120"/>
              </a:rPr>
              <a:t>Core Collection [REQUIRES OWNER]</a:t>
            </a:r>
            <a:endParaRPr lang="en-US" sz="1700" dirty="0"/>
          </a:p>
        </p:txBody>
      </p:sp>
      <p:sp>
        <p:nvSpPr>
          <p:cNvPr id="6" name="Text 4"/>
          <p:cNvSpPr/>
          <p:nvPr/>
        </p:nvSpPr>
        <p:spPr>
          <a:xfrm>
            <a:off x="990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7" name="Shape 5"/>
          <p:cNvSpPr/>
          <p:nvPr/>
        </p:nvSpPr>
        <p:spPr>
          <a:xfrm>
            <a:off x="4375150" y="1700461"/>
            <a:ext cx="3441700" cy="909241"/>
          </a:xfrm>
          <a:prstGeom prst="rect">
            <a:avLst/>
          </a:prstGeom>
          <a:noFill/>
          <a:ln w="12700">
            <a:solidFill>
              <a:srgbClr val="12171D"/>
            </a:solidFill>
            <a:prstDash val="solid"/>
          </a:ln>
        </p:spPr>
        <p:txBody>
          <a:bodyPr/>
          <a:p/>
        </p:txBody>
      </p:sp>
      <p:sp>
        <p:nvSpPr>
          <p:cNvPr id="8" name="Text 6"/>
          <p:cNvSpPr/>
          <p:nvPr/>
        </p:nvSpPr>
        <p:spPr>
          <a:xfrm>
            <a:off x="4546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Property Edition</a:t>
            </a:r>
            <a:endParaRPr lang="en-US" sz="1700" dirty="0"/>
          </a:p>
        </p:txBody>
      </p:sp>
      <p:sp>
        <p:nvSpPr>
          <p:cNvPr id="9" name="Text 7"/>
          <p:cNvSpPr/>
          <p:nvPr/>
        </p:nvSpPr>
        <p:spPr>
          <a:xfrm>
            <a:off x="4546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0" name="Shape 8"/>
          <p:cNvSpPr/>
          <p:nvPr/>
        </p:nvSpPr>
        <p:spPr>
          <a:xfrm>
            <a:off x="7931150" y="1700461"/>
            <a:ext cx="3441700" cy="909241"/>
          </a:xfrm>
          <a:prstGeom prst="rect">
            <a:avLst/>
          </a:prstGeom>
          <a:noFill/>
          <a:ln w="12700">
            <a:solidFill>
              <a:srgbClr val="12171D"/>
            </a:solidFill>
            <a:prstDash val="solid"/>
          </a:ln>
        </p:spPr>
        <p:txBody>
          <a:bodyPr/>
          <a:p/>
        </p:txBody>
      </p:sp>
      <p:sp>
        <p:nvSpPr>
          <p:cNvPr id="11" name="Text 9"/>
          <p:cNvSpPr/>
          <p:nvPr/>
        </p:nvSpPr>
        <p:spPr>
          <a:xfrm>
            <a:off x="8102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Bespoke Programme</a:t>
            </a:r>
            <a:endParaRPr lang="en-US" sz="1700" dirty="0"/>
          </a:p>
        </p:txBody>
      </p:sp>
      <p:sp>
        <p:nvSpPr>
          <p:cNvPr id="12" name="Text 10"/>
          <p:cNvSpPr/>
          <p:nvPr/>
        </p:nvSpPr>
        <p:spPr>
          <a:xfrm>
            <a:off x="8102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3" name="Text 11"/>
          <p:cNvSpPr/>
          <p:nvPr/>
        </p:nvSpPr>
        <p:spPr>
          <a:xfrm>
            <a:off x="812800" y="2768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GEM™ — AMENITIES &amp; PACKAGING IS A DESCRIPTIVE STREAM</a:t>
            </a:r>
            <a:endParaRPr lang="en-US" sz="1200" dirty="0"/>
          </a:p>
        </p:txBody>
      </p:sp>
      <p:sp>
        <p:nvSpPr>
          <p:cNvPr id="14" name="Text 12"/>
          <p:cNvSpPr/>
          <p:nvPr/>
        </p:nvSpPr>
        <p:spPr>
          <a:xfrm>
            <a:off x="812800" y="3134171"/>
            <a:ext cx="10883392" cy="640080"/>
          </a:xfrm>
          <a:prstGeom prst="rect">
            <a:avLst/>
          </a:prstGeom>
          <a:noFill/>
          <a:ln/>
        </p:spPr>
        <p:txBody>
          <a:bodyPr wrap="square" lIns="0" tIns="0" rIns="0" bIns="0" rtlCol="0" anchor="t"/>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It is not a separate brand, symbol or colour system. Every pack carries the one GEM identity. All tiers are CONDITIONAL until commercial scope closes (AC03, VAL-01). The register names Property Edition and Bespoke programmes (E14); it does not name Core Collection.</a:t>
            </a:r>
            <a:endParaRPr lang="en-US" sz="1400" dirty="0"/>
          </a:p>
        </p:txBody>
      </p:sp>
      <p:sp>
        <p:nvSpPr>
          <p:cNvPr id="15" name="Text 13"/>
          <p:cNvSpPr/>
          <p:nvPr/>
        </p:nvSpPr>
        <p:spPr>
          <a:xfrm>
            <a:off x="8191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Packaging owner · [REQUIRES OWNER]</a:t>
            </a:r>
            <a:endParaRPr lang="en-US" sz="1200" dirty="0"/>
          </a:p>
        </p:txBody>
      </p:sp>
      <p:sp>
        <p:nvSpPr>
          <p:cNvPr id="16" name="Text 14"/>
          <p:cNvSpPr/>
          <p:nvPr/>
        </p:nvSpPr>
        <p:spPr>
          <a:xfrm>
            <a:off x="61404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reviewer · [REQUIRES OWNER]</a:t>
            </a:r>
            <a:endParaRPr lang="en-US" sz="12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25 · PILOT FAMILY · PENDING PRODUCTION MASTER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Five products define the pilot.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1996083"/>
        </p:xfrm>
        <a:graphic>
          <a:graphicData uri="http://schemas.openxmlformats.org/drawingml/2006/table">
            <a:tbl>
              <a:tblPr/>
              <a:tblGrid>
                <a:gridCol w="2532888"/>
                <a:gridCol w="2005203"/>
                <a:gridCol w="2005203"/>
                <a:gridCol w="2005203"/>
                <a:gridCol w="2005203"/>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Format</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Shampoo</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Conditioner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Lotion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Hand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385529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No formulation, ingredient, claim, origin, supplier, MOQ or price is stated in this standard.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26 · INFORMATION HIERARCHY</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Six levels, always in this order.</a:t>
            </a:r>
            <a:endParaRPr lang="en-US" sz="2600" dirty="0"/>
          </a:p>
        </p:txBody>
      </p:sp>
      <p:sp>
        <p:nvSpPr>
          <p:cNvPr id="4" name="Text 2"/>
          <p:cNvSpPr/>
          <p:nvPr/>
        </p:nvSpPr>
        <p:spPr>
          <a:xfrm>
            <a:off x="812800" y="5415359"/>
            <a:ext cx="4185920" cy="6400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Top to bottom is the order of visual weight. The layout may flex; the order may not. Six levels as approved (T05); Part A slide 61 states the same.</a:t>
            </a:r>
            <a:endParaRPr lang="en-US" sz="1200" dirty="0"/>
          </a:p>
        </p:txBody>
      </p:sp>
      <p:sp>
        <p:nvSpPr>
          <p:cNvPr id="5" name="Text 3"/>
          <p:cNvSpPr/>
          <p:nvPr/>
        </p:nvSpPr>
        <p:spPr>
          <a:xfrm>
            <a:off x="5391150" y="1560909"/>
            <a:ext cx="5981700" cy="439390"/>
          </a:xfrm>
          <a:prstGeom prst="rect">
            <a:avLst/>
          </a:prstGeom>
          <a:solidFill>
            <a:srgbClr val="12171D"/>
          </a:solid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1 · GEM</a:t>
            </a:r>
            <a:endParaRPr lang="en-US" sz="1400" dirty="0"/>
          </a:p>
        </p:txBody>
      </p:sp>
      <p:sp>
        <p:nvSpPr>
          <p:cNvPr id="6" name="Text 4"/>
          <p:cNvSpPr/>
          <p:nvPr/>
        </p:nvSpPr>
        <p:spPr>
          <a:xfrm>
            <a:off x="5391150" y="207650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2 · Collection / tier</a:t>
            </a:r>
            <a:endParaRPr lang="en-US" sz="1400" dirty="0"/>
          </a:p>
        </p:txBody>
      </p:sp>
      <p:sp>
        <p:nvSpPr>
          <p:cNvPr id="7" name="Text 5"/>
          <p:cNvSpPr/>
          <p:nvPr/>
        </p:nvSpPr>
        <p:spPr>
          <a:xfrm>
            <a:off x="5391150" y="259209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3 · Product / function</a:t>
            </a:r>
            <a:endParaRPr lang="en-US" sz="1400" dirty="0"/>
          </a:p>
        </p:txBody>
      </p:sp>
      <p:sp>
        <p:nvSpPr>
          <p:cNvPr id="9" name="Text 7"/>
          <p:cNvSpPr/>
          <p:nvPr/>
        </p:nvSpPr>
        <p:spPr>
          <a:xfrm>
            <a:off x="5391150" y="3106635"/>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4 · Quantity / size</a:t>
            </a:r>
            <a:endParaRPr lang="en-US" sz="1400" dirty="0"/>
          </a:p>
        </p:txBody>
      </p:sp>
      <p:sp>
        <p:nvSpPr>
          <p:cNvPr id="10" name="Text 8"/>
          <p:cNvSpPr/>
          <p:nvPr/>
        </p:nvSpPr>
        <p:spPr>
          <a:xfrm>
            <a:off x="5391150" y="3622226"/>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5 · Instructions / market information</a:t>
            </a:r>
            <a:endParaRPr lang="en-US" sz="1400" dirty="0"/>
          </a:p>
        </p:txBody>
      </p:sp>
      <p:sp>
        <p:nvSpPr>
          <p:cNvPr id="11" name="Text 9"/>
          <p:cNvSpPr/>
          <p:nvPr/>
        </p:nvSpPr>
        <p:spPr>
          <a:xfrm>
            <a:off x="5391150" y="4137816"/>
            <a:ext cx="5981700" cy="439390"/>
          </a:xfrm>
          <a:prstGeom prst="rect">
            <a:avLst/>
          </a:prstGeom>
          <a:noFill/>
          <a:ln w="12700">
            <a:solidFill>
              <a:srgbClr val="12171D"/>
            </a:solidFill>
            <a:prstDash val="dash"/>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6 · SKU / artwork version · [PENDING]</a:t>
            </a:r>
            <a:endParaRPr lang="en-US" sz="14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27 · SKU MASTER RECORD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One record per SKU. Artwork follows the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326805"/>
        </p:xfrm>
        <a:graphic>
          <a:graphicData uri="http://schemas.openxmlformats.org/drawingml/2006/table">
            <a:tbl>
              <a:tblPr/>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and function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and unit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and 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status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28 · DIELINE CONTROL · PENDING PRODUCTION MASTER</a:t>
            </a:r>
            <a:endParaRPr lang="en-US" sz="1200" dirty="0"/>
          </a:p>
        </p:txBody>
      </p:sp>
      <p:sp>
        <p:nvSpPr>
          <p:cNvPr id="3" name="Text 1"/>
          <p:cNvSpPr/>
          <p:nvPr>
            <p:ph type="title"/>
          </p:nvPr>
        </p:nvSpPr>
        <p:spPr>
          <a:xfrm>
            <a:off x="812800" y="1391841"/>
            <a:ext cx="457835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is the only dieline.</a:t>
            </a:r>
            <a:endParaRPr lang="en-US" sz="2600" dirty="0"/>
          </a:p>
        </p:txBody>
      </p:sp>
      <p:sp>
        <p:nvSpPr>
          <p:cNvPr id="4" name="Text 2"/>
          <p:cNvSpPr/>
          <p:nvPr/>
        </p:nvSpPr>
        <p:spPr>
          <a:xfrm>
            <a:off x="812800" y="2270621"/>
            <a:ext cx="45783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GEM artwork is built onto a supplier-issued dieline. No dimension is set in this standard.</a:t>
            </a:r>
            <a:endParaRPr lang="en-US" sz="1300" dirty="0"/>
          </a:p>
        </p:txBody>
      </p:sp>
      <p:sp>
        <p:nvSpPr>
          <p:cNvPr id="5" name="Text 3"/>
          <p:cNvSpPr/>
          <p:nvPr/>
        </p:nvSpPr>
        <p:spPr>
          <a:xfrm>
            <a:off x="8191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Trim size</a:t>
            </a:r>
            <a:endParaRPr lang="en-US" sz="1200" dirty="0"/>
          </a:p>
        </p:txBody>
      </p:sp>
      <p:sp>
        <p:nvSpPr>
          <p:cNvPr id="6" name="Text 4"/>
          <p:cNvSpPr/>
          <p:nvPr/>
        </p:nvSpPr>
        <p:spPr>
          <a:xfrm>
            <a:off x="30797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Bleed</a:t>
            </a:r>
            <a:endParaRPr lang="en-US" sz="1200" dirty="0"/>
          </a:p>
        </p:txBody>
      </p:sp>
      <p:sp>
        <p:nvSpPr>
          <p:cNvPr id="7" name="Text 5"/>
          <p:cNvSpPr/>
          <p:nvPr/>
        </p:nvSpPr>
        <p:spPr>
          <a:xfrm>
            <a:off x="8191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Safe area</a:t>
            </a:r>
            <a:endParaRPr lang="en-US" sz="1200" dirty="0"/>
          </a:p>
        </p:txBody>
      </p:sp>
      <p:sp>
        <p:nvSpPr>
          <p:cNvPr id="8" name="Text 6"/>
          <p:cNvSpPr/>
          <p:nvPr/>
        </p:nvSpPr>
        <p:spPr>
          <a:xfrm>
            <a:off x="30797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Glue flap</a:t>
            </a:r>
            <a:endParaRPr lang="en-US" sz="1200" dirty="0"/>
          </a:p>
        </p:txBody>
      </p:sp>
      <p:pic>
        <p:nvPicPr>
          <p:cNvPr id="9" name="Image 0" descr="Dieline schematic showing the roles of trim, bleed, safe area and glue flap. No dimensions." title="Dieline schematic showing the roles of trim, bleed, safe are">    </p:cNvPr>
          <p:cNvPicPr>
            <a:picLocks noChangeAspect="1"/>
          </p:cNvPicPr>
          <p:nvPr/>
        </p:nvPicPr>
        <p:blipFill>
          <a:blip r:embed="rId1"/>
          <a:srcRect l="0" r="0" t="0" b="0"/>
          <a:stretch/>
        </p:blipFill>
        <p:spPr>
          <a:xfrm>
            <a:off x="5727700" y="1295400"/>
            <a:ext cx="5588000" cy="4064000"/>
          </a:xfrm>
          <a:prstGeom prst="rect">
            <a:avLst/>
          </a:prstGeom>
        </p:spPr>
      </p:pic>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29 · STRUCTURAL FRAMEWORK · REQUIRES SUPPLIER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Structure is a supplier decision, tested before release.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Element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Bottle or tube 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Resin /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Decoration method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 BY PROCESS TEST]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Carton and inner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Compatibility and durability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Recyclability claim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Brand direction asks for matte, restrained surfaces. It does not choose a material.</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30 · REGULATORY COPY · REGULATORY REVIEW REQUIRED</a:t>
            </a:r>
            <a:endParaRPr lang="en-US" sz="1200" dirty="0"/>
          </a:p>
        </p:txBody>
      </p:sp>
      <p:sp>
        <p:nvSpPr>
          <p:cNvPr id="3" name="Text 1"/>
          <p:cNvSpPr/>
          <p:nvPr>
            <p:ph type="title"/>
          </p:nvPr>
        </p:nvSpPr>
        <p:spPr>
          <a:xfrm>
            <a:off x="812800" y="1229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Brand does not write regulatory copy.</a:t>
            </a:r>
            <a:endParaRPr lang="en-US" sz="3000" dirty="0"/>
          </a:p>
        </p:txBody>
      </p:sp>
      <p:sp>
        <p:nvSpPr>
          <p:cNvPr id="4" name="Text 2"/>
          <p:cNvSpPr/>
          <p:nvPr/>
        </p:nvSpPr>
        <p:spPr>
          <a:xfrm>
            <a:off x="812800" y="1851620"/>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Ingredients, origin, claims, warnings, batch and expiry text are supplied by an accountable owner and reviewed per market before artwork is released.</a:t>
            </a:r>
            <a:endParaRPr lang="en-US" sz="1500" dirty="0"/>
          </a:p>
        </p:txBody>
      </p:sp>
      <p:sp>
        <p:nvSpPr>
          <p:cNvPr id="5" name="Text 3"/>
          <p:cNvSpPr/>
          <p:nvPr/>
        </p:nvSpPr>
        <p:spPr>
          <a:xfrm>
            <a:off x="819150"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p>
        </p:txBody>
      </p:sp>
      <p:sp>
        <p:nvSpPr>
          <p:cNvPr id="6" name="Text 4"/>
          <p:cNvSpPr/>
          <p:nvPr/>
        </p:nvSpPr>
        <p:spPr>
          <a:xfrm>
            <a:off x="4366667"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Origin</a:t>
            </a:r>
            <a:endParaRPr lang="en-US" sz="1200" dirty="0"/>
          </a:p>
        </p:txBody>
      </p:sp>
      <p:sp>
        <p:nvSpPr>
          <p:cNvPr id="7" name="Text 5"/>
          <p:cNvSpPr/>
          <p:nvPr/>
        </p:nvSpPr>
        <p:spPr>
          <a:xfrm>
            <a:off x="7914184" y="2594570"/>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Claims</a:t>
            </a:r>
            <a:endParaRPr lang="en-US" sz="1200" dirty="0"/>
          </a:p>
        </p:txBody>
      </p:sp>
      <p:sp>
        <p:nvSpPr>
          <p:cNvPr id="8" name="Text 6"/>
          <p:cNvSpPr/>
          <p:nvPr/>
        </p:nvSpPr>
        <p:spPr>
          <a:xfrm>
            <a:off x="819150"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Warnings</a:t>
            </a:r>
            <a:endParaRPr lang="en-US" sz="1200" dirty="0"/>
          </a:p>
        </p:txBody>
      </p:sp>
      <p:sp>
        <p:nvSpPr>
          <p:cNvPr id="9" name="Text 7"/>
          <p:cNvSpPr/>
          <p:nvPr/>
        </p:nvSpPr>
        <p:spPr>
          <a:xfrm>
            <a:off x="4366667"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Batch and expiry</a:t>
            </a:r>
            <a:endParaRPr lang="en-US" sz="1200" dirty="0"/>
          </a:p>
        </p:txBody>
      </p:sp>
      <p:sp>
        <p:nvSpPr>
          <p:cNvPr id="10" name="Text 8"/>
          <p:cNvSpPr/>
          <p:nvPr/>
        </p:nvSpPr>
        <p:spPr>
          <a:xfrm>
            <a:off x="7914184" y="30872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Market labelling</a:t>
            </a:r>
            <a:endParaRPr lang="en-US" sz="1200" dirty="0"/>
          </a:p>
        </p:txBody>
      </p:sp>
      <p:sp>
        <p:nvSpPr>
          <p:cNvPr id="11" name="Text 9"/>
          <p:cNvSpPr/>
          <p:nvPr/>
        </p:nvSpPr>
        <p:spPr>
          <a:xfrm>
            <a:off x="812800" y="370066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Typographic treatment follows GEM type rules. The words belong to the regulatory owner.</a:t>
            </a:r>
            <a:endParaRPr lang="en-US" sz="12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31 · BARCODES AND QR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Codes are scanned, not styled.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Symbology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Size and magnification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Quiet zone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Dark on light.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Recolouring or logo overlay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permitted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Latin digits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Scan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Code data and placement are issued by the owner. GEM never generates or alters them.</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32 · PACKAGING LANGUAGE · ARABIC PENDING VALIDATION</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Short, exact, measured.</a:t>
            </a:r>
            <a:endParaRPr lang="en-US" sz="2600" dirty="0"/>
          </a:p>
        </p:txBody>
      </p:sp>
      <p:sp>
        <p:nvSpPr>
          <p:cNvPr id="4" name="Shape 2"/>
          <p:cNvSpPr/>
          <p:nvPr/>
        </p:nvSpPr>
        <p:spPr>
          <a:xfrm>
            <a:off x="812800" y="1744911"/>
            <a:ext cx="5207000" cy="1658491"/>
          </a:xfrm>
          <a:prstGeom prst="rect">
            <a:avLst/>
          </a:prstGeom>
          <a:solidFill>
            <a:srgbClr val="BCACA7"/>
          </a:solidFill>
          <a:ln/>
        </p:spPr>
        <p:txBody>
          <a:bodyPr/>
          <a:p/>
        </p:txBody>
      </p:sp>
      <p:sp>
        <p:nvSpPr>
          <p:cNvPr id="5" name="Text 3"/>
          <p:cNvSpPr/>
          <p:nvPr/>
        </p:nvSpPr>
        <p:spPr>
          <a:xfrm>
            <a:off x="1016000" y="19481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USE</a:t>
            </a:r>
            <a:endParaRPr lang="en-US" sz="1200" dirty="0"/>
          </a:p>
        </p:txBody>
      </p:sp>
      <p:sp>
        <p:nvSpPr>
          <p:cNvPr id="6" name="Text 4"/>
          <p:cNvSpPr/>
          <p:nvPr/>
        </p:nvSpPr>
        <p:spPr>
          <a:xfrm>
            <a:off x="1016000" y="22503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Plain product and function names</a:t>
            </a:r>
            <a:endParaRPr lang="en-US" sz="1400" dirty="0"/>
          </a:p>
        </p:txBody>
      </p:sp>
      <p:sp>
        <p:nvSpPr>
          <p:cNvPr id="7" name="Text 5"/>
          <p:cNvSpPr/>
          <p:nvPr/>
        </p:nvSpPr>
        <p:spPr>
          <a:xfrm>
            <a:off x="1016000" y="25881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Verified quantities and units</a:t>
            </a:r>
            <a:endParaRPr lang="en-US" sz="1400" dirty="0"/>
          </a:p>
        </p:txBody>
      </p:sp>
      <p:sp>
        <p:nvSpPr>
          <p:cNvPr id="8" name="Text 6"/>
          <p:cNvSpPr/>
          <p:nvPr/>
        </p:nvSpPr>
        <p:spPr>
          <a:xfrm>
            <a:off x="1016000" y="29259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Sentence-case information lines</a:t>
            </a:r>
            <a:endParaRPr lang="en-US" sz="1400" dirty="0"/>
          </a:p>
        </p:txBody>
      </p:sp>
      <p:sp>
        <p:nvSpPr>
          <p:cNvPr id="9" name="Shape 7"/>
          <p:cNvSpPr/>
          <p:nvPr/>
        </p:nvSpPr>
        <p:spPr>
          <a:xfrm>
            <a:off x="6153150" y="1751261"/>
            <a:ext cx="5219700" cy="1645791"/>
          </a:xfrm>
          <a:prstGeom prst="rect">
            <a:avLst/>
          </a:prstGeom>
          <a:noFill/>
          <a:ln w="12700">
            <a:solidFill>
              <a:srgbClr val="BCACA7"/>
            </a:solidFill>
            <a:prstDash val="dash"/>
          </a:ln>
        </p:spPr>
        <p:txBody>
          <a:bodyPr/>
          <a:p/>
        </p:txBody>
      </p:sp>
      <p:sp>
        <p:nvSpPr>
          <p:cNvPr id="10" name="Text 8"/>
          <p:cNvSpPr/>
          <p:nvPr/>
        </p:nvSpPr>
        <p:spPr>
          <a:xfrm>
            <a:off x="6362700" y="19608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1" name="Text 9"/>
          <p:cNvSpPr/>
          <p:nvPr/>
        </p:nvSpPr>
        <p:spPr>
          <a:xfrm>
            <a:off x="6362700" y="22630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Superlatives and effusive claims</a:t>
            </a:r>
            <a:endParaRPr lang="en-US" sz="1400" dirty="0"/>
          </a:p>
        </p:txBody>
      </p:sp>
      <p:sp>
        <p:nvSpPr>
          <p:cNvPr id="12" name="Text 10"/>
          <p:cNvSpPr/>
          <p:nvPr/>
        </p:nvSpPr>
        <p:spPr>
          <a:xfrm>
            <a:off x="6362700" y="26008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Unverified benefits</a:t>
            </a:r>
            <a:endParaRPr lang="en-US" sz="1400" dirty="0"/>
          </a:p>
        </p:txBody>
      </p:sp>
      <p:sp>
        <p:nvSpPr>
          <p:cNvPr id="13" name="Text 11"/>
          <p:cNvSpPr/>
          <p:nvPr/>
        </p:nvSpPr>
        <p:spPr>
          <a:xfrm>
            <a:off x="6362700" y="29386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Translated tagline</a:t>
            </a:r>
            <a:endParaRPr lang="en-US" sz="1400" dirty="0"/>
          </a:p>
        </p:txBody>
      </p:sp>
      <p:sp>
        <p:nvSpPr>
          <p:cNvPr id="14" name="Text 12"/>
          <p:cNvSpPr/>
          <p:nvPr/>
        </p:nvSpPr>
        <p:spPr>
          <a:xfrm>
            <a:off x="812800" y="35812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Arabic pack copy is a working placeholder until native QA is complete. Never tracked, never mirrored.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33 · PACKAGING PHYSICAL PROOF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 pack is released from a screen.</a:t>
            </a:r>
            <a:endParaRPr lang="en-US" sz="2400" dirty="0"/>
          </a:p>
        </p:txBody>
      </p:sp>
      <p:sp>
        <p:nvSpPr>
          <p:cNvPr id="4" name="Text 2"/>
          <p:cNvSpPr/>
          <p:nvPr/>
        </p:nvSpPr>
        <p:spPr>
          <a:xfrm>
            <a:off x="81915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Colour against the physical standard</a:t>
            </a:r>
            <a:endParaRPr lang="en-US" sz="1300" dirty="0"/>
          </a:p>
        </p:txBody>
      </p:sp>
      <p:sp>
        <p:nvSpPr>
          <p:cNvPr id="5" name="Text 3"/>
          <p:cNvSpPr/>
          <p:nvPr/>
        </p:nvSpPr>
        <p:spPr>
          <a:xfrm>
            <a:off x="614680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Logo and type reproduction</a:t>
            </a:r>
            <a:endParaRPr lang="en-US" sz="1300" dirty="0"/>
          </a:p>
        </p:txBody>
      </p:sp>
      <p:sp>
        <p:nvSpPr>
          <p:cNvPr id="6" name="Text 4"/>
          <p:cNvSpPr/>
          <p:nvPr/>
        </p:nvSpPr>
        <p:spPr>
          <a:xfrm>
            <a:off x="81915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Finish and surface feel</a:t>
            </a:r>
            <a:endParaRPr lang="en-US" sz="1300" dirty="0"/>
          </a:p>
        </p:txBody>
      </p:sp>
      <p:sp>
        <p:nvSpPr>
          <p:cNvPr id="7" name="Text 5"/>
          <p:cNvSpPr/>
          <p:nvPr/>
        </p:nvSpPr>
        <p:spPr>
          <a:xfrm>
            <a:off x="614680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Dieline fit and fold</a:t>
            </a:r>
            <a:endParaRPr lang="en-US" sz="1300" dirty="0"/>
          </a:p>
        </p:txBody>
      </p:sp>
      <p:sp>
        <p:nvSpPr>
          <p:cNvPr id="8" name="Text 6"/>
          <p:cNvSpPr/>
          <p:nvPr/>
        </p:nvSpPr>
        <p:spPr>
          <a:xfrm>
            <a:off x="81915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Regulatory copy legibility</a:t>
            </a:r>
            <a:endParaRPr lang="en-US" sz="1300" dirty="0"/>
          </a:p>
        </p:txBody>
      </p:sp>
      <p:sp>
        <p:nvSpPr>
          <p:cNvPr id="9" name="Text 7"/>
          <p:cNvSpPr/>
          <p:nvPr/>
        </p:nvSpPr>
        <p:spPr>
          <a:xfrm>
            <a:off x="614680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Barcode scan result</a:t>
            </a:r>
            <a:endParaRPr lang="en-US" sz="1300" dirty="0"/>
          </a:p>
        </p:txBody>
      </p:sp>
      <p:sp>
        <p:nvSpPr>
          <p:cNvPr id="10" name="Text 8"/>
          <p:cNvSpPr/>
          <p:nvPr/>
        </p:nvSpPr>
        <p:spPr>
          <a:xfrm>
            <a:off x="81915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Durability and compatibility · [PENDING]</a:t>
            </a:r>
            <a:endParaRPr lang="en-US" sz="1300" dirty="0"/>
          </a:p>
        </p:txBody>
      </p:sp>
      <p:sp>
        <p:nvSpPr>
          <p:cNvPr id="11" name="Text 9"/>
          <p:cNvSpPr/>
          <p:nvPr/>
        </p:nvSpPr>
        <p:spPr>
          <a:xfrm>
            <a:off x="614680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Sign-off holder · [REQUIRES OWNER]</a:t>
            </a:r>
            <a:endParaRPr lang="en-US" sz="1300" dirty="0"/>
          </a:p>
        </p:txBody>
      </p:sp>
      <p:sp>
        <p:nvSpPr>
          <p:cNvPr id="12" name="Text 10"/>
          <p:cNvSpPr/>
          <p:nvPr/>
        </p:nvSpPr>
        <p:spPr>
          <a:xfrm>
            <a:off x="812800" y="392420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The approved sample enters the golden sample register and becomes the production reference.</a:t>
            </a:r>
            <a:endParaRPr lang="en-US" sz="12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ENVIRONMENT</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Signage, bilingual artwork, tactile, fabrication, corporate and large format.</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34 · ENVIRONMENTAL PRODUCTION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Principles are brand. Fabrication is the site's.</a:t>
            </a:r>
            <a:endParaRPr lang="en-US" sz="2600" dirty="0"/>
          </a:p>
        </p:txBody>
      </p:sp>
      <p:sp>
        <p:nvSpPr>
          <p:cNvPr id="4" name="Shape 2"/>
          <p:cNvSpPr/>
          <p:nvPr/>
        </p:nvSpPr>
        <p:spPr>
          <a:xfrm>
            <a:off x="819150" y="1700461"/>
            <a:ext cx="5207000" cy="1620391"/>
          </a:xfrm>
          <a:prstGeom prst="rect">
            <a:avLst/>
          </a:prstGeom>
          <a:noFill/>
          <a:ln w="12700">
            <a:solidFill>
              <a:srgbClr val="12171D"/>
            </a:solidFill>
            <a:prstDash val="solid"/>
          </a:ln>
        </p:spPr>
        <p:txBody>
          <a:bodyPr/>
          <a:p/>
        </p:txBody>
      </p:sp>
      <p:sp>
        <p:nvSpPr>
          <p:cNvPr id="5" name="Text 3"/>
          <p:cNvSpPr/>
          <p:nvPr/>
        </p:nvSpPr>
        <p:spPr>
          <a:xfrm>
            <a:off x="10160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FIXED BY GEM</a:t>
            </a:r>
            <a:endParaRPr lang="en-US" sz="1200" dirty="0"/>
          </a:p>
        </p:txBody>
      </p:sp>
      <p:sp>
        <p:nvSpPr>
          <p:cNvPr id="6" name="Text 4"/>
          <p:cNvSpPr/>
          <p:nvPr/>
        </p:nvSpPr>
        <p:spPr>
          <a:xfrm>
            <a:off x="10160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Palette and contrast</a:t>
            </a:r>
            <a:endParaRPr lang="en-US" sz="1400" dirty="0"/>
          </a:p>
        </p:txBody>
      </p:sp>
      <p:sp>
        <p:nvSpPr>
          <p:cNvPr id="7" name="Text 5"/>
          <p:cNvSpPr/>
          <p:nvPr/>
        </p:nvSpPr>
        <p:spPr>
          <a:xfrm>
            <a:off x="10160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Type hierarchy and glyph language</a:t>
            </a:r>
            <a:endParaRPr lang="en-US" sz="1400" dirty="0"/>
          </a:p>
        </p:txBody>
      </p:sp>
      <p:sp>
        <p:nvSpPr>
          <p:cNvPr id="8" name="Text 6"/>
          <p:cNvSpPr/>
          <p:nvPr/>
        </p:nvSpPr>
        <p:spPr>
          <a:xfrm>
            <a:off x="10160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Logo rules and clearspace</a:t>
            </a:r>
            <a:endParaRPr lang="en-US" sz="1400" dirty="0"/>
          </a:p>
        </p:txBody>
      </p:sp>
      <p:sp>
        <p:nvSpPr>
          <p:cNvPr id="9" name="Shape 7"/>
          <p:cNvSpPr/>
          <p:nvPr/>
        </p:nvSpPr>
        <p:spPr>
          <a:xfrm>
            <a:off x="6165850" y="1700461"/>
            <a:ext cx="5207000" cy="1620391"/>
          </a:xfrm>
          <a:prstGeom prst="rect">
            <a:avLst/>
          </a:prstGeom>
          <a:noFill/>
          <a:ln w="12700">
            <a:solidFill>
              <a:srgbClr val="12171D"/>
            </a:solidFill>
            <a:prstDash val="dash"/>
          </a:ln>
        </p:spPr>
        <p:txBody>
          <a:bodyPr/>
          <a:p/>
        </p:txBody>
      </p:sp>
      <p:sp>
        <p:nvSpPr>
          <p:cNvPr id="10" name="Text 8"/>
          <p:cNvSpPr/>
          <p:nvPr/>
        </p:nvSpPr>
        <p:spPr>
          <a:xfrm>
            <a:off x="63627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SET PER SITE · REQUIRES SITE VALIDATION</a:t>
            </a:r>
            <a:endParaRPr lang="en-US" sz="1200" dirty="0"/>
          </a:p>
        </p:txBody>
      </p:sp>
      <p:sp>
        <p:nvSpPr>
          <p:cNvPr id="11" name="Text 9"/>
          <p:cNvSpPr/>
          <p:nvPr/>
        </p:nvSpPr>
        <p:spPr>
          <a:xfrm>
            <a:off x="63627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Dimensions and mounting</a:t>
            </a:r>
            <a:endParaRPr lang="en-US" sz="1400" dirty="0"/>
          </a:p>
        </p:txBody>
      </p:sp>
      <p:sp>
        <p:nvSpPr>
          <p:cNvPr id="12" name="Text 10"/>
          <p:cNvSpPr/>
          <p:nvPr/>
        </p:nvSpPr>
        <p:spPr>
          <a:xfrm>
            <a:off x="63627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Material and illumination</a:t>
            </a:r>
            <a:endParaRPr lang="en-US" sz="1400" dirty="0"/>
          </a:p>
        </p:txBody>
      </p:sp>
      <p:sp>
        <p:nvSpPr>
          <p:cNvPr id="13" name="Text 11"/>
          <p:cNvSpPr/>
          <p:nvPr/>
        </p:nvSpPr>
        <p:spPr>
          <a:xfrm>
            <a:off x="63627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Viewing distance and tolerance</a:t>
            </a:r>
            <a:endParaRPr lang="en-US" sz="1400" dirty="0"/>
          </a:p>
        </p:txBody>
      </p:sp>
      <p:sp>
        <p:nvSpPr>
          <p:cNvPr id="14" name="Text 12"/>
          <p:cNvSpPr/>
          <p:nvPr/>
        </p:nvSpPr>
        <p:spPr>
          <a:xfrm>
            <a:off x="812800" y="347960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site dimension, illumination level, mounting method or fabrication tolerance is set in this standard.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35 · SIGN TYPE REGISTER · PROJECT-SPECIFIC</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sign type is registered before it is made.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2321814"/>
                <a:gridCol w="2743962"/>
                <a:gridCol w="2743962"/>
                <a:gridCol w="274396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Size and material</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a space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Directional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Guides movement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Identifies a door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Marks a service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Safety and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External / building 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the property from outside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 (S02)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36 · SIGNAGE ARTWORK · SUPPLIER SCALING</a:t>
            </a:r>
            <a:endParaRPr lang="en-US" sz="1200" dirty="0"/>
          </a:p>
        </p:txBody>
      </p:sp>
      <p:sp>
        <p:nvSpPr>
          <p:cNvPr id="3" name="Text 1"/>
          <p:cNvSpPr/>
          <p:nvPr>
            <p:ph type="title"/>
          </p:nvPr>
        </p:nvSpPr>
        <p:spPr>
          <a:xfrm>
            <a:off x="812800" y="1153120"/>
            <a:ext cx="6278880"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FFFFFF"/>
                </a:solidFill>
                <a:latin typeface="Jost" pitchFamily="34" charset="0"/>
                <a:ea typeface="Jost" pitchFamily="34" charset="-122"/>
                <a:cs typeface="Jost" pitchFamily="34" charset="-120"/>
              </a:rPr>
              <a:t>Scaled proportionally. Never redrawn.</a:t>
            </a:r>
            <a:endParaRPr lang="en-US" sz="2400" dirty="0"/>
          </a:p>
        </p:txBody>
      </p:sp>
      <p:sp>
        <p:nvSpPr>
          <p:cNvPr id="4" name="Text 2"/>
          <p:cNvSpPr/>
          <p:nvPr/>
        </p:nvSpPr>
        <p:spPr>
          <a:xfrm>
            <a:off x="812800" y="1615380"/>
            <a:ext cx="62788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Released vector artwork may be scaled proportionally by the supplier to the approved fabrication size. The artwork must not be redrawn, reshaped, re-spaced, stretched, compressed or reconstructed.</a:t>
            </a:r>
            <a:endParaRPr lang="en-US" sz="1300" dirty="0"/>
          </a:p>
        </p:txBody>
      </p:sp>
      <p:sp>
        <p:nvSpPr>
          <p:cNvPr id="5" name="Text 3"/>
          <p:cNvSpPr/>
          <p:nvPr/>
        </p:nvSpPr>
        <p:spPr>
          <a:xfrm>
            <a:off x="819150" y="244212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GEM master geometry remains unchanged</a:t>
            </a:r>
            <a:endParaRPr lang="en-US" sz="1200" dirty="0"/>
          </a:p>
        </p:txBody>
      </p:sp>
      <p:sp>
        <p:nvSpPr>
          <p:cNvPr id="6" name="Text 4"/>
          <p:cNvSpPr/>
          <p:nvPr/>
        </p:nvSpPr>
        <p:spPr>
          <a:xfrm>
            <a:off x="819150" y="285611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Supplier scaling is proportional only</a:t>
            </a:r>
            <a:endParaRPr lang="en-US" sz="1200" dirty="0"/>
          </a:p>
        </p:txBody>
      </p:sp>
      <p:sp>
        <p:nvSpPr>
          <p:cNvPr id="7" name="Text 5"/>
          <p:cNvSpPr/>
          <p:nvPr/>
        </p:nvSpPr>
        <p:spPr>
          <a:xfrm>
            <a:off x="819150" y="3270101"/>
            <a:ext cx="6083300" cy="337790"/>
          </a:xfrm>
          <a:prstGeom prst="rect">
            <a:avLst/>
          </a:prstGeom>
          <a:noFill/>
          <a:ln w="12700">
            <a:solidFill>
              <a:srgbClr val="BCACA7"/>
            </a:solidFill>
            <a:prstDash val="dash"/>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Minimum physical feature sizes · [TO BE VERIFIED BY PROCESS TEST]</a:t>
            </a:r>
            <a:endParaRPr lang="en-US" sz="1200" dirty="0"/>
          </a:p>
        </p:txBody>
      </p:sp>
      <p:sp>
        <p:nvSpPr>
          <p:cNvPr id="8" name="Text 6"/>
          <p:cNvSpPr/>
          <p:nvPr/>
        </p:nvSpPr>
        <p:spPr>
          <a:xfrm>
            <a:off x="819150" y="3684091"/>
            <a:ext cx="6083300" cy="53588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 limitation exposed by scaling goes to a deviation request (appendix K), never an independent change</a:t>
            </a:r>
            <a:endParaRPr lang="en-US" sz="1200" dirty="0"/>
          </a:p>
        </p:txBody>
      </p:sp>
      <p:sp>
        <p:nvSpPr>
          <p:cNvPr id="9" name="Text 7"/>
          <p:cNvSpPr/>
          <p:nvPr/>
        </p:nvSpPr>
        <p:spPr>
          <a:xfrm>
            <a:off x="819150" y="4296172"/>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Any fabrication-specific adaptation needs written approval</a:t>
            </a:r>
            <a:endParaRPr lang="en-US" sz="1200" dirty="0"/>
          </a:p>
        </p:txBody>
      </p:sp>
      <p:pic>
        <p:nvPicPr>
          <p:cNvPr id="10" name="Image 0" descr="Signage artwork zone schematic: symbol zone and text lines. No sizes." title="Signage artwork zone schematic: symbol zone and text lines. ">    </p:cNvPr>
          <p:cNvPicPr>
            <a:picLocks noChangeAspect="1"/>
          </p:cNvPicPr>
          <p:nvPr/>
        </p:nvPicPr>
        <p:blipFill>
          <a:blip r:embed="rId1"/>
          <a:srcRect l="0" r="0" t="0" b="0"/>
          <a:stretch/>
        </p:blipFill>
        <p:spPr>
          <a:xfrm>
            <a:off x="7315200" y="1803400"/>
            <a:ext cx="4064000" cy="3048000"/>
          </a:xfrm>
          <a:prstGeom prst="rect">
            <a:avLst/>
          </a:prstGeom>
        </p:spPr>
      </p:pic>
      <p:sp>
        <p:nvSpPr>
          <p:cNvPr id="11"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37 · ARABIC AND BILINGUAL SIGNAGE · PENDING VALIDATION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Arabic is set natively, never mirrored from Latin.</a:t>
            </a:r>
            <a:endParaRPr lang="en-US" sz="2400" dirty="0"/>
          </a:p>
        </p:txBody>
      </p:sp>
      <p:sp>
        <p:nvSpPr>
          <p:cNvPr id="4" name="Text 2"/>
          <p:cNvSpPr/>
          <p:nvPr/>
        </p:nvSpPr>
        <p:spPr>
          <a:xfrm>
            <a:off x="81915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text reads right to left and is never letter-spaced</a:t>
            </a:r>
            <a:endParaRPr lang="en-US" sz="1300" dirty="0"/>
          </a:p>
        </p:txBody>
      </p:sp>
      <p:sp>
        <p:nvSpPr>
          <p:cNvPr id="5" name="Text 3"/>
          <p:cNvSpPr/>
          <p:nvPr/>
        </p:nvSpPr>
        <p:spPr>
          <a:xfrm>
            <a:off x="614680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The logo is never mirrored</a:t>
            </a:r>
            <a:endParaRPr lang="en-US" sz="1300" dirty="0"/>
          </a:p>
        </p:txBody>
      </p:sp>
      <p:sp>
        <p:nvSpPr>
          <p:cNvPr id="6" name="Text 4"/>
          <p:cNvSpPr/>
          <p:nvPr/>
        </p:nvSpPr>
        <p:spPr>
          <a:xfrm>
            <a:off x="81915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Both languages carry equal legibility</a:t>
            </a:r>
            <a:endParaRPr lang="en-US" sz="1300" dirty="0"/>
          </a:p>
        </p:txBody>
      </p:sp>
      <p:sp>
        <p:nvSpPr>
          <p:cNvPr id="7" name="Text 5"/>
          <p:cNvSpPr/>
          <p:nvPr/>
        </p:nvSpPr>
        <p:spPr>
          <a:xfrm>
            <a:off x="614680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Room and technical numbers use Latin digits</a:t>
            </a:r>
            <a:endParaRPr lang="en-US" sz="1300" dirty="0"/>
          </a:p>
        </p:txBody>
      </p:sp>
      <p:sp>
        <p:nvSpPr>
          <p:cNvPr id="8" name="Text 6"/>
          <p:cNvSpPr/>
          <p:nvPr/>
        </p:nvSpPr>
        <p:spPr>
          <a:xfrm>
            <a:off x="819150" y="2753221"/>
            <a:ext cx="5226050" cy="438745"/>
          </a:xfrm>
          <a:prstGeom prst="rect">
            <a:avLst/>
          </a:prstGeom>
          <a:noFill/>
          <a:ln w="12700">
            <a:solidFill>
              <a:srgbClr val="12171D"/>
            </a:solidFill>
            <a:prstDash val="dash"/>
          </a:ln>
        </p:spPr>
        <p:txBody>
          <a:bodyPr wrap="square" lIns="133350" tIns="107950" rIns="0" bIns="82550" rtlCol="0" anchor="t"/>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leads by default · Saudi/GCC (S07)</a:t>
            </a:r>
            <a:endParaRPr lang="en-US" sz="1300" dirty="0"/>
          </a:p>
        </p:txBody>
      </p:sp>
      <p:sp>
        <p:nvSpPr>
          <p:cNvPr id="9" name="Text 7"/>
          <p:cNvSpPr/>
          <p:nvPr/>
        </p:nvSpPr>
        <p:spPr>
          <a:xfrm>
            <a:off x="6146800" y="2753221"/>
            <a:ext cx="5226050" cy="438745"/>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wording · [REQUIRES OWNER]</a:t>
            </a:r>
            <a:endParaRPr lang="en-US" sz="1300" dirty="0"/>
          </a:p>
        </p:txBody>
      </p:sp>
      <p:sp>
        <p:nvSpPr>
          <p:cNvPr id="10" name="Text 8"/>
          <p:cNvSpPr/>
          <p:nvPr/>
        </p:nvSpPr>
        <p:spPr>
          <a:xfrm>
            <a:off x="812800" y="3350716"/>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Noto Sans Arabic is interim. Native review is required before any sign is fabricated. Any exception to the Arabic-first default is a documented project-specific deviation (Appendix K), only where regulation or operations require it.</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38 · TACTILE AND BRAILLE · REGULATORY REVIEW REQUIRED</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Tactile content follows the code, not the brand.</a:t>
            </a:r>
            <a:endParaRPr lang="en-US" sz="2800" dirty="0"/>
          </a:p>
        </p:txBody>
      </p:sp>
      <p:sp>
        <p:nvSpPr>
          <p:cNvPr id="4" name="Text 2"/>
          <p:cNvSpPr/>
          <p:nvPr/>
        </p:nvSpPr>
        <p:spPr>
          <a:xfrm>
            <a:off x="812800" y="1772841"/>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Where tactile characters or Braille are required, the applicable accessibility code governs size, spacing, height, contrast and placement.</a:t>
            </a:r>
            <a:endParaRPr lang="en-US" sz="1500" dirty="0"/>
          </a:p>
        </p:txBody>
      </p:sp>
      <p:sp>
        <p:nvSpPr>
          <p:cNvPr id="5" name="Text 3"/>
          <p:cNvSpPr/>
          <p:nvPr/>
        </p:nvSpPr>
        <p:spPr>
          <a:xfrm>
            <a:off x="819150"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Governing code · [PENDING]</a:t>
            </a:r>
            <a:endParaRPr lang="en-US" sz="1200" dirty="0"/>
          </a:p>
        </p:txBody>
      </p:sp>
      <p:sp>
        <p:nvSpPr>
          <p:cNvPr id="6" name="Text 4"/>
          <p:cNvSpPr/>
          <p:nvPr/>
        </p:nvSpPr>
        <p:spPr>
          <a:xfrm>
            <a:off x="4366667"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Braille grade · [PENDING]</a:t>
            </a:r>
            <a:endParaRPr lang="en-US" sz="1200" dirty="0"/>
          </a:p>
        </p:txBody>
      </p:sp>
      <p:sp>
        <p:nvSpPr>
          <p:cNvPr id="7" name="Text 5"/>
          <p:cNvSpPr/>
          <p:nvPr/>
        </p:nvSpPr>
        <p:spPr>
          <a:xfrm>
            <a:off x="7914184" y="24903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Character height · [PENDING]</a:t>
            </a:r>
            <a:endParaRPr lang="en-US" sz="1200" dirty="0"/>
          </a:p>
        </p:txBody>
      </p:sp>
      <p:sp>
        <p:nvSpPr>
          <p:cNvPr id="8" name="Text 6"/>
          <p:cNvSpPr/>
          <p:nvPr/>
        </p:nvSpPr>
        <p:spPr>
          <a:xfrm>
            <a:off x="819150"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Mounting height · [PENDING]</a:t>
            </a:r>
            <a:endParaRPr lang="en-US" sz="1200" dirty="0"/>
          </a:p>
        </p:txBody>
      </p:sp>
      <p:sp>
        <p:nvSpPr>
          <p:cNvPr id="9" name="Text 7"/>
          <p:cNvSpPr/>
          <p:nvPr/>
        </p:nvSpPr>
        <p:spPr>
          <a:xfrm>
            <a:off x="4366667"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 Braille · [PENDING]</a:t>
            </a:r>
            <a:endParaRPr lang="en-US" sz="1200" dirty="0"/>
          </a:p>
        </p:txBody>
      </p:sp>
      <p:sp>
        <p:nvSpPr>
          <p:cNvPr id="10" name="Text 8"/>
          <p:cNvSpPr/>
          <p:nvPr/>
        </p:nvSpPr>
        <p:spPr>
          <a:xfrm>
            <a:off x="7914184" y="298311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Method · [REQUIRES SUPPLIER]</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39 · MATERIAL AND FABRICATION SAMPLE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sample is approved in place, under site light.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88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against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Edge, finish and 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 and letter accuracy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from real distance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 and tolerance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40 · CORPORATE PRINT · PENDING PRODUCTION MASTER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Quiet stationery, produced from approved masters.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996083"/>
        </p:xfrm>
        <a:graphic>
          <a:graphicData uri="http://schemas.openxmlformats.org/drawingml/2006/table">
            <a:tbl>
              <a:tblPr/>
              <a:tblGrid>
                <a:gridCol w="2955036"/>
                <a:gridCol w="379933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Format and stock</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Template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Letterhead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Business 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Proposal and 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sheet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Envelope and folder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751163"/>
            <a:ext cx="10883392" cy="23113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Layout follows Part A. Print process and stock follow the print and materials standards. Templates are an OPEN DELIVERABLE (AB10, AB11, W01–W10): none exists yet.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41 · LARGE FORMAT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Scale changes the rules. It does not change the identity.</a:t>
            </a:r>
            <a:endParaRPr lang="en-US" sz="2600" dirty="0"/>
          </a:p>
        </p:txBody>
      </p:sp>
      <p:sp>
        <p:nvSpPr>
          <p:cNvPr id="4" name="Text 2"/>
          <p:cNvSpPr/>
          <p:nvPr/>
        </p:nvSpPr>
        <p:spPr>
          <a:xfrm>
            <a:off x="81915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Vector artwork only</a:t>
            </a:r>
            <a:endParaRPr lang="en-US" sz="1300" dirty="0"/>
          </a:p>
        </p:txBody>
      </p:sp>
      <p:sp>
        <p:nvSpPr>
          <p:cNvPr id="5" name="Text 3"/>
          <p:cNvSpPr/>
          <p:nvPr/>
        </p:nvSpPr>
        <p:spPr>
          <a:xfrm>
            <a:off x="614680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Geometry may be cropped or scaled proportionally, never redrawn</a:t>
            </a:r>
            <a:endParaRPr lang="en-US" sz="1300" dirty="0"/>
          </a:p>
        </p:txBody>
      </p:sp>
      <p:sp>
        <p:nvSpPr>
          <p:cNvPr id="6" name="Text 4"/>
          <p:cNvSpPr/>
          <p:nvPr/>
        </p:nvSpPr>
        <p:spPr>
          <a:xfrm>
            <a:off x="81915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Resolution at viewing distance · [PENDING]</a:t>
            </a:r>
            <a:endParaRPr lang="en-US" sz="1300" dirty="0"/>
          </a:p>
        </p:txBody>
      </p:sp>
      <p:sp>
        <p:nvSpPr>
          <p:cNvPr id="7" name="Text 5"/>
          <p:cNvSpPr/>
          <p:nvPr/>
        </p:nvSpPr>
        <p:spPr>
          <a:xfrm>
            <a:off x="614680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Substrate and ink · [REQUIRES SUPPLIER]</a:t>
            </a:r>
            <a:endParaRPr lang="en-US" sz="1300" dirty="0"/>
          </a:p>
        </p:txBody>
      </p:sp>
      <p:sp>
        <p:nvSpPr>
          <p:cNvPr id="8" name="Text 6"/>
          <p:cNvSpPr/>
          <p:nvPr/>
        </p:nvSpPr>
        <p:spPr>
          <a:xfrm>
            <a:off x="81915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Colour match to standard · [PENDING PHYSICAL PROOF]</a:t>
            </a:r>
            <a:endParaRPr lang="en-US" sz="1300" dirty="0"/>
          </a:p>
        </p:txBody>
      </p:sp>
      <p:sp>
        <p:nvSpPr>
          <p:cNvPr id="9" name="Text 7"/>
          <p:cNvSpPr/>
          <p:nvPr/>
        </p:nvSpPr>
        <p:spPr>
          <a:xfrm>
            <a:off x="614680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Installation tolerance · [PROJECT-SPECIFIC]</a:t>
            </a:r>
            <a:endParaRPr lang="en-US" sz="1300" dirty="0"/>
          </a:p>
        </p:txBody>
      </p:sp>
      <p:sp>
        <p:nvSpPr>
          <p:cNvPr id="10" name="Text 8"/>
          <p:cNvSpPr/>
          <p:nvPr/>
        </p:nvSpPr>
        <p:spPr>
          <a:xfrm>
            <a:off x="812800" y="360149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One spark per composition applies at every scale.</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SUPPLIER &amp; QA</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Handoff, proof levels, golden sample, inspection and non-conformance.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42 · SUPPLIER BRIEF</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supplier receives a complete package or none.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Included in the brief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signed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master, versioned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and finish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C, with open items marked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or site data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by supplier or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Scaling and adaptation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Proportional only; any change by deviation request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and sample due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43 · SUPPLIER ACKNOWLEDGEMENT</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Silence is not acceptance.</a:t>
            </a:r>
            <a:endParaRPr lang="en-US" sz="2600" dirty="0"/>
          </a:p>
        </p:txBody>
      </p:sp>
      <p:sp>
        <p:nvSpPr>
          <p:cNvPr id="4" name="Shape 2"/>
          <p:cNvSpPr/>
          <p:nvPr/>
        </p:nvSpPr>
        <p:spPr>
          <a:xfrm>
            <a:off x="819150" y="1751261"/>
            <a:ext cx="3441700" cy="909241"/>
          </a:xfrm>
          <a:prstGeom prst="rect">
            <a:avLst/>
          </a:prstGeom>
          <a:noFill/>
          <a:ln w="12700">
            <a:solidFill>
              <a:srgbClr val="BCACA7"/>
            </a:solidFill>
            <a:prstDash val="solid"/>
          </a:ln>
        </p:spPr>
        <p:txBody>
          <a:bodyPr/>
          <a:p/>
        </p:txBody>
      </p:sp>
      <p:sp>
        <p:nvSpPr>
          <p:cNvPr id="5" name="Text 3"/>
          <p:cNvSpPr/>
          <p:nvPr/>
        </p:nvSpPr>
        <p:spPr>
          <a:xfrm>
            <a:off x="990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1 · Receive</a:t>
            </a:r>
            <a:endParaRPr lang="en-US" sz="1700" dirty="0"/>
          </a:p>
        </p:txBody>
      </p:sp>
      <p:sp>
        <p:nvSpPr>
          <p:cNvPr id="6" name="Text 4"/>
          <p:cNvSpPr/>
          <p:nvPr/>
        </p:nvSpPr>
        <p:spPr>
          <a:xfrm>
            <a:off x="990600" y="2275731"/>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confirms the package is complete</a:t>
            </a:r>
            <a:endParaRPr lang="en-US" sz="1200" dirty="0"/>
          </a:p>
        </p:txBody>
      </p:sp>
      <p:sp>
        <p:nvSpPr>
          <p:cNvPr id="7" name="Shape 5"/>
          <p:cNvSpPr/>
          <p:nvPr/>
        </p:nvSpPr>
        <p:spPr>
          <a:xfrm>
            <a:off x="4375150" y="1751261"/>
            <a:ext cx="3441700" cy="909241"/>
          </a:xfrm>
          <a:prstGeom prst="rect">
            <a:avLst/>
          </a:prstGeom>
          <a:noFill/>
          <a:ln w="12700">
            <a:solidFill>
              <a:srgbClr val="BCACA7"/>
            </a:solidFill>
            <a:prstDash val="solid"/>
          </a:ln>
        </p:spPr>
        <p:txBody>
          <a:bodyPr/>
          <a:p/>
        </p:txBody>
      </p:sp>
      <p:sp>
        <p:nvSpPr>
          <p:cNvPr id="8" name="Text 6"/>
          <p:cNvSpPr/>
          <p:nvPr/>
        </p:nvSpPr>
        <p:spPr>
          <a:xfrm>
            <a:off x="4546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2 · Declare</a:t>
            </a:r>
            <a:endParaRPr lang="en-US" sz="1700" dirty="0"/>
          </a:p>
        </p:txBody>
      </p:sp>
      <p:sp>
        <p:nvSpPr>
          <p:cNvPr id="9" name="Text 7"/>
          <p:cNvSpPr/>
          <p:nvPr/>
        </p:nvSpPr>
        <p:spPr>
          <a:xfrm>
            <a:off x="4546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flags any item it cannot meet</a:t>
            </a:r>
            <a:endParaRPr lang="en-US" sz="1200" dirty="0"/>
          </a:p>
        </p:txBody>
      </p:sp>
      <p:sp>
        <p:nvSpPr>
          <p:cNvPr id="10" name="Shape 8"/>
          <p:cNvSpPr/>
          <p:nvPr/>
        </p:nvSpPr>
        <p:spPr>
          <a:xfrm>
            <a:off x="7931150" y="1751261"/>
            <a:ext cx="3441700" cy="909241"/>
          </a:xfrm>
          <a:prstGeom prst="rect">
            <a:avLst/>
          </a:prstGeom>
          <a:noFill/>
          <a:ln w="12700">
            <a:solidFill>
              <a:srgbClr val="BCACA7"/>
            </a:solidFill>
            <a:prstDash val="solid"/>
          </a:ln>
        </p:spPr>
        <p:txBody>
          <a:bodyPr/>
          <a:p/>
        </p:txBody>
      </p:sp>
      <p:sp>
        <p:nvSpPr>
          <p:cNvPr id="11" name="Text 9"/>
          <p:cNvSpPr/>
          <p:nvPr/>
        </p:nvSpPr>
        <p:spPr>
          <a:xfrm>
            <a:off x="8102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3 · Sign</a:t>
            </a:r>
            <a:endParaRPr lang="en-US" sz="1700" dirty="0"/>
          </a:p>
        </p:txBody>
      </p:sp>
      <p:sp>
        <p:nvSpPr>
          <p:cNvPr id="12" name="Text 10"/>
          <p:cNvSpPr/>
          <p:nvPr/>
        </p:nvSpPr>
        <p:spPr>
          <a:xfrm>
            <a:off x="8102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Named signatory accepts in writing</a:t>
            </a:r>
            <a:endParaRPr lang="en-US" sz="1200" dirty="0"/>
          </a:p>
        </p:txBody>
      </p:sp>
      <p:sp>
        <p:nvSpPr>
          <p:cNvPr id="13" name="Text 11"/>
          <p:cNvSpPr/>
          <p:nvPr/>
        </p:nvSpPr>
        <p:spPr>
          <a:xfrm>
            <a:off x="8191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Supplier signatory · [REQUIRES SUPPLIER]</a:t>
            </a:r>
            <a:endParaRPr lang="en-US" sz="1200" dirty="0"/>
          </a:p>
        </p:txBody>
      </p:sp>
      <p:sp>
        <p:nvSpPr>
          <p:cNvPr id="14" name="Text 12"/>
          <p:cNvSpPr/>
          <p:nvPr/>
        </p:nvSpPr>
        <p:spPr>
          <a:xfrm>
            <a:off x="61404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GEM countersignature · [REQUIRES OWNER]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SUPPLIER</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44 · FIVE PROOF LEVELS</a:t>
            </a:r>
            <a:endParaRPr lang="en-US" sz="1200" dirty="0"/>
          </a:p>
        </p:txBody>
      </p:sp>
      <p:sp>
        <p:nvSpPr>
          <p:cNvPr id="3" name="Text 1"/>
          <p:cNvSpPr/>
          <p:nvPr>
            <p:ph type="title"/>
          </p:nvPr>
        </p:nvSpPr>
        <p:spPr>
          <a:xfrm>
            <a:off x="812800" y="10261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Each level proves something different.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750"/>
          <a:ext cx="10553700" cy="2636044"/>
        </p:xfrm>
        <a:graphic>
          <a:graphicData uri="http://schemas.openxmlformats.org/drawingml/2006/table">
            <a:tbl>
              <a:tblPr/>
              <a:tblGrid>
                <a:gridCol w="738759"/>
                <a:gridCol w="1794129"/>
                <a:gridCol w="3799332"/>
                <a:gridCol w="422148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Level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Name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Cannot prove / cannot replace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preview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and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substrate, finish,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Separations and files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Does not replace a physical production-intent proof where physical characteristics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intent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finish, structure,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5932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 where material, finish, structure, fit, fabrication, tactile quality or surface behaviour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consistency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signed reference for repeat 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a substitute for batch inspection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191744"/>
            <a:ext cx="10553700" cy="363190"/>
          </a:xfrm>
          <a:prstGeom prst="rect">
            <a:avLst/>
          </a:prstGeom>
          <a:noFill/>
          <a:ln w="12700">
            <a:solidFill>
              <a:srgbClr val="12171D"/>
            </a:solidFill>
            <a:prstDash val="solid"/>
          </a:ln>
        </p:spPr>
        <p:txBody>
          <a:bodyPr wrap="square" lIns="120650" tIns="82550" rIns="0" bIns="5715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 lower proof level may substitute for a higher level where the higher level proves a physical characteristic relevant to the job.</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45 · GOLDEN SAMPLE · PENDING PHYSICAL PROOF</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The golden sample is the reference. Nothing else is.</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and signed</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Uniquely identified and dated</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Held by GEM and by the supplier</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Storage conditions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Review interval · [PENDING]</a:t>
            </a:r>
            <a:endParaRPr lang="en-US" sz="1200" dirty="0"/>
          </a:p>
        </p:txBody>
      </p:sp>
      <p:sp>
        <p:nvSpPr>
          <p:cNvPr id="9" name="Text 7"/>
          <p:cNvSpPr/>
          <p:nvPr/>
        </p:nvSpPr>
        <p:spPr>
          <a:xfrm>
            <a:off x="8191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Custodian · [REQUIRES OWNER]</a:t>
            </a:r>
            <a:endParaRPr lang="en-US" sz="1200" dirty="0"/>
          </a:p>
        </p:txBody>
      </p:sp>
      <p:sp>
        <p:nvSpPr>
          <p:cNvPr id="10" name="Text 8"/>
          <p:cNvSpPr/>
          <p:nvPr/>
        </p:nvSpPr>
        <p:spPr>
          <a:xfrm>
            <a:off x="61404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Replacement rule · [PENDING]</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46 · PRODUCTION DEVIATION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deviation is requested before it happens.</a:t>
            </a:r>
            <a:endParaRPr lang="en-US" sz="2400" dirty="0"/>
          </a:p>
        </p:txBody>
      </p:sp>
      <p:sp>
        <p:nvSpPr>
          <p:cNvPr id="4" name="Text 2"/>
          <p:cNvSpPr/>
          <p:nvPr/>
        </p:nvSpPr>
        <p:spPr>
          <a:xfrm>
            <a:off x="8191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Supplier requests in writing</a:t>
            </a:r>
            <a:endParaRPr lang="en-US" sz="1300" dirty="0"/>
          </a:p>
        </p:txBody>
      </p:sp>
      <p:sp>
        <p:nvSpPr>
          <p:cNvPr id="5" name="Text 3"/>
          <p:cNvSpPr/>
          <p:nvPr/>
        </p:nvSpPr>
        <p:spPr>
          <a:xfrm>
            <a:off x="34798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Impact is stated</a:t>
            </a:r>
            <a:endParaRPr lang="en-US" sz="1300" dirty="0"/>
          </a:p>
        </p:txBody>
      </p:sp>
      <p:sp>
        <p:nvSpPr>
          <p:cNvPr id="6" name="Text 4"/>
          <p:cNvSpPr/>
          <p:nvPr/>
        </p:nvSpPr>
        <p:spPr>
          <a:xfrm>
            <a:off x="61404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Brand Owner decides</a:t>
            </a:r>
            <a:endParaRPr lang="en-US" sz="1300" dirty="0"/>
          </a:p>
        </p:txBody>
      </p:sp>
      <p:sp>
        <p:nvSpPr>
          <p:cNvPr id="7" name="Text 5"/>
          <p:cNvSpPr/>
          <p:nvPr/>
        </p:nvSpPr>
        <p:spPr>
          <a:xfrm>
            <a:off x="88011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Decision is logged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9891"/>
          <a:ext cx="10553700" cy="1330722"/>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Effect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Accepted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Recorded on the change log; masters updated if needed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 continues to the approved specification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decided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does not proceed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47 · INCOMING QA · PENDING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Check what arrives against what was approved.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Identity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Artwork version matches the release form</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Dimensions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supplier dieline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Finish and defects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Regulatory copy and codes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approved record</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Sampling plan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48 · FIRST ARTICLE INSPECTION · PENDING</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first production piece is inspected before the run continues.</a:t>
            </a:r>
            <a:endParaRPr lang="en-US" sz="2400" dirty="0"/>
          </a:p>
        </p:txBody>
      </p:sp>
      <p:sp>
        <p:nvSpPr>
          <p:cNvPr id="4" name="Text 2"/>
          <p:cNvSpPr/>
          <p:nvPr/>
        </p:nvSpPr>
        <p:spPr>
          <a:xfrm>
            <a:off x="8191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1 · Pull first article from production</a:t>
            </a:r>
            <a:endParaRPr lang="en-US" sz="1300" dirty="0"/>
          </a:p>
        </p:txBody>
      </p:sp>
      <p:sp>
        <p:nvSpPr>
          <p:cNvPr id="5" name="Text 3"/>
          <p:cNvSpPr/>
          <p:nvPr/>
        </p:nvSpPr>
        <p:spPr>
          <a:xfrm>
            <a:off x="34798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2 · Compare to golden sample</a:t>
            </a:r>
            <a:endParaRPr lang="en-US" sz="1300" dirty="0"/>
          </a:p>
        </p:txBody>
      </p:sp>
      <p:sp>
        <p:nvSpPr>
          <p:cNvPr id="6" name="Text 4"/>
          <p:cNvSpPr/>
          <p:nvPr/>
        </p:nvSpPr>
        <p:spPr>
          <a:xfrm>
            <a:off x="61404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3 · Record result and photograph</a:t>
            </a:r>
            <a:endParaRPr lang="en-US" sz="1300" dirty="0"/>
          </a:p>
        </p:txBody>
      </p:sp>
      <p:sp>
        <p:nvSpPr>
          <p:cNvPr id="7" name="Text 5"/>
          <p:cNvSpPr/>
          <p:nvPr/>
        </p:nvSpPr>
        <p:spPr>
          <a:xfrm>
            <a:off x="88011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4 · GEM releases or rejects</a:t>
            </a:r>
            <a:endParaRPr lang="en-US" sz="1300" dirty="0"/>
          </a:p>
        </p:txBody>
      </p:sp>
      <p:sp>
        <p:nvSpPr>
          <p:cNvPr id="8" name="Text 6"/>
          <p:cNvSpPr/>
          <p:nvPr/>
        </p:nvSpPr>
        <p:spPr>
          <a:xfrm>
            <a:off x="8191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Acceptance criteria · [PENDING]</a:t>
            </a:r>
            <a:endParaRPr lang="en-US" sz="1200" dirty="0"/>
          </a:p>
        </p:txBody>
      </p:sp>
      <p:sp>
        <p:nvSpPr>
          <p:cNvPr id="9" name="Text 7"/>
          <p:cNvSpPr/>
          <p:nvPr/>
        </p:nvSpPr>
        <p:spPr>
          <a:xfrm>
            <a:off x="61404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Inspector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49 · BATCH CONTROL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batch can be traced to its artwork.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identifier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from the manifest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date and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Inspection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 hold / reject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Retained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50 · NON-CONFORMANCE</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Hold, record, decide, close.</a:t>
            </a:r>
            <a:endParaRPr lang="en-US" sz="2600" dirty="0"/>
          </a:p>
        </p:txBody>
      </p:sp>
      <p:sp>
        <p:nvSpPr>
          <p:cNvPr id="4" name="Text 2"/>
          <p:cNvSpPr/>
          <p:nvPr/>
        </p:nvSpPr>
        <p:spPr>
          <a:xfrm>
            <a:off x="8191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HOLD · Stop the affected batch</a:t>
            </a:r>
            <a:endParaRPr lang="en-US" sz="1300" dirty="0"/>
          </a:p>
        </p:txBody>
      </p:sp>
      <p:sp>
        <p:nvSpPr>
          <p:cNvPr id="5" name="Text 3"/>
          <p:cNvSpPr/>
          <p:nvPr/>
        </p:nvSpPr>
        <p:spPr>
          <a:xfrm>
            <a:off x="34798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RECORD · Defect, evidence, quantity</a:t>
            </a:r>
            <a:endParaRPr lang="en-US" sz="1300" dirty="0"/>
          </a:p>
        </p:txBody>
      </p:sp>
      <p:sp>
        <p:nvSpPr>
          <p:cNvPr id="6" name="Text 4"/>
          <p:cNvSpPr/>
          <p:nvPr/>
        </p:nvSpPr>
        <p:spPr>
          <a:xfrm>
            <a:off x="61404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DECIDE · Rework, accept, scrap</a:t>
            </a:r>
            <a:endParaRPr lang="en-US" sz="1300" dirty="0"/>
          </a:p>
        </p:txBody>
      </p:sp>
      <p:sp>
        <p:nvSpPr>
          <p:cNvPr id="7" name="Text 5"/>
          <p:cNvSpPr/>
          <p:nvPr/>
        </p:nvSpPr>
        <p:spPr>
          <a:xfrm>
            <a:off x="88011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CLOSE · Cause and fix recorded</a:t>
            </a:r>
            <a:endParaRPr lang="en-US" sz="1300" dirty="0"/>
          </a:p>
        </p:txBody>
      </p:sp>
      <p:sp>
        <p:nvSpPr>
          <p:cNvPr id="8" name="Text 6"/>
          <p:cNvSpPr/>
          <p:nvPr/>
        </p:nvSpPr>
        <p:spPr>
          <a:xfrm>
            <a:off x="8191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Severity classes · [PENDING]</a:t>
            </a:r>
            <a:endParaRPr lang="en-US" sz="1200" dirty="0"/>
          </a:p>
        </p:txBody>
      </p:sp>
      <p:sp>
        <p:nvSpPr>
          <p:cNvPr id="9" name="Text 7"/>
          <p:cNvSpPr/>
          <p:nvPr/>
        </p:nvSpPr>
        <p:spPr>
          <a:xfrm>
            <a:off x="61404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Decision holder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51 · FILE NAMING · APPROVED · REGISTER X12</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pattern. Every file.</a:t>
            </a:r>
            <a:endParaRPr lang="en-US" sz="2600" dirty="0"/>
          </a:p>
        </p:txBody>
      </p:sp>
      <p:sp>
        <p:nvSpPr>
          <p:cNvPr id="4" name="Text 2"/>
          <p:cNvSpPr/>
          <p:nvPr/>
        </p:nvSpPr>
        <p:spPr>
          <a:xfrm>
            <a:off x="819150" y="1751261"/>
            <a:ext cx="10553700" cy="759420"/>
          </a:xfrm>
          <a:prstGeom prst="rect">
            <a:avLst/>
          </a:prstGeom>
          <a:noFill/>
          <a:ln w="12700">
            <a:solidFill>
              <a:srgbClr val="BCACA7"/>
            </a:solidFill>
            <a:prstDash val="solid"/>
          </a:ln>
        </p:spPr>
        <p:txBody>
          <a:bodyPr wrap="square" lIns="209550" tIns="184150" rIns="0" bIns="15875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GEM_[STREAM]_[ASSET]_[VARIANT]_vX.Y_YYYYMMDD.ext</a:t>
            </a:r>
            <a:endParaRPr lang="en-US" sz="2200" dirty="0"/>
          </a:p>
        </p:txBody>
      </p:sp>
      <p:sp>
        <p:nvSpPr>
          <p:cNvPr id="5" name="Text 3"/>
          <p:cNvSpPr/>
          <p:nvPr/>
        </p:nvSpPr>
        <p:spPr>
          <a:xfrm>
            <a:off x="8191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Underscores separate fields; no spaces</a:t>
            </a:r>
            <a:endParaRPr lang="en-US" sz="1200" dirty="0"/>
          </a:p>
        </p:txBody>
      </p:sp>
      <p:sp>
        <p:nvSpPr>
          <p:cNvPr id="6" name="Text 4"/>
          <p:cNvSpPr/>
          <p:nvPr/>
        </p:nvSpPr>
        <p:spPr>
          <a:xfrm>
            <a:off x="61404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Latin letters and digits only</a:t>
            </a:r>
            <a:endParaRPr lang="en-US" sz="1200" dirty="0"/>
          </a:p>
        </p:txBody>
      </p:sp>
      <p:sp>
        <p:nvSpPr>
          <p:cNvPr id="7" name="Text 5"/>
          <p:cNvSpPr/>
          <p:nvPr/>
        </p:nvSpPr>
        <p:spPr>
          <a:xfrm>
            <a:off x="8191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Version moves up; old versions archive</a:t>
            </a:r>
            <a:endParaRPr lang="en-US" sz="1200" dirty="0"/>
          </a:p>
        </p:txBody>
      </p:sp>
      <p:sp>
        <p:nvSpPr>
          <p:cNvPr id="8" name="Text 6"/>
          <p:cNvSpPr/>
          <p:nvPr/>
        </p:nvSpPr>
        <p:spPr>
          <a:xfrm>
            <a:off x="61404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“final”, “new” or “copy” in a name</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56</a:t>
            </a:r>
            <a:endParaRPr lang="en-US" sz="1200" dirty="0"/>
          </a:p>
        </p:txBody>
      </p:sp>
      <p:sp>
        <p:nvSpPr>
          <p:cNvPr id="11" name="Text 9"/>
          <p:cNvSpPr/>
          <p:nvPr/>
        </p:nvSpPr>
        <p:spPr>
          <a:xfrm>
            <a:off x="822960" y="3703320"/>
            <a:ext cx="10552176" cy="640080"/>
          </a:xfrm>
          <a:prstGeom prst="rect">
            <a:avLst/>
          </a:prstGeom>
          <a:noFill/>
          <a:ln w="12700">
            <a:solidFill>
              <a:srgbClr val="BCACA7"/>
            </a:solidFill>
            <a:prstDash val="solid"/>
          </a:ln>
        </p:spPr>
        <p:txBody>
          <a:bodyPr wrap="square" lIns="120650" tIns="95250" rIns="0" bIns="69850" rtlCol="0" anchor="t"/>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Convention X12 of the V3 Approval Register; the date field is the issue date. Proposed, CONDITIONAL [REQUIRES OWNER]: asset ID GEM-[CATEGORY]-[NNN] and SHA-256 checksums, recorded in the manifest (Appendix N).</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52 · ASSET MANIFEST</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If it is not in the manifest, it is not released.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166110"/>
                <a:gridCol w="738759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Column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Per naming convention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APPROVED / CONDITIONAL / PENDING VALIDATION /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Parent file and its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Rights 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and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53 · ARCHIVE</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Superseded is archived, never deleted.</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Released set is frozen per job</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Old versions move to 10 Archive</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Golden samples stay logged</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Retention period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Archive custodian · [REQUIRES OWNER]</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A–O</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APPENDICES</a:t>
            </a:r>
            <a:endParaRPr lang="en-US" sz="6000" dirty="0"/>
          </a:p>
        </p:txBody>
      </p:sp>
      <p:sp>
        <p:nvSpPr>
          <p:cNvPr id="5" name="Text 2"/>
          <p:cNvSpPr/>
          <p:nvPr/>
        </p:nvSpPr>
        <p:spPr>
          <a:xfrm>
            <a:off x="812800" y="3556000"/>
            <a:ext cx="76200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Fifteen working forms for release, proof, approval and control.</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A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artwork release form</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 ref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filename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asset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site-data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required (P1–P5)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proof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 items carried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Prepared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Technical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 STATUS: HOLD · CONDITIONAL RELEASE · RELEASED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RELEASED is not permitted while any mandatory open item is unresolved.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A</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B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Supplier acknowledgement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994124"/>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Package received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Items supplier cannot meet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Questions raised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Signatory name and 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countersignature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use (Y06): GEM artwork is used only for the authorized job; no reuse, distribution or adaptation outside the approved scope · LEGAL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B</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C · WORKING FORM · ALL 18 CHECKS</a:t>
            </a:r>
            <a:endParaRPr lang="en-US" sz="1200" dirty="0"/>
          </a:p>
        </p:txBody>
      </p:sp>
      <p:sp>
        <p:nvSpPr>
          <p:cNvPr id="3" name="Text 1"/>
          <p:cNvSpPr/>
          <p:nvPr>
            <p:ph type="title"/>
          </p:nvPr>
        </p:nvSpPr>
        <p:spPr>
          <a:xfrm>
            <a:off x="812800" y="7848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Artwork preflight checklist</a:t>
            </a:r>
            <a:endParaRPr lang="en-US" sz="2200" dirty="0"/>
          </a:p>
        </p:txBody>
      </p:sp>
      <p:sp>
        <p:nvSpPr>
          <p:cNvPr id="4" name="Text 2"/>
          <p:cNvSpPr/>
          <p:nvPr/>
        </p:nvSpPr>
        <p:spPr>
          <a:xfrm>
            <a:off x="819150"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5" name="Text 3"/>
          <p:cNvSpPr/>
          <p:nvPr/>
        </p:nvSpPr>
        <p:spPr>
          <a:xfrm>
            <a:off x="4358184" y="1162000"/>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p>
        </p:txBody>
      </p:sp>
      <p:sp>
        <p:nvSpPr>
          <p:cNvPr id="6" name="Text 4"/>
          <p:cNvSpPr/>
          <p:nvPr/>
        </p:nvSpPr>
        <p:spPr>
          <a:xfrm>
            <a:off x="7897267"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Job / SKU reference</a:t>
            </a:r>
            <a:endParaRPr lang="en-US" sz="1200" dirty="0"/>
          </a:p>
        </p:txBody>
      </p:sp>
      <p:sp>
        <p:nvSpPr>
          <p:cNvPr id="7" name="Text 5"/>
          <p:cNvSpPr/>
          <p:nvPr/>
        </p:nvSpPr>
        <p:spPr>
          <a:xfrm>
            <a:off x="819150"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p>
        </p:txBody>
      </p:sp>
      <p:sp>
        <p:nvSpPr>
          <p:cNvPr id="8" name="Text 6"/>
          <p:cNvSpPr/>
          <p:nvPr/>
        </p:nvSpPr>
        <p:spPr>
          <a:xfrm>
            <a:off x="4358184" y="1497261"/>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Checker</a:t>
            </a:r>
            <a:endParaRPr lang="en-US" sz="1200" dirty="0"/>
          </a:p>
        </p:txBody>
      </p:sp>
      <p:sp>
        <p:nvSpPr>
          <p:cNvPr id="9" name="Text 7"/>
          <p:cNvSpPr/>
          <p:nvPr/>
        </p:nvSpPr>
        <p:spPr>
          <a:xfrm>
            <a:off x="7897267"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Date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 Correct master asset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02 Correct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03 Correct colour mode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 Correct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05 Safe 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06 Dieline visibility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07 Overprint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08 Transparency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09 Image resolution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6167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 Linked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11 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Barcode / QR, if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Spelling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Arabic shaping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Hidden objects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17 Non-printing guides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Output intent /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9150" y="524822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READY · HOLD · CORRECT AND RECHECK. Any failed mandatory item: the production file is not released.</a:t>
            </a:r>
            <a:endParaRPr lang="en-US" sz="1200" dirty="0"/>
          </a:p>
        </p:txBody>
      </p:sp>
      <p:sp>
        <p:nvSpPr>
          <p:cNvPr id="13"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C</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D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Colour proof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99412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Printing / finishing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condition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Measurement method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Instrument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Measured difference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Visual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reference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Samples submitted (count)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3177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PASS · ADJUST · FAIL</a:t>
            </a:r>
            <a:endParaRPr lang="en-US" sz="1200" dirty="0"/>
          </a:p>
        </p:txBody>
      </p:sp>
      <p:sp>
        <p:nvSpPr>
          <p:cNvPr id="6" name="Text 3"/>
          <p:cNvSpPr/>
          <p:nvPr/>
        </p:nvSpPr>
        <p:spPr>
          <a:xfrm>
            <a:off x="819150" y="47114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tolerance is pre-filled. Measurement values stay [PENDING] until a method and standard are validated.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D</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E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Material and finish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 / caliper,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Brand-direction match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result,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from approved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Golden-sample reference, if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datasheet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04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41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Unknown values stay [PENDING]. Material attributes are [REQUIRES SUPPLIER /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E</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F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Packaging SKU master</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3992164"/>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function,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pack: format and 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F</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G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Dieline approval record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source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issuing the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bleed, safe area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placed and checked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signature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H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Regulatory copy approval</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 owner [REQUIRES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 and claims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Warnings and labelling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Reviewer and credentials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Decision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H</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I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Physical sample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drawing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reproduction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legibility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QA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 QR test, if relevant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Construction /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 compatibility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 entered?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39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76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QA stays PENDING VALIDATION until native review is complete.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I</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J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Signage fabrication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Drawing revision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wording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Illumination,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 Braille requirement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Viewing-distance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sample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Fabricator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STATUS: HOLD · CONDITIONAL · APPROVED FOR FABRICATION</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Site-specific values are [PROJECT-SPECIFIC]. Arabic wording stays PENDING VALIDATION until approved.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J</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APPENDIX K · WORKING FORM · PENDING VALUES STAY PENDING</a:t>
            </a:r>
            <a:endParaRPr lang="en-US" sz="1196" dirty="0"/>
          </a:p>
        </p:txBody>
      </p:sp>
      <p:sp>
        <p:nvSpPr>
          <p:cNvPr id="3" name="Text 1"/>
          <p:cNvSpPr/>
          <p:nvPr>
            <p:ph type="title"/>
          </p:nvPr>
        </p:nvSpPr>
        <p:spPr>
          <a:xfrm>
            <a:off x="812800" y="847030"/>
            <a:ext cx="10883392" cy="330845"/>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Deviation request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1375"/>
          <a:ext cx="10553700" cy="3967907"/>
        </p:xfrm>
        <a:graphic>
          <a:graphicData uri="http://schemas.openxmlformats.org/drawingml/2006/table">
            <a:tbl>
              <a:tblPr/>
              <a:tblGrid>
                <a:gridCol w="3060573"/>
                <a:gridCol w="2216277"/>
                <a:gridCol w="3060573"/>
                <a:gridCol w="2216277"/>
              </a:tblGrid>
              <a:tr h="330646">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Deviation ID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Job / SKU / sign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Supplier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by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Existing approved specification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change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Reason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Visual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Technical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Quality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Cost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Timing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Regulatory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Risk</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Proposed remedy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Supporting sample / proof ref</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Recommendation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holder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Change-log reference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5291832"/>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DECISION: ACCEPT · REJECT · HOLD</a:t>
            </a:r>
            <a:endParaRPr lang="en-US" sz="1200" dirty="0"/>
          </a:p>
        </p:txBody>
      </p:sp>
      <p:sp>
        <p:nvSpPr>
          <p:cNvPr id="6" name="Text 3"/>
          <p:cNvSpPr/>
          <p:nvPr/>
        </p:nvSpPr>
        <p:spPr>
          <a:xfrm>
            <a:off x="819150" y="5684391"/>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change is made until a decision is recorded. Decision holder is [REQUIRES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K</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L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Non-conformance report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NCR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batch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description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Evidence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Severity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isolated?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Immediate containment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Root cause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Proposed corrective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disposition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Corrective action completed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Verification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Raised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raised / date closed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30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REWORK · ACCEPT · SCRAP · RETURN</a:t>
            </a:r>
            <a:endParaRPr lang="en-US" sz="1200" dirty="0"/>
          </a:p>
        </p:txBody>
      </p:sp>
      <p:sp>
        <p:nvSpPr>
          <p:cNvPr id="6" name="Text 3"/>
          <p:cNvSpPr/>
          <p:nvPr/>
        </p:nvSpPr>
        <p:spPr>
          <a:xfrm>
            <a:off x="819150" y="53767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Severity values stay [PENDING] until formally defined.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L</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M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Golden sample register</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date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Replacement date / 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review interval is set. Review date is entered per sample once an interval is defined.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One row per approved sample.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M</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N · CONTROLLED ASSET MANIFEST · ONE RECORD PER FILE</a:t>
            </a:r>
            <a:endParaRPr lang="en-US" sz="1200" dirty="0"/>
          </a:p>
        </p:txBody>
      </p:sp>
      <p:sp>
        <p:nvSpPr>
          <p:cNvPr id="3" name="Text 1"/>
          <p:cNvSpPr/>
          <p:nvPr>
            <p:ph type="title"/>
          </p:nvPr>
        </p:nvSpPr>
        <p:spPr>
          <a:xfrm>
            <a:off x="812800" y="8610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Asset manifest</a:t>
            </a:r>
            <a:endParaRPr lang="en-US" sz="2200" dirty="0"/>
          </a:p>
        </p:txBody>
      </p:sp>
      <p:sp>
        <p:nvSpPr>
          <p:cNvPr id="4" name="Text 2"/>
          <p:cNvSpPr/>
          <p:nvPr/>
        </p:nvSpPr>
        <p:spPr>
          <a:xfrm>
            <a:off x="81280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IDENTITY</a:t>
            </a:r>
            <a:endParaRPr lang="en-US" sz="1200" dirty="0"/>
          </a:p>
        </p:txBody>
      </p:sp>
      <p:sp>
        <p:nvSpPr>
          <p:cNvPr id="5" name="Text 3"/>
          <p:cNvSpPr/>
          <p:nvPr/>
        </p:nvSpPr>
        <p:spPr>
          <a:xfrm>
            <a:off x="81915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 ID</a:t>
            </a:r>
            <a:endParaRPr lang="en-US" sz="1200" dirty="0"/>
          </a:p>
        </p:txBody>
      </p:sp>
      <p:sp>
        <p:nvSpPr>
          <p:cNvPr id="6" name="Text 4"/>
          <p:cNvSpPr/>
          <p:nvPr/>
        </p:nvSpPr>
        <p:spPr>
          <a:xfrm>
            <a:off x="81915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7" name="Text 5"/>
          <p:cNvSpPr/>
          <p:nvPr/>
        </p:nvSpPr>
        <p:spPr>
          <a:xfrm>
            <a:off x="81915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Category</a:t>
            </a:r>
            <a:endParaRPr lang="en-US" sz="1200" dirty="0"/>
          </a:p>
        </p:txBody>
      </p:sp>
      <p:sp>
        <p:nvSpPr>
          <p:cNvPr id="8" name="Text 6"/>
          <p:cNvSpPr/>
          <p:nvPr/>
        </p:nvSpPr>
        <p:spPr>
          <a:xfrm>
            <a:off x="81915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a:t>
            </a:r>
            <a:endParaRPr lang="en-US" sz="1200" dirty="0"/>
          </a:p>
        </p:txBody>
      </p:sp>
      <p:sp>
        <p:nvSpPr>
          <p:cNvPr id="9" name="Text 7"/>
          <p:cNvSpPr/>
          <p:nvPr/>
        </p:nvSpPr>
        <p:spPr>
          <a:xfrm>
            <a:off x="81915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Variant</a:t>
            </a:r>
            <a:endParaRPr lang="en-US" sz="1200" dirty="0"/>
          </a:p>
        </p:txBody>
      </p:sp>
      <p:sp>
        <p:nvSpPr>
          <p:cNvPr id="10" name="Text 8"/>
          <p:cNvSpPr/>
          <p:nvPr/>
        </p:nvSpPr>
        <p:spPr>
          <a:xfrm>
            <a:off x="81915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Version</a:t>
            </a:r>
            <a:endParaRPr lang="en-US" sz="1200" dirty="0"/>
          </a:p>
        </p:txBody>
      </p:sp>
      <p:sp>
        <p:nvSpPr>
          <p:cNvPr id="11" name="Text 9"/>
          <p:cNvSpPr/>
          <p:nvPr/>
        </p:nvSpPr>
        <p:spPr>
          <a:xfrm>
            <a:off x="347662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CONTROL</a:t>
            </a:r>
            <a:endParaRPr lang="en-US" sz="1200" dirty="0"/>
          </a:p>
        </p:txBody>
      </p:sp>
      <p:sp>
        <p:nvSpPr>
          <p:cNvPr id="12" name="Text 10"/>
          <p:cNvSpPr/>
          <p:nvPr/>
        </p:nvSpPr>
        <p:spPr>
          <a:xfrm>
            <a:off x="348297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p>
        </p:txBody>
      </p:sp>
      <p:sp>
        <p:nvSpPr>
          <p:cNvPr id="13" name="Text 11"/>
          <p:cNvSpPr/>
          <p:nvPr/>
        </p:nvSpPr>
        <p:spPr>
          <a:xfrm>
            <a:off x="348297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format</a:t>
            </a:r>
            <a:endParaRPr lang="en-US" sz="1200" dirty="0"/>
          </a:p>
        </p:txBody>
      </p:sp>
      <p:sp>
        <p:nvSpPr>
          <p:cNvPr id="14" name="Text 12"/>
          <p:cNvSpPr/>
          <p:nvPr/>
        </p:nvSpPr>
        <p:spPr>
          <a:xfrm>
            <a:off x="348297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p>
        </p:txBody>
      </p:sp>
      <p:sp>
        <p:nvSpPr>
          <p:cNvPr id="15" name="Text 13"/>
          <p:cNvSpPr/>
          <p:nvPr/>
        </p:nvSpPr>
        <p:spPr>
          <a:xfrm>
            <a:off x="348297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Parent / source version</a:t>
            </a:r>
            <a:endParaRPr lang="en-US" sz="1200" dirty="0"/>
          </a:p>
        </p:txBody>
      </p:sp>
      <p:sp>
        <p:nvSpPr>
          <p:cNvPr id="16" name="Text 14"/>
          <p:cNvSpPr/>
          <p:nvPr/>
        </p:nvSpPr>
        <p:spPr>
          <a:xfrm>
            <a:off x="3482975"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Supersedes</a:t>
            </a:r>
            <a:endParaRPr lang="en-US" sz="1200" dirty="0"/>
          </a:p>
        </p:txBody>
      </p:sp>
      <p:sp>
        <p:nvSpPr>
          <p:cNvPr id="17" name="Text 15"/>
          <p:cNvSpPr/>
          <p:nvPr/>
        </p:nvSpPr>
        <p:spPr>
          <a:xfrm>
            <a:off x="3482975"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p>
        </p:txBody>
      </p:sp>
      <p:sp>
        <p:nvSpPr>
          <p:cNvPr id="18" name="Text 16"/>
          <p:cNvSpPr/>
          <p:nvPr/>
        </p:nvSpPr>
        <p:spPr>
          <a:xfrm>
            <a:off x="614045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APPROVAL</a:t>
            </a:r>
            <a:endParaRPr lang="en-US" sz="1200" dirty="0"/>
          </a:p>
        </p:txBody>
      </p:sp>
      <p:sp>
        <p:nvSpPr>
          <p:cNvPr id="19" name="Text 17"/>
          <p:cNvSpPr/>
          <p:nvPr/>
        </p:nvSpPr>
        <p:spPr>
          <a:xfrm>
            <a:off x="614680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Owner</a:t>
            </a:r>
            <a:endParaRPr lang="en-US" sz="1200" dirty="0"/>
          </a:p>
        </p:txBody>
      </p:sp>
      <p:sp>
        <p:nvSpPr>
          <p:cNvPr id="20" name="Text 18"/>
          <p:cNvSpPr/>
          <p:nvPr/>
        </p:nvSpPr>
        <p:spPr>
          <a:xfrm>
            <a:off x="614680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Rights / ownership status</a:t>
            </a:r>
            <a:endParaRPr lang="en-US" sz="1200" dirty="0"/>
          </a:p>
        </p:txBody>
      </p:sp>
      <p:sp>
        <p:nvSpPr>
          <p:cNvPr id="21" name="Text 19"/>
          <p:cNvSpPr/>
          <p:nvPr/>
        </p:nvSpPr>
        <p:spPr>
          <a:xfrm>
            <a:off x="614680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Created date</a:t>
            </a:r>
            <a:endParaRPr lang="en-US" sz="1200" dirty="0"/>
          </a:p>
        </p:txBody>
      </p:sp>
      <p:sp>
        <p:nvSpPr>
          <p:cNvPr id="22" name="Text 20"/>
          <p:cNvSpPr/>
          <p:nvPr/>
        </p:nvSpPr>
        <p:spPr>
          <a:xfrm>
            <a:off x="614680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date</a:t>
            </a:r>
            <a:endParaRPr lang="en-US" sz="1200" dirty="0"/>
          </a:p>
        </p:txBody>
      </p:sp>
      <p:sp>
        <p:nvSpPr>
          <p:cNvPr id="23" name="Text 21"/>
          <p:cNvSpPr/>
          <p:nvPr/>
        </p:nvSpPr>
        <p:spPr>
          <a:xfrm>
            <a:off x="614680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p>
        </p:txBody>
      </p:sp>
      <p:sp>
        <p:nvSpPr>
          <p:cNvPr id="24" name="Text 22"/>
          <p:cNvSpPr/>
          <p:nvPr/>
        </p:nvSpPr>
        <p:spPr>
          <a:xfrm>
            <a:off x="614680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Checksum</a:t>
            </a:r>
            <a:endParaRPr lang="en-US" sz="1200" dirty="0"/>
          </a:p>
        </p:txBody>
      </p:sp>
      <p:sp>
        <p:nvSpPr>
          <p:cNvPr id="25" name="Text 23"/>
          <p:cNvSpPr/>
          <p:nvPr/>
        </p:nvSpPr>
        <p:spPr>
          <a:xfrm>
            <a:off x="880427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USE AND STORAGE</a:t>
            </a:r>
            <a:endParaRPr lang="en-US" sz="1200" dirty="0"/>
          </a:p>
        </p:txBody>
      </p:sp>
      <p:sp>
        <p:nvSpPr>
          <p:cNvPr id="26" name="Text 24"/>
          <p:cNvSpPr/>
          <p:nvPr/>
        </p:nvSpPr>
        <p:spPr>
          <a:xfrm>
            <a:off x="881062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Intended use</a:t>
            </a:r>
            <a:endParaRPr lang="en-US" sz="1200" dirty="0"/>
          </a:p>
        </p:txBody>
      </p:sp>
      <p:sp>
        <p:nvSpPr>
          <p:cNvPr id="27" name="Text 25"/>
          <p:cNvSpPr/>
          <p:nvPr/>
        </p:nvSpPr>
        <p:spPr>
          <a:xfrm>
            <a:off x="881062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Restrictions</a:t>
            </a:r>
            <a:endParaRPr lang="en-US" sz="1200" dirty="0"/>
          </a:p>
        </p:txBody>
      </p:sp>
      <p:sp>
        <p:nvSpPr>
          <p:cNvPr id="28" name="Text 26"/>
          <p:cNvSpPr/>
          <p:nvPr/>
        </p:nvSpPr>
        <p:spPr>
          <a:xfrm>
            <a:off x="881062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Storage location</a:t>
            </a:r>
            <a:endParaRPr lang="en-US" sz="1200" dirty="0"/>
          </a:p>
        </p:txBody>
      </p:sp>
      <p:sp>
        <p:nvSpPr>
          <p:cNvPr id="29" name="Text 27"/>
          <p:cNvSpPr/>
          <p:nvPr/>
        </p:nvSpPr>
        <p:spPr>
          <a:xfrm>
            <a:off x="881062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Notes</a:t>
            </a:r>
            <a:endParaRPr lang="en-US" sz="1200" dirty="0"/>
          </a:p>
        </p:txBody>
      </p:sp>
      <p:sp>
        <p:nvSpPr>
          <p:cNvPr id="30" name="Text 28"/>
          <p:cNvSpPr/>
          <p:nvPr/>
        </p:nvSpPr>
        <p:spPr>
          <a:xfrm>
            <a:off x="819150" y="3831336"/>
            <a:ext cx="10553700" cy="301752"/>
          </a:xfrm>
          <a:prstGeom prst="rect">
            <a:avLst/>
          </a:prstGeom>
          <a:noFill/>
          <a:ln w="12700">
            <a:solidFill>
              <a:srgbClr val="12171D"/>
            </a:solidFill>
            <a:prstDash val="solid"/>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File name: GEM_[STREAM]_[ASSET]_[VARIANT]_vX.Y_YYYYMMDD.ext (register X12) · the date field is the issue date.</a:t>
            </a:r>
            <a:endParaRPr lang="en-US" sz="1200" dirty="0"/>
          </a:p>
        </p:txBody>
      </p:sp>
      <p:sp>
        <p:nvSpPr>
          <p:cNvPr id="31" name="Text 29"/>
          <p:cNvSpPr/>
          <p:nvPr/>
        </p:nvSpPr>
        <p:spPr>
          <a:xfrm>
            <a:off x="819150" y="4233672"/>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Proposed, CONDITIONAL [REQUIRES OWNER]: asset ID GEM-[CATEGORY]-[NNN] · SHA-256 checksum · Rights status [PENDING] (VAL-04).</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N</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
        <p:nvSpPr>
          <p:cNvPr id="34" name="Text 32"/>
          <p:cNvSpPr/>
          <p:nvPr/>
        </p:nvSpPr>
        <p:spPr>
          <a:xfrm>
            <a:off x="819150" y="4636008"/>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unreleased file may be listed as APPROVED.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O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change log</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66144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Change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 standard / SKU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New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Impact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Effective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asset /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Manifest updated?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notified?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3988544"/>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Every change to a standard or master is logged before it takes effect.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O</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69 · OPEN VALIDATION GATES · SEVENTEEN OPEN · IDS PER V3 APPROVAL REGISTER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Nothing here is closed until the evidence exists.</a:t>
            </a:r>
            <a:endParaRPr lang="en-US" sz="2400" dirty="0"/>
          </a:p>
        </p:txBody>
      </p:sp>
      <p:sp>
        <p:nvSpPr>
          <p:cNvPr id="4" name="Text 2"/>
          <p:cNvSpPr/>
          <p:nvPr/>
        </p:nvSpPr>
        <p:spPr>
          <a:xfrm>
            <a:off x="8191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Logo masters, kit received · VAL-02</a:t>
            </a:r>
            <a:endParaRPr lang="en-US" sz="1200" dirty="0"/>
          </a:p>
        </p:txBody>
      </p:sp>
      <p:sp>
        <p:nvSpPr>
          <p:cNvPr id="5" name="Text 3"/>
          <p:cNvSpPr/>
          <p:nvPr/>
        </p:nvSpPr>
        <p:spPr>
          <a:xfrm>
            <a:off x="43624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No-spark logo, kit received · VAL-02</a:t>
            </a:r>
            <a:endParaRPr lang="en-US" sz="1200" dirty="0"/>
          </a:p>
        </p:txBody>
      </p:sp>
      <p:sp>
        <p:nvSpPr>
          <p:cNvPr id="6" name="Text 4"/>
          <p:cNvSpPr/>
          <p:nvPr/>
        </p:nvSpPr>
        <p:spPr>
          <a:xfrm>
            <a:off x="79057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Stacked logo, kit received · VAL-02</a:t>
            </a:r>
            <a:endParaRPr lang="en-US" sz="1200" dirty="0"/>
          </a:p>
        </p:txBody>
      </p:sp>
      <p:sp>
        <p:nvSpPr>
          <p:cNvPr id="7" name="Text 5"/>
          <p:cNvSpPr/>
          <p:nvPr/>
        </p:nvSpPr>
        <p:spPr>
          <a:xfrm>
            <a:off x="8191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White symbol, kit received · VAL-02</a:t>
            </a:r>
            <a:endParaRPr lang="en-US" sz="1200" dirty="0"/>
          </a:p>
        </p:txBody>
      </p:sp>
      <p:sp>
        <p:nvSpPr>
          <p:cNvPr id="8" name="Text 6"/>
          <p:cNvSpPr/>
          <p:nvPr/>
        </p:nvSpPr>
        <p:spPr>
          <a:xfrm>
            <a:off x="43624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Artwork ownership · VAL-04</a:t>
            </a:r>
            <a:endParaRPr lang="en-US" sz="1200" dirty="0"/>
          </a:p>
        </p:txBody>
      </p:sp>
      <p:sp>
        <p:nvSpPr>
          <p:cNvPr id="9" name="Text 7"/>
          <p:cNvSpPr/>
          <p:nvPr/>
        </p:nvSpPr>
        <p:spPr>
          <a:xfrm>
            <a:off x="79057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Trademark clearance · VAL-03</a:t>
            </a:r>
            <a:endParaRPr lang="en-US" sz="1200" dirty="0"/>
          </a:p>
        </p:txBody>
      </p:sp>
      <p:sp>
        <p:nvSpPr>
          <p:cNvPr id="10" name="Text 8"/>
          <p:cNvSpPr/>
          <p:nvPr/>
        </p:nvSpPr>
        <p:spPr>
          <a:xfrm>
            <a:off x="8191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 build and licence · VAL-05</a:t>
            </a:r>
            <a:endParaRPr lang="en-US" sz="1200" dirty="0"/>
          </a:p>
        </p:txBody>
      </p:sp>
      <p:sp>
        <p:nvSpPr>
          <p:cNvPr id="11" name="Text 9"/>
          <p:cNvSpPr/>
          <p:nvPr/>
        </p:nvSpPr>
        <p:spPr>
          <a:xfrm>
            <a:off x="43624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CMYK / spot validation · VAL-11, J14</a:t>
            </a:r>
            <a:endParaRPr lang="en-US" sz="1200" dirty="0"/>
          </a:p>
        </p:txBody>
      </p:sp>
      <p:sp>
        <p:nvSpPr>
          <p:cNvPr id="12" name="Text 10"/>
          <p:cNvSpPr/>
          <p:nvPr/>
        </p:nvSpPr>
        <p:spPr>
          <a:xfrm>
            <a:off x="79057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Physical colour standards · VAL-09, J16</a:t>
            </a:r>
            <a:endParaRPr lang="en-US" sz="1200" dirty="0"/>
          </a:p>
        </p:txBody>
      </p:sp>
      <p:sp>
        <p:nvSpPr>
          <p:cNvPr id="13" name="Text 11"/>
          <p:cNvSpPr/>
          <p:nvPr/>
        </p:nvSpPr>
        <p:spPr>
          <a:xfrm>
            <a:off x="8191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native QA · VAL-07</a:t>
            </a:r>
            <a:endParaRPr lang="en-US" sz="1200" dirty="0"/>
          </a:p>
        </p:txBody>
      </p:sp>
      <p:sp>
        <p:nvSpPr>
          <p:cNvPr id="14" name="Text 12"/>
          <p:cNvSpPr/>
          <p:nvPr/>
        </p:nvSpPr>
        <p:spPr>
          <a:xfrm>
            <a:off x="43624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rights · VAL-06</a:t>
            </a:r>
            <a:endParaRPr lang="en-US" sz="1200" dirty="0"/>
          </a:p>
        </p:txBody>
      </p:sp>
      <p:sp>
        <p:nvSpPr>
          <p:cNvPr id="15" name="Text 13"/>
          <p:cNvSpPr/>
          <p:nvPr/>
        </p:nvSpPr>
        <p:spPr>
          <a:xfrm>
            <a:off x="79057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dielines · VAL-09</a:t>
            </a:r>
            <a:endParaRPr lang="en-US" sz="1200" dirty="0"/>
          </a:p>
        </p:txBody>
      </p:sp>
      <p:sp>
        <p:nvSpPr>
          <p:cNvPr id="16" name="Text 14"/>
          <p:cNvSpPr/>
          <p:nvPr/>
        </p:nvSpPr>
        <p:spPr>
          <a:xfrm>
            <a:off x="8191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packaging data · VAL-10</a:t>
            </a:r>
            <a:endParaRPr lang="en-US" sz="1200" dirty="0"/>
          </a:p>
        </p:txBody>
      </p:sp>
      <p:sp>
        <p:nvSpPr>
          <p:cNvPr id="17" name="Text 15"/>
          <p:cNvSpPr/>
          <p:nvPr/>
        </p:nvSpPr>
        <p:spPr>
          <a:xfrm>
            <a:off x="43624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physical proof · VAL-09</a:t>
            </a:r>
            <a:endParaRPr lang="en-US" sz="1200" dirty="0"/>
          </a:p>
        </p:txBody>
      </p:sp>
      <p:sp>
        <p:nvSpPr>
          <p:cNvPr id="18" name="Text 16"/>
          <p:cNvSpPr/>
          <p:nvPr/>
        </p:nvSpPr>
        <p:spPr>
          <a:xfrm>
            <a:off x="79057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Signage site standards · VAL-12, deferred</a:t>
            </a:r>
            <a:endParaRPr lang="en-US" sz="1200" dirty="0"/>
          </a:p>
        </p:txBody>
      </p:sp>
      <p:sp>
        <p:nvSpPr>
          <p:cNvPr id="19" name="Text 17"/>
          <p:cNvSpPr/>
          <p:nvPr/>
        </p:nvSpPr>
        <p:spPr>
          <a:xfrm>
            <a:off x="8191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Named governance holders · AC19</a:t>
            </a:r>
            <a:endParaRPr lang="en-US" sz="1200" dirty="0"/>
          </a:p>
        </p:txBody>
      </p:sp>
      <p:sp>
        <p:nvSpPr>
          <p:cNvPr id="20" name="Text 18"/>
          <p:cNvSpPr/>
          <p:nvPr/>
        </p:nvSpPr>
        <p:spPr>
          <a:xfrm>
            <a:off x="43624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release authorization · AC20</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GATES</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
        <p:nvSpPr>
          <p:cNvPr id="23" name="Text 21"/>
          <p:cNvSpPr/>
          <p:nvPr/>
        </p:nvSpPr>
        <p:spPr>
          <a:xfrm>
            <a:off x="813816" y="4206240"/>
            <a:ext cx="10552176" cy="54864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Gate IDs follow the register's Validation &amp; Evidence sheet (VAL-01 to VAL-21; VAL-18 is not allocated) and the release checkpoints AC17, AC19 and AC20. Digital gates VAL-13, VAL-14, VAL-20 and the cross-document check VAL-21 are tracked in Part B and the RC2 Open Evidence Register.</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70 · SIX RELEASE GATES</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Six gates. All must be met.</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1 · Master assets</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VAL-02, VAL-03, VAL-04</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2 · Production specification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AC17, VAL-05, VAL-10</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3 · Supplier proof</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VAL-11</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4 · Physical validation</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VAL-15; VAL-12 deferred</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5 · Governance</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AC19, VAL-16, VAL-21</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6 · Release authorization</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AC20</a:t>
            </a:r>
            <a:endParaRPr lang="en-US" sz="1200" dirty="0"/>
          </a:p>
        </p:txBody>
      </p:sp>
      <p:sp>
        <p:nvSpPr>
          <p:cNvPr id="22" name="Text 20"/>
          <p:cNvSpPr/>
          <p:nvPr/>
        </p:nvSpPr>
        <p:spPr>
          <a:xfrm>
            <a:off x="812800" y="3616771"/>
            <a:ext cx="5226050" cy="68322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Until all six are met: V3.0 RC2 · WORKING EDITION / PENDING PRODUCTION VALIDATION</a:t>
            </a:r>
            <a:endParaRPr lang="en-US" sz="1300" dirty="0"/>
          </a:p>
        </p:txBody>
      </p:sp>
      <p:sp>
        <p:nvSpPr>
          <p:cNvPr id="23" name="Text 21"/>
          <p:cNvSpPr/>
          <p:nvPr/>
        </p:nvSpPr>
        <p:spPr>
          <a:xfrm>
            <a:off x="6134100" y="3623121"/>
            <a:ext cx="5238750" cy="670520"/>
          </a:xfrm>
          <a:prstGeom prst="rect">
            <a:avLst/>
          </a:prstGeom>
          <a:noFill/>
          <a:ln w="12700">
            <a:solidFill>
              <a:srgbClr val="BCACA7"/>
            </a:solidFill>
            <a:prstDash val="solid"/>
          </a:ln>
        </p:spPr>
        <p:txBody>
          <a:bodyPr wrap="square" lIns="146050" tIns="120650" rIns="0" bIns="952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APPROVED PRODUCTION STANDARD only when the evidence exists</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GATES</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71 · DOCUMENT CONTROL &amp; CHANGE LOG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version. One date. One owner.</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Document ID</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GEM-PS-V3.0-RC2</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Version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V3.0 RC2 (Release Candidate 2)</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Edition state</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EDITION · NOT RELEASED</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Issue date</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2026-10-06</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Owner</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[REQUIRES OWNER]</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Approver</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 AC20 PENDING</a:t>
            </a:r>
            <a:endParaRPr lang="en-US" sz="1200" dirty="0"/>
          </a:p>
        </p:txBody>
      </p:sp>
      <p:sp>
        <p:nvSpPr>
          <p:cNvPr id="22" name="Text 20"/>
          <p:cNvSpPr/>
          <p:nvPr/>
        </p:nvSpPr>
        <p:spPr>
          <a:xfrm>
            <a:off x="812800" y="3621024"/>
            <a:ext cx="5226050" cy="77724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Release status: RC2 synchronized with Part A and Part B RC2 · evidence gates open · Title: GEM™ Production Standards V3.0 — Part C</a:t>
            </a:r>
            <a:endParaRPr lang="en-US" sz="1300" dirty="0"/>
          </a:p>
        </p:txBody>
      </p:sp>
      <p:sp>
        <p:nvSpPr>
          <p:cNvPr id="23" name="Text 21"/>
          <p:cNvSpPr/>
          <p:nvPr/>
        </p:nvSpPr>
        <p:spPr>
          <a:xfrm>
            <a:off x="6134100" y="3621024"/>
            <a:ext cx="5238750" cy="777240"/>
          </a:xfrm>
          <a:prstGeom prst="rect">
            <a:avLst/>
          </a:prstGeom>
          <a:noFill/>
          <a:ln w="12700">
            <a:solidFill>
              <a:srgbClr val="BCACA7"/>
            </a:solidFill>
            <a:prstDash val="solid"/>
          </a:ln>
        </p:spPr>
        <p:txBody>
          <a:bodyPr wrap="square" lIns="146050" tIns="120650" rIns="0" bIns="95250" rtlCol="0" anchor="t"/>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Supersedes: Release Candidate 1 (undated) · Related: GEM-BG-V3.0-RC2 (Part A) · GEM-DDS-V3.0-RC2 (Part B) · V3 Approval Register</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DOCUMENT CONTROL</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77</a:t>
            </a:r>
            <a:endParaRPr lang="en-US" sz="1200" dirty="0"/>
          </a:p>
        </p:txBody>
      </p:sp>
      <p:sp>
        <p:nvSpPr>
          <p:cNvPr id="26" name="Text 24"/>
          <p:cNvSpPr/>
          <p:nvPr/>
        </p:nvSpPr>
        <p:spPr>
          <a:xfrm>
            <a:off x="813816" y="4617720"/>
            <a:ext cx="10552176" cy="7315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Change log · RC2, 2026-10-06: authority order and domain ownership (2); edition states and labels (3); register role names (4); master register rows (7); physical reference promotion (12, 13); T13 wording (20); tier status (27); six-level hierarchy T05 (29); external signage deferred S02 (39); Arabic-first default S07 (41); template gate (44); X12 naming (56, N); Y06 clause (B); fields added (D, E, F, L); gate IDs (75, 76). Full record: GEM_V3_RC2_Release_Notes.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3" b="3"/>
          <a:stretch/>
        </p:blipFill>
        <p:spPr>
          <a:xfrm>
            <a:off x="812800" y="812800"/>
            <a:ext cx="2286000" cy="723503"/>
          </a:xfrm>
          <a:prstGeom prst="rect">
            <a:avLst/>
          </a:prstGeom>
        </p:spPr>
      </p:pic>
      <p:sp>
        <p:nvSpPr>
          <p:cNvPr id="4" name="Text 0"/>
          <p:cNvSpPr/>
          <p:nvPr>
            <p:ph type="title"/>
          </p:nvPr>
        </p:nvSpPr>
        <p:spPr>
          <a:xfrm>
            <a:off x="812800" y="2794000"/>
            <a:ext cx="8110220" cy="444500"/>
          </a:xfrm>
          <a:prstGeom prst="rect">
            <a:avLst/>
          </a:prstGeom>
          <a:noFill/>
          <a:ln/>
        </p:spPr>
        <p:txBody>
          <a:bodyPr wrap="square" lIns="0" tIns="0" rIns="0" bIns="0" rtlCol="0" anchor="t">
            <a:normAutofit/>
          </a:bodyPr>
          <a:lstStyle/>
          <a:p>
            <a:pPr algn="l" indent="0" marL="0">
              <a:lnSpc>
                <a:spcPts val="3300"/>
              </a:lnSpc>
              <a:buNone/>
            </a:pPr>
            <a:r>
              <a:rPr lang="en-US" sz="3000" b="0" i="0" spc="240" kern="0" dirty="0">
                <a:solidFill>
                  <a:srgbClr val="FFFFFF"/>
                </a:solidFill>
                <a:latin typeface="Jost" pitchFamily="34" charset="0"/>
                <a:ea typeface="Jost" pitchFamily="34" charset="-122"/>
                <a:cs typeface="Jost" pitchFamily="34" charset="-120"/>
              </a:rPr>
              <a:t>A SUPPLIER NEVER HAS TO GUESS.</a:t>
            </a:r>
            <a:endParaRPr lang="en-US" sz="3000" dirty="0"/>
          </a:p>
        </p:txBody>
      </p:sp>
      <p:sp>
        <p:nvSpPr>
          <p:cNvPr id="5" name="Text 1"/>
          <p:cNvSpPr/>
          <p:nvPr/>
        </p:nvSpPr>
        <p:spPr>
          <a:xfrm>
            <a:off x="812800" y="35560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RELEASE CANDIDATE 2 · WORKING EDITION / PENDING PRODUCTION VALIDATION</a:t>
            </a:r>
            <a:endParaRPr lang="en-US" sz="1600" dirty="0"/>
          </a:p>
        </p:txBody>
      </p:sp>
      <p:sp>
        <p:nvSpPr>
          <p:cNvPr id="6"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BCACA7"/>
                </a:solidFill>
                <a:latin typeface="Inter" pitchFamily="34" charset="0"/>
                <a:ea typeface="Inter" pitchFamily="34" charset="-122"/>
                <a:cs typeface="Inter" pitchFamily="34" charset="-120"/>
              </a:rPr>
              <a:t>HOSPITALITY, IN PERFECT PROPORTION</a:t>
            </a:r>
            <a:endParaRPr lang="en-US" sz="1200" dirty="0"/>
          </a:p>
        </p:txBody>
      </p:sp>
      <p:sp>
        <p:nvSpPr>
          <p:cNvPr id="7"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Tree>
  </p:cSld>
  <p:clrMapOvr>
    <a:masterClrMapping/>
  </p:clrMapOvr>
</p:sld>
</file>

<file path=ppt/theme/theme1.xml><?xml version="1.0" encoding="utf-8"?>
<a:theme xmlns:a="http://schemas.openxmlformats.org/drawingml/2006/main" name="GEM Production Standards V3.0 — Part C — Release Candidate 1">
  <a:themeElements>
    <a:clrScheme name="GEM Production Standards V3.0 — Part C — Release Candidate 1">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Production Standards V3.0 — Part C — Release Candidate 1">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Production Standards V3.0 — Part C — Release Candidate 1</dc:title>
  <dc:subject/>
  <dc:creator/>
  <cp:lastModifiedBy/>
  <cp:revision>1</cp:revision>
  <dcterms:created xsi:type="dcterms:W3CDTF">2026-10-06T02:06:29Z</dcterms:created>
  <dcterms:modified xsi:type="dcterms:W3CDTF">2026-10-06T02:06:29Z</dcterms:modified>
</cp:coreProperties>
</file>