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5" r:id="rId86"/>
    <p:sldId id="334" r:id="rId80"/>
  </p:sldIdLst>
  <p:notesMasterIdLst>
    <p:notesMasterId r:id="rId8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80.xml"/><Relationship Id="rId81" Type="http://schemas.openxmlformats.org/officeDocument/2006/relationships/notesMaster" Target="notesMasters/notesMaster1.xml"/><Relationship Id="rId82" Type="http://schemas.openxmlformats.org/officeDocument/2006/relationships/presProps" Target="presProps.xml"/><Relationship Id="rId83" Type="http://schemas.openxmlformats.org/officeDocument/2006/relationships/viewProps" Target="viewProps.xml"/><Relationship Id="rId84" Type="http://schemas.openxmlformats.org/officeDocument/2006/relationships/theme" Target="theme/theme1.xml"/><Relationship Id="rId85" Type="http://schemas.openxmlformats.org/officeDocument/2006/relationships/tableStyles" Target="tableStyles.xml"/><Relationship Id="rId86" Type="http://schemas.openxmlformats.org/officeDocument/2006/relationships/slide" Target="slides/slide7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Cover. Edition: V3.0 Release Candidate 2 (RC2), a working edition synchronized with Part B and Part C RC2 and with the V3 Final Brand Approval Register. Brand Owner release authorization (AC20) is pending. The logo is the supplied vector kit (SVG), used unchanged; owner acceptance as production master is PENDING (VAL-02). Document control and change log: slide 79.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 of the manual. It is deliberately editorial rather than technical: tokens and components live in Part B, production controls in Part 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Authority order as set by the register (RF01, RF02, DS01): the register first; then each of the three V3.0 products in its own domain; formal technical and legal standards where they apply; V2/V2.1 and V1 are historical evidence only; benchmarks and inspiration never override a GEM rule. Part A cross-references B and C rather than repeating them. Part C exists as Release Candidate 2 and is a working edition pending production validation (AC17).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 should use this manual: designers, agencies, hotel partners, suppliers, brand and procurement teams. How to use it: read the principle, look at the evidence, follow the rule, then check the application. The same four labels appear throughout; slide 73 shows how they are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secondary editorial line, used selectively. It is the idea behind the identity, not a replacement for the primary tagline.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Proportion, timing, space, detail and restraint connect the idea to hospitality. They return throughout: in layout, in language, in 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is a rendered art-direction study, status REFERENCE, to be replaced by commissioned photography.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emptiest page in the manual is deliberate. Restraint is shown by what is not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diagram is a schematic of the device vocabulary, drawn for explanation. It is not a reconstruction of the logo; the logo is only ever the supplied artwork.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threshold study. The dark field on the left carries the text; the doorway is the subject. To be replaced by commissioned photography.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Supplier and partner positioning, per the architecture decision (AC02). GEM does not operate hotels.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Hospitality context is Saudi/GCC, bilingual English and Arabic. The promises here are brand promises, not commercial claims.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Owners and developers are the fifth audience alongside guest, procurement, operations and brand and design teams. Hotel operations teams are a formal B2B audience (D07).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 sentences, stated rather than sold. The same measured, warm, precise voice at every level of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GEM is a supplier and partner, not a hotel operator. Do not invent additional divisions. The future-stream slot is a rule, not a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allowed: a stream logo, a stream symbol, a stream colour system, a sub-brand lockup.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Tone attributes G01 to G04. Arabic follows the same character and is written for Arabic, not translated word for word (G18).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Approved vocabulary G09; avoid list G10. Struck-through words are also labelled by the heading, so the distinction does not rely on style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Feedback has three layers: state label, title, actionable sentence. See Part B for the full feedback hierarchy.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B2B copy examples G11 to G17. Every unverified claim is prohibited in final templates (F08).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primary tagline is fixed. The secondary line is an editorial voice, not a second tagline.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Prohibited: rewriting, shortening, lowercasing, translating without explicit approval, wrapping, the retired 0.3 to 0.8em tracking, any face other than Jost, permanently locking it to the logo.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logo is the supplied vector kit (SVG), used unchanged. Acceptance as production master is pending (VAL-02); it is never traced or redrawn. Master SVG, PDF, EPS and PNG files are required before print or fabrication (H16, H17, DS05).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vector kit replaces the earlier raster references; logos are never auto-traced or redrawn. Embroidery, engraving and favicon masters follow once the vector masters exist (H18 to H20).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Construction is described from the supplied vector kit only. No geometry is invented; relationships such as ring-to-quarter ratios are withheld until the vector master is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H10 to H15: lockup minimum 120 px, symbol minimum 32 px, below 32 px the no-spark version, clearspace u = G-ring radius, one u minimum, two u preferred. The dashed boundary is drawn to scale for the layout shown; exact print minimums belong in Part 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tile is a deliberate misuse made from the supplied vector kit. Dashed frames mean prohibited; every tile is also labelled in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Examples stay conceptual until partners are approved. Sponsorship follows the approved agreement; the equal-partner arrangement is a default, not a mandate. GEM's own identity rules stay fixed.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colours, no accents. Ink is the field, Beige is its counterpart, Black is reserved for monochrome and one-colour production and functional states; it is not the default text colour. Proportions are not fixed percentages; Ink and space lead. Semantic tokens live in Part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pairing is labelled in words, so meaning never depends on colour alone. The prohibited tile is dashed and carries the word NEVER.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Jost is the approved Latin display and heading family. Futura PT is legacy only. Font build validation remains an open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Hierarchy example only. Digital sizes and tokens are specified in Part B. Sample label text is illustrative; 30 ML is a placeholder, not a product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Calibrated tracking is taken from the Digital Design System V3.0. Line length guidance of 45 to 75 characters supports legibility.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Arabic string is a working placeholder to show direction and scale. Native review is required before any Arabic copy is used. The tagline is not translated here because translation needs explicit approval.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Beige panel carries Ink text, never white. Arabic is sized larger than the Latin line to match optical weight. All strings are layout placeholders pending native localization approval.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Numeral logic follows Part B: guest-facing Arabic may use Arabic-Indic numerals where approved for the locale or property; technical identifiers (SKU, booking and reference IDs, URLs, phone numbers, technical codes, batch numbers, cross-system identifiers) always remain Latin digits. Locale policy remains PENDING VALIDATION. Working strings only, not approved copy.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Schematic only, not a template. This chapter explains brand composition; responsive layout breakpoints belong to Part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brand-world moment. The ring is decorative geometry; keep it behind or beside text, never under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drawings of the four devices, not the master artwork. Each device works alone or in relation to the logo.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diagram uses outline-only forms for clarity. Forms support the logo; they never compete with or imitate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spark drawing, not the master artwork. Maximum one per composition. Do not move or add the spark inside the logo.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illustrative glyphs only (REFERENCE), not the approved set. The full 27-glyph specification is in the Digital Design System V3.0, Part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Rendered reference study; replace with commissioned photography. Image rights remain an open validation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subjects shown with rendered reference studies; five await commissioned photography. Human presence is shown candid and partial, never posed groups.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Prohibited examples are made by deliberately degrading the reference studies. Each is labelled in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Crops are automatic centre crops of one study, shown to compare shapes. In production, subject placement is set per ratio.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Storyboard drawings are illustrative, not the master artwork. Timing follows the approved motion direction; the reduced-motion version is a still final frame.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Built from simple shapes to show feeling, not to specify components. No property is implied. Components and states are in Part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Placeholder content only. The confirmation message is example copy for tone, not approved UX writing. Messages use the verbal identity: measured and warm.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Touchpoints are illustrative of the hospitality context GEM supplies into; GEM is a supplier and partner, not a hotel operator.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Layouts are concepts. Dimensions, stock and finishing belong in Part C. No property information is implied.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Door hanger and Wi-Fi card are shown as plain concept blocks; copy is [PENDING]. The image is a rendered reference study.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Menu content is not invented. Concept blocks show hierarchy and tone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stream has no new logo, symbol or colour system. No quantities, capabilities, suppliers or commercial terms are stated.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Type size steps down with each level. Six levels per register decision T05: GEM → collection/tier → product/function → quantity/size → instructions/required market information → SKU/artwork version. Detailed layout, dielines and production controls belong to Part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Flat concept blocks, not packaging designs and not production artwork. Product names are the pilot family only; nothing about formulation or sourcing is implied.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Direction only. No finishing capability or supplier is claimed. The image is a rendered reference study.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Fabrication, sizes, mounting and materials depend on each property and are not specified here (Part C). Bilingual order for Saudi/GCC wayfinding follows register decision S07: Arabic first and right, English secondary and left; adapt only where regulatory or operational context requires, as a documented project-specific deviation. External property signage is deferred (S02). Arabic text is a placeholder pending localization approval.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Signage concept only. Glyph is an illustrative information symbol, not the approved 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Quiet and professional. No commercial data, claims, certifications or contact details are stated. Presentations are shown in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slide types in miniature. The template specification is not reproduced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Format thumbnails are scaled. Text inside them is placeholder at reduced size for layout only; in production, minimum sizes follow Part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Accessibility implementation QA remains an open gate (VAL-08). This deck uses readable sizes and AA contrast pairings; every image carries alt text and purely decorative geometry is marked decorative (V02, V03). Native document QA (VAL-15) is still to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twelve roles and their responsibilities are those of the register's Owners &amp; Governance sheet; Part B and Part C cite this list and add only their domain duties. No people are invented. Detailed RACI is intentionally omitted from Part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sources conflict, the V3 approval register decides. Tiles differ by fill and by border style, and each carries its word.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Folder architecture as listed in the brief. Brand Masters hold the supplied vector kit; owner acceptance as production master is PENDING (VAL-02).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Convention X12 of the register. Earlier working editions omitted the date field; the register wins. Asset-ID format and checksum algorithm are proposals pending owner confirmation.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spread to remember. Do is the light field; Don't is the dark field, and each is labelled in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compact reference for daily use. The ring, arc, quarter and spark are illustrative drawings.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Summarized by theme with the register's validation IDs (VAL-01 to VAL-21; there is no VAL-18 in the register) and the release checkpoints AC17, AC19 and AC20. Editing this manual closes none of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Closing. Part B is the Digital Design System V3.0, issued as Release Candidate 2 with a token package; its component bundle is pending (VAL-13, VAL-20). Part C, Production Standards V3.0, is issued as Release Candidate 2, a working edition pending production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Document control per register A11 and the change-log appendix (Z24, AB19). Owner and approver names are recorded by the Brand Owner before AC20. Part B is issued as its own RC2 deck with a token package (PartB_RC2/05_release); its component bundle does not yet exist (VAL-13, VAL-20).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254720"/>
            <a:ext cx="10566400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062411"/>
            <a:ext cx="10566400" cy="3982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254720"/>
            <a:ext cx="10566400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062411"/>
            <a:ext cx="10566400" cy="3982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image" Target="../media/image1.png"/><Relationship Id="rId6" Type="http://schemas.openxmlformats.org/officeDocument/2006/relationships/image" Target="../media/image2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6.xml"/><Relationship Id="rId6" Type="http://schemas.openxmlformats.org/officeDocument/2006/relationships/image" Target="../media/image1.png"/><Relationship Id="rId7" Type="http://schemas.openxmlformats.org/officeDocument/2006/relationships/image" Target="../media/image2.svg"/><Relationship Id="rId8" Type="http://schemas.openxmlformats.org/officeDocument/2006/relationships/image" Target="../media/image3.png"/><Relationship Id="rId9" Type="http://schemas.openxmlformats.org/officeDocument/2006/relationships/image" Target="../media/image4.svg"/><Relationship Id="rId10" Type="http://schemas.openxmlformats.org/officeDocument/2006/relationships/image" Target="../media/image5.png"/><Relationship Id="rId11" Type="http://schemas.openxmlformats.org/officeDocument/2006/relationships/image" Target="../media/image6.sv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7.xml"/><Relationship Id="rId5" Type="http://schemas.openxmlformats.org/officeDocument/2006/relationships/image" Target="../media/image7.png"/><Relationship Id="rId6" Type="http://schemas.openxmlformats.org/officeDocument/2006/relationships/image" Target="../media/image8.svg"/><Relationship Id="rId7" Type="http://schemas.openxmlformats.org/officeDocument/2006/relationships/image" Target="../media/image9.png"/><Relationship Id="rId8" Type="http://schemas.openxmlformats.org/officeDocument/2006/relationships/image" Target="../media/image10.svg"/><Relationship Id="rId9" Type="http://schemas.openxmlformats.org/officeDocument/2006/relationships/image" Target="../media/image11.png"/><Relationship Id="rId10" Type="http://schemas.openxmlformats.org/officeDocument/2006/relationships/image" Target="../media/image12.svg"/><Relationship Id="rId11" Type="http://schemas.openxmlformats.org/officeDocument/2006/relationships/image" Target="../media/image13.png"/><Relationship Id="rId12" Type="http://schemas.openxmlformats.org/officeDocument/2006/relationships/image" Target="../media/image14.sv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8.xml"/><Relationship Id="rId5" Type="http://schemas.openxmlformats.org/officeDocument/2006/relationships/image" Target="../media/image7.png"/><Relationship Id="rId6" Type="http://schemas.openxmlformats.org/officeDocument/2006/relationships/image" Target="../media/image8.sv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9.xml"/><Relationship Id="rId6" Type="http://schemas.openxmlformats.org/officeDocument/2006/relationships/image" Target="../media/image3.png"/><Relationship Id="rId7" Type="http://schemas.openxmlformats.org/officeDocument/2006/relationships/image" Target="../media/image4.svg"/><Relationship Id="rId8" Type="http://schemas.openxmlformats.org/officeDocument/2006/relationships/image" Target="../media/image9.png"/><Relationship Id="rId9" Type="http://schemas.openxmlformats.org/officeDocument/2006/relationships/image" Target="../media/image10.sv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image" Target="../media/image-30-6.png"/><Relationship Id="rId7" Type="http://schemas.openxmlformats.org/officeDocument/2006/relationships/image" Target="../media/image-30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0.xml"/><Relationship Id="rId10" Type="http://schemas.openxmlformats.org/officeDocument/2006/relationships/image" Target="../media/image3.png"/><Relationship Id="rId11" Type="http://schemas.openxmlformats.org/officeDocument/2006/relationships/image" Target="../media/image4.svg"/><Relationship Id="rId12" Type="http://schemas.openxmlformats.org/officeDocument/2006/relationships/image" Target="../media/image1.png"/><Relationship Id="rId13" Type="http://schemas.openxmlformats.org/officeDocument/2006/relationships/image" Target="../media/image2.svg"/><Relationship Id="rId14" Type="http://schemas.openxmlformats.org/officeDocument/2006/relationships/image" Target="../media/image5.png"/><Relationship Id="rId15" Type="http://schemas.openxmlformats.org/officeDocument/2006/relationships/image" Target="../media/image6.sv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1.xml"/><Relationship Id="rId5" Type="http://schemas.openxmlformats.org/officeDocument/2006/relationships/image" Target="../media/image3.png"/><Relationship Id="rId6" Type="http://schemas.openxmlformats.org/officeDocument/2006/relationships/image" Target="../media/image4.svg"/><Relationship Id="rId7" Type="http://schemas.openxmlformats.org/officeDocument/2006/relationships/image" Target="../media/image1.png"/><Relationship Id="rId8" Type="http://schemas.openxmlformats.org/officeDocument/2006/relationships/image" Target="../media/image2.sv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image" Target="../media/image-4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image" Target="../media/image-4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image" Target="../media/image-4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image" Target="../media/image-48-1.jpeg"/><Relationship Id="rId2" Type="http://schemas.openxmlformats.org/officeDocument/2006/relationships/image" Target="../media/image-48-2.jpeg"/><Relationship Id="rId3" Type="http://schemas.openxmlformats.org/officeDocument/2006/relationships/image" Target="../media/image-48-3.jpeg"/><Relationship Id="rId4" Type="http://schemas.openxmlformats.org/officeDocument/2006/relationships/image" Target="../media/image-48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image" Target="../media/image-49-1.jpeg"/><Relationship Id="rId2" Type="http://schemas.openxmlformats.org/officeDocument/2006/relationships/image" Target="../media/image-49-2.jpeg"/><Relationship Id="rId3" Type="http://schemas.openxmlformats.org/officeDocument/2006/relationships/image" Target="../media/image-49-3.jpeg"/><Relationship Id="rId4" Type="http://schemas.openxmlformats.org/officeDocument/2006/relationships/image" Target="../media/image-49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image" Target="../media/image-50-1.jpeg"/><Relationship Id="rId2" Type="http://schemas.openxmlformats.org/officeDocument/2006/relationships/image" Target="../media/image-50-2.jpeg"/><Relationship Id="rId3" Type="http://schemas.openxmlformats.org/officeDocument/2006/relationships/image" Target="../media/image-50-3.jpeg"/><Relationship Id="rId4" Type="http://schemas.openxmlformats.org/officeDocument/2006/relationships/image" Target="../media/image-50-4.jpeg"/><Relationship Id="rId5" Type="http://schemas.openxmlformats.org/officeDocument/2006/relationships/image" Target="../media/image-50-5.jpe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image" Target="../media/image-5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3.xml"/><Relationship Id="rId5" Type="http://schemas.openxmlformats.org/officeDocument/2006/relationships/image" Target="../media/image1.png"/><Relationship Id="rId6" Type="http://schemas.openxmlformats.org/officeDocument/2006/relationships/image" Target="../media/image2.sv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6.xml"/><Relationship Id="rId5" Type="http://schemas.openxmlformats.org/officeDocument/2006/relationships/image" Target="../media/image1.png"/><Relationship Id="rId6" Type="http://schemas.openxmlformats.org/officeDocument/2006/relationships/image" Target="../media/image2.sv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image" Target="../media/image-5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image" Target="../media/image-5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png"/><Relationship Id="rId3" Type="http://schemas.openxmlformats.org/officeDocument/2006/relationships/image" Target="../media/image-62-3.png"/><Relationship Id="rId4" Type="http://schemas.openxmlformats.org/officeDocument/2006/relationships/image" Target="../media/image-62-4.png"/><Relationship Id="rId5" Type="http://schemas.openxmlformats.org/officeDocument/2006/relationships/image" Target="../media/image-6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image" Target="../media/image-6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image" Target="../media/image-6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7.xml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image" Target="../media/image-68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image" Target="../media/image-6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image" Target="../media/image-7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7.xml"/><Relationship Id="rId5" Type="http://schemas.openxmlformats.org/officeDocument/2006/relationships/image" Target="../media/image1.png"/><Relationship Id="rId6" Type="http://schemas.openxmlformats.org/officeDocument/2006/relationships/image" Target="../media/image2.sv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image" Target="../media/image-7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9.xml"/><Relationship Id="rId5" Type="http://schemas.openxmlformats.org/officeDocument/2006/relationships/image" Target="../media/image1.png"/><Relationship Id="rId6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8"/>
          <p:cNvSpPr>
            <a:spLocks noGrp="1"/>
          </p:cNvSpPr>
          <p:nvPr>
            <p:ph type="title"/>
          </p:nvPr>
        </p:nvSpPr>
        <p:spPr>
          <a:xfrm>
            <a:off x="457200" y="7315200"/>
            <a:ext cx="8229600" cy="36576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200" dirty="0"/>
              <a:t>Brand Guidelines V3.0 — Part A: Master Brand Guidelines</a:t>
            </a:r>
          </a:p>
        </p:txBody>
      </p:sp>
      <p:pic>
        <p:nvPicPr>
          <p:cNvPr id="2" name="Image 0" descr="Decorative background geometry: cropped GEM ring and quarter forms." title="Decorative background geometry: cropped GEM ring and quarter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GEM primary horizontal signature, Beige on Ink, supplied raster, PENDING PRODUCTION MASTER" title="GEM primary horizontal signature, Beige on Ink, supplied ras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70" r="-70" t="0" b="0"/>
          <a:stretch/>
        </p:blipFill>
        <p:spPr>
          <a:xfrm>
            <a:off x="812800" y="812800"/>
            <a:ext cx="3556000" cy="11239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12800" y="3302000"/>
            <a:ext cx="7194550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spc="9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Brand Guidelines V3.0</a:t>
            </a:r>
            <a:endParaRPr lang="en-US" sz="4800" dirty="0"/>
          </a:p>
        </p:txBody>
      </p:sp>
      <p:sp>
        <p:nvSpPr>
          <p:cNvPr id="5" name="Text 1"/>
          <p:cNvSpPr/>
          <p:nvPr/>
        </p:nvSpPr>
        <p:spPr>
          <a:xfrm>
            <a:off x="812800" y="4191000"/>
            <a:ext cx="65405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A — Master Brand Guidelines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812800" y="5643910"/>
            <a:ext cx="71945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50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HOSPITALITY, IN PERFECT PROPORTION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812800" y="6024959"/>
            <a:ext cx="850265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V3.0 RC2 · Working edition · release not yet authorized (AC20) · logo from supplied vector kit, owner acceptance PENDING (VAL-02) · Document ID GEM-BG-V3.0-RC2 · issued 2026-10-06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58602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20"/>
            <a:ext cx="5860288" cy="170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0" i="0" spc="8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manual for making things that belong to GEM.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12800" y="3210520"/>
            <a:ext cx="5860288" cy="1285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 the strategic, visual and expressive manual for GEM™. The identity direction is approved. These pages make it complete, usable and consistent: what GEM believes, how it looks, how it sounds and how it behaves.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0" y="2682280"/>
            <a:ext cx="41859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MANUAL ANSWERS</a:t>
            </a:r>
            <a:endParaRPr lang="en-US" sz="1200" dirty="0"/>
          </a:p>
        </p:txBody>
      </p:sp>
      <p:sp>
        <p:nvSpPr>
          <p:cNvPr id="6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0" y="3051175"/>
            <a:ext cx="4064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0" y="3181350"/>
            <a:ext cx="418592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does GEM stand for?</a:t>
            </a:r>
            <a:endParaRPr lang="en-US" sz="1500" dirty="0"/>
          </a:p>
        </p:txBody>
      </p:sp>
      <p:sp>
        <p:nvSpPr>
          <p:cNvPr id="8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0" y="3559175"/>
            <a:ext cx="4064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315200" y="3689350"/>
            <a:ext cx="418592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should GEM look and sound?</a:t>
            </a:r>
            <a:endParaRPr lang="en-US" sz="1500" dirty="0"/>
          </a:p>
        </p:txBody>
      </p:sp>
      <p:sp>
        <p:nvSpPr>
          <p:cNvPr id="10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0" y="4067175"/>
            <a:ext cx="4064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315200" y="4197350"/>
            <a:ext cx="418592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does it behave for guests and B2B partners?</a:t>
            </a:r>
            <a:endParaRPr lang="en-US" sz="1500" dirty="0"/>
          </a:p>
        </p:txBody>
      </p:sp>
      <p:sp>
        <p:nvSpPr>
          <p:cNvPr id="12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0" y="4822825"/>
            <a:ext cx="4064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0" y="4953000"/>
            <a:ext cx="418592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fixed, and what may flex?</a:t>
            </a:r>
            <a:endParaRPr lang="en-US" sz="1500" dirty="0"/>
          </a:p>
        </p:txBody>
      </p:sp>
      <p:sp>
        <p:nvSpPr>
          <p:cNvPr id="14" name="Shap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0" y="5330825"/>
            <a:ext cx="4064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5" name="Shap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0" y="5838825"/>
            <a:ext cx="4064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315200" y="5461000"/>
            <a:ext cx="418592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approved, and what is still pending?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INTRODUCTION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60695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SOURCE WINS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29320"/>
            <a:ext cx="6069584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Where sources conflict, the approval register wins.</a:t>
            </a:r>
            <a:endParaRPr lang="en-US" sz="3200" dirty="0"/>
          </a:p>
        </p:txBody>
      </p:sp>
      <p:sp>
        <p:nvSpPr>
          <p:cNvPr id="4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2431355"/>
            <a:ext cx="5892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12800" y="2523430"/>
            <a:ext cx="606958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· V3 Final Brand Approval Register</a:t>
            </a:r>
            <a:endParaRPr lang="en-US" sz="1500" dirty="0"/>
          </a:p>
        </p:txBody>
      </p:sp>
      <p:sp>
        <p:nvSpPr>
          <p:cNvPr id="6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2863155"/>
            <a:ext cx="5892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12800" y="2955230"/>
            <a:ext cx="606958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· Part A, Brand Guidelines: brand and identity</a:t>
            </a:r>
            <a:endParaRPr lang="en-US" sz="1500" dirty="0"/>
          </a:p>
        </p:txBody>
      </p:sp>
      <p:sp>
        <p:nvSpPr>
          <p:cNvPr id="8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3294955"/>
            <a:ext cx="5892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12800" y="3387030"/>
            <a:ext cx="606958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· Part B, Digital Design System: digital implementation</a:t>
            </a:r>
            <a:endParaRPr lang="en-US" sz="1500" dirty="0"/>
          </a:p>
        </p:txBody>
      </p:sp>
      <p:sp>
        <p:nvSpPr>
          <p:cNvPr id="10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3726755"/>
            <a:ext cx="5892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12800" y="3818830"/>
            <a:ext cx="606958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· Part C, Production Standards: physical production</a:t>
            </a:r>
            <a:endParaRPr lang="en-US" sz="1500" dirty="0"/>
          </a:p>
        </p:txBody>
      </p:sp>
      <p:sp>
        <p:nvSpPr>
          <p:cNvPr id="12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4158555"/>
            <a:ext cx="5892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12800" y="4250630"/>
            <a:ext cx="606958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· Formal technical and legal standards, where they apply</a:t>
            </a:r>
            <a:endParaRPr lang="en-US" sz="1500" dirty="0"/>
          </a:p>
        </p:txBody>
      </p:sp>
      <p:sp>
        <p:nvSpPr>
          <p:cNvPr id="14" name="Shap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4590355"/>
            <a:ext cx="5892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5" name="Shap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5022155"/>
            <a:ext cx="5892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12800" y="4682430"/>
            <a:ext cx="606958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· V2 / V2.1 and V1: historical, superseded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12800" y="5111496"/>
            <a:ext cx="606958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· Benchmarks and inspiration only</a:t>
            </a:r>
            <a:endParaRPr lang="en-US" sz="1500" dirty="0"/>
          </a:p>
        </p:txBody>
      </p:sp>
      <p:sp>
        <p:nvSpPr>
          <p:cNvPr id="30" name="Shape 2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5449824"/>
            <a:ext cx="5892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13816" y="5559552"/>
            <a:ext cx="6071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1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Domain ownership: where A, B and C cover different implementation domains, the owning document governs that domain unless the Approval Register overrides it.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0" y="1079550"/>
            <a:ext cx="41859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COORDINATED PRODUCTS</a:t>
            </a:r>
            <a:endParaRPr lang="en-US" sz="1200" dirty="0"/>
          </a:p>
        </p:txBody>
      </p:sp>
      <p:sp>
        <p:nvSpPr>
          <p:cNvPr id="18" name="Shape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0" y="1445270"/>
            <a:ext cx="4064000" cy="1275060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543800" y="1648470"/>
            <a:ext cx="37150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· Brand Guidelines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543800" y="2054870"/>
            <a:ext cx="3715004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manual. Strategy, identity, expression, applications, behaviour.</a:t>
            </a:r>
            <a:endParaRPr lang="en-US" sz="1300" dirty="0"/>
          </a:p>
        </p:txBody>
      </p:sp>
      <p:sp>
        <p:nvSpPr>
          <p:cNvPr id="21" name="Shape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21550" y="2879080"/>
            <a:ext cx="4051300" cy="126236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543800" y="3075930"/>
            <a:ext cx="37150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 · Digital Design System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543800" y="3482330"/>
            <a:ext cx="3715004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Tokens, components, responsive and accessibility implementation.</a:t>
            </a:r>
            <a:endParaRPr lang="en-US" sz="1300" dirty="0"/>
          </a:p>
        </p:txBody>
      </p:sp>
      <p:sp>
        <p:nvSpPr>
          <p:cNvPr id="24" name="Shape 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21550" y="4306540"/>
            <a:ext cx="4051300" cy="1262360"/>
          </a:xfrm>
          <a:prstGeom prst="rect">
            <a:avLst/>
          </a:prstGeom>
          <a:noFill/>
          <a:ln w="12700">
            <a:solidFill>
              <a:srgbClr val="BCACA7"/>
            </a:solidFill>
            <a:prstDash val="dash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543800" y="4503390"/>
            <a:ext cx="37150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 · Production Standards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543800" y="4846320"/>
            <a:ext cx="37150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Dielines, materials, tolerances, supplier proofs. Issued as RC2, pending production validation.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INTRODUCTION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 VOCABULARY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spc="7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Every page says what is final and what is not.</a:t>
            </a:r>
            <a:endParaRPr lang="en-US" sz="3600" dirty="0"/>
          </a:p>
        </p:txBody>
      </p:sp>
      <p:sp>
        <p:nvSpPr>
          <p:cNvPr id="4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2040186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12800" y="2183061"/>
            <a:ext cx="2413000" cy="314920"/>
          </a:xfrm>
          <a:prstGeom prst="rect">
            <a:avLst/>
          </a:prstGeom>
          <a:solidFill>
            <a:srgbClr val="12171D"/>
          </a:solidFill>
          <a:ln/>
        </p:spPr>
        <p:txBody>
          <a:bodyPr wrap="square" lIns="94615" tIns="50800" rIns="94615" bIns="2540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530600" y="2211933"/>
            <a:ext cx="8084058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under the register. Use as written.</a:t>
            </a:r>
            <a:endParaRPr lang="en-US" sz="1500" dirty="0"/>
          </a:p>
        </p:txBody>
      </p:sp>
      <p:sp>
        <p:nvSpPr>
          <p:cNvPr id="7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2640856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19150" y="2790081"/>
            <a:ext cx="2400300" cy="30222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88265" tIns="44450" rIns="88265" bIns="1905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CONDITIONAL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30600" y="2812604"/>
            <a:ext cx="8084058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Approved, with a condition still open.</a:t>
            </a:r>
            <a:endParaRPr lang="en-US" sz="1500" dirty="0"/>
          </a:p>
        </p:txBody>
      </p:sp>
      <p:sp>
        <p:nvSpPr>
          <p:cNvPr id="10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3241526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19150" y="3390751"/>
            <a:ext cx="2400300" cy="30222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 wrap="square" lIns="88265" tIns="44450" rIns="88265" bIns="1905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PENDING VALIDATION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30600" y="3413274"/>
            <a:ext cx="8084058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Evidence, native QA or testing outstanding. Never shown as final.</a:t>
            </a:r>
            <a:endParaRPr lang="en-US" sz="1500" dirty="0"/>
          </a:p>
        </p:txBody>
      </p:sp>
      <p:sp>
        <p:nvSpPr>
          <p:cNvPr id="13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3842196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4" name="Shap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4442867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19150" y="3991421"/>
            <a:ext cx="2400300" cy="302220"/>
          </a:xfrm>
          <a:prstGeom prst="rect">
            <a:avLst/>
          </a:prstGeom>
          <a:noFill/>
          <a:ln w="12700">
            <a:solidFill>
              <a:srgbClr val="12171D"/>
            </a:solidFill>
            <a:prstDash val="sysDot"/>
          </a:ln>
        </p:spPr>
        <p:txBody>
          <a:bodyPr wrap="square" lIns="88265" tIns="44450" rIns="88265" bIns="1905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30600" y="4013944"/>
            <a:ext cx="8084058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Study or inspiration. Not a GEM standard.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2800" y="4700042"/>
            <a:ext cx="108833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Shape carries the meaning as well as the word: filled, solid, dashed, dotted. Placeholders read [PENDING], [TO BE VERIFIED] or [REQUIRES OWNER]. Concepts read CONCEPT / NOT PRODUCTION ARTWORK or CONCEPT / NOT PRODUCTION PHOTOGRAPHY. Further labels: PENDING PRODUCTION MASTER, PENDING LOCALIZATION APPROVAL, PROJECT-SPECIFIC / REQUIRES SITE VALIDATION. Edition states: WORKING EDITION, RELEASE CANDIDATE (RC), APPROVED. An edition becomes APPROVED only by Brand Owner authorization (AC20).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INTRODUCTION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background geometry: cropped GEM ring and quarter forms." title="Decorative background geometry: cropped GEM ring and quarter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2616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2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2540000"/>
            <a:ext cx="7194550" cy="98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b="0" i="0" spc="57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BRAND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812800" y="3810000"/>
            <a:ext cx="588645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idea, four principles, positioning, audiences and architecture.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BCAC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eige field with one cropped ring line, decorative." title="Beige field with one cropped ring line, decorative.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BRAND IDEA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2724912"/>
            <a:ext cx="9156700" cy="1890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344"/>
              </a:lnSpc>
              <a:buNone/>
            </a:pPr>
            <a:r>
              <a:rPr lang="en-US" sz="6800" b="0" i="0" spc="13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Every arrival, precisely composed.</a:t>
            </a:r>
            <a:endParaRPr lang="en-US" sz="6800" dirty="0"/>
          </a:p>
        </p:txBody>
      </p:sp>
      <p:sp>
        <p:nvSpPr>
          <p:cNvPr id="5" name="Text 2"/>
          <p:cNvSpPr/>
          <p:nvPr/>
        </p:nvSpPr>
        <p:spPr>
          <a:xfrm>
            <a:off x="812800" y="4927600"/>
            <a:ext cx="536321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Hospitality is a sequence of moments. GEM gives each one its proportion, its timing, its space and its detail.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BRAND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QUALITIES OF AN ARRIVAL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39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spc="7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Composed means each part is in measure.</a:t>
            </a:r>
            <a:endParaRPr lang="en-US" sz="3600" dirty="0"/>
          </a:p>
        </p:txBody>
      </p:sp>
      <p:sp>
        <p:nvSpPr>
          <p:cNvPr id="4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4414044"/>
            <a:ext cx="1930400" cy="0"/>
          </a:xfrm>
          <a:prstGeom prst="line">
            <a:avLst/>
          </a:prstGeom>
          <a:noFill/>
          <a:ln w="190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12800" y="4575969"/>
            <a:ext cx="198831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Proportion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12800" y="5068689"/>
            <a:ext cx="1988312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element in right relation to the next.</a:t>
            </a:r>
            <a:endParaRPr lang="en-US" sz="1400" dirty="0"/>
          </a:p>
        </p:txBody>
      </p:sp>
      <p:sp>
        <p:nvSpPr>
          <p:cNvPr id="7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71800" y="4414044"/>
            <a:ext cx="1930400" cy="0"/>
          </a:xfrm>
          <a:prstGeom prst="line">
            <a:avLst/>
          </a:prstGeom>
          <a:noFill/>
          <a:ln w="190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971800" y="4575969"/>
            <a:ext cx="198831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Timing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971800" y="5068689"/>
            <a:ext cx="1988312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right moment, never rushed, never late.</a:t>
            </a:r>
            <a:endParaRPr lang="en-US" sz="1400" dirty="0"/>
          </a:p>
        </p:txBody>
      </p:sp>
      <p:sp>
        <p:nvSpPr>
          <p:cNvPr id="10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30800" y="4414044"/>
            <a:ext cx="1930400" cy="0"/>
          </a:xfrm>
          <a:prstGeom prst="line">
            <a:avLst/>
          </a:prstGeom>
          <a:noFill/>
          <a:ln w="190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130800" y="4575969"/>
            <a:ext cx="198831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Space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130800" y="5068689"/>
            <a:ext cx="1988312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Room to arrive, to look, to breathe.</a:t>
            </a:r>
            <a:endParaRPr lang="en-US" sz="1400" dirty="0"/>
          </a:p>
        </p:txBody>
      </p:sp>
      <p:sp>
        <p:nvSpPr>
          <p:cNvPr id="13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89800" y="4414044"/>
            <a:ext cx="1930400" cy="0"/>
          </a:xfrm>
          <a:prstGeom prst="line">
            <a:avLst/>
          </a:prstGeom>
          <a:noFill/>
          <a:ln w="190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289800" y="4575969"/>
            <a:ext cx="198831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Detail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289800" y="5068689"/>
            <a:ext cx="1988312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Correct, verified, resolved down to the edge.</a:t>
            </a:r>
            <a:endParaRPr lang="en-US" sz="1400" dirty="0"/>
          </a:p>
        </p:txBody>
      </p:sp>
      <p:sp>
        <p:nvSpPr>
          <p:cNvPr id="16" name="Shap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448800" y="4414044"/>
            <a:ext cx="1930400" cy="0"/>
          </a:xfrm>
          <a:prstGeom prst="line">
            <a:avLst/>
          </a:prstGeom>
          <a:noFill/>
          <a:ln w="190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448800" y="4575969"/>
            <a:ext cx="198831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Restraint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448800" y="5068689"/>
            <a:ext cx="1988312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Nothing added that does not serve the guest.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BRAND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ndered reference study: a ring pressed into a warm uncoated surface. Concept, not production photography." title="Rendered reference study: a ring pressed into a warm uncoate">    </p:cNvPr>
          <p:cNvPicPr>
            <a:picLocks noChangeAspect="1"/>
          </p:cNvPicPr>
          <p:nvPr/>
        </p:nvPicPr>
        <p:blipFill>
          <a:blip r:embed="rId1"/>
          <a:srcRect l="22222" r="22222" t="0" b="0"/>
          <a:stretch/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05600" y="812800"/>
            <a:ext cx="481380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2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PRINCIPLE 01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6705600" y="1264890"/>
            <a:ext cx="4813808" cy="975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0" i="0" spc="13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PRECISION OVER DECORATION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705600" y="2418011"/>
            <a:ext cx="4813808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fine line, correctly placed, says more than a surface of ornament.</a:t>
            </a:r>
            <a:endParaRPr lang="en-US" sz="1500" dirty="0"/>
          </a:p>
        </p:txBody>
      </p:sp>
      <p:sp>
        <p:nvSpPr>
          <p:cNvPr id="6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05600" y="3739753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6705600" y="3869928"/>
            <a:ext cx="48138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RULE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705600" y="4210248"/>
            <a:ext cx="4813808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an element does not carry meaning, function or proportion, remove it.</a:t>
            </a:r>
            <a:endParaRPr lang="en-US" sz="1400" dirty="0"/>
          </a:p>
        </p:txBody>
      </p:sp>
      <p:sp>
        <p:nvSpPr>
          <p:cNvPr id="9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05600" y="4855964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705600" y="4986139"/>
            <a:ext cx="48138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USE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705600" y="5326459"/>
            <a:ext cx="4813808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deboss instead of a pattern. A hairline instead of a box. A verified fact instead of an adjective.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705600" y="6024959"/>
            <a:ext cx="39243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 · CONCEPT / NOT PRODUCTION PHOTOGRAPHY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background geometry: cropped GEM ring and quarter forms." title="Decorative background geometry: cropped GEM ring and quarter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39243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2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PRINCIPLE 02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4445000"/>
            <a:ext cx="7194550" cy="50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0" i="0" spc="13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RESTRAINT IS THE LUXURY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812800" y="5270500"/>
            <a:ext cx="627888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Rule: say less, show less, and let what remains be exact. Empty space is a decision.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18592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2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PRINCIPLE 03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64890"/>
            <a:ext cx="4185920" cy="975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0" i="0" spc="13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GEOMETRY IS THE LANGUAGE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12800" y="2418011"/>
            <a:ext cx="4185920" cy="882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Ring, arc, quarter and spark are the whole vocabulary. Every supporting shape derives from the mark.</a:t>
            </a:r>
            <a:endParaRPr lang="en-US" sz="1500" dirty="0"/>
          </a:p>
        </p:txBody>
      </p:sp>
      <p:sp>
        <p:nvSpPr>
          <p:cNvPr id="5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4566444"/>
            <a:ext cx="4064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12800" y="4696619"/>
            <a:ext cx="41859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RULE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" y="5011539"/>
            <a:ext cx="4185920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borrowed shapes. If it is not ring, arc, quarter or spark, it is not a GEM device.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5628680"/>
            <a:ext cx="41859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Schematic of the vocabulary. Not the master artwork.</a:t>
            </a:r>
            <a:endParaRPr lang="en-US" sz="1200" dirty="0"/>
          </a:p>
        </p:txBody>
      </p:sp>
      <p:pic>
        <p:nvPicPr>
          <p:cNvPr id="9" name="Image 0" descr="Schematic of the four device forms: ring, opening arc, quarter mass and four-point spark. Not the master artwork." title="Schematic of the four device forms: ring, opening arc, quar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83200" y="812800"/>
            <a:ext cx="5892800" cy="5232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BRAND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ndered reference study: a lit doorway threshold in a dark field. Concept, not production photography." title="Rendered reference study: a lit doorway threshold in a dark ">    </p:cNvPr>
          <p:cNvPicPr>
            <a:picLocks noChangeAspect="1"/>
          </p:cNvPicPr>
          <p:nvPr/>
        </p:nvPicPr>
        <p:blipFill>
          <a:blip r:embed="rId1"/>
          <a:srcRect l="0" r="0" t="5000" b="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39243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2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PRINCIPLE 04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2667000"/>
            <a:ext cx="4055110" cy="975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0" i="0" spc="13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SPACE IS PART OF THE IDENTITY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812800" y="4445000"/>
            <a:ext cx="379349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Rule: protect the empty field. Clearspace is not left over; it is designed.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 · CONCEPT / NOT PRODUCTION PHOTOGRAPHY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25"/>
          <p:cNvSpPr>
            <a:spLocks noGrp="1"/>
          </p:cNvSpPr>
          <p:nvPr>
            <p:ph type="title"/>
          </p:nvPr>
        </p:nvSpPr>
        <p:spPr>
          <a:xfrm>
            <a:off x="457200" y="7315200"/>
            <a:ext cx="8229600" cy="36576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200" dirty="0"/>
              <a:t>Positioning</a:t>
            </a:r>
          </a:p>
        </p:txBody>
      </p:sp>
      <p:sp>
        <p:nvSpPr>
          <p:cNvPr id="2" name="Text 0"/>
          <p:cNvSpPr/>
          <p:nvPr/>
        </p:nvSpPr>
        <p:spPr>
          <a:xfrm>
            <a:off x="812800" y="812800"/>
            <a:ext cx="48138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POSITIONING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254720"/>
            <a:ext cx="4813808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spc="14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GEM IS</a:t>
            </a:r>
            <a:endParaRPr lang="en-US" sz="3600" dirty="0"/>
          </a:p>
        </p:txBody>
      </p:sp>
      <p:sp>
        <p:nvSpPr>
          <p:cNvPr id="4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1989386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12800" y="2119561"/>
            <a:ext cx="481380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hospitality supplier and partner.</a:t>
            </a:r>
            <a:endParaRPr lang="en-US" sz="1600" dirty="0"/>
          </a:p>
        </p:txBody>
      </p:sp>
      <p:sp>
        <p:nvSpPr>
          <p:cNvPr id="6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2635796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12800" y="2765971"/>
            <a:ext cx="4813808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master brand, applied the same way everywhere.</a:t>
            </a:r>
            <a:endParaRPr lang="en-US" sz="1600" dirty="0"/>
          </a:p>
        </p:txBody>
      </p:sp>
      <p:sp>
        <p:nvSpPr>
          <p:cNvPr id="8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3566666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12800" y="3696841"/>
            <a:ext cx="481380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Precise, restrained and specific in what it says.</a:t>
            </a:r>
            <a:endParaRPr lang="en-US" sz="1600" dirty="0"/>
          </a:p>
        </p:txBody>
      </p:sp>
      <p:sp>
        <p:nvSpPr>
          <p:cNvPr id="10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4213076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12800" y="4343251"/>
            <a:ext cx="481380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Bilingual by design for Saudi/GCC hospitality.</a:t>
            </a:r>
            <a:endParaRPr lang="en-US" sz="1600" dirty="0"/>
          </a:p>
        </p:txBody>
      </p:sp>
      <p:sp>
        <p:nvSpPr>
          <p:cNvPr id="12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705600" y="812800"/>
            <a:ext cx="48138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05600" y="1254720"/>
            <a:ext cx="4813808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spc="14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GEM IS NOT</a:t>
            </a:r>
            <a:endParaRPr lang="en-US" sz="3600" dirty="0"/>
          </a:p>
        </p:txBody>
      </p:sp>
      <p:sp>
        <p:nvSpPr>
          <p:cNvPr id="15" name="Shap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05600" y="1989386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705600" y="2119561"/>
            <a:ext cx="481380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hotel operator.</a:t>
            </a:r>
            <a:endParaRPr lang="en-US" sz="1600" dirty="0"/>
          </a:p>
        </p:txBody>
      </p:sp>
      <p:sp>
        <p:nvSpPr>
          <p:cNvPr id="17" name="Shap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05600" y="2635796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705600" y="2765971"/>
            <a:ext cx="481380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decorative luxury brand.</a:t>
            </a:r>
            <a:endParaRPr lang="en-US" sz="1600" dirty="0"/>
          </a:p>
        </p:txBody>
      </p:sp>
      <p:sp>
        <p:nvSpPr>
          <p:cNvPr id="19" name="Shap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05600" y="3282206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705600" y="3412381"/>
            <a:ext cx="481380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family of separate sub-brands.</a:t>
            </a:r>
            <a:endParaRPr lang="en-US" sz="1600" dirty="0"/>
          </a:p>
        </p:txBody>
      </p:sp>
      <p:sp>
        <p:nvSpPr>
          <p:cNvPr id="21" name="Shape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05600" y="3928616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705600" y="4058791"/>
            <a:ext cx="481380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source of unverified claims.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2800" y="6238280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BRAND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 IN HOSPITALITY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spc="7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The calm of things being right.</a:t>
            </a:r>
            <a:endParaRPr lang="en-US" sz="3600" dirty="0"/>
          </a:p>
        </p:txBody>
      </p:sp>
      <p:sp>
        <p:nvSpPr>
          <p:cNvPr id="4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2046536"/>
            <a:ext cx="3318917" cy="0"/>
          </a:xfrm>
          <a:prstGeom prst="line">
            <a:avLst/>
          </a:prstGeom>
          <a:noFill/>
          <a:ln w="190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12800" y="2233861"/>
            <a:ext cx="34184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EMOTIONAL PROMISE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2574181"/>
            <a:ext cx="3418484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Guests feel looked after without being told.</a:t>
            </a:r>
            <a:endParaRPr lang="en-US" sz="2200" dirty="0"/>
          </a:p>
        </p:txBody>
      </p:sp>
      <p:sp>
        <p:nvSpPr>
          <p:cNvPr id="7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36517" y="2046536"/>
            <a:ext cx="3318966" cy="0"/>
          </a:xfrm>
          <a:prstGeom prst="line">
            <a:avLst/>
          </a:prstGeom>
          <a:noFill/>
          <a:ln w="190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436517" y="2233861"/>
            <a:ext cx="34185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FUNCTIONAL VALUE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36517" y="2574181"/>
            <a:ext cx="3418535" cy="103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One coherent identity across objects, language and space.</a:t>
            </a:r>
            <a:endParaRPr lang="en-US" sz="2200" dirty="0"/>
          </a:p>
        </p:txBody>
      </p:sp>
      <p:sp>
        <p:nvSpPr>
          <p:cNvPr id="10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60283" y="2046536"/>
            <a:ext cx="3318917" cy="0"/>
          </a:xfrm>
          <a:prstGeom prst="line">
            <a:avLst/>
          </a:prstGeom>
          <a:noFill/>
          <a:ln w="190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060283" y="2233861"/>
            <a:ext cx="34184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ROLE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60283" y="2574181"/>
            <a:ext cx="3418484" cy="103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Supplier and partner to those who run and build hospitality.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12800" y="5363270"/>
            <a:ext cx="8502650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 scope, capabilities and proof points are CONDITIONAL until commercial validation closes (VAL-01). No capability is claimed in this manual.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BRAND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AUDIENCES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39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spc="7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Five audiences. One personality.</a:t>
            </a:r>
            <a:endParaRPr lang="en-US" sz="3600" dirty="0"/>
          </a:p>
        </p:txBody>
      </p:sp>
      <p:sp>
        <p:nvSpPr>
          <p:cNvPr id="4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4401245"/>
            <a:ext cx="1950690" cy="0"/>
          </a:xfrm>
          <a:prstGeom prst="line">
            <a:avLst/>
          </a:prstGeom>
          <a:noFill/>
          <a:ln w="190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12800" y="4563170"/>
            <a:ext cx="200921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spc="8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GUEST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12800" y="5007670"/>
            <a:ext cx="2009211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Wants to feel welcome and unhurried.</a:t>
            </a:r>
            <a:endParaRPr lang="en-US" sz="1300" dirty="0"/>
          </a:p>
        </p:txBody>
      </p:sp>
      <p:sp>
        <p:nvSpPr>
          <p:cNvPr id="7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66690" y="4401245"/>
            <a:ext cx="1950740" cy="0"/>
          </a:xfrm>
          <a:prstGeom prst="line">
            <a:avLst/>
          </a:prstGeom>
          <a:noFill/>
          <a:ln w="190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966690" y="4563170"/>
            <a:ext cx="200926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spc="8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PROCUREMENT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966690" y="5007670"/>
            <a:ext cx="2009262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Wants specification and certainty.</a:t>
            </a:r>
            <a:endParaRPr lang="en-US" sz="1300" dirty="0"/>
          </a:p>
        </p:txBody>
      </p:sp>
      <p:sp>
        <p:nvSpPr>
          <p:cNvPr id="10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20630" y="4401245"/>
            <a:ext cx="1950690" cy="0"/>
          </a:xfrm>
          <a:prstGeom prst="line">
            <a:avLst/>
          </a:prstGeom>
          <a:noFill/>
          <a:ln w="190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120630" y="4563170"/>
            <a:ext cx="200921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spc="8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OPERATIONS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120630" y="5007670"/>
            <a:ext cx="2009211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Wants clarity it can repeat daily.</a:t>
            </a:r>
            <a:endParaRPr lang="en-US" sz="1300" dirty="0"/>
          </a:p>
        </p:txBody>
      </p:sp>
      <p:sp>
        <p:nvSpPr>
          <p:cNvPr id="13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74520" y="4401245"/>
            <a:ext cx="1950740" cy="0"/>
          </a:xfrm>
          <a:prstGeom prst="line">
            <a:avLst/>
          </a:prstGeom>
          <a:noFill/>
          <a:ln w="190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274520" y="4563170"/>
            <a:ext cx="2009262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spc="8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BRAND &amp; DESIGN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274520" y="5363270"/>
            <a:ext cx="2009262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Wants rules it can apply without guessing.</a:t>
            </a:r>
            <a:endParaRPr lang="en-US" sz="1300" dirty="0"/>
          </a:p>
        </p:txBody>
      </p:sp>
      <p:sp>
        <p:nvSpPr>
          <p:cNvPr id="16" name="Shap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428460" y="4401245"/>
            <a:ext cx="1950740" cy="0"/>
          </a:xfrm>
          <a:prstGeom prst="line">
            <a:avLst/>
          </a:prstGeom>
          <a:noFill/>
          <a:ln w="190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428460" y="4563170"/>
            <a:ext cx="200926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spc="8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OWNERS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428460" y="5007670"/>
            <a:ext cx="2009262" cy="743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Wants a standard that scales across properties.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BRAND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PERSONALITY, FIVE REGISTERS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The voice adjusts its detail, never its character.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943050"/>
          <a:ext cx="10553700" cy="2476500"/>
        </p:xfrm>
        <a:graphic>
          <a:graphicData uri="http://schemas.openxmlformats.org/drawingml/2006/table">
            <a:tbl>
              <a:tblPr firstRow="1"/>
              <a:tblGrid>
                <a:gridCol w="2532888"/>
                <a:gridCol w="8020812"/>
              </a:tblGrid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Audience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How GEM says it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Guest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Your room is ready. Take your time.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Procurement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Name, size and artwork version are stated on every sheet.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Operations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One reference for every item. Nothing to interpret.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Brand and design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Use the approved artwork. Check the status before you send.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Owners and developers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171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One identity, applied the same way in every property.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64815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Illustrative lines written for this manual, not approved campaign copy.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BRAND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60695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ARCHITECTURE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29320"/>
            <a:ext cx="6069584" cy="103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spc="7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One master brand. Streams are described, not branded.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4984750"/>
            <a:ext cx="6069584" cy="882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Amenities &amp; Packaging is the primary approved B2B stream under GEM. It uses the same logo, palette and typography, with a descriptive line set in type.</a:t>
            </a:r>
            <a:endParaRPr lang="en-US" sz="1500" dirty="0"/>
          </a:p>
        </p:txBody>
      </p:sp>
      <p:sp>
        <p:nvSpPr>
          <p:cNvPr id="5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0" y="812800"/>
            <a:ext cx="4064000" cy="1302841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569200" y="1092200"/>
            <a:ext cx="3662680" cy="519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spc="11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GEM™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569200" y="1624459"/>
            <a:ext cx="3662680" cy="237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196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Master brand</a:t>
            </a:r>
            <a:endParaRPr lang="en-US" sz="1196" dirty="0"/>
          </a:p>
        </p:txBody>
      </p:sp>
      <p:sp>
        <p:nvSpPr>
          <p:cNvPr id="8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37675" y="2115641"/>
            <a:ext cx="19050" cy="45720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9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0" y="2572841"/>
            <a:ext cx="4064000" cy="1514723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569200" y="2852241"/>
            <a:ext cx="3810000" cy="731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83"/>
              </a:lnSpc>
              <a:buNone/>
            </a:pPr>
            <a:r>
              <a:rPr lang="en-US" sz="1988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GEM™ — Amenities &amp; Packaging</a:t>
            </a:r>
            <a:endParaRPr lang="en-US" sz="1988" dirty="0"/>
          </a:p>
        </p:txBody>
      </p:sp>
      <p:sp>
        <p:nvSpPr>
          <p:cNvPr id="11" name="Text 9"/>
          <p:cNvSpPr/>
          <p:nvPr/>
        </p:nvSpPr>
        <p:spPr>
          <a:xfrm>
            <a:off x="7569200" y="3596382"/>
            <a:ext cx="3662680" cy="237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196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Descriptive stream, APPROVED</a:t>
            </a:r>
            <a:endParaRPr lang="en-US" sz="1196" dirty="0"/>
          </a:p>
        </p:txBody>
      </p:sp>
      <p:sp>
        <p:nvSpPr>
          <p:cNvPr id="12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37675" y="4087564"/>
            <a:ext cx="19050" cy="45720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13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21550" y="4551114"/>
            <a:ext cx="4051300" cy="1284536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581900" y="4786064"/>
            <a:ext cx="3636518" cy="378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GEM™ — [future stream]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581900" y="5177185"/>
            <a:ext cx="3636518" cy="4489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[REQUIRES OWNER] No other divisions are defined.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BRAND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528472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RULES FOR ANY STREAM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29320"/>
            <a:ext cx="5284724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new stream inherits the identity. It never forks it.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2326580"/>
            <a:ext cx="528472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 future stream follows the same rules, and is added through brand governance.</a:t>
            </a:r>
            <a:endParaRPr lang="en-US" sz="1400" dirty="0"/>
          </a:p>
        </p:txBody>
      </p:sp>
      <p:sp>
        <p:nvSpPr>
          <p:cNvPr id="5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53200" y="1905000"/>
            <a:ext cx="4826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553200" y="2035175"/>
            <a:ext cx="497078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 it descriptively: GEM™ — [Stream].</a:t>
            </a:r>
            <a:endParaRPr lang="en-US" sz="1500" dirty="0"/>
          </a:p>
        </p:txBody>
      </p:sp>
      <p:sp>
        <p:nvSpPr>
          <p:cNvPr id="7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53200" y="2422525"/>
            <a:ext cx="4826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53200" y="2552700"/>
            <a:ext cx="497078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the one logo, one symbol, one palette.</a:t>
            </a:r>
            <a:endParaRPr lang="en-US" sz="1500" dirty="0"/>
          </a:p>
        </p:txBody>
      </p:sp>
      <p:sp>
        <p:nvSpPr>
          <p:cNvPr id="9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53200" y="2940050"/>
            <a:ext cx="4826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553200" y="3070225"/>
            <a:ext cx="497078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the line in Jost or Inter, never as a logo.</a:t>
            </a:r>
            <a:endParaRPr lang="en-US" sz="1500" dirty="0"/>
          </a:p>
        </p:txBody>
      </p:sp>
      <p:sp>
        <p:nvSpPr>
          <p:cNvPr id="11" name="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53200" y="3457575"/>
            <a:ext cx="4826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553200" y="3587750"/>
            <a:ext cx="497078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 any capability before claiming it.</a:t>
            </a:r>
            <a:endParaRPr lang="en-US" sz="1500" dirty="0"/>
          </a:p>
        </p:txBody>
      </p:sp>
      <p:sp>
        <p:nvSpPr>
          <p:cNvPr id="13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53200" y="3975100"/>
            <a:ext cx="4826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4" name="Shap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53200" y="4749800"/>
            <a:ext cx="4826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53200" y="4105275"/>
            <a:ext cx="4970780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 through the Brand Owner. [REQUIRES OWNER]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BRAND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background geometry: cropped GEM ring and quarter forms." title="Decorative background geometry: cropped GEM ring and quarter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26000" y="812800"/>
            <a:ext cx="2616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2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4826000" y="2540000"/>
            <a:ext cx="6540500" cy="98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b="0" i="0" spc="57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VOICE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4826000" y="3810000"/>
            <a:ext cx="588645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GEM sounds, and the two lines that are fixed.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8"/>
          <p:cNvSpPr>
            <a:spLocks noGrp="1"/>
          </p:cNvSpPr>
          <p:nvPr>
            <p:ph type="title"/>
          </p:nvPr>
        </p:nvSpPr>
        <p:spPr>
          <a:xfrm>
            <a:off x="457200" y="7315200"/>
            <a:ext cx="8229600" cy="36576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200" dirty="0"/>
              <a:t>Verbal identity: tone</a:t>
            </a:r>
          </a:p>
        </p:txBody>
      </p:sp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VERBAL IDENTITY · TONE</a:t>
            </a:r>
            <a:endParaRPr lang="en-US" sz="1200" dirty="0"/>
          </a:p>
        </p:txBody>
      </p:sp>
      <p:sp>
        <p:nvSpPr>
          <p:cNvPr id="3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2166045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12800" y="2308920"/>
            <a:ext cx="6540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000" spc="8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Measured.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467600" y="2588320"/>
            <a:ext cx="402894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 sentences. No hurry.</a:t>
            </a:r>
            <a:endParaRPr lang="en-US" sz="1400" dirty="0"/>
          </a:p>
        </p:txBody>
      </p:sp>
      <p:sp>
        <p:nvSpPr>
          <p:cNvPr id="6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3035995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12800" y="3178870"/>
            <a:ext cx="6540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000" spc="8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Warm, not effusive.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467600" y="3458270"/>
            <a:ext cx="402894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Welcome without exclamation.</a:t>
            </a:r>
            <a:endParaRPr lang="en-US" sz="1400" dirty="0"/>
          </a:p>
        </p:txBody>
      </p:sp>
      <p:sp>
        <p:nvSpPr>
          <p:cNvPr id="9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3905945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12800" y="4048820"/>
            <a:ext cx="6540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000" spc="8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Quietly confident.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7467600" y="4328220"/>
            <a:ext cx="402894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 rather than sell.</a:t>
            </a:r>
            <a:endParaRPr lang="en-US" sz="1400" dirty="0"/>
          </a:p>
        </p:txBody>
      </p:sp>
      <p:sp>
        <p:nvSpPr>
          <p:cNvPr id="12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4775895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3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5838825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12800" y="4918770"/>
            <a:ext cx="6540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000" spc="8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Precise about detail.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7467600" y="5198170"/>
            <a:ext cx="4028948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Facts, verified. Never an adjective in place of one.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VOICE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20"/>
          <p:cNvSpPr>
            <a:spLocks noGrp="1"/>
          </p:cNvSpPr>
          <p:nvPr>
            <p:ph type="title"/>
          </p:nvPr>
        </p:nvSpPr>
        <p:spPr>
          <a:xfrm>
            <a:off x="457200" y="7315200"/>
            <a:ext cx="8229600" cy="36576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200" dirty="0"/>
              <a:t>Vocabulary: use</a:t>
            </a:r>
          </a:p>
        </p:txBody>
      </p:sp>
      <p:sp>
        <p:nvSpPr>
          <p:cNvPr id="2" name="Text 0"/>
          <p:cNvSpPr/>
          <p:nvPr/>
        </p:nvSpPr>
        <p:spPr>
          <a:xfrm>
            <a:off x="812800" y="812800"/>
            <a:ext cx="48138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VOCABULARY · USE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229320"/>
            <a:ext cx="481380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arrival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724620"/>
            <a:ext cx="481380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stay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12800" y="2219920"/>
            <a:ext cx="481380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proportion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12800" y="2715220"/>
            <a:ext cx="481380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composed · measured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12800" y="3210520"/>
            <a:ext cx="481380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quiet · exact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12800" y="3705820"/>
            <a:ext cx="481380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welcome · crafted</a:t>
            </a:r>
            <a:endParaRPr lang="en-US" sz="3000" dirty="0"/>
          </a:p>
        </p:txBody>
      </p:sp>
      <p:sp>
        <p:nvSpPr>
          <p:cNvPr id="9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705600" y="812800"/>
            <a:ext cx="48138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VOCABULARY · AVOID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705600" y="1229320"/>
            <a:ext cx="481380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strike="sngStrike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luxurious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705600" y="1724620"/>
            <a:ext cx="481380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strike="sngStrike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world-class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705600" y="2219920"/>
            <a:ext cx="481380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strike="sngStrike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indulge · pamper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705600" y="2715220"/>
            <a:ext cx="481380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strike="sngStrike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oasis · escape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705600" y="3210520"/>
            <a:ext cx="481380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strike="sngStrike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unforgettable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705600" y="3705820"/>
            <a:ext cx="481380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strike="sngStrike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best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705600" y="4366220"/>
            <a:ext cx="4813808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superlatives such as leading or number one without independent evidence.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2800" y="6238280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VOICE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BCAC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GUEST-FACING LANGUAGE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Four moments, one measured voice.</a:t>
            </a:r>
            <a:endParaRPr lang="en-US" sz="3200" dirty="0"/>
          </a:p>
        </p:txBody>
      </p:sp>
      <p:sp>
        <p:nvSpPr>
          <p:cNvPr id="4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1930350"/>
            <a:ext cx="5207000" cy="127372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66800" y="2133550"/>
            <a:ext cx="48399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HEADLINE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66800" y="2397671"/>
            <a:ext cx="4839970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Welcome. Your room is ready.</a:t>
            </a:r>
            <a:endParaRPr lang="en-US" sz="2200" dirty="0"/>
          </a:p>
        </p:txBody>
      </p:sp>
      <p:sp>
        <p:nvSpPr>
          <p:cNvPr id="7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72200" y="1930350"/>
            <a:ext cx="5207000" cy="127372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26200" y="2133550"/>
            <a:ext cx="48399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26200" y="2397671"/>
            <a:ext cx="4839970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Booking confirmed.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26200" y="2769741"/>
            <a:ext cx="483997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Reference: [booking ID]</a:t>
            </a:r>
            <a:endParaRPr lang="en-US" sz="1300" dirty="0"/>
          </a:p>
        </p:txBody>
      </p:sp>
      <p:sp>
        <p:nvSpPr>
          <p:cNvPr id="11" name="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9150" y="3362821"/>
            <a:ext cx="5194300" cy="1261021"/>
          </a:xfrm>
          <a:prstGeom prst="rect">
            <a:avLst/>
          </a:prstGeom>
          <a:solidFill>
            <a:srgbClr val="FFFFFF"/>
          </a:solidFill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66800" y="3559671"/>
            <a:ext cx="48399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66800" y="3823791"/>
            <a:ext cx="4839970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Availability has changed.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66800" y="4195862"/>
            <a:ext cx="483997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your room selection.</a:t>
            </a:r>
            <a:endParaRPr lang="en-US" sz="1300" dirty="0"/>
          </a:p>
        </p:txBody>
      </p:sp>
      <p:sp>
        <p:nvSpPr>
          <p:cNvPr id="15" name="Shap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72200" y="3356471"/>
            <a:ext cx="5207000" cy="127372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26200" y="3559671"/>
            <a:ext cx="48399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RECOVERY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26200" y="3823791"/>
            <a:ext cx="4839970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We're sorry the room wasn't ready.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26200" y="4195862"/>
            <a:ext cx="483997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have noted it and [action].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2800" y="4858792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Working examples. [action] is supplied by the property; no compensation is stated.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VOICE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B2B, EMAIL AND PACKAGING LANGUAGE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Procurement language states; it does not persuade.</a:t>
            </a:r>
            <a:endParaRPr lang="en-US" sz="3200" dirty="0"/>
          </a:p>
        </p:txBody>
      </p:sp>
      <p:sp>
        <p:nvSpPr>
          <p:cNvPr id="4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1990675"/>
            <a:ext cx="2451100" cy="0"/>
          </a:xfrm>
          <a:prstGeom prst="line">
            <a:avLst/>
          </a:prstGeom>
          <a:noFill/>
          <a:ln w="190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12800" y="2152600"/>
            <a:ext cx="252463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ENQUIRY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2454821"/>
            <a:ext cx="2524633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Tell us about your property or project.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12800" y="3122761"/>
            <a:ext cx="2524633" cy="2647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We'll reply to [email address].</a:t>
            </a:r>
            <a:endParaRPr lang="en-US" sz="1300" dirty="0"/>
          </a:p>
        </p:txBody>
      </p:sp>
      <p:sp>
        <p:nvSpPr>
          <p:cNvPr id="8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17900" y="1990675"/>
            <a:ext cx="2451100" cy="0"/>
          </a:xfrm>
          <a:prstGeom prst="line">
            <a:avLst/>
          </a:prstGeom>
          <a:noFill/>
          <a:ln w="190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17900" y="2152600"/>
            <a:ext cx="252463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QUOTATION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17900" y="2454821"/>
            <a:ext cx="2524633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Request a quotation.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517900" y="2833241"/>
            <a:ext cx="2524633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Reference: [ID]. Price: [PENDING].</a:t>
            </a:r>
            <a:endParaRPr lang="en-US" sz="1300" dirty="0"/>
          </a:p>
        </p:txBody>
      </p:sp>
      <p:sp>
        <p:nvSpPr>
          <p:cNvPr id="12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23000" y="1990675"/>
            <a:ext cx="2451100" cy="0"/>
          </a:xfrm>
          <a:prstGeom prst="line">
            <a:avLst/>
          </a:prstGeom>
          <a:noFill/>
          <a:ln w="190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23000" y="2152600"/>
            <a:ext cx="252463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23000" y="2454821"/>
            <a:ext cx="2524633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Your sampling request is received.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223000" y="3122761"/>
            <a:ext cx="2524633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will confirm the details here.</a:t>
            </a:r>
            <a:endParaRPr lang="en-US" sz="1300" dirty="0"/>
          </a:p>
        </p:txBody>
      </p:sp>
      <p:sp>
        <p:nvSpPr>
          <p:cNvPr id="16" name="Shap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28100" y="1990675"/>
            <a:ext cx="2451100" cy="0"/>
          </a:xfrm>
          <a:prstGeom prst="line">
            <a:avLst/>
          </a:prstGeom>
          <a:noFill/>
          <a:ln w="190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928100" y="2152600"/>
            <a:ext cx="252463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PACKAGING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928100" y="2454821"/>
            <a:ext cx="2524633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Shampoo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928100" y="2833241"/>
            <a:ext cx="2524633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[PENDING] mL · Artwork version [PENDING]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2800" y="3855492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price, delivery time, minimum order, origin or sustainability statement appears until the owner supplies and verifies it.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VOICE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3"/>
          <p:cNvSpPr>
            <a:spLocks noGrp="1"/>
          </p:cNvSpPr>
          <p:nvPr>
            <p:ph type="title"/>
          </p:nvPr>
        </p:nvSpPr>
        <p:spPr>
          <a:xfrm>
            <a:off x="457200" y="7315200"/>
            <a:ext cx="8229600" cy="36576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200" dirty="0"/>
              <a:t>Taglines and signature language</a:t>
            </a:r>
          </a:p>
        </p:txBody>
      </p:sp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TAGLINES AND SIGNATURE LANGUAGE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2164804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· FIXED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2479725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spc="54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HOSPITALITY, IN PERFECT PROPORTION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12800" y="3273475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SECONDARY · USE SELECTIVELY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3588395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spc="7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Every arrival, precisely composed.</a:t>
            </a:r>
            <a:endParaRPr lang="en-US" sz="3600" dirty="0"/>
          </a:p>
        </p:txBody>
      </p:sp>
      <p:sp>
        <p:nvSpPr>
          <p:cNvPr id="7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5233095"/>
            <a:ext cx="5080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12800" y="5363270"/>
            <a:ext cx="5232400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Primary. Capitals, Jost, tracking .18em, one line. The signature of the brand.</a:t>
            </a:r>
            <a:endParaRPr lang="en-US" sz="1300" dirty="0"/>
          </a:p>
        </p:txBody>
      </p:sp>
      <p:sp>
        <p:nvSpPr>
          <p:cNvPr id="9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99200" y="5233095"/>
            <a:ext cx="5080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99200" y="5363270"/>
            <a:ext cx="5232400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Secondary. Sentence case, Jost 400. At most once in a composition, and never beside the primary at equal weight.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VOICE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8922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TREATMENT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3920"/>
            <a:ext cx="4892294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0" i="0" spc="6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Set it once, set it right.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800820"/>
            <a:ext cx="489229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Where. Covers, closing pages, section statements, secondary zones of packaging, campaign sign-off.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2512020"/>
            <a:ext cx="489229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How. Clear of the logo by at least two u. It is not permanently locked to the logo.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3223220"/>
            <a:ext cx="489229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Language. English only until an Arabic line is approved: PENDING LOCALIZATION APPROVAL.</a:t>
            </a:r>
            <a:endParaRPr lang="en-US" sz="1400" dirty="0"/>
          </a:p>
        </p:txBody>
      </p:sp>
      <p:sp>
        <p:nvSpPr>
          <p:cNvPr id="7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78550" y="1497409"/>
            <a:ext cx="5194300" cy="81022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362700" y="1643459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62700" y="1894880"/>
            <a:ext cx="49707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spc="27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HOSPITALITY, IN PERFECT PROPORTION</a:t>
            </a:r>
            <a:endParaRPr lang="en-US" sz="1500" dirty="0"/>
          </a:p>
        </p:txBody>
      </p:sp>
      <p:sp>
        <p:nvSpPr>
          <p:cNvPr id="10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78550" y="2447330"/>
            <a:ext cx="5194300" cy="81022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62700" y="259338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WRONG · LOWERCASED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62700" y="2844800"/>
            <a:ext cx="49707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strike="sngStrike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Hospitality, in perfect proportion</a:t>
            </a:r>
            <a:endParaRPr lang="en-US" sz="1500" dirty="0"/>
          </a:p>
        </p:txBody>
      </p:sp>
      <p:sp>
        <p:nvSpPr>
          <p:cNvPr id="13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78550" y="3397250"/>
            <a:ext cx="5194300" cy="81022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362700" y="354330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WRONG · SHORTENED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62700" y="3794720"/>
            <a:ext cx="49707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strike="sngStrike" spc="27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IN PERFECT PROPORTION</a:t>
            </a:r>
            <a:endParaRPr lang="en-US" sz="1500" dirty="0"/>
          </a:p>
        </p:txBody>
      </p:sp>
      <p:sp>
        <p:nvSpPr>
          <p:cNvPr id="16" name="Shap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78550" y="4347170"/>
            <a:ext cx="5194300" cy="81022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362700" y="449322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WRONG · RETIRED TRACKING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62700" y="4744641"/>
            <a:ext cx="497078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strike="sngStrike" spc="45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HOSPITALITY, IN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VOICE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background geometry: cropped GEM ring and quarter forms." title="Decorative background geometry: cropped GEM ring and quarter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2616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2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2540000"/>
            <a:ext cx="7194550" cy="98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b="0" i="0" spc="57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IDENTITY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812800" y="3810000"/>
            <a:ext cx="588645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Logo, colour, type, Arabic, composition and the graphic language.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6"/>
          <p:cNvSpPr>
            <a:spLocks noGrp="1"/>
          </p:cNvSpPr>
          <p:nvPr>
            <p:ph type="title"/>
          </p:nvPr>
        </p:nvSpPr>
        <p:spPr>
          <a:xfrm>
            <a:off x="457200" y="7315200"/>
            <a:ext cx="8229600" cy="36576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200" dirty="0"/>
              <a:t>Primary horizontal signature</a:t>
            </a:r>
          </a:p>
        </p:txBody>
      </p:sp>
      <p:sp>
        <p:nvSpPr>
          <p:cNvPr id="2" name="Shap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812800"/>
            <a:ext cx="5715000" cy="502920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117600" y="1117600"/>
            <a:ext cx="52585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HORIZONTAL SIGNATURE</a:t>
            </a:r>
            <a:endParaRPr lang="en-US" sz="1200" dirty="0"/>
          </a:p>
        </p:txBody>
      </p:sp>
      <p:pic>
        <p:nvPicPr>
          <p:cNvPr id="4" name="Image 0" descr="Primary horizontal signature, Beige on Ink, supplied raster." title="Primary horizontal signature, Beige on Ink, supplied raster.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0" r="0" t="-24" b="-24"/>
          <a:stretch/>
        </p:blipFill>
        <p:spPr>
          <a:xfrm>
            <a:off x="1117600" y="2552700"/>
            <a:ext cx="4572000" cy="1447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23950" y="5228630"/>
            <a:ext cx="2763391" cy="302220"/>
          </a:xfrm>
          <a:prstGeom prst="rect">
            <a:avLst/>
          </a:prstGeom>
          <a:noFill/>
          <a:ln w="12700">
            <a:solidFill>
              <a:srgbClr val="BCACA7"/>
            </a:solidFill>
            <a:prstDash val="dash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· ACCEPTANCE PENDING</a:t>
            </a:r>
            <a:endParaRPr lang="en-US" sz="1200" dirty="0"/>
          </a:p>
        </p:txBody>
      </p:sp>
      <p:sp>
        <p:nvSpPr>
          <p:cNvPr id="6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86550" y="819150"/>
            <a:ext cx="4686300" cy="2438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6921500" y="1054100"/>
            <a:ext cx="43428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MONOCHROME</a:t>
            </a:r>
            <a:endParaRPr lang="en-US" sz="1200" dirty="0"/>
          </a:p>
        </p:txBody>
      </p:sp>
      <p:pic>
        <p:nvPicPr>
          <p:cNvPr id="8" name="Image 1" descr="Monochrome signature, Black on White, supplied raster." title="Monochrome signature, Black on White, supplied raster.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0" r="0" t="-24" b="-24"/>
          <a:stretch/>
        </p:blipFill>
        <p:spPr>
          <a:xfrm>
            <a:off x="6921500" y="1577975"/>
            <a:ext cx="2667000" cy="8445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27850" y="2739430"/>
            <a:ext cx="2579241" cy="27682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· ACCEPTANCE PENDING</a:t>
            </a:r>
            <a:endParaRPr lang="en-US" sz="1200" dirty="0"/>
          </a:p>
        </p:txBody>
      </p:sp>
      <p:sp>
        <p:nvSpPr>
          <p:cNvPr id="10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80200" y="3416300"/>
            <a:ext cx="4699000" cy="2425700"/>
          </a:xfrm>
          <a:prstGeom prst="rect">
            <a:avLst/>
          </a:prstGeom>
          <a:solidFill>
            <a:srgbClr val="020202"/>
          </a:solidFill>
          <a:ln/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6908800" y="3644900"/>
            <a:ext cx="436905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REVERSED · INK OR BLACK ONLY</a:t>
            </a:r>
            <a:endParaRPr lang="en-US" sz="1200" dirty="0"/>
          </a:p>
        </p:txBody>
      </p:sp>
      <p:pic>
        <p:nvPicPr>
          <p:cNvPr id="12" name="Image 2" descr="Reversed signature, White on Ink, supplied raster." title="Reversed signature, White on Ink, supplied raster.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0" r="0" t="-24" b="-24"/>
          <a:stretch/>
        </p:blipFill>
        <p:spPr>
          <a:xfrm>
            <a:off x="6908800" y="4168775"/>
            <a:ext cx="2667000" cy="8445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915150" y="5330230"/>
            <a:ext cx="2579241" cy="276820"/>
          </a:xfrm>
          <a:prstGeom prst="rect">
            <a:avLst/>
          </a:prstGeom>
          <a:noFill/>
          <a:ln w="12700">
            <a:solidFill>
              <a:srgbClr val="BCACA7"/>
            </a:solidFill>
            <a:prstDash val="dash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· ACCEPTANCE PENDING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IDENTITY · LOGO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LOGO SET · SUPPLIED VECTOR KIT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One mark, four artworks, vector throughout.</a:t>
            </a:r>
            <a:endParaRPr lang="en-US" sz="3200" dirty="0"/>
          </a:p>
        </p:txBody>
      </p:sp>
      <p:sp>
        <p:nvSpPr>
          <p:cNvPr id="4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1930350"/>
            <a:ext cx="2011660" cy="391165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5" name="Image 0" descr="Standalone symbol, Beige on Ink, supplied raster." title="Standalone symbol, Beige on Ink, supplied raster.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0" r="0" t="-59" b="-59"/>
          <a:stretch/>
        </p:blipFill>
        <p:spPr>
          <a:xfrm>
            <a:off x="1183630" y="2082750"/>
            <a:ext cx="1270000" cy="11493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5958" y="5491510"/>
            <a:ext cx="180534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Symbol, beige on ink</a:t>
            </a:r>
            <a:endParaRPr lang="en-US" sz="1200" dirty="0"/>
          </a:p>
        </p:txBody>
      </p:sp>
      <p:sp>
        <p:nvSpPr>
          <p:cNvPr id="7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32410" y="1936700"/>
            <a:ext cx="2024410" cy="3898950"/>
          </a:xfrm>
          <a:prstGeom prst="rect">
            <a:avLst/>
          </a:prstGeom>
          <a:solidFill>
            <a:srgbClr val="FFFFFF"/>
          </a:solidFill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pic>
        <p:nvPicPr>
          <p:cNvPr id="8" name="Image 1" descr="Standalone symbol, Black on White, supplied raster." title="Standalone symbol, Black on White, supplied raster.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0" r="0" t="-59" b="-59"/>
          <a:stretch/>
        </p:blipFill>
        <p:spPr>
          <a:xfrm>
            <a:off x="3309590" y="2095450"/>
            <a:ext cx="1270000" cy="11493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943865" y="5478810"/>
            <a:ext cx="200150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Symbol, black on white</a:t>
            </a:r>
            <a:endParaRPr lang="en-US" sz="1200" dirty="0"/>
          </a:p>
        </p:txBody>
      </p:sp>
      <p:sp>
        <p:nvSpPr>
          <p:cNvPr id="10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71120" y="1936700"/>
            <a:ext cx="2024360" cy="389895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3" name="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09780" y="1936700"/>
            <a:ext cx="2024410" cy="389895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6" name="Shap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48490" y="1936700"/>
            <a:ext cx="2024360" cy="389895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9507240" y="3426817"/>
            <a:ext cx="1758066" cy="273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5"/>
              </a:lnSpc>
              <a:buNone/>
            </a:pPr>
            <a:r>
              <a:rPr lang="en-US" sz="17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Vector files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9507240" y="3751263"/>
            <a:ext cx="1758066" cy="619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SVG, PDF, EPS, PNG. Acceptance PENDING (VAL-02)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IDENTITY · LOGO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</a:t>
            </a:r>
            <a:endParaRPr lang="en-US" sz="1200" dirty="0"/>
          </a:p>
        </p:txBody>
      </p:sp>
      <p:pic>
        <p:nvPicPr>
          <p:cNvPr id="21" name="Picture 20" descr="GEM stacked logo, black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577684" y="2084831"/>
            <a:ext cx="1015295" cy="1371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84064" y="5478810"/>
            <a:ext cx="2002536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Stacked, black on white</a:t>
            </a:r>
            <a:endParaRPr lang="en-US" sz="1200" dirty="0"/>
          </a:p>
        </p:txBody>
      </p:sp>
      <p:pic>
        <p:nvPicPr>
          <p:cNvPr id="22" name="Picture 21" descr="GEM symbol without spark logo, black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580375" y="2135038"/>
            <a:ext cx="1271016" cy="127118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214616" y="5478810"/>
            <a:ext cx="2002536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No-spark, black on white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5"/>
          <p:cNvSpPr>
            <a:spLocks noGrp="1"/>
          </p:cNvSpPr>
          <p:nvPr>
            <p:ph type="title"/>
          </p:nvPr>
        </p:nvSpPr>
        <p:spPr>
          <a:xfrm>
            <a:off x="457200" y="7315200"/>
            <a:ext cx="8229600" cy="36576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200" dirty="0"/>
              <a:t>Logo construction</a:t>
            </a:r>
          </a:p>
        </p:txBody>
      </p:sp>
      <p:pic>
        <p:nvPicPr>
          <p:cNvPr id="2" name="Image 0" descr="GEM symbol enlarged with construction callouts: G-ring, opening, quarter mass and spark, described from the supplied raster." title="GEM symbol enlarged with construction callouts: G-ring, open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45" r="-45" t="0" b="0"/>
          <a:stretch/>
        </p:blipFill>
        <p:spPr>
          <a:xfrm>
            <a:off x="1016000" y="952500"/>
            <a:ext cx="4064000" cy="3670300"/>
          </a:xfrm>
          <a:prstGeom prst="rect">
            <a:avLst/>
          </a:prstGeom>
        </p:spPr>
      </p:pic>
      <p:pic>
        <p:nvPicPr>
          <p:cNvPr id="3" name="Image 1" descr="Decorative background geometry: cropped GEM ring and quarter forms." title="Decorative background geometry: cropped GEM ring and quarter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12800" y="40640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 CONSTRUCTION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969000" y="952500"/>
            <a:ext cx="5572506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G-ring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5969000" y="1381720"/>
            <a:ext cx="557250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circle that forms the G. Its radius sets the clearspace unit, u.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5969000" y="1968500"/>
            <a:ext cx="5572506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Opening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969000" y="2397720"/>
            <a:ext cx="557250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the ring opens at the upper right. It makes the letter and gives the mark air.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969000" y="3155950"/>
            <a:ext cx="5572506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Quarter mass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969000" y="3585170"/>
            <a:ext cx="557250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solid quarter that anchors the lower right and carries the weight of the mark.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969000" y="4381500"/>
            <a:ext cx="5572506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Spark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969000" y="4810720"/>
            <a:ext cx="557250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four-point spark at the end of the quarter's edge: the secondary signature.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016000" y="5270500"/>
            <a:ext cx="457835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Proportions follow the supplied vector kit. PENDING PRODUCTION MASTER (VAL-02).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7"/>
          <p:cNvSpPr>
            <a:spLocks noGrp="1"/>
          </p:cNvSpPr>
          <p:nvPr>
            <p:ph type="title"/>
          </p:nvPr>
        </p:nvSpPr>
        <p:spPr>
          <a:xfrm>
            <a:off x="457200" y="7315200"/>
            <a:ext cx="8229600" cy="36576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200" dirty="0"/>
              <a:t>Clearspace and size</a:t>
            </a:r>
          </a:p>
        </p:txBody>
      </p:sp>
      <p:sp>
        <p:nvSpPr>
          <p:cNvPr id="2" name="Text 0"/>
          <p:cNvSpPr/>
          <p:nvPr/>
        </p:nvSpPr>
        <p:spPr>
          <a:xfrm>
            <a:off x="812800" y="81280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CLEARSPACE AND SIZE</a:t>
            </a:r>
            <a:endParaRPr lang="en-US" sz="1200" dirty="0"/>
          </a:p>
        </p:txBody>
      </p:sp>
      <p:sp>
        <p:nvSpPr>
          <p:cNvPr id="3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325" y="1213445"/>
            <a:ext cx="5530850" cy="2755900"/>
          </a:xfrm>
          <a:prstGeom prst="rect">
            <a:avLst/>
          </a:prstGeom>
          <a:solidFill>
            <a:srgbClr val="FFFFFF"/>
          </a:solidFill>
          <a:ln w="19050">
            <a:solidFill>
              <a:srgbClr val="12171D"/>
            </a:solidFill>
            <a:prstDash val="dash"/>
          </a:ln>
        </p:spPr>
        <p:txBody>
          <a:bodyPr/>
          <a:p/>
        </p:txBody>
      </p:sp>
      <p:pic>
        <p:nvPicPr>
          <p:cNvPr id="4" name="Image 0" descr="Primary signature inside the dashed one-u clearspace boundary." title="Primary signature inside the dashed one-u clearspace boundar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0" r="0" t="-106" b="-106"/>
          <a:stretch/>
        </p:blipFill>
        <p:spPr>
          <a:xfrm>
            <a:off x="1555750" y="1946870"/>
            <a:ext cx="4064000" cy="12890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4156670"/>
            <a:ext cx="654050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dashed boundary is 1u on every side. u equals the G-ring radius, about half the height of the symbol.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620000" y="812800"/>
            <a:ext cx="3871976" cy="80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1u minimum.</a:t>
            </a:r>
            <a:endParaRPr lang="en-US" sz="2800" dirty="0"/>
          </a:p>
          <a:p>
            <a:pPr algn="l" indent="0" marL="0">
              <a:lnSpc>
                <a:spcPts val="3080"/>
              </a:lnSpc>
              <a:buNone/>
            </a:pPr>
            <a:r>
              <a:rPr lang="en-US" sz="28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2u preferred.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620000" y="1683941"/>
            <a:ext cx="4511040" cy="2647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Give the logo two u wherever the layout allows.</a:t>
            </a:r>
            <a:endParaRPr lang="en-US" sz="1300" dirty="0"/>
          </a:p>
        </p:txBody>
      </p:sp>
      <p:sp>
        <p:nvSpPr>
          <p:cNvPr id="8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20000" y="4059734"/>
            <a:ext cx="3759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7620000" y="4215309"/>
            <a:ext cx="387197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MINIMUM DIGITAL SIZE · ACTUAL PIXELS</a:t>
            </a:r>
            <a:endParaRPr lang="en-US" sz="1200" dirty="0"/>
          </a:p>
        </p:txBody>
      </p:sp>
      <p:pic>
        <p:nvPicPr>
          <p:cNvPr id="10" name="Image 1" descr="Primary lockup at its 120 px minimum digital width." title="Primary lockup at its 120 px minimum digital width.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0" r="0" t="-24" b="-24"/>
          <a:stretch/>
        </p:blipFill>
        <p:spPr>
          <a:xfrm>
            <a:off x="7620000" y="4743549"/>
            <a:ext cx="762000" cy="2413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20000" y="5048349"/>
            <a:ext cx="11908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120 px lockup</a:t>
            </a:r>
            <a:endParaRPr lang="en-US" sz="1200" dirty="0"/>
          </a:p>
        </p:txBody>
      </p:sp>
      <p:pic>
        <p:nvPicPr>
          <p:cNvPr id="12" name="Image 2" descr="Symbol at its 32 px minimum digital size." title="Symbol at its 32 px minimum digital size.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0" r="0" t="-128" b="-128"/>
          <a:stretch/>
        </p:blipFill>
        <p:spPr>
          <a:xfrm>
            <a:off x="8917136" y="4800699"/>
            <a:ext cx="203200" cy="1841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917136" y="5048349"/>
            <a:ext cx="116050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 px symbol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7620000" y="5363270"/>
            <a:ext cx="3871976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Below 32 px use the no-spark symbol (supplied kit). PENDING (VAL-02).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IDENTITY · LOGO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30"/>
          <p:cNvSpPr>
            <a:spLocks noGrp="1"/>
          </p:cNvSpPr>
          <p:nvPr>
            <p:ph type="title"/>
          </p:nvPr>
        </p:nvSpPr>
        <p:spPr>
          <a:xfrm>
            <a:off x="457200" y="7315200"/>
            <a:ext cx="8229600" cy="36576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200" dirty="0"/>
              <a:t>Logo misuse: never</a:t>
            </a:r>
          </a:p>
        </p:txBody>
      </p:sp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 MISUSE · NEVER</a:t>
            </a:r>
            <a:endParaRPr lang="en-US" sz="1200" dirty="0"/>
          </a:p>
        </p:txBody>
      </p:sp>
      <p:sp>
        <p:nvSpPr>
          <p:cNvPr id="3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9150" y="1210270"/>
            <a:ext cx="2533650" cy="157480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/>
          <a:p/>
        </p:txBody>
      </p:sp>
      <p:pic>
        <p:nvPicPr>
          <p:cNvPr id="4" name="Image 0" descr="Logo misuse example: stretched." title="Logo misuse example: stretched.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0" r="0" t="18406" b="18406"/>
          <a:stretch/>
        </p:blipFill>
        <p:spPr>
          <a:xfrm>
            <a:off x="1133475" y="1807170"/>
            <a:ext cx="1905000" cy="381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2854920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STRETCH</a:t>
            </a:r>
            <a:endParaRPr lang="en-US" sz="1200" dirty="0"/>
          </a:p>
        </p:txBody>
      </p:sp>
      <p:sp>
        <p:nvSpPr>
          <p:cNvPr id="6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92500" y="1210270"/>
            <a:ext cx="2533650" cy="157480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/>
          <a:p/>
        </p:txBody>
      </p:sp>
      <p:pic>
        <p:nvPicPr>
          <p:cNvPr id="7" name="Image 1" descr="Logo misuse example: rotated." title="Logo misuse example: rotated.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0" r="0" t="-24" b="-24"/>
          <a:stretch/>
        </p:blipFill>
        <p:spPr>
          <a:xfrm rot="20640000">
            <a:off x="3997325" y="1756370"/>
            <a:ext cx="1524000" cy="482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86150" y="2854920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ROTATE</a:t>
            </a:r>
            <a:endParaRPr lang="en-US" sz="1200" dirty="0"/>
          </a:p>
        </p:txBody>
      </p:sp>
      <p:sp>
        <p:nvSpPr>
          <p:cNvPr id="9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65850" y="1210270"/>
            <a:ext cx="2533650" cy="157480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/>
          <a:p/>
        </p:txBody>
      </p:sp>
      <p:pic>
        <p:nvPicPr>
          <p:cNvPr id="10" name="Image 2" descr="Logo misuse example: recoloured outside the palette." title="Logo misuse example: recoloured outside the palette.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0" r="0" t="-24" b="-24"/>
          <a:stretch/>
        </p:blipFill>
        <p:spPr>
          <a:xfrm>
            <a:off x="6670675" y="1756370"/>
            <a:ext cx="1524000" cy="482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159500" y="2854920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RECOLOUR</a:t>
            </a:r>
            <a:endParaRPr lang="en-US" sz="1200" dirty="0"/>
          </a:p>
        </p:txBody>
      </p:sp>
      <p:sp>
        <p:nvSpPr>
          <p:cNvPr id="12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39200" y="1210270"/>
            <a:ext cx="2533650" cy="157480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/>
          <a:p/>
        </p:txBody>
      </p:sp>
      <p:pic>
        <p:nvPicPr>
          <p:cNvPr id="13" name="Image 3" descr="Logo misuse example: drop shadow added." title="Logo misuse example: drop shadow added.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0" r="0" t="-24" b="-24"/>
          <a:stretch/>
        </p:blipFill>
        <p:spPr>
          <a:xfrm>
            <a:off x="9344025" y="1756370"/>
            <a:ext cx="1524000" cy="482600"/>
          </a:xfrm>
          <a:prstGeom prst="rect">
            <a:avLst/>
          </a:prstGeom>
          <a:effectLst>
            <a:outerShdw sx="100000" sy="100000" kx="0" ky="0" algn="bl" rotWithShape="0" blurRad="114300" dist="89803" dir="2700000">
              <a:srgbClr val="020202">
                <a:alpha val="45000"/>
              </a:srgbClr>
            </a:outerShdw>
          </a:effectLst>
        </p:spPr>
      </p:pic>
      <p:sp>
        <p:nvSpPr>
          <p:cNvPr id="14" name="Text 8"/>
          <p:cNvSpPr/>
          <p:nvPr/>
        </p:nvSpPr>
        <p:spPr>
          <a:xfrm>
            <a:off x="8832850" y="2854920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SHADOW</a:t>
            </a:r>
            <a:endParaRPr lang="en-US" sz="1200" dirty="0"/>
          </a:p>
        </p:txBody>
      </p:sp>
      <p:sp>
        <p:nvSpPr>
          <p:cNvPr id="15" name="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9150" y="3201591"/>
            <a:ext cx="2533650" cy="1574800"/>
          </a:xfrm>
          <a:prstGeom prst="rect">
            <a:avLst/>
          </a:prstGeom>
          <a:gradFill rotWithShape="1">
            <a:gsLst>
              <a:gs pos="0">
                <a:srgbClr val="BCACA7"/>
              </a:gs>
              <a:gs pos="100000">
                <a:srgbClr val="12171D"/>
              </a:gs>
            </a:gsLst>
            <a:lin ang="2700000" scaled="0"/>
          </a:gradFill>
          <a:ln w="12700">
            <a:solidFill>
              <a:srgbClr val="12171D"/>
            </a:solidFill>
            <a:prstDash val="dash"/>
          </a:ln>
        </p:spPr>
        <p:txBody>
          <a:bodyPr/>
          <a:p/>
        </p:txBody>
      </p:sp>
      <p:pic>
        <p:nvPicPr>
          <p:cNvPr id="16" name="Image 4" descr="Logo misuse example: placed on a gradient background." title="Logo misuse example: placed on a gradient background.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l="0" r="0" t="-24" b="-24"/>
          <a:stretch/>
        </p:blipFill>
        <p:spPr>
          <a:xfrm>
            <a:off x="1323975" y="3747691"/>
            <a:ext cx="1524000" cy="4826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12800" y="4846241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GRADIENT BACKGROUND</a:t>
            </a:r>
            <a:endParaRPr lang="en-US" sz="1200" dirty="0"/>
          </a:p>
        </p:txBody>
      </p:sp>
      <p:sp>
        <p:nvSpPr>
          <p:cNvPr id="18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92500" y="3201591"/>
            <a:ext cx="2533650" cy="157480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/>
          <a:p/>
        </p:txBody>
      </p:sp>
      <p:pic>
        <p:nvPicPr>
          <p:cNvPr id="19" name="Image 5" descr="Logo misuse example: outlined and contained." title="Logo misuse example: outlined and contained.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207611" y="3814366"/>
            <a:ext cx="1103428" cy="349250"/>
          </a:xfrm>
          <a:custGeom>
            <a:avLst/>
            <a:gdLst/>
            <a:ahLst/>
            <a:cxnLst/>
            <a:rect l="l" t="t" r="r" b="b"/>
            <a:pathLst>
              <a:path w="1103428" h="349250">
                <a:moveTo>
                  <a:pt x="0" y="44756"/>
                </a:moveTo>
                <a:arcTo wR="174625" hR="174625" stAng="13682864" swAng="2517136"/>
                <a:lnTo>
                  <a:pt x="986689" y="0"/>
                </a:lnTo>
                <a:arcTo wR="174625" hR="174625" stAng="16200000" swAng="2517136"/>
                <a:lnTo>
                  <a:pt x="1103428" y="304494"/>
                </a:lnTo>
                <a:arcTo wR="174625" hR="174625" stAng="2882864" swAng="2517136"/>
                <a:lnTo>
                  <a:pt x="116739" y="349250"/>
                </a:lnTo>
                <a:arcTo wR="174625" hR="174625" stAng="5400000" swAng="2517136"/>
                <a:close/>
              </a:path>
            </a:pathLst>
          </a:custGeom>
        </p:spPr>
      </p:pic>
      <p:sp>
        <p:nvSpPr>
          <p:cNvPr id="20" name="Shap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37025" y="3801666"/>
            <a:ext cx="1244600" cy="37465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21" name="Text 13"/>
          <p:cNvSpPr/>
          <p:nvPr/>
        </p:nvSpPr>
        <p:spPr>
          <a:xfrm>
            <a:off x="3486150" y="4846241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OUTLINE, CONTAINER</a:t>
            </a:r>
            <a:endParaRPr lang="en-US" sz="1200" dirty="0"/>
          </a:p>
        </p:txBody>
      </p:sp>
      <p:sp>
        <p:nvSpPr>
          <p:cNvPr id="22" name="Shap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65850" y="3201591"/>
            <a:ext cx="2533650" cy="157480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/>
          <a:p/>
        </p:txBody>
      </p:sp>
      <p:pic>
        <p:nvPicPr>
          <p:cNvPr id="23" name="Image 6" descr="Logo misuse example: cropped." title="Logo misuse example: cropped.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0" r="0" t="-24" b="-24"/>
          <a:stretch/>
        </p:blipFill>
        <p:spPr>
          <a:xfrm>
            <a:off x="6892925" y="3747691"/>
            <a:ext cx="1524000" cy="48260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159500" y="4846241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CROP</a:t>
            </a:r>
            <a:endParaRPr lang="en-US" sz="1200" dirty="0"/>
          </a:p>
        </p:txBody>
      </p:sp>
      <p:sp>
        <p:nvSpPr>
          <p:cNvPr id="25" name="Text 16"/>
          <p:cNvSpPr/>
          <p:nvPr/>
        </p:nvSpPr>
        <p:spPr>
          <a:xfrm>
            <a:off x="8839200" y="3201591"/>
            <a:ext cx="2533650" cy="157480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 wrap="square" lIns="6350" tIns="6350" rIns="6350" bIns="6350" rtlCol="0" anchor="ctr">
            <a:normAutofit/>
          </a:bodyPr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3000" spc="36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GEM</a:t>
            </a:r>
            <a:endParaRPr lang="en-US" sz="3000" dirty="0"/>
          </a:p>
        </p:txBody>
      </p:sp>
      <p:sp>
        <p:nvSpPr>
          <p:cNvPr id="26" name="Text 17"/>
          <p:cNvSpPr/>
          <p:nvPr/>
        </p:nvSpPr>
        <p:spPr>
          <a:xfrm>
            <a:off x="8832850" y="4846241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WORDMARK SET IN TYPE</a:t>
            </a:r>
            <a:endParaRPr lang="en-US" sz="1200" dirty="0"/>
          </a:p>
        </p:txBody>
      </p:sp>
      <p:sp>
        <p:nvSpPr>
          <p:cNvPr id="27" name="Text 18"/>
          <p:cNvSpPr/>
          <p:nvPr/>
        </p:nvSpPr>
        <p:spPr>
          <a:xfrm>
            <a:off x="812800" y="5237361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Also never: beige on white (2.2:1), the logo on busy photography, an added or moved spark, a changed lockup.</a:t>
            </a:r>
            <a:endParaRPr lang="en-US" sz="1200" dirty="0"/>
          </a:p>
        </p:txBody>
      </p:sp>
      <p:sp>
        <p:nvSpPr>
          <p:cNvPr id="28" name="Text 19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IDENTITY · LOGO</a:t>
            </a:r>
            <a:endParaRPr lang="en-US" sz="1200" dirty="0"/>
          </a:p>
        </p:txBody>
      </p:sp>
      <p:sp>
        <p:nvSpPr>
          <p:cNvPr id="29" name="Text 20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7091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CO-BRANDING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3920"/>
            <a:ext cx="470916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0" i="0" spc="6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Partners stand beside GEM, not inside it.</a:t>
            </a:r>
            <a:endParaRPr lang="en-US" sz="3000" dirty="0"/>
          </a:p>
        </p:txBody>
      </p:sp>
      <p:sp>
        <p:nvSpPr>
          <p:cNvPr id="4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2354659"/>
            <a:ext cx="4572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12800" y="2459434"/>
            <a:ext cx="47091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DEFAULT EQUAL-PARTNER ARRANGEMENT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2982119"/>
            <a:ext cx="4709160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 optical prominence, not mechanical size. Keep each brand's required clearspace. Use about 2u separation as the GEM default where compatible; a hairline may be added when appropriate.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" y="4144764"/>
            <a:ext cx="470916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merge, recolour, contain or redraw either identity. Partner-specific, contractual or sponsorship rules take precedence once formally approved.</a:t>
            </a:r>
            <a:endParaRPr lang="en-US" sz="1200" dirty="0"/>
          </a:p>
        </p:txBody>
      </p:sp>
      <p:sp>
        <p:nvSpPr>
          <p:cNvPr id="8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5097264"/>
            <a:ext cx="4572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12800" y="5202039"/>
            <a:ext cx="470916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approved commercial or property relationship determines precedence. GEM remains visually independent and uses its own clearspace and artwork.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92800" y="1387574"/>
            <a:ext cx="56509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EQUAL PARTNER · CONCEPT</a:t>
            </a:r>
            <a:endParaRPr lang="en-US" sz="1200" dirty="0"/>
          </a:p>
        </p:txBody>
      </p:sp>
      <p:sp>
        <p:nvSpPr>
          <p:cNvPr id="11" name="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99150" y="1759645"/>
            <a:ext cx="5473700" cy="118110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pic>
        <p:nvPicPr>
          <p:cNvPr id="12" name="Image 0" descr="GEM signature beside a placeholder partner mark, equal-partner co-branding concept." title="GEM signature beside a placeholder partner mark, equal-partn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0" r="0" t="-24" b="-24"/>
          <a:stretch/>
        </p:blipFill>
        <p:spPr>
          <a:xfrm>
            <a:off x="6369050" y="2048570"/>
            <a:ext cx="1905000" cy="603250"/>
          </a:xfrm>
          <a:prstGeom prst="rect">
            <a:avLst/>
          </a:prstGeom>
        </p:spPr>
      </p:pic>
      <p:sp>
        <p:nvSpPr>
          <p:cNvPr id="13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29650" y="2045395"/>
            <a:ext cx="12700" cy="60960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9004300" y="2054920"/>
            <a:ext cx="1892300" cy="590550"/>
          </a:xfrm>
          <a:prstGeom prst="rect">
            <a:avLst/>
          </a:prstGeom>
          <a:noFill/>
          <a:ln w="12700">
            <a:solidFill>
              <a:srgbClr val="12171D"/>
            </a:solidFill>
            <a:prstDash val="dash"/>
          </a:ln>
        </p:spPr>
        <p:txBody>
          <a:bodyPr wrap="square" lIns="0" tIns="6350" rIns="0" bIns="0" rtlCol="0" anchor="t">
            <a:norm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[PARTNER MARK] [REQUIRES OWNER]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892800" y="3099495"/>
            <a:ext cx="565099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SUPPLIER RELATIONSHIP · ILLUSTRATIVE, PRECEDENCE PER AGREEMENT</a:t>
            </a:r>
            <a:endParaRPr lang="en-US" sz="1200" dirty="0"/>
          </a:p>
        </p:txBody>
      </p:sp>
      <p:sp>
        <p:nvSpPr>
          <p:cNvPr id="16" name="Shap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92800" y="3678535"/>
            <a:ext cx="5486400" cy="122297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178550" y="4042370"/>
            <a:ext cx="2019300" cy="495300"/>
          </a:xfrm>
          <a:prstGeom prst="rect">
            <a:avLst/>
          </a:prstGeom>
          <a:noFill/>
          <a:ln w="12700">
            <a:solidFill>
              <a:srgbClr val="BCACA7"/>
            </a:solidFill>
            <a:prstDash val="dash"/>
          </a:ln>
        </p:spPr>
        <p:txBody>
          <a:bodyPr wrap="square" lIns="0" tIns="6350" rIns="0" bIns="0" rtlCol="0" anchor="t">
            <a:norm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[PROPERTY MARK]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080565" y="3957935"/>
            <a:ext cx="10192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Supplied by</a:t>
            </a:r>
            <a:endParaRPr lang="en-US" sz="1200" dirty="0"/>
          </a:p>
        </p:txBody>
      </p:sp>
      <p:pic>
        <p:nvPicPr>
          <p:cNvPr id="19" name="Image 1" descr="GEM signature in the supplier-relationship concept, placed after 'Supplied by'." title="GEM signature in the supplier-relationship concept, placed a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-240" r="-240" t="0" b="0"/>
          <a:stretch/>
        </p:blipFill>
        <p:spPr>
          <a:xfrm>
            <a:off x="9829800" y="4222055"/>
            <a:ext cx="1270000" cy="40005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892800" y="5053905"/>
            <a:ext cx="56509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 / NOT PRODUCTION ARTWORK. No real partner is approved.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IDENTITY · LOGO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8"/>
          <p:cNvSpPr>
            <a:spLocks noGrp="1"/>
          </p:cNvSpPr>
          <p:nvPr>
            <p:ph type="title"/>
          </p:nvPr>
        </p:nvSpPr>
        <p:spPr>
          <a:xfrm>
            <a:off x="457200" y="7315200"/>
            <a:ext cx="8229600" cy="36576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200" dirty="0"/>
              <a:t>Colour: the field</a:t>
            </a:r>
          </a:p>
        </p:txBody>
      </p:sp>
      <p:sp>
        <p:nvSpPr>
          <p:cNvPr id="2" name="Shap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12800" y="812800"/>
            <a:ext cx="48138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COLOUR · THE FIELD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4175820"/>
            <a:ext cx="481380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00"/>
              </a:lnSpc>
              <a:buNone/>
            </a:pPr>
            <a:r>
              <a:rPr lang="en-US" sz="6000" spc="36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INK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12800" y="5344220"/>
            <a:ext cx="4813808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#12171D · Primary dark brand field and default text colour.</a:t>
            </a:r>
            <a:endParaRPr lang="en-US" sz="1400" dirty="0"/>
          </a:p>
        </p:txBody>
      </p:sp>
      <p:sp>
        <p:nvSpPr>
          <p:cNvPr id="6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0" y="0"/>
            <a:ext cx="6096000" cy="3429000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705600" y="1948210"/>
            <a:ext cx="4813808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000" spc="24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BEIGE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705600" y="2735610"/>
            <a:ext cx="4813808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#BCACA7 · Signature warm-neutral counterpart to Ink: selected surfaces, controlled decorative use, approved contrast pairings.</a:t>
            </a:r>
            <a:endParaRPr lang="en-US" sz="1300" dirty="0"/>
          </a:p>
        </p:txBody>
      </p:sp>
      <p:sp>
        <p:nvSpPr>
          <p:cNvPr id="9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0" y="3429000"/>
            <a:ext cx="2946400" cy="3429000"/>
          </a:xfrm>
          <a:prstGeom prst="rect">
            <a:avLst/>
          </a:prstGeom>
          <a:solidFill>
            <a:srgbClr val="020202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705600" y="4511229"/>
            <a:ext cx="2145284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spc="14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BLACK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705600" y="4988719"/>
            <a:ext cx="2145284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#020202 · Monochrome and one-colour production, approved functional states. Not default text.</a:t>
            </a:r>
            <a:endParaRPr lang="en-US" sz="1200" dirty="0"/>
          </a:p>
        </p:txBody>
      </p:sp>
      <p:sp>
        <p:nvSpPr>
          <p:cNvPr id="12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42400" y="3429000"/>
            <a:ext cx="3149600" cy="3429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42400" y="3435350"/>
            <a:ext cx="31496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296400" y="4724549"/>
            <a:ext cx="2145284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spc="14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WHITE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296400" y="5202039"/>
            <a:ext cx="2145284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#FFFFFF · Primary light canvas and inverse text colour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IDENTITY · COLOUR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COLOUR · THE RELATIONSHIP AND ITS LIMITS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Ink and Beige answer each other.</a:t>
            </a:r>
            <a:endParaRPr lang="en-US" sz="3200" dirty="0"/>
          </a:p>
        </p:txBody>
      </p:sp>
      <p:sp>
        <p:nvSpPr>
          <p:cNvPr id="4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1930350"/>
            <a:ext cx="2530475" cy="3204319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16000" y="2133550"/>
            <a:ext cx="2187797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4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Beige on Ink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16000" y="4469209"/>
            <a:ext cx="2187797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8.2 : 1. The signature pairing. Dark applications.</a:t>
            </a:r>
            <a:endParaRPr lang="en-US" sz="1300" dirty="0"/>
          </a:p>
        </p:txBody>
      </p:sp>
      <p:sp>
        <p:nvSpPr>
          <p:cNvPr id="7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76625" y="1936700"/>
            <a:ext cx="2543175" cy="3191619"/>
          </a:xfrm>
          <a:prstGeom prst="rect">
            <a:avLst/>
          </a:prstGeom>
          <a:solidFill>
            <a:srgbClr val="FFFFFF"/>
          </a:solidFill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686175" y="2146250"/>
            <a:ext cx="2187797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4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Ink on White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86175" y="4456509"/>
            <a:ext cx="2187797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18.0 : 1. Light applications and long reading.</a:t>
            </a:r>
            <a:endParaRPr lang="en-US" sz="1300" dirty="0"/>
          </a:p>
        </p:txBody>
      </p:sp>
      <p:sp>
        <p:nvSpPr>
          <p:cNvPr id="10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53150" y="1930350"/>
            <a:ext cx="2530475" cy="3204319"/>
          </a:xfrm>
          <a:prstGeom prst="rect">
            <a:avLst/>
          </a:prstGeom>
          <a:solidFill>
            <a:srgbClr val="020202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56350" y="2133550"/>
            <a:ext cx="2187797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4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White on Black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356350" y="4469209"/>
            <a:ext cx="2187797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Monochrome print, one-colour production.</a:t>
            </a:r>
            <a:endParaRPr lang="en-US" sz="1300" dirty="0"/>
          </a:p>
        </p:txBody>
      </p:sp>
      <p:sp>
        <p:nvSpPr>
          <p:cNvPr id="13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20150" y="1939875"/>
            <a:ext cx="2549525" cy="3185269"/>
          </a:xfrm>
          <a:prstGeom prst="rect">
            <a:avLst/>
          </a:prstGeom>
          <a:solidFill>
            <a:srgbClr val="FFFFFF"/>
          </a:solidFill>
          <a:ln w="19050">
            <a:solidFill>
              <a:srgbClr val="12171D"/>
            </a:solidFill>
            <a:prstDash val="dash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032875" y="2152600"/>
            <a:ext cx="2187797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4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Beige on White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032875" y="4114800"/>
            <a:ext cx="218779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NEVER. 2.2 : 1 fails. Not for essential text, boundaries or the logo (K05). Decorative only (K07).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5363270"/>
            <a:ext cx="10883392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Also never: gold, gradients, a fifth colour, or Beige as a text colour on a light field. Ratios are WCAG 2.2 AA; implementation tokens sit in Part B.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IDENTITY · COLOUR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0"/>
          <p:cNvSpPr>
            <a:spLocks noGrp="1"/>
          </p:cNvSpPr>
          <p:nvPr>
            <p:ph type="title"/>
          </p:nvPr>
        </p:nvSpPr>
        <p:spPr>
          <a:xfrm>
            <a:off x="457200" y="7315200"/>
            <a:ext cx="8229600" cy="36576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200" dirty="0"/>
              <a:t>Typography: Jost, display and headings</a:t>
            </a:r>
          </a:p>
        </p:txBody>
      </p:sp>
      <p:sp>
        <p:nvSpPr>
          <p:cNvPr id="2" name="Text 0"/>
          <p:cNvSpPr/>
          <p:nvPr/>
        </p:nvSpPr>
        <p:spPr>
          <a:xfrm>
            <a:off x="812800" y="40640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TYPOGRAPHY · JOST · DISPLAY AND HEADINGS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11200" y="952500"/>
            <a:ext cx="5886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858000" y="1206500"/>
            <a:ext cx="4656836" cy="103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spc="14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GEOMETRY IS THE LANGUAGE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858000" y="2794000"/>
            <a:ext cx="5334000" cy="375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400" spc="5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Hospitality, in perfect proportion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0" y="3810000"/>
            <a:ext cx="4656836" cy="8482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spc="2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ABCDEFGHIJKLMNOPQRSTUVWXYZ</a:t>
            </a:r>
            <a:endParaRPr lang="en-US" sz="180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sz="1800" spc="2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abcdefghijklmnopqrstuvwxyz</a:t>
            </a:r>
            <a:endParaRPr lang="en-US" sz="180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sz="1800" spc="2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0123456789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0" y="4977892"/>
            <a:ext cx="4656836" cy="1036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Display and headings: 400. Controlled labels and emphasis: 500 WEIGHT PENDING ACCEPTED FONT FILE (use 400). Two weights per composition at most. Display capitals carry .08 to .12em tracking (Part B tokens, CONDITIONAL · VAL-19).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IDENTITY · TYPOGRAPHY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9"/>
          <p:cNvSpPr>
            <a:spLocks noGrp="1"/>
          </p:cNvSpPr>
          <p:nvPr>
            <p:ph type="title"/>
          </p:nvPr>
        </p:nvSpPr>
        <p:spPr>
          <a:xfrm>
            <a:off x="457200" y="7315200"/>
            <a:ext cx="8229600" cy="36576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200" dirty="0"/>
              <a:t>Typography: Inter, body and interface</a:t>
            </a:r>
          </a:p>
        </p:txBody>
      </p:sp>
      <p:sp>
        <p:nvSpPr>
          <p:cNvPr id="2" name="Text 0"/>
          <p:cNvSpPr/>
          <p:nvPr/>
        </p:nvSpPr>
        <p:spPr>
          <a:xfrm>
            <a:off x="812800" y="812800"/>
            <a:ext cx="418592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TYPOGRAPHY · INTER · BODY AND INTERFACE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391841"/>
            <a:ext cx="418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spc="-3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12800" y="5123904"/>
            <a:ext cx="4185920" cy="743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 carries every sentence that must be read, from a booking form to a specification sheet. It stays plain so Jost can stay distinct.</a:t>
            </a:r>
            <a:endParaRPr lang="en-US" sz="1300" dirty="0"/>
          </a:p>
        </p:txBody>
      </p:sp>
      <p:sp>
        <p:nvSpPr>
          <p:cNvPr id="5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0" y="1626344"/>
            <a:ext cx="5892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0" y="1756519"/>
            <a:ext cx="60695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HEADLINE · JOST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0" y="2007939"/>
            <a:ext cx="6069584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spc="5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quiet arrival</a:t>
            </a:r>
            <a:endParaRPr lang="en-US" sz="2800" dirty="0"/>
          </a:p>
        </p:txBody>
      </p:sp>
      <p:sp>
        <p:nvSpPr>
          <p:cNvPr id="8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0" y="2554635"/>
            <a:ext cx="5892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0" y="2684810"/>
            <a:ext cx="60695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EMPHASIS · INTER 400 · 500 PENDING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0" y="2936230"/>
            <a:ext cx="6069584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detail, in its place</a:t>
            </a:r>
            <a:endParaRPr lang="en-US" sz="1800" dirty="0"/>
          </a:p>
        </p:txBody>
      </p:sp>
      <p:sp>
        <p:nvSpPr>
          <p:cNvPr id="11" name="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0" y="3366095"/>
            <a:ext cx="5892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486400" y="3496270"/>
            <a:ext cx="60695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BODY · INTER 400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0" y="3747691"/>
            <a:ext cx="606958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Body text is set with zero tracking and generous leading, in measures that stay easy to read.</a:t>
            </a:r>
            <a:endParaRPr lang="en-US" sz="1400" dirty="0"/>
          </a:p>
        </p:txBody>
      </p:sp>
      <p:sp>
        <p:nvSpPr>
          <p:cNvPr id="14" name="Shap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0" y="4436666"/>
            <a:ext cx="5892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486400" y="4566841"/>
            <a:ext cx="60695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LABEL SMALL · INTER 400 · CAPITALS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0" y="4818261"/>
            <a:ext cx="60695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COLLECTION · 30 ML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IDENTITY · TYPOGRAPHY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TYPOGRAPHY · TRACKING AND MEASURE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Space between letters is calibrated, not generous.</a:t>
            </a:r>
            <a:endParaRPr lang="en-US" sz="3200" dirty="0"/>
          </a:p>
        </p:txBody>
      </p:sp>
      <p:sp>
        <p:nvSpPr>
          <p:cNvPr id="4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2199729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12800" y="2393404"/>
            <a:ext cx="24853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TAGLINE · .18EM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79800" y="2317204"/>
            <a:ext cx="6525518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32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HOSPITALITY, IN PERFECT PROPORTION</a:t>
            </a:r>
            <a:endParaRPr lang="en-US" sz="1800" dirty="0"/>
          </a:p>
        </p:txBody>
      </p:sp>
      <p:sp>
        <p:nvSpPr>
          <p:cNvPr id="7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2754709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12800" y="2872184"/>
            <a:ext cx="24853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EYEBROW · .16EM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9800" y="2872184"/>
            <a:ext cx="18024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LABEL</a:t>
            </a:r>
            <a:endParaRPr lang="en-US" sz="1200" dirty="0"/>
          </a:p>
        </p:txBody>
      </p:sp>
      <p:sp>
        <p:nvSpPr>
          <p:cNvPr id="10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3202980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12800" y="3476030"/>
            <a:ext cx="248539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DISPLAY CAPITALS · .08–.12EM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9800" y="3320455"/>
            <a:ext cx="2069663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spc="19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PRECISION</a:t>
            </a:r>
            <a:endParaRPr lang="en-US" sz="2400" dirty="0"/>
          </a:p>
        </p:txBody>
      </p:sp>
      <p:sp>
        <p:nvSpPr>
          <p:cNvPr id="13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4020145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12800" y="4267795"/>
            <a:ext cx="24853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HEADINGS · 0–.02EM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9800" y="4137620"/>
            <a:ext cx="3146108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4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Restraint is the luxury</a:t>
            </a:r>
            <a:endParaRPr lang="en-US" sz="2200" dirty="0"/>
          </a:p>
        </p:txBody>
      </p:sp>
      <p:sp>
        <p:nvSpPr>
          <p:cNvPr id="16" name="Shap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4646216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7" name="Shap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5130056"/>
            <a:ext cx="105664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12800" y="4789091"/>
            <a:ext cx="24853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BODY · 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79800" y="4763691"/>
            <a:ext cx="6245185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Body copy is never tracked. Keep lines to 45 to 75 characters.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2800" y="5559552"/>
            <a:ext cx="1088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track Arabic. The retired 0.3 to 0.8em rule is not used. Values are CONDITIONAL until optical QA in the approved templates (VAL-19). Full token values: Part B.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IDENTITY · TYPOGRAPHY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ARABIC · DIRECTION · PENDING VALIDATION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3920"/>
            <a:ext cx="4970780" cy="1366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Arabic is composed, not translated onto a Latin layout.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5123904"/>
            <a:ext cx="4970780" cy="743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Noto Sans Arabic is the interim family. It stays PENDING VALIDATION until native Arabic, RTL and localization QA is complete. PENDING LOCALIZATION APPROVAL.</a:t>
            </a:r>
            <a:endParaRPr lang="en-US" sz="1300" dirty="0"/>
          </a:p>
        </p:txBody>
      </p:sp>
      <p:sp>
        <p:nvSpPr>
          <p:cNvPr id="5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54750" y="1880295"/>
            <a:ext cx="5118100" cy="1328341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377178" y="2115245"/>
            <a:ext cx="4735322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4480"/>
              </a:lnSpc>
              <a:buNone/>
            </a:pPr>
            <a:r>
              <a:rPr lang="ar-SA" sz="3200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أهلاً بكم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515100" y="2760365"/>
            <a:ext cx="473532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Working string for layout only. Not approved copy.</a:t>
            </a:r>
            <a:endParaRPr lang="en-US" sz="1200" dirty="0"/>
          </a:p>
        </p:txBody>
      </p:sp>
      <p:sp>
        <p:nvSpPr>
          <p:cNvPr id="8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48400" y="3395960"/>
            <a:ext cx="5130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248400" y="3488035"/>
            <a:ext cx="528472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Flow right to left. Alignment, order and reading path all reverse.</a:t>
            </a:r>
            <a:endParaRPr lang="en-US" sz="1300" dirty="0"/>
          </a:p>
        </p:txBody>
      </p:sp>
      <p:sp>
        <p:nvSpPr>
          <p:cNvPr id="10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48400" y="3811240"/>
            <a:ext cx="5130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48400" y="3903315"/>
            <a:ext cx="5284724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mirror the logo. The GEM mark keeps its orientation in every language.</a:t>
            </a:r>
            <a:endParaRPr lang="en-US" sz="1300" dirty="0"/>
          </a:p>
        </p:txBody>
      </p:sp>
      <p:sp>
        <p:nvSpPr>
          <p:cNvPr id="12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48400" y="4457650"/>
            <a:ext cx="5130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48400" y="4549725"/>
            <a:ext cx="528472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Latin tracking. Arabic letters are never letterspaced.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IDENTITY · ARABIC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6"/>
          <p:cNvSpPr>
            <a:spLocks noGrp="1"/>
          </p:cNvSpPr>
          <p:nvPr>
            <p:ph type="title"/>
          </p:nvPr>
        </p:nvSpPr>
        <p:spPr>
          <a:xfrm>
            <a:off x="457200" y="7315200"/>
            <a:ext cx="8229600" cy="36576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200" dirty="0"/>
              <a:t>Bilingual composition (concept)</a:t>
            </a:r>
          </a:p>
        </p:txBody>
      </p:sp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BILINGUAL COMPOSITION · CONCEPT · PENDING LOCALIZATION APPROVAL</a:t>
            </a:r>
            <a:endParaRPr lang="en-US" sz="1200" dirty="0"/>
          </a:p>
        </p:txBody>
      </p:sp>
      <p:sp>
        <p:nvSpPr>
          <p:cNvPr id="3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1229320"/>
            <a:ext cx="5181600" cy="3615829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117600" y="1534120"/>
            <a:ext cx="47091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ENGLISH-FIRST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17600" y="3549799"/>
            <a:ext cx="4709160" cy="523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spc="11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WELCOME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80440" y="4149229"/>
            <a:ext cx="470916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3080"/>
              </a:lnSpc>
              <a:buNone/>
            </a:pPr>
            <a:r>
              <a:rPr lang="ar-SA" sz="2200" dirty="0">
                <a:solidFill>
                  <a:srgbClr val="BCACA7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أهلاً بكم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12800" y="4946749"/>
            <a:ext cx="533704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English leads on the left. Arabic follows, aligned right.</a:t>
            </a:r>
            <a:endParaRPr lang="en-US" sz="1200" dirty="0"/>
          </a:p>
        </p:txBody>
      </p:sp>
      <p:sp>
        <p:nvSpPr>
          <p:cNvPr id="8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97600" y="1229320"/>
            <a:ext cx="5181600" cy="3615829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365240" y="1534120"/>
            <a:ext cx="47091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1680"/>
              </a:lnSpc>
              <a:buNone/>
            </a:pPr>
            <a:r>
              <a:rPr lang="ar-SA" sz="1200" dirty="0">
                <a:solidFill>
                  <a:srgbClr val="12171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العربية أولاً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65240" y="3514229"/>
            <a:ext cx="470916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4480"/>
              </a:lnSpc>
              <a:buNone/>
            </a:pPr>
            <a:r>
              <a:rPr lang="ar-SA" sz="3200" dirty="0">
                <a:solidFill>
                  <a:srgbClr val="12171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أهلاً بكم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502400" y="4184749"/>
            <a:ext cx="47091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spc="8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WELCOME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197600" y="4946749"/>
            <a:ext cx="533704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Arabic-first for Saudi and GCC. Arabic leads, anchored right.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2800" y="5363270"/>
            <a:ext cx="10883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Both languages share one grid, one baseline rhythm and equal care. Neither is a footnote to the other. For Saudi/GCC bilingual wayfinding Arabic leads by default (S07, slide 65). Working strings only; not approved copy.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IDENTITY · ARABIC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ARABIC · MIXED LANGUAGE, NUMERALS AND CODES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Technical codes stay Latin, even inside Arabic.</a:t>
            </a:r>
            <a:endParaRPr lang="en-US" sz="3200" dirty="0"/>
          </a:p>
        </p:txBody>
      </p:sp>
      <p:sp>
        <p:nvSpPr>
          <p:cNvPr id="4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1936700"/>
            <a:ext cx="33528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12800" y="2120850"/>
            <a:ext cx="34533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GUEST-FACING NUMBER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12216" y="2461171"/>
            <a:ext cx="3453384" cy="523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3920"/>
              </a:lnSpc>
              <a:buNone/>
            </a:pPr>
            <a:r>
              <a:rPr lang="ar-SA" sz="2800" dirty="0">
                <a:solidFill>
                  <a:srgbClr val="12171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غرفة 412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12800" y="3086001"/>
            <a:ext cx="3453384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Arabic-Indic digits may be used where approved for the locale or property. Latin shown here until policy is signed off.</a:t>
            </a:r>
            <a:endParaRPr lang="en-US" sz="1300" dirty="0"/>
          </a:p>
        </p:txBody>
      </p:sp>
      <p:sp>
        <p:nvSpPr>
          <p:cNvPr id="8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19600" y="1936700"/>
            <a:ext cx="33528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419600" y="2120850"/>
            <a:ext cx="34533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IDENTIFIER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19016" y="2461171"/>
            <a:ext cx="3453384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3360"/>
              </a:lnSpc>
              <a:buNone/>
            </a:pPr>
            <a:r>
              <a:rPr lang="ar-SA" sz="2400" dirty="0">
                <a:solidFill>
                  <a:srgbClr val="12171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رقم الحجز </a:t>
            </a:r>
            <a:r>
              <a:rPr lang="en-US" sz="2400" dirty="0">
                <a:solidFill>
                  <a:srgbClr val="12171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GEM-0000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419600" y="3014861"/>
            <a:ext cx="3453384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Booking IDs, SKUs, URLs, phone numbers, batch and system codes are always Latin digits, left to right. GEM-0000 is a placeholder.</a:t>
            </a:r>
            <a:endParaRPr lang="en-US" sz="1300" dirty="0"/>
          </a:p>
        </p:txBody>
      </p:sp>
      <p:sp>
        <p:nvSpPr>
          <p:cNvPr id="12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26400" y="1936700"/>
            <a:ext cx="33528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026400" y="2120850"/>
            <a:ext cx="34533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RULE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26400" y="2461171"/>
            <a:ext cx="3453384" cy="1314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not mix numeral systems arbitrarily within one content role. One page may carry Arabic-Indic digits in guest-facing Arabic and Latin digits in technical identifiers, because the roles differ.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26400" y="3877022"/>
            <a:ext cx="3453384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PENDING VALIDATION: Arabic locale policy is not yet signed off. Strings are working placeholders, PENDING LOCALIZATION APPROVAL.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IDENTITY · ARABIC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5783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GRID AND COMPOSITION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3920"/>
            <a:ext cx="4578350" cy="103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spc="7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Balance, held off-centre.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5041900"/>
            <a:ext cx="457835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strong element, one generous field. Align to a few clear edges. Let the empty side do as much work as the full one.</a:t>
            </a:r>
            <a:endParaRPr lang="en-US" sz="1400" dirty="0"/>
          </a:p>
        </p:txBody>
      </p:sp>
      <p:sp>
        <p:nvSpPr>
          <p:cNvPr id="5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73750" y="819150"/>
            <a:ext cx="5499100" cy="50165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pic>
        <p:nvPicPr>
          <p:cNvPr id="6" name="Image 0" descr="Composition schematic: margin, edge, crop and open field. Not a template." title="Composition schematic: margin, edge, crop and open field. N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67400" y="812800"/>
            <a:ext cx="5715000" cy="4826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172200" y="4876800"/>
            <a:ext cx="45783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Margin · edge · crop · open field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EXPRESSION · COMPOSITION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versized ring cropped by the right edge of a dark field, demonstrating scale and tension." title="Oversized ring cropped by the right edge of a dark field, d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45783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COMPOSITION · SCALE AND TENSION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2413000"/>
            <a:ext cx="3383280" cy="2036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spc="14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OVERSIZED GEOMETRY, CROPPED WITH INTENT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812800" y="444500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Let a form leave the frame. A crop creates tension; the text keeps still. A form never intersects a headline or running text.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EXPRESSION · COMPOSITION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1"/>
          <p:cNvSpPr>
            <a:spLocks noGrp="1"/>
          </p:cNvSpPr>
          <p:nvPr>
            <p:ph type="title"/>
          </p:nvPr>
        </p:nvSpPr>
        <p:spPr>
          <a:xfrm>
            <a:off x="457200" y="7315200"/>
            <a:ext cx="8229600" cy="36576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200" dirty="0"/>
              <a:t>Graphic language: four forms</a:t>
            </a:r>
          </a:p>
        </p:txBody>
      </p:sp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GRAPHIC LANGUAGE · FOUR FORMS</a:t>
            </a:r>
            <a:endParaRPr lang="en-US" sz="1200" dirty="0"/>
          </a:p>
        </p:txBody>
      </p:sp>
      <p:sp>
        <p:nvSpPr>
          <p:cNvPr id="3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9150" y="1286470"/>
            <a:ext cx="2514600" cy="45491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pic>
        <p:nvPicPr>
          <p:cNvPr id="4" name="Image 0" descr="Illustrative ring drawing." title="Illustrative ring drawing.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28700" y="1496020"/>
            <a:ext cx="1905000" cy="1905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8700" y="4772720"/>
            <a:ext cx="2158365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17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RING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8700" y="5214640"/>
            <a:ext cx="2158365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Completeness. The frame of the G.</a:t>
            </a:r>
            <a:endParaRPr lang="en-US" sz="1200" dirty="0"/>
          </a:p>
        </p:txBody>
      </p:sp>
      <p:sp>
        <p:nvSpPr>
          <p:cNvPr id="7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98850" y="1286470"/>
            <a:ext cx="2514600" cy="45491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pic>
        <p:nvPicPr>
          <p:cNvPr id="8" name="Image 1" descr="Illustrative arc drawing." title="Illustrative arc drawing.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708400" y="1496020"/>
            <a:ext cx="1905000" cy="1905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708400" y="4772720"/>
            <a:ext cx="2158365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17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ARC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3708400" y="5214640"/>
            <a:ext cx="2158365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opening. Welcome, passage.</a:t>
            </a:r>
            <a:endParaRPr lang="en-US" sz="1200" dirty="0"/>
          </a:p>
        </p:txBody>
      </p:sp>
      <p:sp>
        <p:nvSpPr>
          <p:cNvPr id="11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78550" y="1286470"/>
            <a:ext cx="2514600" cy="45491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pic>
        <p:nvPicPr>
          <p:cNvPr id="12" name="Image 2" descr="Illustrative quarter drawing." title="Illustrative quarter drawing.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388100" y="1496020"/>
            <a:ext cx="1905000" cy="19050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388100" y="4978450"/>
            <a:ext cx="2158365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17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QUARTER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6388100" y="5420370"/>
            <a:ext cx="2158365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Mass. Weight and anchor.</a:t>
            </a:r>
            <a:endParaRPr lang="en-US" sz="1200" dirty="0"/>
          </a:p>
        </p:txBody>
      </p:sp>
      <p:sp>
        <p:nvSpPr>
          <p:cNvPr id="15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58250" y="1286470"/>
            <a:ext cx="2514600" cy="45491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pic>
        <p:nvPicPr>
          <p:cNvPr id="16" name="Image 3" descr="Illustrative four-point spark drawing." title="Illustrative four-point spark drawing.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067800" y="1496020"/>
            <a:ext cx="1905000" cy="19050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067800" y="4772720"/>
            <a:ext cx="2158365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17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SPARK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9067800" y="5214640"/>
            <a:ext cx="2158365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single detail that is noticed.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812800" y="6024959"/>
            <a:ext cx="65405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EXPRESSION · GRAPHIC LANGUAGE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GRAPHIC LANGUAGE · SCALE, CROP, COLOUR, PLACEMENT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Forms are large, quiet and clear of the words.</a:t>
            </a:r>
            <a:endParaRPr lang="en-US" sz="3200" dirty="0"/>
          </a:p>
        </p:txBody>
      </p:sp>
      <p:sp>
        <p:nvSpPr>
          <p:cNvPr id="4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1930350"/>
            <a:ext cx="4826000" cy="391165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5" name="Image 0" descr="Diagram of outline forms placed large in the open field, off the logo clearspace." title="Diagram of outline forms placed large in the open field, off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930350"/>
            <a:ext cx="4826000" cy="3556000"/>
          </a:xfrm>
          <a:prstGeom prst="rect">
            <a:avLst/>
          </a:prstGeom>
        </p:spPr>
      </p:pic>
      <p:sp>
        <p:nvSpPr>
          <p:cNvPr id="6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94400" y="1933525"/>
            <a:ext cx="5384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994400" y="2038300"/>
            <a:ext cx="5546344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Scale. Large enough to be architecture, never small enough to be an icon.</a:t>
            </a:r>
            <a:endParaRPr lang="en-US" sz="1400" dirty="0"/>
          </a:p>
        </p:txBody>
      </p:sp>
      <p:sp>
        <p:nvSpPr>
          <p:cNvPr id="8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94400" y="3118445"/>
            <a:ext cx="5384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5994400" y="3223220"/>
            <a:ext cx="554634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Crop. Let the frame cut the form. Never crop through text.</a:t>
            </a:r>
            <a:endParaRPr lang="en-US" sz="1400" dirty="0"/>
          </a:p>
        </p:txBody>
      </p:sp>
      <p:sp>
        <p:nvSpPr>
          <p:cNvPr id="10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94400" y="4054525"/>
            <a:ext cx="5384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5994400" y="4159300"/>
            <a:ext cx="5546344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Colour. Beige on Ink, Ink or Black on White. One colour per form.</a:t>
            </a:r>
            <a:endParaRPr lang="en-US" sz="1400" dirty="0"/>
          </a:p>
        </p:txBody>
      </p:sp>
      <p:sp>
        <p:nvSpPr>
          <p:cNvPr id="12" name="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94400" y="5239445"/>
            <a:ext cx="5384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94400" y="5344220"/>
            <a:ext cx="5546344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Placement. Keep off the logo's clearspace and never behind or through text. Never repeat a form as a pattern.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12800" y="6024959"/>
            <a:ext cx="65405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EXPRESSION · GRAPHIC LANGUAGE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43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llustrative four-point spark drawing, not the master artwork." title="Illustrative four-point spark drawing, not the master artw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45783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SPARK · SECONDARY SIGNATURE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1905000"/>
            <a:ext cx="4970780" cy="103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spc="14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ONE PER COMPOSITION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812800" y="3302000"/>
            <a:ext cx="444754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single detail that is noticed. Use it as punctuation: a key moment, a confirmation, a point of arrival.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12800" y="4699000"/>
            <a:ext cx="497078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Approved: a cover, an opener, a confirmation state, one packaging detail.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12800" y="5397500"/>
            <a:ext cx="497078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Never: a pattern, a bullet, a repeat, a recolour, a second spark.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EXPRESSION · THE SPARK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5783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FUNCTIONAL GLYPH LANGUAGE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3920"/>
            <a:ext cx="4578350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Functional, not decorative.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2275780"/>
            <a:ext cx="457835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Glyphs help people find, choose and understand. They are geometric, reduced and single-colour: about a 2 px optical stroke on a defined optical box, drawn from the brand's circles and arcs (N15).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5363270"/>
            <a:ext cx="4578350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full set and its technical rules live in Part B. Never use a glyph as ornament.</a:t>
            </a:r>
            <a:endParaRPr lang="en-US" sz="1300" dirty="0"/>
          </a:p>
        </p:txBody>
      </p:sp>
      <p:sp>
        <p:nvSpPr>
          <p:cNvPr id="6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73750" y="819150"/>
            <a:ext cx="1739900" cy="12573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pic>
        <p:nvPicPr>
          <p:cNvPr id="7" name="Image 0" descr="Illustrative direction glyph: arrow." title="Illustrative direction glyph: arrow.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89700" y="1049040"/>
            <a:ext cx="508000" cy="508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356157" y="1633240"/>
            <a:ext cx="7750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Direction</a:t>
            </a:r>
            <a:endParaRPr lang="en-US" sz="1200" dirty="0"/>
          </a:p>
        </p:txBody>
      </p:sp>
      <p:sp>
        <p:nvSpPr>
          <p:cNvPr id="9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53350" y="819150"/>
            <a:ext cx="1739900" cy="12573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Illustrative confirm glyph: check in a circle." title="Illustrative confirm glyph: check in a circle.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369300" y="1049040"/>
            <a:ext cx="508000" cy="5080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75697" y="1633240"/>
            <a:ext cx="6952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</a:t>
            </a:r>
            <a:endParaRPr lang="en-US" sz="1200" dirty="0"/>
          </a:p>
        </p:txBody>
      </p:sp>
      <p:sp>
        <p:nvSpPr>
          <p:cNvPr id="12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632950" y="819150"/>
            <a:ext cx="1739900" cy="12573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pic>
        <p:nvPicPr>
          <p:cNvPr id="13" name="Image 2" descr="Illustrative information glyph: i in a circle." title="Illustrative information glyph: i in a circle.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248900" y="1049040"/>
            <a:ext cx="508000" cy="5080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010100" y="1633240"/>
            <a:ext cx="9855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Information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EXPRESSION · GLYPHS · REFERENCE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background geometry: cropped GEM ring and quarter forms." title="Decorative background geometry: cropped GEM ring and quarter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2616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2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2540000"/>
            <a:ext cx="7848600" cy="1945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b="0" i="0" spc="57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IMAGE &amp; MOTION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812800" y="46177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Light, material and the single gesture that moves.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ndered reference study: pressed ring in warm single-source light. Concept, not production photography." title="Rendered reference study: pressed ring in warm single-source">    </p:cNvPr>
          <p:cNvPicPr>
            <a:picLocks noChangeAspect="1"/>
          </p:cNvPicPr>
          <p:nvPr/>
        </p:nvPicPr>
        <p:blipFill>
          <a:blip r:embed="rId1"/>
          <a:srcRect l="18171" r="18171" t="0" b="0"/>
          <a:stretch/>
        </p:blipFill>
        <p:spPr>
          <a:xfrm>
            <a:off x="0" y="0"/>
            <a:ext cx="6985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3000" y="812800"/>
            <a:ext cx="400278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PHOTOGRAPHY · DIRECTION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7493000" y="1203920"/>
            <a:ext cx="4002786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0" i="0" spc="12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LIGHT, THEN SUBJECT</a:t>
            </a:r>
            <a:endParaRPr lang="en-US" sz="3000" dirty="0"/>
          </a:p>
        </p:txBody>
      </p:sp>
      <p:sp>
        <p:nvSpPr>
          <p:cNvPr id="5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3000" y="4125714"/>
            <a:ext cx="3886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7493000" y="4217789"/>
            <a:ext cx="400278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Editorial and architectural</a:t>
            </a:r>
            <a:endParaRPr lang="en-US" sz="1400" dirty="0"/>
          </a:p>
        </p:txBody>
      </p:sp>
      <p:sp>
        <p:nvSpPr>
          <p:cNvPr id="7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3000" y="4584154"/>
            <a:ext cx="3886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7493000" y="4676229"/>
            <a:ext cx="400278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Single-source light</a:t>
            </a:r>
            <a:endParaRPr lang="en-US" sz="1400" dirty="0"/>
          </a:p>
        </p:txBody>
      </p:sp>
      <p:sp>
        <p:nvSpPr>
          <p:cNvPr id="9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3000" y="5042595"/>
            <a:ext cx="3886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493000" y="5134670"/>
            <a:ext cx="400278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Warm-neutral, controlled contrast</a:t>
            </a:r>
            <a:endParaRPr lang="en-US" sz="1400" dirty="0"/>
          </a:p>
        </p:txBody>
      </p:sp>
      <p:sp>
        <p:nvSpPr>
          <p:cNvPr id="11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3000" y="5501035"/>
            <a:ext cx="3886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493000" y="5593110"/>
            <a:ext cx="400278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Negative space around the subject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493000" y="6055420"/>
            <a:ext cx="2747010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spc="5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 · CONCEPT / NOT PRODUCTION PHOTOGRAPHY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32"/>
          <p:cNvSpPr>
            <a:spLocks noGrp="1"/>
          </p:cNvSpPr>
          <p:nvPr>
            <p:ph type="title"/>
          </p:nvPr>
        </p:nvSpPr>
        <p:spPr>
          <a:xfrm>
            <a:off x="457200" y="7315200"/>
            <a:ext cx="8229600" cy="36576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200" dirty="0"/>
              <a:t>Photography: nine subjects (reference studies)</a:t>
            </a:r>
          </a:p>
        </p:txBody>
      </p:sp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PHOTOGRAPHY · NINE SUBJECTS · REFERENCE STUDIES</a:t>
            </a:r>
            <a:endParaRPr lang="en-US" sz="1200" dirty="0"/>
          </a:p>
        </p:txBody>
      </p:sp>
      <p:sp>
        <p:nvSpPr>
          <p:cNvPr id="3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1203920"/>
            <a:ext cx="3454400" cy="147826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65200" y="1971030"/>
            <a:ext cx="3244088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11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ARCHITECTURE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5200" y="2316460"/>
            <a:ext cx="32440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Line, volume, shadow</a:t>
            </a:r>
            <a:endParaRPr lang="en-US" sz="1200" dirty="0"/>
          </a:p>
        </p:txBody>
      </p:sp>
      <p:sp>
        <p:nvSpPr>
          <p:cNvPr id="6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68800" y="1203920"/>
            <a:ext cx="3454400" cy="147826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7" name="Image 0" descr="Reference study: threshold." title="Reference study: threshold.">    </p:cNvPr>
          <p:cNvPicPr>
            <a:picLocks noChangeAspect="1"/>
          </p:cNvPicPr>
          <p:nvPr/>
        </p:nvPicPr>
        <p:blipFill>
          <a:blip r:embed="rId1"/>
          <a:srcRect l="0" r="0" t="15765" b="15765"/>
          <a:stretch/>
        </p:blipFill>
        <p:spPr>
          <a:xfrm>
            <a:off x="4368800" y="1203920"/>
            <a:ext cx="3454400" cy="14782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368800" y="2270720"/>
            <a:ext cx="1598166" cy="411460"/>
          </a:xfrm>
          <a:prstGeom prst="rect">
            <a:avLst/>
          </a:prstGeom>
          <a:solidFill>
            <a:srgbClr val="12171D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spc="9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THRESHOLDS</a:t>
            </a:r>
            <a:endParaRPr lang="en-US" sz="1600" dirty="0"/>
          </a:p>
        </p:txBody>
      </p:sp>
      <p:sp>
        <p:nvSpPr>
          <p:cNvPr id="9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24800" y="1203920"/>
            <a:ext cx="3454400" cy="147826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10" name="Image 1" descr="Reference study: material close crop." title="Reference study: material close crop.">    </p:cNvPr>
          <p:cNvPicPr>
            <a:picLocks noChangeAspect="1"/>
          </p:cNvPicPr>
          <p:nvPr/>
        </p:nvPicPr>
        <p:blipFill>
          <a:blip r:embed="rId2"/>
          <a:srcRect l="0" r="0" t="15765" b="15765"/>
          <a:stretch/>
        </p:blipFill>
        <p:spPr>
          <a:xfrm>
            <a:off x="7924800" y="1203920"/>
            <a:ext cx="3454400" cy="14782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924800" y="2270720"/>
            <a:ext cx="1353840" cy="411460"/>
          </a:xfrm>
          <a:prstGeom prst="rect">
            <a:avLst/>
          </a:prstGeom>
          <a:solidFill>
            <a:srgbClr val="12171D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spc="9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MATERIALS</a:t>
            </a:r>
            <a:endParaRPr lang="en-US" sz="1600" dirty="0"/>
          </a:p>
        </p:txBody>
      </p:sp>
      <p:sp>
        <p:nvSpPr>
          <p:cNvPr id="12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2783780"/>
            <a:ext cx="3454400" cy="1478310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965200" y="3550940"/>
            <a:ext cx="3244088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11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GUEST RITUAL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965200" y="3896370"/>
            <a:ext cx="32440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Hands, objects, gesture</a:t>
            </a:r>
            <a:endParaRPr lang="en-US" sz="1200" dirty="0"/>
          </a:p>
        </p:txBody>
      </p:sp>
      <p:sp>
        <p:nvSpPr>
          <p:cNvPr id="15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68800" y="2783780"/>
            <a:ext cx="3454400" cy="147831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16" name="Image 2" descr="Reference study: dining table, overhead." title="Reference study: dining table, overhead.">    </p:cNvPr>
          <p:cNvPicPr>
            <a:picLocks noChangeAspect="1"/>
          </p:cNvPicPr>
          <p:nvPr/>
        </p:nvPicPr>
        <p:blipFill>
          <a:blip r:embed="rId3"/>
          <a:srcRect l="0" r="0" t="15764" b="15764"/>
          <a:stretch/>
        </p:blipFill>
        <p:spPr>
          <a:xfrm>
            <a:off x="4368800" y="2783780"/>
            <a:ext cx="3454400" cy="147831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368800" y="3850630"/>
            <a:ext cx="1036588" cy="411460"/>
          </a:xfrm>
          <a:prstGeom prst="rect">
            <a:avLst/>
          </a:prstGeom>
          <a:solidFill>
            <a:srgbClr val="12171D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spc="9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DINING</a:t>
            </a:r>
            <a:endParaRPr lang="en-US" sz="1600" dirty="0"/>
          </a:p>
        </p:txBody>
      </p:sp>
      <p:sp>
        <p:nvSpPr>
          <p:cNvPr id="18" name="Shap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24800" y="2783780"/>
            <a:ext cx="3454400" cy="147831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19" name="Text 14"/>
          <p:cNvSpPr/>
          <p:nvPr/>
        </p:nvSpPr>
        <p:spPr>
          <a:xfrm>
            <a:off x="8077200" y="3550940"/>
            <a:ext cx="3244088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11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AMENITIES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8077200" y="3896370"/>
            <a:ext cx="32440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Objects, composed</a:t>
            </a:r>
            <a:endParaRPr lang="en-US" sz="1200" dirty="0"/>
          </a:p>
        </p:txBody>
      </p:sp>
      <p:sp>
        <p:nvSpPr>
          <p:cNvPr id="21" name="Shape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4363690"/>
            <a:ext cx="3454400" cy="147831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22" name="Image 3" descr="Reference study: room detail, window light." title="Reference study: room detail, window light.">    </p:cNvPr>
          <p:cNvPicPr>
            <a:picLocks noChangeAspect="1"/>
          </p:cNvPicPr>
          <p:nvPr/>
        </p:nvPicPr>
        <p:blipFill>
          <a:blip r:embed="rId4"/>
          <a:srcRect l="0" r="0" t="15764" b="15764"/>
          <a:stretch/>
        </p:blipFill>
        <p:spPr>
          <a:xfrm>
            <a:off x="812800" y="4363690"/>
            <a:ext cx="3454400" cy="147831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12800" y="5430540"/>
            <a:ext cx="1770013" cy="411460"/>
          </a:xfrm>
          <a:prstGeom prst="rect">
            <a:avLst/>
          </a:prstGeom>
          <a:solidFill>
            <a:srgbClr val="12171D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spc="9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ROOM DETAILS</a:t>
            </a:r>
            <a:endParaRPr lang="en-US" sz="1600" dirty="0"/>
          </a:p>
        </p:txBody>
      </p:sp>
      <p:sp>
        <p:nvSpPr>
          <p:cNvPr id="24" name="Shape 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68800" y="4363690"/>
            <a:ext cx="3454400" cy="1478310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25" name="Text 19"/>
          <p:cNvSpPr/>
          <p:nvPr/>
        </p:nvSpPr>
        <p:spPr>
          <a:xfrm>
            <a:off x="4521200" y="5130850"/>
            <a:ext cx="3244088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11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SERVICE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4521200" y="5476280"/>
            <a:ext cx="32440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Care, unannounced</a:t>
            </a:r>
            <a:endParaRPr lang="en-US" sz="1200" dirty="0"/>
          </a:p>
        </p:txBody>
      </p:sp>
      <p:sp>
        <p:nvSpPr>
          <p:cNvPr id="27" name="Shape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24800" y="4363690"/>
            <a:ext cx="3454400" cy="147831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28" name="Text 22"/>
          <p:cNvSpPr/>
          <p:nvPr/>
        </p:nvSpPr>
        <p:spPr>
          <a:xfrm>
            <a:off x="8077200" y="5130850"/>
            <a:ext cx="3244088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11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HUMAN PRESENCE</a:t>
            </a:r>
            <a:endParaRPr lang="en-US" sz="1800" dirty="0"/>
          </a:p>
        </p:txBody>
      </p:sp>
      <p:sp>
        <p:nvSpPr>
          <p:cNvPr id="29" name="Text 23"/>
          <p:cNvSpPr/>
          <p:nvPr/>
        </p:nvSpPr>
        <p:spPr>
          <a:xfrm>
            <a:off x="8077200" y="5476280"/>
            <a:ext cx="32440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Candid, partial, calm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812800" y="5916168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 · CONCEPT / NOT PRODUCTION PHOTOGRAPHY · PLAIN TILES AWAIT COMMISSIONED IMAGES. REQUIRED CATEGORIES (O11–O16): ARCHITECTURE, MATERIALS, THRESHOLDS, AMENITIES; DINING AND SERVICE WHERE RELEVANT. GUEST RITUAL, ROOM DETAILS AND HUMAN PRESENCE ARE SUPPLEMENTARY SUBJECTS.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9"/>
          <p:cNvSpPr>
            <a:spLocks noGrp="1"/>
          </p:cNvSpPr>
          <p:nvPr>
            <p:ph type="title"/>
          </p:nvPr>
        </p:nvSpPr>
        <p:spPr>
          <a:xfrm>
            <a:off x="457200" y="7315200"/>
            <a:ext cx="8229600" cy="36576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200" dirty="0"/>
              <a:t>Photography: do and don't (reference)</a:t>
            </a:r>
          </a:p>
        </p:txBody>
      </p:sp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PHOTOGRAPHY · DO AND DON'T · REFERENCE</a:t>
            </a:r>
            <a:endParaRPr lang="en-US" sz="1200" dirty="0"/>
          </a:p>
        </p:txBody>
      </p:sp>
      <p:sp>
        <p:nvSpPr>
          <p:cNvPr id="3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1203920"/>
            <a:ext cx="2527300" cy="3725069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4" name="Image 0" descr="Do: one source of light, quiet tones, room to breathe." title="Do: one source of light, quiet tones, room to breathe.">    </p:cNvPr>
          <p:cNvPicPr>
            <a:picLocks noChangeAspect="1"/>
          </p:cNvPicPr>
          <p:nvPr/>
        </p:nvPicPr>
        <p:blipFill>
          <a:blip r:embed="rId1"/>
          <a:srcRect l="28798" r="28798" t="0" b="0"/>
          <a:stretch/>
        </p:blipFill>
        <p:spPr>
          <a:xfrm>
            <a:off x="812800" y="1203920"/>
            <a:ext cx="2527300" cy="372506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5005189"/>
            <a:ext cx="2603119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· One source of light. Quiet tones. Room to breathe.</a:t>
            </a:r>
            <a:endParaRPr lang="en-US" sz="1300" dirty="0"/>
          </a:p>
        </p:txBody>
      </p:sp>
      <p:sp>
        <p:nvSpPr>
          <p:cNvPr id="6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92500" y="1203920"/>
            <a:ext cx="2527300" cy="3725069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7" name="Image 1" descr="Don't: oversaturated with artificial glow." title="Don't: oversaturated with artificial glow.">    </p:cNvPr>
          <p:cNvPicPr>
            <a:picLocks noChangeAspect="1"/>
          </p:cNvPicPr>
          <p:nvPr/>
        </p:nvPicPr>
        <p:blipFill>
          <a:blip r:embed="rId2"/>
          <a:srcRect l="28798" r="28798" t="0" b="0"/>
          <a:stretch/>
        </p:blipFill>
        <p:spPr>
          <a:xfrm>
            <a:off x="3492500" y="1203920"/>
            <a:ext cx="2527300" cy="372506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92500" y="5005189"/>
            <a:ext cx="2603119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DON'T · Oversaturate or add artificial glow.</a:t>
            </a:r>
            <a:endParaRPr lang="en-US" sz="1300" dirty="0"/>
          </a:p>
        </p:txBody>
      </p:sp>
      <p:sp>
        <p:nvSpPr>
          <p:cNvPr id="9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72200" y="1203920"/>
            <a:ext cx="2527300" cy="3725069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10" name="Image 2" descr="Don't: text placed over the subject." title="Don't: text placed over the subject.">    </p:cNvPr>
          <p:cNvPicPr>
            <a:picLocks noChangeAspect="1"/>
          </p:cNvPicPr>
          <p:nvPr/>
        </p:nvPicPr>
        <p:blipFill>
          <a:blip r:embed="rId3"/>
          <a:srcRect l="28798" r="28798" t="0" b="0"/>
          <a:stretch/>
        </p:blipFill>
        <p:spPr>
          <a:xfrm>
            <a:off x="6172200" y="1203920"/>
            <a:ext cx="2527300" cy="372506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324600" y="1584920"/>
            <a:ext cx="3352800" cy="332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WELCOME TO LUXURY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6172200" y="5005189"/>
            <a:ext cx="2603119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DON'T · Place text over the subject or a busy field.</a:t>
            </a:r>
            <a:endParaRPr lang="en-US" sz="1300" dirty="0"/>
          </a:p>
        </p:txBody>
      </p:sp>
      <p:sp>
        <p:nvSpPr>
          <p:cNvPr id="13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51900" y="1203920"/>
            <a:ext cx="2527300" cy="3725069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14" name="Image 3" descr="Don't: trendy filter and off-palette tint." title="Don't: trendy filter and off-palette tint.">    </p:cNvPr>
          <p:cNvPicPr>
            <a:picLocks noChangeAspect="1"/>
          </p:cNvPicPr>
          <p:nvPr/>
        </p:nvPicPr>
        <p:blipFill>
          <a:blip r:embed="rId4"/>
          <a:srcRect l="28798" r="28798" t="0" b="0"/>
          <a:stretch/>
        </p:blipFill>
        <p:spPr>
          <a:xfrm>
            <a:off x="8851900" y="1203920"/>
            <a:ext cx="2527300" cy="372506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851900" y="5005189"/>
            <a:ext cx="2603119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DON'T · Apply trendy filters or off-palette tints.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812800" y="56286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Also avoid generic hotel stock, posed smiling groups and generic luxury clichés.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 · NOT PRODUCTION PHOTOGRAPHY · EDITED AS EXAMPLES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49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CROP AND IMAGE COMPOSITION · REFERENCE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0" i="0" spc="11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FIVE RATIOS. ONE SUBJECT, OFF-CENTRE.</a:t>
            </a:r>
            <a:endParaRPr lang="en-US" sz="2800" dirty="0"/>
          </a:p>
        </p:txBody>
      </p:sp>
      <p:pic>
        <p:nvPicPr>
          <p:cNvPr id="4" name="Image 0" descr="Threshold study cropped 3:2." title="Threshold study cropped 3:2.">    </p:cNvPr>
          <p:cNvPicPr>
            <a:picLocks noChangeAspect="1"/>
          </p:cNvPicPr>
          <p:nvPr/>
        </p:nvPicPr>
        <p:blipFill>
          <a:blip r:embed="rId1"/>
          <a:srcRect l="3125" r="3125" t="0" b="0"/>
          <a:stretch/>
        </p:blipFill>
        <p:spPr>
          <a:xfrm>
            <a:off x="812800" y="3725614"/>
            <a:ext cx="2095500" cy="1397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5186114"/>
            <a:ext cx="215836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3:2</a:t>
            </a:r>
            <a:endParaRPr lang="en-US" sz="1200" dirty="0"/>
          </a:p>
        </p:txBody>
      </p:sp>
      <p:pic>
        <p:nvPicPr>
          <p:cNvPr id="6" name="Image 1" descr="Threshold study cropped 4:5." title="Threshold study cropped 4:5.">    </p:cNvPr>
          <p:cNvPicPr>
            <a:picLocks noChangeAspect="1"/>
          </p:cNvPicPr>
          <p:nvPr/>
        </p:nvPicPr>
        <p:blipFill>
          <a:blip r:embed="rId2"/>
          <a:srcRect l="25000" r="25000" t="0" b="0"/>
          <a:stretch/>
        </p:blipFill>
        <p:spPr>
          <a:xfrm>
            <a:off x="3060700" y="3090614"/>
            <a:ext cx="1625600" cy="2032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060700" y="5186114"/>
            <a:ext cx="1676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4:5</a:t>
            </a:r>
            <a:endParaRPr lang="en-US" sz="1200" dirty="0"/>
          </a:p>
        </p:txBody>
      </p:sp>
      <p:pic>
        <p:nvPicPr>
          <p:cNvPr id="8" name="Image 2" descr="Threshold study cropped 16:9." title="Threshold study cropped 16:9.">    </p:cNvPr>
          <p:cNvPicPr>
            <a:picLocks noChangeAspect="1"/>
          </p:cNvPicPr>
          <p:nvPr/>
        </p:nvPicPr>
        <p:blipFill>
          <a:blip r:embed="rId3"/>
          <a:srcRect l="0" r="0" t="5000" b="5000"/>
          <a:stretch/>
        </p:blipFill>
        <p:spPr>
          <a:xfrm>
            <a:off x="4838700" y="3408114"/>
            <a:ext cx="3048000" cy="17145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838700" y="5186114"/>
            <a:ext cx="31394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16:9</a:t>
            </a:r>
            <a:endParaRPr lang="en-US" sz="1200" dirty="0"/>
          </a:p>
        </p:txBody>
      </p:sp>
      <p:pic>
        <p:nvPicPr>
          <p:cNvPr id="10" name="Image 3" descr="Threshold study cropped 1:1." title="Threshold study cropped 1:1.">    </p:cNvPr>
          <p:cNvPicPr>
            <a:picLocks noChangeAspect="1"/>
          </p:cNvPicPr>
          <p:nvPr/>
        </p:nvPicPr>
        <p:blipFill>
          <a:blip r:embed="rId4"/>
          <a:srcRect l="18750" r="18750" t="0" b="0"/>
          <a:stretch/>
        </p:blipFill>
        <p:spPr>
          <a:xfrm>
            <a:off x="8039100" y="3408114"/>
            <a:ext cx="1714500" cy="17145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039100" y="5186114"/>
            <a:ext cx="17659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1:1</a:t>
            </a:r>
            <a:endParaRPr lang="en-US" sz="1200" dirty="0"/>
          </a:p>
        </p:txBody>
      </p:sp>
      <p:pic>
        <p:nvPicPr>
          <p:cNvPr id="12" name="Image 4" descr="Threshold study cropped 9:16." title="Threshold study cropped 9:16.">    </p:cNvPr>
          <p:cNvPicPr>
            <a:picLocks noChangeAspect="1"/>
          </p:cNvPicPr>
          <p:nvPr/>
        </p:nvPicPr>
        <p:blipFill>
          <a:blip r:embed="rId5"/>
          <a:srcRect l="32422" r="32422" t="0" b="0"/>
          <a:stretch/>
        </p:blipFill>
        <p:spPr>
          <a:xfrm>
            <a:off x="9906000" y="3090614"/>
            <a:ext cx="1143000" cy="20320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906000" y="5186114"/>
            <a:ext cx="1193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9:16</a:t>
            </a:r>
            <a:endParaRPr lang="en-US" sz="1200" dirty="0"/>
          </a:p>
        </p:txBody>
      </p:sp>
      <p:sp>
        <p:nvSpPr>
          <p:cNvPr id="14" name="Text 7"/>
          <p:cNvSpPr/>
          <p:nvPr/>
        </p:nvSpPr>
        <p:spPr>
          <a:xfrm>
            <a:off x="812800" y="5602635"/>
            <a:ext cx="10883392" cy="2647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Place the subject on a third and leave the opposite field empty. Keep text in the quiet area, away from the subject.</a:t>
            </a:r>
            <a:endParaRPr lang="en-US" sz="1300" dirty="0"/>
          </a:p>
        </p:txBody>
      </p:sp>
      <p:sp>
        <p:nvSpPr>
          <p:cNvPr id="15" name="Text 8"/>
          <p:cNvSpPr/>
          <p:nvPr/>
        </p:nvSpPr>
        <p:spPr>
          <a:xfrm>
            <a:off x="812800" y="6238280"/>
            <a:ext cx="93268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 · CONCEPT / NOT PRODUCTION PHOTOGRAPHY · RATIOS CONDITIONAL (W07)</a:t>
            </a:r>
            <a:endParaRPr lang="en-US" sz="1200" dirty="0"/>
          </a:p>
        </p:txBody>
      </p:sp>
      <p:sp>
        <p:nvSpPr>
          <p:cNvPr id="16" name="Text 9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MOTION · THE SIGNATURE SEQUENCE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0" i="0" spc="12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THE RING DRAWS. THE SPARK FLASHES. THE QUARTER FILLS.</a:t>
            </a:r>
            <a:endParaRPr lang="en-US" sz="3000" dirty="0"/>
          </a:p>
        </p:txBody>
      </p:sp>
      <p:sp>
        <p:nvSpPr>
          <p:cNvPr id="4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9150" y="2200870"/>
            <a:ext cx="3424734" cy="3166814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pic>
        <p:nvPicPr>
          <p:cNvPr id="5" name="Image 0" descr="Storyboard frame 1: the ring draws itself." title="Storyboard frame 1: the ring draws itself.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03300" y="2385020"/>
            <a:ext cx="1651000" cy="1651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3300" y="4612084"/>
            <a:ext cx="3148127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11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01 · DRAW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03300" y="4970214"/>
            <a:ext cx="314812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ring traces itself.</a:t>
            </a:r>
            <a:endParaRPr lang="en-US" sz="1200" dirty="0"/>
          </a:p>
        </p:txBody>
      </p:sp>
      <p:sp>
        <p:nvSpPr>
          <p:cNvPr id="8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83584" y="2200870"/>
            <a:ext cx="3424783" cy="3166814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pic>
        <p:nvPicPr>
          <p:cNvPr id="9" name="Image 1" descr="Storyboard frame 2: the spark appears once." title="Storyboard frame 2: the spark appears once.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67734" y="2385020"/>
            <a:ext cx="1651000" cy="1651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67734" y="4612084"/>
            <a:ext cx="3148178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11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02 · FLASH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567734" y="4970214"/>
            <a:ext cx="314817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spark appears once.</a:t>
            </a:r>
            <a:endParaRPr lang="en-US" sz="1200" dirty="0"/>
          </a:p>
        </p:txBody>
      </p:sp>
      <p:sp>
        <p:nvSpPr>
          <p:cNvPr id="12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48067" y="2200870"/>
            <a:ext cx="3424783" cy="3166814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pic>
        <p:nvPicPr>
          <p:cNvPr id="13" name="Image 2" descr="Storyboard frame 3: the quarter fills." title="Storyboard frame 3: the quarter fills.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32217" y="2385020"/>
            <a:ext cx="1651000" cy="16510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32217" y="4612084"/>
            <a:ext cx="3148178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11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03 · FILL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8132217" y="4970214"/>
            <a:ext cx="314817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quarter settles the mark.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812800" y="5401467"/>
            <a:ext cx="1088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About 1.5 seconds, ease-out, once. Reduced motion: show the final frame at rest, no animation. Reveal timings CONDITIONAL; motion masters PENDING VALIDATION (VAL-14). Motion tokens: Part B.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IMAGE &amp; MOTION · MOTION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51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background geometry: cropped GEM ring and quarter forms." title="Decorative background geometry: cropped GEM ring and quarter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2616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2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2540000"/>
            <a:ext cx="7848600" cy="98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b="0" i="0" spc="57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EXPERIENCE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812800" y="3810000"/>
            <a:ext cx="588645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brand universe, from the screen to the door to the table.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52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1"/>
          <p:cNvSpPr>
            <a:spLocks noGrp="1"/>
          </p:cNvSpPr>
          <p:nvPr>
            <p:ph type="title"/>
          </p:nvPr>
        </p:nvSpPr>
        <p:spPr>
          <a:xfrm>
            <a:off x="457200" y="7315200"/>
            <a:ext cx="8229600" cy="36576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200" dirty="0"/>
              <a:t>Digital expression: homepage and booking (concept)</a:t>
            </a:r>
          </a:p>
        </p:txBody>
      </p:sp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EXPRESSION · HOMEPAGE AND BOOKING · CONCEPT / NOT PRODUCTION ARTWORK</a:t>
            </a:r>
            <a:endParaRPr lang="en-US" sz="1200" dirty="0"/>
          </a:p>
        </p:txBody>
      </p:sp>
      <p:sp>
        <p:nvSpPr>
          <p:cNvPr id="3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1203920"/>
            <a:ext cx="6756400" cy="463808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4" name="Image 0" descr="GEM signature in the homepage concept header." title="GEM signature in the homepage concept header.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355" r="-355" t="0" b="0"/>
          <a:stretch/>
        </p:blipFill>
        <p:spPr>
          <a:xfrm>
            <a:off x="1066800" y="1407120"/>
            <a:ext cx="889000" cy="279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70120" y="1407120"/>
            <a:ext cx="25450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STAY · DINE · CONTACT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66800" y="4808240"/>
            <a:ext cx="643585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spc="1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QUIET ARRIVAL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066800" y="5356870"/>
            <a:ext cx="643585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[PENDING] headline and imagery</a:t>
            </a:r>
            <a:endParaRPr lang="en-US" sz="1300" dirty="0"/>
          </a:p>
        </p:txBody>
      </p:sp>
      <p:pic>
        <p:nvPicPr>
          <p:cNvPr id="8" name="Image 1" descr="Homepage concept: cropped ring behind a quiet arrival headline. Concept, not production artwork." title="Homepage concept: cropped ring behind a quiet arrival headli">    </p:cNvPr>
          <p:cNvPicPr>
            <a:picLocks noChangeAspect="1"/>
          </p:cNvPicPr>
          <p:nvPr/>
        </p:nvPicPr>
        <p:blipFill>
          <a:blip r:embed="rId2"/>
          <a:srcRect l="0" r="0" t="-3619" b="-3619"/>
          <a:stretch/>
        </p:blipFill>
        <p:spPr>
          <a:xfrm>
            <a:off x="812800" y="1203920"/>
            <a:ext cx="6756400" cy="4638080"/>
          </a:xfrm>
          <a:prstGeom prst="rect">
            <a:avLst/>
          </a:prstGeom>
        </p:spPr>
      </p:pic>
      <p:sp>
        <p:nvSpPr>
          <p:cNvPr id="9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29550" y="1210270"/>
            <a:ext cx="3543300" cy="462538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0" name="Text 6"/>
          <p:cNvSpPr/>
          <p:nvPr/>
        </p:nvSpPr>
        <p:spPr>
          <a:xfrm>
            <a:off x="8039100" y="1419820"/>
            <a:ext cx="321792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BOOKING</a:t>
            </a:r>
            <a:endParaRPr lang="en-US" sz="1200" dirty="0"/>
          </a:p>
        </p:txBody>
      </p:sp>
      <p:sp>
        <p:nvSpPr>
          <p:cNvPr id="11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39100" y="2292201"/>
            <a:ext cx="31242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8039100" y="1760141"/>
            <a:ext cx="321792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8039100" y="1973461"/>
            <a:ext cx="32179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[PENDING]</a:t>
            </a:r>
            <a:endParaRPr lang="en-US" sz="1400" dirty="0"/>
          </a:p>
        </p:txBody>
      </p:sp>
      <p:sp>
        <p:nvSpPr>
          <p:cNvPr id="14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39100" y="2957612"/>
            <a:ext cx="31242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8039100" y="2425551"/>
            <a:ext cx="321792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Guests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8039100" y="2638871"/>
            <a:ext cx="32179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[PENDING]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8039100" y="3090962"/>
            <a:ext cx="3124200" cy="459730"/>
          </a:xfrm>
          <a:prstGeom prst="rect">
            <a:avLst/>
          </a:prstGeom>
          <a:solidFill>
            <a:srgbClr val="12171D"/>
          </a:solidFill>
          <a:ln/>
        </p:spPr>
        <p:txBody>
          <a:bodyPr wrap="square" lIns="152400" tIns="114300" rIns="67818" bIns="8890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spc="8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AVAILABILITY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8039100" y="3677692"/>
            <a:ext cx="321792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Near-square edges (control radius per Part B), hairline fields, one clear action.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EXPERIENCE · DIGITAL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53</a:t>
            </a:r>
            <a:endParaRPr lang="en-US" sz="1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25"/>
          <p:cNvSpPr>
            <a:spLocks noGrp="1"/>
          </p:cNvSpPr>
          <p:nvPr>
            <p:ph type="title"/>
          </p:nvPr>
        </p:nvSpPr>
        <p:spPr>
          <a:xfrm>
            <a:off x="457200" y="7315200"/>
            <a:ext cx="8229600" cy="36576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200" dirty="0"/>
              <a:t>Digital expression: mobile, concierge, B2B (concept)</a:t>
            </a:r>
          </a:p>
        </p:txBody>
      </p:sp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EXPRESSION · MOBILE, CONCIERGE, B2B · CONCEPT / NOT PRODUCTION ARTWORK</a:t>
            </a:r>
            <a:endParaRPr lang="en-US" sz="1200" dirty="0"/>
          </a:p>
        </p:txBody>
      </p:sp>
      <p:sp>
        <p:nvSpPr>
          <p:cNvPr id="3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1203920"/>
            <a:ext cx="2413000" cy="4638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90600" y="1381720"/>
            <a:ext cx="211912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 · ROOMS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90600" y="1683941"/>
            <a:ext cx="223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Choose your room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96950" y="2058591"/>
            <a:ext cx="2044700" cy="44703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107950" tIns="107950" rIns="53086" bIns="8255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Room type [PENDING]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96950" y="2607221"/>
            <a:ext cx="2044700" cy="44703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 wrap="square" lIns="107950" tIns="107950" rIns="53086" bIns="8255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Room type [PENDING]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90600" y="5247680"/>
            <a:ext cx="2057400" cy="416520"/>
          </a:xfrm>
          <a:prstGeom prst="rect">
            <a:avLst/>
          </a:prstGeom>
          <a:solidFill>
            <a:srgbClr val="12171D"/>
          </a:solidFill>
          <a:ln/>
        </p:spPr>
        <p:txBody>
          <a:bodyPr wrap="square" lIns="101600" tIns="101600" rIns="45974" bIns="7620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7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</a:t>
            </a:r>
            <a:endParaRPr lang="en-US" sz="1200" dirty="0"/>
          </a:p>
        </p:txBody>
      </p:sp>
      <p:sp>
        <p:nvSpPr>
          <p:cNvPr id="9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29000" y="1203920"/>
            <a:ext cx="4445000" cy="4638080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657600" y="1432520"/>
            <a:ext cx="41074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CONCIERGE · RESERVATION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0" y="1747441"/>
            <a:ext cx="3175000" cy="45144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39700" tIns="114300" rIns="52832" bIns="8890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may we help with your stay?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78400" y="2300486"/>
            <a:ext cx="2667000" cy="451445"/>
          </a:xfrm>
          <a:prstGeom prst="rect">
            <a:avLst/>
          </a:prstGeom>
          <a:solidFill>
            <a:srgbClr val="12171D"/>
          </a:solidFill>
          <a:ln/>
        </p:spPr>
        <p:txBody>
          <a:bodyPr wrap="square" lIns="139700" tIns="114300" rIns="68072" bIns="8890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[GUEST MESSAGE]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0" y="5041950"/>
            <a:ext cx="41074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0" y="5293370"/>
            <a:ext cx="4107434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3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Your reservation is set.</a:t>
            </a:r>
            <a:endParaRPr lang="en-US" sz="1800" dirty="0"/>
          </a:p>
        </p:txBody>
      </p:sp>
      <p:sp>
        <p:nvSpPr>
          <p:cNvPr id="15" name="Shap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77200" y="1203920"/>
            <a:ext cx="3302000" cy="4638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305800" y="1432520"/>
            <a:ext cx="293014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B2B ENQUIRY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05800" y="1747441"/>
            <a:ext cx="2930144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GEM™ — Amenities &amp; Packaging</a:t>
            </a:r>
            <a:endParaRPr lang="en-US" sz="2000" dirty="0"/>
          </a:p>
        </p:txBody>
      </p:sp>
      <p:sp>
        <p:nvSpPr>
          <p:cNvPr id="18" name="Shape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05800" y="2678311"/>
            <a:ext cx="28448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305800" y="2407841"/>
            <a:ext cx="293014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Property name</a:t>
            </a:r>
            <a:endParaRPr lang="en-US" sz="1200" dirty="0"/>
          </a:p>
        </p:txBody>
      </p:sp>
      <p:sp>
        <p:nvSpPr>
          <p:cNvPr id="20" name="Shape 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05800" y="3056731"/>
            <a:ext cx="28448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305800" y="2786261"/>
            <a:ext cx="293014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Programme interest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05800" y="5196880"/>
            <a:ext cx="2844800" cy="416520"/>
          </a:xfrm>
          <a:prstGeom prst="rect">
            <a:avLst/>
          </a:prstGeom>
          <a:solidFill>
            <a:srgbClr val="12171D"/>
          </a:solidFill>
          <a:ln/>
        </p:spPr>
        <p:txBody>
          <a:bodyPr wrap="square" lIns="101600" tIns="101600" rIns="22352" bIns="7620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7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 ENQUIRY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EXPERIENCE · DIGITAL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54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GUEST EXPERIENCE · THE JOURNEY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785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1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SIX MOMENTS. ONE BRAND.</a:t>
            </a:r>
            <a:endParaRPr lang="en-US" sz="3200" dirty="0"/>
          </a:p>
        </p:txBody>
      </p:sp>
      <p:pic>
        <p:nvPicPr>
          <p:cNvPr id="4" name="Image 0" descr="Guest journey timeline with six moments." title="Guest journey timeline with six moments.">    </p:cNvPr>
          <p:cNvPicPr>
            <a:picLocks noChangeAspect="1"/>
          </p:cNvPicPr>
          <p:nvPr/>
        </p:nvPicPr>
        <p:blipFill>
          <a:blip r:embed="rId1"/>
          <a:srcRect l="0" r="0" t="-236" b="-236"/>
          <a:stretch/>
        </p:blipFill>
        <p:spPr>
          <a:xfrm>
            <a:off x="812800" y="3036292"/>
            <a:ext cx="10566400" cy="254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3417292"/>
            <a:ext cx="17272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1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ARRIVAL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12800" y="3765252"/>
            <a:ext cx="17272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card, welcome, digital check-in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590800" y="3417292"/>
            <a:ext cx="17272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1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STAY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590800" y="3765252"/>
            <a:ext cx="17272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Room card, door hanger, amenities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368800" y="3417292"/>
            <a:ext cx="17272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1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DINING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368800" y="3765252"/>
            <a:ext cx="17272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Menu, table, reservation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146800" y="3417292"/>
            <a:ext cx="17272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1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SERVICE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146800" y="3765252"/>
            <a:ext cx="17272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Requests, recovery, concierge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924800" y="3417292"/>
            <a:ext cx="17272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1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DEPARTURE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924800" y="3765252"/>
            <a:ext cx="1727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Folio, farewell note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702800" y="3417292"/>
            <a:ext cx="17272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1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RETURN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702800" y="3765252"/>
            <a:ext cx="1727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Follow-up, invitation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12800" y="5602635"/>
            <a:ext cx="10883392" cy="2647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touchpoint, physical or digital, uses the same colour, type, geometry and voice.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EXPERIENCE · JOURNEY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55</a:t>
            </a:r>
            <a:endParaRPr lang="en-US" sz="1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8"/>
          <p:cNvSpPr>
            <a:spLocks noGrp="1"/>
          </p:cNvSpPr>
          <p:nvPr>
            <p:ph type="title"/>
          </p:nvPr>
        </p:nvSpPr>
        <p:spPr>
          <a:xfrm>
            <a:off x="457200" y="7315200"/>
            <a:ext cx="8229600" cy="36576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200" dirty="0"/>
              <a:t>Arrival: key card, sleeve, welcome, digital (concept)</a:t>
            </a:r>
          </a:p>
        </p:txBody>
      </p:sp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ARRIVAL · KEY CARD, SLEEVE, WELCOME, DIGITAL · CONCEPT / NOT PRODUCTION ARTWORK</a:t>
            </a:r>
            <a:endParaRPr lang="en-US" sz="1200" dirty="0"/>
          </a:p>
        </p:txBody>
      </p:sp>
      <p:sp>
        <p:nvSpPr>
          <p:cNvPr id="3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1203920"/>
            <a:ext cx="3302000" cy="209550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4" name="Image 0" descr="Key card concept with a cropped ring. Concept, not production artwork." title="Key card concept with a cropped ring. Concept, not producti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203920"/>
            <a:ext cx="3302000" cy="2095500"/>
          </a:xfrm>
          <a:prstGeom prst="rect">
            <a:avLst/>
          </a:prstGeom>
        </p:spPr>
      </p:pic>
      <p:pic>
        <p:nvPicPr>
          <p:cNvPr id="5" name="Image 1" descr="GEM signature on the key card concept." title="GEM signature on the key card concept.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642" r="-642" t="0" b="0"/>
          <a:stretch/>
        </p:blipFill>
        <p:spPr>
          <a:xfrm>
            <a:off x="1016000" y="1407120"/>
            <a:ext cx="1016000" cy="3175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16000" y="2908300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CARD</a:t>
            </a:r>
            <a:endParaRPr lang="en-US" sz="1200" dirty="0"/>
          </a:p>
        </p:txBody>
      </p:sp>
      <p:sp>
        <p:nvSpPr>
          <p:cNvPr id="7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8000" y="2475210"/>
            <a:ext cx="2540000" cy="1270000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8" name="Text 4"/>
          <p:cNvSpPr/>
          <p:nvPr/>
        </p:nvSpPr>
        <p:spPr>
          <a:xfrm>
            <a:off x="4470400" y="3166170"/>
            <a:ext cx="23022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SLEEVE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470400" y="3379490"/>
            <a:ext cx="23022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Room number [PENDING]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324350" y="3878560"/>
            <a:ext cx="25273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2171D"/>
            </a:solidFill>
            <a:prstDash val="solid"/>
          </a:ln>
        </p:spPr>
        <p:txBody>
          <a:bodyPr wrap="square" lIns="158750" tIns="6350" rIns="92456" bIns="6350" rtlCol="0" anchor="ctr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RESERVATION</a:t>
            </a:r>
            <a:endParaRPr lang="en-US" sz="1200" dirty="0"/>
          </a:p>
        </p:txBody>
      </p:sp>
      <p:sp>
        <p:nvSpPr>
          <p:cNvPr id="11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67550" y="2195810"/>
            <a:ext cx="4305300" cy="26543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7302500" y="2430760"/>
            <a:ext cx="39504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WELCOME CARD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302500" y="3091855"/>
            <a:ext cx="3950462" cy="332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spc="4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Welcome.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7302500" y="3475385"/>
            <a:ext cx="3950462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[PENDING] a short, warm line of welcome in the GEM voice.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302500" y="4401840"/>
            <a:ext cx="39504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ARRIVAL ▸ [PENDING]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EXPERIENCE · ARRIVAL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56</a:t>
            </a:r>
            <a:endParaRPr lang="en-US" sz="1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ndered reference study: window light on a wall. Concept, not production photography." title="Rendered reference study: window light on a wall. Concept, n">    </p:cNvPr>
          <p:cNvPicPr>
            <a:picLocks noChangeAspect="1"/>
          </p:cNvPicPr>
          <p:nvPr/>
        </p:nvPicPr>
        <p:blipFill>
          <a:blip r:embed="rId1"/>
          <a:srcRect l="23958" r="23958" t="0" b="0"/>
          <a:stretch/>
        </p:blipFill>
        <p:spPr>
          <a:xfrm>
            <a:off x="0" y="0"/>
            <a:ext cx="5715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72200" y="812800"/>
            <a:ext cx="53632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ROOM · CONCEPT / NOT PRODUCTION ARTWORK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6172200" y="1178520"/>
            <a:ext cx="536321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0" i="0" spc="11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THE ROOM SPEAKS SOFTLY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172200" y="2719040"/>
            <a:ext cx="2540000" cy="1270000"/>
          </a:xfrm>
          <a:prstGeom prst="rect">
            <a:avLst/>
          </a:prstGeom>
          <a:solidFill>
            <a:srgbClr val="BCACA7"/>
          </a:solidFill>
          <a:ln/>
        </p:spPr>
        <p:txBody>
          <a:bodyPr wrap="square" lIns="127000" tIns="127000" rIns="58420" bIns="127000" rtlCol="0" anchor="b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DOOR HANGER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820150" y="2725390"/>
            <a:ext cx="2552700" cy="125730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 wrap="square" lIns="133350" tIns="133350" rIns="64770" bIns="133350" rtlCol="0" anchor="b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WI-FI CARD</a:t>
            </a:r>
            <a:endParaRPr lang="en-US" sz="1200" dirty="0"/>
          </a:p>
        </p:txBody>
      </p:sp>
      <p:sp>
        <p:nvSpPr>
          <p:cNvPr id="7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72200" y="5141615"/>
            <a:ext cx="5207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6172200" y="5220990"/>
            <a:ext cx="536321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Stationery and guest notes in Ink and Beige</a:t>
            </a:r>
            <a:endParaRPr lang="en-US" sz="1300" dirty="0"/>
          </a:p>
        </p:txBody>
      </p:sp>
      <p:sp>
        <p:nvSpPr>
          <p:cNvPr id="9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72200" y="5531495"/>
            <a:ext cx="52070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172200" y="5610870"/>
            <a:ext cx="536321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Amenities set as a composed group, with one detail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892800" y="6024959"/>
            <a:ext cx="405511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 IMAGE · NOT PRODUCTION PHOTOGRAPHY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</a:t>
            </a:r>
            <a:endParaRPr lang="en-US" sz="1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8"/>
          <p:cNvSpPr>
            <a:spLocks noGrp="1"/>
          </p:cNvSpPr>
          <p:nvPr>
            <p:ph type="title"/>
          </p:nvPr>
        </p:nvSpPr>
        <p:spPr>
          <a:xfrm>
            <a:off x="457200" y="7315200"/>
            <a:ext cx="8229600" cy="36576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200" dirty="0"/>
              <a:t>Dining: table detail (reference)</a:t>
            </a:r>
          </a:p>
        </p:txBody>
      </p:sp>
      <p:sp>
        <p:nvSpPr>
          <p:cNvPr id="2" name="Text 0"/>
          <p:cNvSpPr/>
          <p:nvPr/>
        </p:nvSpPr>
        <p:spPr>
          <a:xfrm>
            <a:off x="812800" y="81280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DINING · TABLE DETAIL · REFERENCE</a:t>
            </a:r>
            <a:endParaRPr lang="en-US" sz="1200" dirty="0"/>
          </a:p>
        </p:txBody>
      </p:sp>
      <p:sp>
        <p:nvSpPr>
          <p:cNvPr id="3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1178520"/>
            <a:ext cx="4826000" cy="4297759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4" name="Image 0" descr="Rendered reference study: table setting from above, few objects. Concept, not production photography." title="Rendered reference study: table setting from above, few obje">    </p:cNvPr>
          <p:cNvPicPr>
            <a:picLocks noChangeAspect="1"/>
          </p:cNvPicPr>
          <p:nvPr/>
        </p:nvPicPr>
        <p:blipFill>
          <a:blip r:embed="rId1"/>
          <a:srcRect l="14909" r="14909" t="0" b="0"/>
          <a:stretch/>
        </p:blipFill>
        <p:spPr>
          <a:xfrm>
            <a:off x="812800" y="1178520"/>
            <a:ext cx="4826000" cy="42977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562868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Few objects, generous space between them.</a:t>
            </a:r>
            <a:endParaRPr lang="en-US" sz="1200" dirty="0"/>
          </a:p>
        </p:txBody>
      </p:sp>
      <p:sp>
        <p:nvSpPr>
          <p:cNvPr id="6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94400" y="812800"/>
            <a:ext cx="5384800" cy="1427361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6223000" y="1041400"/>
            <a:ext cx="50754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MENU · CONCEPT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223000" y="1330920"/>
            <a:ext cx="5075428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1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MENU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223000" y="1798241"/>
            <a:ext cx="50754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[PENDING] dishes, one column, wide margins</a:t>
            </a:r>
            <a:endParaRPr lang="en-US" sz="1200" dirty="0"/>
          </a:p>
        </p:txBody>
      </p:sp>
      <p:sp>
        <p:nvSpPr>
          <p:cNvPr id="10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00750" y="3082280"/>
            <a:ext cx="5372100" cy="96515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235700" y="3317230"/>
            <a:ext cx="50492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RESERVATION · CONCEPT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235700" y="3581350"/>
            <a:ext cx="504926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card, a screen, a confirmation. The same voice each time.</a:t>
            </a:r>
            <a:endParaRPr lang="en-US" sz="1300" dirty="0"/>
          </a:p>
        </p:txBody>
      </p:sp>
      <p:sp>
        <p:nvSpPr>
          <p:cNvPr id="13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94400" y="4889550"/>
            <a:ext cx="5384800" cy="952450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223000" y="5118150"/>
            <a:ext cx="50754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DINING · CONCEPT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223000" y="5382270"/>
            <a:ext cx="5075428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Order, request or reserve from one calm screen. [PENDING]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 · CONCEPT / NOT PRODUCTION PHOTOGRAPHY OR ARTWORK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58</a:t>
            </a:r>
            <a:endParaRPr lang="en-US" sz="12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background geometry: cropped GEM ring and quarter forms." title="Decorative background geometry: cropped GEM ring and quarter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2616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2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2159000"/>
            <a:ext cx="7848600" cy="1732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6400" b="0" i="0" spc="51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AMENITIES &amp; PACKAGING</a:t>
            </a:r>
            <a:endParaRPr lang="en-US" sz="6400" dirty="0"/>
          </a:p>
        </p:txBody>
      </p:sp>
      <p:sp>
        <p:nvSpPr>
          <p:cNvPr id="5" name="Text 2"/>
          <p:cNvSpPr/>
          <p:nvPr/>
        </p:nvSpPr>
        <p:spPr>
          <a:xfrm>
            <a:off x="812800" y="4064000"/>
            <a:ext cx="588645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primary B2B stream, under one master brand.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59</a:t>
            </a:r>
            <a:endParaRPr lang="en-US" sz="12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AMENITIES &amp; PACKAGING · THE STREAM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0883392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GEM™ — Amenities &amp; Packaging: a descriptor, not a new brand.</a:t>
            </a:r>
            <a:endParaRPr lang="en-US" sz="3200" dirty="0"/>
          </a:p>
        </p:txBody>
      </p:sp>
      <p:sp>
        <p:nvSpPr>
          <p:cNvPr id="4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2377380"/>
            <a:ext cx="3429000" cy="2757289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41400" y="2605980"/>
            <a:ext cx="306095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41400" y="4012109"/>
            <a:ext cx="3060954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4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Core Collection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41400" y="4479429"/>
            <a:ext cx="306095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consistent GEM range. Name [REQUIRES OWNER]. Scope [PENDING]</a:t>
            </a:r>
            <a:endParaRPr lang="en-US" sz="1200" dirty="0"/>
          </a:p>
        </p:txBody>
      </p:sp>
      <p:sp>
        <p:nvSpPr>
          <p:cNvPr id="8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68800" y="2377380"/>
            <a:ext cx="3429000" cy="2757289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97400" y="2605980"/>
            <a:ext cx="306095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97400" y="4225429"/>
            <a:ext cx="3060954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4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Property Edition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97400" y="4692749"/>
            <a:ext cx="3200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Tailored to a property. Scope [PENDING]</a:t>
            </a:r>
            <a:endParaRPr lang="en-US" sz="1200" dirty="0"/>
          </a:p>
        </p:txBody>
      </p:sp>
      <p:sp>
        <p:nvSpPr>
          <p:cNvPr id="12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31150" y="2383730"/>
            <a:ext cx="3441700" cy="2744589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166100" y="2618680"/>
            <a:ext cx="306095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66100" y="3999409"/>
            <a:ext cx="3060954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4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Bespoke Programme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166100" y="4466729"/>
            <a:ext cx="306095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Developed with a partner. Scope [PENDING]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5363270"/>
            <a:ext cx="10883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logo, same palette, same type in every tier. All tiers are CONDITIONAL until commercial scope closes (AC03, VAL-01). Property Edition and Bespoke programmes are named in the register (E14); the name Core Collection is [REQUIRES OWNER].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AMENITIES &amp; PACKAGING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</a:t>
            </a:r>
            <a:endParaRPr lang="en-US" sz="12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0551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PACKAGING · THE HIERARCHY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3920"/>
            <a:ext cx="4055110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1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READ FROM THE TOP, DOWN.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5123904"/>
            <a:ext cx="4055110" cy="743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brand is seen first, then the tier, then the product and its function, then quantity, information and the SKU. Six levels, as approved (T05). Never reverse the order.</a:t>
            </a:r>
            <a:endParaRPr lang="en-US" sz="1300" dirty="0"/>
          </a:p>
        </p:txBody>
      </p:sp>
      <p:sp>
        <p:nvSpPr>
          <p:cNvPr id="5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59400" y="1509464"/>
            <a:ext cx="6019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59400" y="1823789"/>
            <a:ext cx="431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0" y="1614239"/>
            <a:ext cx="1332012" cy="523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spc="22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GEM™</a:t>
            </a:r>
            <a:endParaRPr lang="en-US" sz="2800" dirty="0"/>
          </a:p>
        </p:txBody>
      </p:sp>
      <p:sp>
        <p:nvSpPr>
          <p:cNvPr id="8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59400" y="2216845"/>
            <a:ext cx="6019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59400" y="2451795"/>
            <a:ext cx="431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0" y="2321620"/>
            <a:ext cx="23723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4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Collection / tier</a:t>
            </a:r>
            <a:endParaRPr lang="en-US" sz="2200" dirty="0"/>
          </a:p>
        </p:txBody>
      </p:sp>
      <p:sp>
        <p:nvSpPr>
          <p:cNvPr id="11" name="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59400" y="2817515"/>
            <a:ext cx="6019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359400" y="2998490"/>
            <a:ext cx="431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0" y="2922290"/>
            <a:ext cx="237744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3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Product / function</a:t>
            </a:r>
            <a:endParaRPr lang="en-US" sz="1800" dirty="0"/>
          </a:p>
        </p:txBody>
      </p:sp>
      <p:sp>
        <p:nvSpPr>
          <p:cNvPr id="17" name="Shap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59400" y="3347857"/>
            <a:ext cx="6019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359400" y="3478032"/>
            <a:ext cx="431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0" y="3452632"/>
            <a:ext cx="164592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Quantity / size</a:t>
            </a:r>
            <a:endParaRPr lang="en-US" sz="1400" dirty="0"/>
          </a:p>
        </p:txBody>
      </p:sp>
      <p:sp>
        <p:nvSpPr>
          <p:cNvPr id="20" name="Shape 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59400" y="3806297"/>
            <a:ext cx="6019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359400" y="3920597"/>
            <a:ext cx="431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0" y="3911072"/>
            <a:ext cx="310896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Instructions / market information</a:t>
            </a:r>
            <a:endParaRPr lang="en-US" sz="1300" dirty="0"/>
          </a:p>
        </p:txBody>
      </p:sp>
      <p:sp>
        <p:nvSpPr>
          <p:cNvPr id="23" name="Shape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59400" y="4246977"/>
            <a:ext cx="6019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4" name="Shape 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59400" y="4669848"/>
            <a:ext cx="60198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359400" y="4351752"/>
            <a:ext cx="431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943600" y="4351752"/>
            <a:ext cx="189470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SKU / artwork version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AMENITIES &amp; PACKAGING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61</a:t>
            </a:r>
            <a:endParaRPr lang="en-US" sz="12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31"/>
          <p:cNvSpPr>
            <a:spLocks noGrp="1"/>
          </p:cNvSpPr>
          <p:nvPr>
            <p:ph type="title"/>
          </p:nvPr>
        </p:nvSpPr>
        <p:spPr>
          <a:xfrm>
            <a:off x="457200" y="7315200"/>
            <a:ext cx="8229600" cy="36576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200" dirty="0"/>
              <a:t>Pilot amenity family (concept)</a:t>
            </a:r>
          </a:p>
        </p:txBody>
      </p:sp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 AMENITY FAMILY · CONCEPT / NOT PRODUCTION ARTWORK</a:t>
            </a:r>
            <a:endParaRPr lang="en-US" sz="1200" dirty="0"/>
          </a:p>
        </p:txBody>
      </p:sp>
      <p:sp>
        <p:nvSpPr>
          <p:cNvPr id="3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2148880"/>
            <a:ext cx="2026890" cy="330200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4" name="Image 0" descr="GEM symbol on the Shampoo concept pack." title="GEM symbol on the Shampoo concept pack.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5200" y="2301280"/>
            <a:ext cx="381000" cy="381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5200" y="4546749"/>
            <a:ext cx="177375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65200" y="4810869"/>
            <a:ext cx="1773753" cy="248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spc="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Shampoo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65200" y="5085159"/>
            <a:ext cx="177375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[PENDING]</a:t>
            </a:r>
            <a:endParaRPr lang="en-US" sz="1200" dirty="0"/>
          </a:p>
        </p:txBody>
      </p:sp>
      <p:sp>
        <p:nvSpPr>
          <p:cNvPr id="8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41290" y="2148880"/>
            <a:ext cx="2026940" cy="330200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9" name="Image 1" descr="GEM symbol on the Conditioner concept pack." title="GEM symbol on the Conditioner concept pack.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093690" y="2301280"/>
            <a:ext cx="381000" cy="381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093690" y="4546749"/>
            <a:ext cx="17738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093690" y="4810869"/>
            <a:ext cx="1773804" cy="248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spc="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Conditioner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3093690" y="5085159"/>
            <a:ext cx="17738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[PENDING]</a:t>
            </a:r>
            <a:endParaRPr lang="en-US" sz="1200" dirty="0"/>
          </a:p>
        </p:txBody>
      </p:sp>
      <p:sp>
        <p:nvSpPr>
          <p:cNvPr id="13" name="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69830" y="2148880"/>
            <a:ext cx="2026890" cy="3302000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pic>
        <p:nvPicPr>
          <p:cNvPr id="14" name="Image 2" descr="GEM symbol on the Body Wash concept pack." title="GEM symbol on the Body Wash concept pack.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222230" y="2301280"/>
            <a:ext cx="381000" cy="3810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222230" y="4546749"/>
            <a:ext cx="177375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5222230" y="4810869"/>
            <a:ext cx="1773753" cy="248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spc="3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Body Wash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5222230" y="5085159"/>
            <a:ext cx="177375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[PENDING]</a:t>
            </a:r>
            <a:endParaRPr lang="en-US" sz="1200" dirty="0"/>
          </a:p>
        </p:txBody>
      </p:sp>
      <p:sp>
        <p:nvSpPr>
          <p:cNvPr id="18" name="Shap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98320" y="2148880"/>
            <a:ext cx="2026940" cy="3302000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pic>
        <p:nvPicPr>
          <p:cNvPr id="19" name="Image 3" descr="GEM symbol on the Body Lotion concept pack." title="GEM symbol on the Body Lotion concept pack.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350720" y="2301280"/>
            <a:ext cx="381000" cy="3810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350720" y="4546749"/>
            <a:ext cx="17738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7350720" y="4810869"/>
            <a:ext cx="1773804" cy="248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spc="3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Body Lotion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7350720" y="5085159"/>
            <a:ext cx="17738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[PENDING]</a:t>
            </a:r>
            <a:endParaRPr lang="en-US" sz="1200" dirty="0"/>
          </a:p>
        </p:txBody>
      </p:sp>
      <p:sp>
        <p:nvSpPr>
          <p:cNvPr id="23" name="Shap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33210" y="2155230"/>
            <a:ext cx="2039640" cy="3289300"/>
          </a:xfrm>
          <a:prstGeom prst="rect">
            <a:avLst/>
          </a:prstGeom>
          <a:solidFill>
            <a:srgbClr val="FFFFFF"/>
          </a:solidFill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pic>
        <p:nvPicPr>
          <p:cNvPr id="24" name="Image 4" descr="GEM symbol on the Hand Wash concept pack." title="GEM symbol on the Hand Wash concept pack.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491960" y="2313980"/>
            <a:ext cx="381000" cy="3810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91960" y="4534049"/>
            <a:ext cx="17738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9491960" y="4798169"/>
            <a:ext cx="1773804" cy="248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spc="3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Hand Wash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9491960" y="5072459"/>
            <a:ext cx="17738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[PENDING]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812800" y="56286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[PENDING] on every pack: volume, ingredients, claims, origin, certifications, supplier, MOQ and price. None are stated.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AMENITIES &amp; PACKAGING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62</a:t>
            </a:r>
            <a:endParaRPr lang="en-US" sz="12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6"/>
          <p:cNvSpPr>
            <a:spLocks noGrp="1"/>
          </p:cNvSpPr>
          <p:nvPr>
            <p:ph type="title"/>
          </p:nvPr>
        </p:nvSpPr>
        <p:spPr>
          <a:xfrm>
            <a:off x="457200" y="7315200"/>
            <a:ext cx="8229600" cy="36576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200" dirty="0"/>
              <a:t>Materials and finishes: direction</a:t>
            </a:r>
          </a:p>
        </p:txBody>
      </p:sp>
      <p:sp>
        <p:nvSpPr>
          <p:cNvPr id="2" name="Text 0"/>
          <p:cNvSpPr/>
          <p:nvPr/>
        </p:nvSpPr>
        <p:spPr>
          <a:xfrm>
            <a:off x="812800" y="812800"/>
            <a:ext cx="41859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MATERIALS AND FINISHES · DIRECTION</a:t>
            </a:r>
            <a:endParaRPr lang="en-US" sz="1200" dirty="0"/>
          </a:p>
        </p:txBody>
      </p:sp>
      <p:sp>
        <p:nvSpPr>
          <p:cNvPr id="3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1178520"/>
            <a:ext cx="4064000" cy="4297759"/>
          </a:xfrm>
          <a:prstGeom prst="rect">
            <a:avLst/>
          </a:prstGeom>
          <a:solidFill>
            <a:srgbClr val="020202"/>
          </a:solidFill>
          <a:ln/>
        </p:spPr>
        <p:txBody>
          <a:bodyPr/>
          <a:p/>
        </p:txBody>
      </p:sp>
      <p:pic>
        <p:nvPicPr>
          <p:cNvPr id="4" name="Image 0" descr="Rendered reference study: pressed ring on one surface. Concept, not production photography." title="Rendered reference study: pressed ring on one surface. Conce">    </p:cNvPr>
          <p:cNvPicPr>
            <a:picLocks noChangeAspect="1"/>
          </p:cNvPicPr>
          <p:nvPr/>
        </p:nvPicPr>
        <p:blipFill>
          <a:blip r:embed="rId1"/>
          <a:srcRect l="20450" r="20450" t="0" b="0"/>
          <a:stretch/>
        </p:blipFill>
        <p:spPr>
          <a:xfrm>
            <a:off x="812800" y="1178520"/>
            <a:ext cx="4064000" cy="42977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5628680"/>
            <a:ext cx="41859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 · pressed ring, one surface, one gesture</a:t>
            </a:r>
            <a:endParaRPr lang="en-US" sz="1200" dirty="0"/>
          </a:p>
        </p:txBody>
      </p:sp>
      <p:sp>
        <p:nvSpPr>
          <p:cNvPr id="6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34000" y="815975"/>
            <a:ext cx="3022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334000" y="895350"/>
            <a:ext cx="3113278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Warm uncoated stock</a:t>
            </a:r>
            <a:endParaRPr lang="en-US" sz="1400" dirty="0"/>
          </a:p>
        </p:txBody>
      </p:sp>
      <p:sp>
        <p:nvSpPr>
          <p:cNvPr id="8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56600" y="815975"/>
            <a:ext cx="3022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8356600" y="895350"/>
            <a:ext cx="3113278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Ink board</a:t>
            </a:r>
            <a:endParaRPr lang="en-US" sz="1400" dirty="0"/>
          </a:p>
        </p:txBody>
      </p:sp>
      <p:sp>
        <p:nvSpPr>
          <p:cNvPr id="10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34000" y="1138535"/>
            <a:ext cx="3022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5334000" y="1217910"/>
            <a:ext cx="3113278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Beige</a:t>
            </a:r>
            <a:endParaRPr lang="en-US" sz="1400" dirty="0"/>
          </a:p>
        </p:txBody>
      </p:sp>
      <p:sp>
        <p:nvSpPr>
          <p:cNvPr id="12" name="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56600" y="1138535"/>
            <a:ext cx="3022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8356600" y="1217910"/>
            <a:ext cx="3113278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Deboss</a:t>
            </a:r>
            <a:endParaRPr lang="en-US" sz="1400" dirty="0"/>
          </a:p>
        </p:txBody>
      </p:sp>
      <p:sp>
        <p:nvSpPr>
          <p:cNvPr id="14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34000" y="1461095"/>
            <a:ext cx="3022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5334000" y="1540470"/>
            <a:ext cx="3113278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Blind emboss</a:t>
            </a:r>
            <a:endParaRPr lang="en-US" sz="1400" dirty="0"/>
          </a:p>
        </p:txBody>
      </p:sp>
      <p:sp>
        <p:nvSpPr>
          <p:cNvPr id="16" name="Shap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56600" y="1461095"/>
            <a:ext cx="3022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8356600" y="1540470"/>
            <a:ext cx="3113278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Soft-touch</a:t>
            </a:r>
            <a:endParaRPr lang="en-US" sz="1400" dirty="0"/>
          </a:p>
        </p:txBody>
      </p:sp>
      <p:sp>
        <p:nvSpPr>
          <p:cNvPr id="18" name="Shap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34000" y="1783655"/>
            <a:ext cx="3022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334000" y="1863030"/>
            <a:ext cx="3113278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Precision die-cut</a:t>
            </a:r>
            <a:endParaRPr lang="en-US" sz="1400" dirty="0"/>
          </a:p>
        </p:txBody>
      </p:sp>
      <p:sp>
        <p:nvSpPr>
          <p:cNvPr id="20" name="Shap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34000" y="3200450"/>
            <a:ext cx="6045200" cy="1117501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5537200" y="3378250"/>
            <a:ext cx="580796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AVOID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537200" y="3642370"/>
            <a:ext cx="5807964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Decorative gold, holographic, chrome, heavy foil, gloss-heavy cues.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334000" y="5415359"/>
            <a:ext cx="622655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Feel before shine. Finish suppliers, stock weights and tolerances are [REQUIRES OWNER] and belong in Part C.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AMENITIES &amp; PACKAGING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63</a:t>
            </a:r>
            <a:endParaRPr lang="en-US" sz="12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background geometry: cropped GEM ring and quarter forms." title="Decorative background geometry: cropped GEM ring and quarter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2616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2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07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2540000"/>
            <a:ext cx="7848600" cy="98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b="0" i="0" spc="57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ENVIRONMENT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812800" y="3810000"/>
            <a:ext cx="588645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Wayfinding, signage and the physical expression of GEM.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64</a:t>
            </a:r>
            <a:endParaRPr lang="en-US" sz="12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8"/>
          <p:cNvSpPr>
            <a:spLocks noGrp="1"/>
          </p:cNvSpPr>
          <p:nvPr>
            <p:ph type="title"/>
          </p:nvPr>
        </p:nvSpPr>
        <p:spPr>
          <a:xfrm>
            <a:off x="457200" y="7315200"/>
            <a:ext cx="8229600" cy="36576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200" dirty="0"/>
              <a:t>Wayfinding and environment: principles (concept)</a:t>
            </a:r>
          </a:p>
        </p:txBody>
      </p:sp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WAYFINDING AND ENVIRONMENT · PRINCIPLES · CONCEPT</a:t>
            </a:r>
            <a:endParaRPr lang="en-US" sz="1200" dirty="0"/>
          </a:p>
        </p:txBody>
      </p:sp>
      <p:sp>
        <p:nvSpPr>
          <p:cNvPr id="3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1203920"/>
            <a:ext cx="3378200" cy="3590429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041400" y="1432520"/>
            <a:ext cx="30086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DIRECTION</a:t>
            </a:r>
            <a:endParaRPr lang="en-US" sz="1200" dirty="0"/>
          </a:p>
        </p:txBody>
      </p:sp>
      <p:pic>
        <p:nvPicPr>
          <p:cNvPr id="5" name="Image 0" descr="Illustrative direction arrow glyph." title="Illustrative direction arrow glyph.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41400" y="4108549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51000" y="4141589"/>
            <a:ext cx="986671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4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Dining</a:t>
            </a:r>
            <a:endParaRPr lang="en-US" sz="2200" dirty="0"/>
          </a:p>
        </p:txBody>
      </p:sp>
      <p:sp>
        <p:nvSpPr>
          <p:cNvPr id="7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94200" y="1203920"/>
            <a:ext cx="3378200" cy="3590429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4622800" y="1432520"/>
            <a:ext cx="30086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ROOM NUMBER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622800" y="3676749"/>
            <a:ext cx="30086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000"/>
              </a:lnSpc>
              <a:buNone/>
            </a:pPr>
            <a:r>
              <a:rPr lang="en-US" sz="7000" spc="28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000</a:t>
            </a:r>
            <a:endParaRPr lang="en-US" sz="7000" dirty="0"/>
          </a:p>
        </p:txBody>
      </p:sp>
      <p:sp>
        <p:nvSpPr>
          <p:cNvPr id="10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81950" y="1210270"/>
            <a:ext cx="3390900" cy="3577729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8216900" y="1445220"/>
            <a:ext cx="30086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BILINGUAL ORDER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129270" y="3791099"/>
            <a:ext cx="300863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3080"/>
              </a:lnSpc>
              <a:buNone/>
            </a:pPr>
            <a:r>
              <a:rPr lang="ar-SA" sz="2200" dirty="0">
                <a:solidFill>
                  <a:srgbClr val="12171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[العربية]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8216900" y="4233019"/>
            <a:ext cx="300863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11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[ENGLISH]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12800" y="4919472"/>
            <a:ext cx="10883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direction, one message per sign. Read left to right in English, right to left in Arabic. For Saudi/GCC bilingual wayfinding Arabic leads by default: Arabic first and right, English secondary and left, with equivalent information and legibility (S07). Geometry is shared with the brand.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12800" y="5715000"/>
            <a:ext cx="1088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PROJECT-SPECIFIC / REQUIRES SITE VALIDATION · ARABIC: PENDING LOCALIZATION APPROVAL · EXTERNAL PROPERTY SIGNAGE: DEFERRED (S02)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ENVIRONMENT · WAYFINDING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65</a:t>
            </a:r>
            <a:endParaRPr lang="en-US" sz="12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SIGNAGE LANGUAGE · EN · AR · BILINGUAL · CONCEPT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0" i="0" spc="11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ONE HIERARCHY, THREE FORMS.</a:t>
            </a:r>
            <a:endParaRPr lang="en-US" sz="2800" dirty="0"/>
          </a:p>
        </p:txBody>
      </p:sp>
      <p:sp>
        <p:nvSpPr>
          <p:cNvPr id="4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1722041"/>
            <a:ext cx="3437434" cy="349011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16000" y="1925241"/>
            <a:ext cx="312196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ENGLISH</a:t>
            </a:r>
            <a:endParaRPr lang="en-US" sz="1200" dirty="0"/>
          </a:p>
        </p:txBody>
      </p:sp>
      <p:pic>
        <p:nvPicPr>
          <p:cNvPr id="6" name="Image 0" descr="Illustrative information glyph, English sign concept." title="Illustrative information glyph, English sign concept.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16000" y="4064099"/>
            <a:ext cx="406400" cy="406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16000" y="4546699"/>
            <a:ext cx="3121965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40"/>
              </a:lnSpc>
              <a:buNone/>
            </a:pPr>
            <a:r>
              <a:rPr lang="en-US" sz="2600" spc="5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Reception</a:t>
            </a:r>
            <a:endParaRPr lang="en-US" sz="2600" dirty="0"/>
          </a:p>
        </p:txBody>
      </p:sp>
      <p:sp>
        <p:nvSpPr>
          <p:cNvPr id="8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77234" y="1722041"/>
            <a:ext cx="3437483" cy="349011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4489501" y="1925241"/>
            <a:ext cx="31220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1680"/>
              </a:lnSpc>
              <a:buNone/>
            </a:pPr>
            <a:r>
              <a:rPr lang="ar-SA" sz="1200" dirty="0">
                <a:solidFill>
                  <a:srgbClr val="12171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العربية</a:t>
            </a:r>
            <a:endParaRPr lang="en-US" sz="1200" dirty="0"/>
          </a:p>
        </p:txBody>
      </p:sp>
      <p:pic>
        <p:nvPicPr>
          <p:cNvPr id="10" name="Image 1" descr="Illustrative information glyph, Arabic sign concept." title="Illustrative information glyph, Arabic sign concept.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205117" y="3992959"/>
            <a:ext cx="406400" cy="4064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873681" y="4475559"/>
            <a:ext cx="173783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4200"/>
              </a:lnSpc>
              <a:buNone/>
            </a:pPr>
            <a:r>
              <a:rPr lang="ar-SA" sz="3000" dirty="0">
                <a:solidFill>
                  <a:srgbClr val="12171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الاستقبال</a:t>
            </a:r>
            <a:endParaRPr lang="en-US" sz="3000" dirty="0"/>
          </a:p>
        </p:txBody>
      </p:sp>
      <p:sp>
        <p:nvSpPr>
          <p:cNvPr id="12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41717" y="1722041"/>
            <a:ext cx="3437483" cy="3490119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8144917" y="1925241"/>
            <a:ext cx="31220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BILINGUAL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8053984" y="4104779"/>
            <a:ext cx="312201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3640"/>
              </a:lnSpc>
              <a:buNone/>
            </a:pPr>
            <a:r>
              <a:rPr lang="ar-SA" sz="2600" dirty="0">
                <a:solidFill>
                  <a:srgbClr val="12171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الاستقبال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8144917" y="4617839"/>
            <a:ext cx="3122016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4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Reception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812800" y="5415359"/>
            <a:ext cx="1088339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Glyph, then name. High contrast, generous spacing, matte material direction. No dimensions are given. Arabic is a working string, PENDING LOCALIZATION APPROVAL. PROJECT-SPECIFIC / REQUIRES SITE VALIDATION.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ENVIRONMENT · SIGNAGE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66</a:t>
            </a:r>
            <a:endParaRPr lang="en-US" sz="12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4"/>
          <p:cNvSpPr>
            <a:spLocks noGrp="1"/>
          </p:cNvSpPr>
          <p:nvPr>
            <p:ph type="title"/>
          </p:nvPr>
        </p:nvSpPr>
        <p:spPr>
          <a:xfrm>
            <a:off x="457200" y="7315200"/>
            <a:ext cx="8229600" cy="36576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200" dirty="0"/>
              <a:t>Corporate and B2B (concept)</a:t>
            </a:r>
          </a:p>
        </p:txBody>
      </p:sp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CORPORATE AND B2B · CONCEPT / NOT PRODUCTION ARTWORK</a:t>
            </a:r>
            <a:endParaRPr lang="en-US" sz="1200" dirty="0"/>
          </a:p>
        </p:txBody>
      </p:sp>
      <p:sp>
        <p:nvSpPr>
          <p:cNvPr id="3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9150" y="1210270"/>
            <a:ext cx="3289300" cy="462538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pic>
        <p:nvPicPr>
          <p:cNvPr id="4" name="Image 0" descr="GEM signature on the letterhead concept." title="GEM signature on the letterhead concept.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0" r="0" t="-24" b="-24"/>
          <a:stretch/>
        </p:blipFill>
        <p:spPr>
          <a:xfrm>
            <a:off x="1054100" y="1445220"/>
            <a:ext cx="1143000" cy="361950"/>
          </a:xfrm>
          <a:prstGeom prst="rect">
            <a:avLst/>
          </a:prstGeom>
        </p:spPr>
      </p:pic>
      <p:sp>
        <p:nvSpPr>
          <p:cNvPr id="5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54100" y="3482975"/>
            <a:ext cx="1651000" cy="2540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6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54100" y="3584575"/>
            <a:ext cx="1270000" cy="25400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7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54100" y="3686175"/>
            <a:ext cx="1460500" cy="25400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054100" y="5387380"/>
            <a:ext cx="29039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LETTERHEAD</a:t>
            </a:r>
            <a:endParaRPr lang="en-US" sz="1200" dirty="0"/>
          </a:p>
        </p:txBody>
      </p:sp>
      <p:sp>
        <p:nvSpPr>
          <p:cNvPr id="9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92600" y="1203920"/>
            <a:ext cx="4241800" cy="245874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4495800" y="1407120"/>
            <a:ext cx="39504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PROPOSAL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495800" y="2677220"/>
            <a:ext cx="3950462" cy="80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spc="9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GEM™ — AMENITIES &amp; PACKAGING</a:t>
            </a:r>
            <a:endParaRPr lang="en-US" sz="2200" dirty="0"/>
          </a:p>
        </p:txBody>
      </p:sp>
      <p:sp>
        <p:nvSpPr>
          <p:cNvPr id="12" name="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92600" y="3789660"/>
            <a:ext cx="2044700" cy="2052340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4470400" y="5237559"/>
            <a:ext cx="17399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QUOTATION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470400" y="5450880"/>
            <a:ext cx="17399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Prices [PENDING]</a:t>
            </a:r>
            <a:endParaRPr lang="en-US" sz="1200" dirty="0"/>
          </a:p>
        </p:txBody>
      </p:sp>
      <p:sp>
        <p:nvSpPr>
          <p:cNvPr id="15" name="Shap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70650" y="3796010"/>
            <a:ext cx="2057400" cy="203964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654800" y="5011539"/>
            <a:ext cx="17399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SPECIFICATION SHEET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654800" y="5438180"/>
            <a:ext cx="17399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Fields [PENDING]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718550" y="1210270"/>
            <a:ext cx="2654300" cy="230634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 wrap="square" lIns="184150" tIns="184150" rIns="115570" bIns="184150" rtlCol="0" anchor="b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SHEET</a:t>
            </a:r>
            <a:endParaRPr lang="en-US" sz="1200" dirty="0"/>
          </a:p>
        </p:txBody>
      </p:sp>
      <p:sp>
        <p:nvSpPr>
          <p:cNvPr id="19" name="Shape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31250" y="3649960"/>
            <a:ext cx="0" cy="2192040"/>
          </a:xfrm>
          <a:prstGeom prst="line">
            <a:avLst/>
          </a:prstGeom>
          <a:noFill/>
          <a:ln w="381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8902700" y="5250259"/>
            <a:ext cx="23938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 SIGNATURE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902700" y="5501680"/>
            <a:ext cx="23938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[NAME] · [ROLE] · GEM™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ENVIRONMENT · CORPORATE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67</a:t>
            </a:r>
            <a:endParaRPr lang="en-US" sz="12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PRESENTATIONS · PHILOSOPHY · CONCEPT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0" i="0" spc="10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ONE IDEA PER SLIDE. SPACE DOES THE REST.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9150" y="1649661"/>
            <a:ext cx="3424734" cy="1888480"/>
          </a:xfrm>
          <a:prstGeom prst="rect">
            <a:avLst/>
          </a:prstGeom>
          <a:solidFill>
            <a:srgbClr val="12171D"/>
          </a:solidFill>
          <a:ln w="12700">
            <a:solidFill>
              <a:srgbClr val="BCACA7"/>
            </a:solidFill>
            <a:prstDash val="solid"/>
          </a:ln>
        </p:spPr>
        <p:txBody>
          <a:bodyPr wrap="square" lIns="133350" tIns="133350" rIns="38609" bIns="133350" rtlCol="0" anchor="b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COVER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377234" y="1643311"/>
            <a:ext cx="3437483" cy="1901180"/>
          </a:xfrm>
          <a:prstGeom prst="rect">
            <a:avLst/>
          </a:prstGeom>
          <a:solidFill>
            <a:srgbClr val="BCACA7"/>
          </a:solidFill>
          <a:ln/>
        </p:spPr>
        <p:txBody>
          <a:bodyPr wrap="square" lIns="127000" tIns="127000" rIns="31496" bIns="127000" rtlCol="0" anchor="b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DIVIDER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941717" y="1643311"/>
            <a:ext cx="3437434" cy="19011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000" tIns="127000" rIns="31497" bIns="127000" rtlCol="0" anchor="b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</a:t>
            </a:r>
            <a:endParaRPr lang="en-US" sz="1200" dirty="0"/>
          </a:p>
        </p:txBody>
      </p:sp>
      <p:sp>
        <p:nvSpPr>
          <p:cNvPr id="7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3671491"/>
            <a:ext cx="3437434" cy="217050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39800" y="5501680"/>
            <a:ext cx="5607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</a:t>
            </a:r>
            <a:endParaRPr lang="en-US" sz="1200" dirty="0"/>
          </a:p>
        </p:txBody>
      </p:sp>
      <p:pic>
        <p:nvPicPr>
          <p:cNvPr id="9" name="Image 0" descr="Miniature bar marks on the data slide concept." title="Miniature bar marks on the data slide concept.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361234" y="5207000"/>
            <a:ext cx="762000" cy="508000"/>
          </a:xfrm>
          <a:prstGeom prst="rect">
            <a:avLst/>
          </a:prstGeom>
        </p:spPr>
      </p:pic>
      <p:sp>
        <p:nvSpPr>
          <p:cNvPr id="10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77234" y="3671491"/>
            <a:ext cx="3437483" cy="2170509"/>
          </a:xfrm>
          <a:prstGeom prst="rect">
            <a:avLst/>
          </a:prstGeom>
          <a:solidFill>
            <a:srgbClr val="020202"/>
          </a:solidFill>
          <a:ln/>
        </p:spPr>
        <p:txBody>
          <a:bodyPr/>
          <a:p/>
        </p:txBody>
      </p:sp>
      <p:pic>
        <p:nvPicPr>
          <p:cNvPr id="11" name="Image 1" descr="Image-led slide miniature using the threshold study." title="Image-led slide miniature using the threshold study.">    </p:cNvPr>
          <p:cNvPicPr>
            <a:picLocks noChangeAspect="1"/>
          </p:cNvPicPr>
          <p:nvPr/>
        </p:nvPicPr>
        <p:blipFill>
          <a:blip r:embed="rId2"/>
          <a:srcRect l="509" r="509" t="0" b="0"/>
          <a:stretch/>
        </p:blipFill>
        <p:spPr>
          <a:xfrm>
            <a:off x="4377234" y="3671491"/>
            <a:ext cx="3437483" cy="217050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77234" y="5527080"/>
            <a:ext cx="1267321" cy="314920"/>
          </a:xfrm>
          <a:prstGeom prst="rect">
            <a:avLst/>
          </a:prstGeom>
          <a:solidFill>
            <a:srgbClr val="12171D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IMAGE-LED</a:t>
            </a:r>
            <a:endParaRPr lang="en-US" sz="1200" dirty="0"/>
          </a:p>
        </p:txBody>
      </p:sp>
      <p:sp>
        <p:nvSpPr>
          <p:cNvPr id="13" name="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41717" y="3671491"/>
            <a:ext cx="3437434" cy="2170509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7973214" y="3798491"/>
            <a:ext cx="327893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 rtl="1">
              <a:lnSpc>
                <a:spcPts val="2240"/>
              </a:lnSpc>
              <a:buNone/>
            </a:pPr>
            <a:r>
              <a:rPr lang="ar-SA" sz="1600" dirty="0">
                <a:solidFill>
                  <a:srgbClr val="12171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[العربية]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8068717" y="5501680"/>
            <a:ext cx="32789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4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BILINGUAL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812800" y="6024959"/>
            <a:ext cx="719455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 / NOT PRODUCTION ARTWORK · ARABIC: PENDING LOCALIZATION APPROVAL · TEMPLATES: OPEN DELIVERABLE (AB10, W01, W13)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</a:t>
            </a:r>
            <a:endParaRPr lang="en-US" sz="12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AND CAMPAIGN · CONCEPT / NOT PRODUCTION ARTWORK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0" i="0" spc="5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Quiet in the feed is a strength.</a:t>
            </a:r>
            <a:endParaRPr lang="en-US" sz="2600" dirty="0"/>
          </a:p>
        </p:txBody>
      </p:sp>
      <p:sp>
        <p:nvSpPr>
          <p:cNvPr id="4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2989014"/>
            <a:ext cx="2159000" cy="215900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5" name="Image 0" descr="1:1 social concept with a cropped ring." title="1:1 social concept with a cropped ring.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2989014"/>
            <a:ext cx="2159000" cy="2159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5200" y="4800054"/>
            <a:ext cx="17018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400" spc="5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[HEADLINE]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12800" y="5211514"/>
            <a:ext cx="22237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1:1</a:t>
            </a:r>
            <a:endParaRPr lang="en-US" sz="1200" dirty="0"/>
          </a:p>
        </p:txBody>
      </p:sp>
      <p:sp>
        <p:nvSpPr>
          <p:cNvPr id="8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49600" y="2766764"/>
            <a:ext cx="1905000" cy="2381250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3302000" y="4800054"/>
            <a:ext cx="15748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400" spc="5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[HEADLINE]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149600" y="5211514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4:5</a:t>
            </a:r>
            <a:endParaRPr lang="en-US" sz="1200" dirty="0"/>
          </a:p>
        </p:txBody>
      </p:sp>
      <p:sp>
        <p:nvSpPr>
          <p:cNvPr id="11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32400" y="2779464"/>
            <a:ext cx="1333500" cy="236855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12" name="Image 1" descr="9:16 social concept with a quarter form." title="9:16 social concept with a quarter form.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232400" y="2779464"/>
            <a:ext cx="1333500" cy="23685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59400" y="2957264"/>
            <a:ext cx="1130300" cy="193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200" spc="5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[HEADLINE]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232400" y="5211514"/>
            <a:ext cx="138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9:16</a:t>
            </a:r>
            <a:endParaRPr lang="en-US" sz="1200" dirty="0"/>
          </a:p>
        </p:txBody>
      </p:sp>
      <p:sp>
        <p:nvSpPr>
          <p:cNvPr id="15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43700" y="3293814"/>
            <a:ext cx="3302000" cy="185420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16" name="Text 12"/>
          <p:cNvSpPr/>
          <p:nvPr/>
        </p:nvSpPr>
        <p:spPr>
          <a:xfrm>
            <a:off x="6921500" y="4746724"/>
            <a:ext cx="2485390" cy="248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spc="6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[HEADLINE]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743700" y="5211514"/>
            <a:ext cx="34010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16:9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812800" y="5602635"/>
            <a:ext cx="1088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form, one line, one spark at most. No loud colour, no stickers, no gradients. Social starter set: OPEN DELIVERABLE (W07), not yet produced.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ENVIRONMENT · SOCIAL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69</a:t>
            </a:r>
            <a:endParaRPr lang="en-US" sz="12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background geometry: cropped GEM ring and quarter forms." title="Decorative background geometry: cropped GEM ring and quarter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2616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2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08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2540000"/>
            <a:ext cx="7848600" cy="98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b="0" i="0" spc="575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STEWARDSHIP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812800" y="3810000"/>
            <a:ext cx="588645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Access, governance, status and what remains open.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</a:t>
            </a:r>
            <a:endParaRPr lang="en-US" sz="12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ACCESSIBILITY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20"/>
            <a:ext cx="10883392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0" i="0" spc="9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Luxury must remain usable.</a:t>
            </a:r>
            <a:endParaRPr lang="en-US" sz="4800" dirty="0"/>
          </a:p>
        </p:txBody>
      </p:sp>
      <p:sp>
        <p:nvSpPr>
          <p:cNvPr id="4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2180530"/>
            <a:ext cx="26416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12800" y="2288480"/>
            <a:ext cx="272084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Contrast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2800" y="2555180"/>
            <a:ext cx="272084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Ink on White 18.0. Beige on Ink 8.2. Never Beige on White.</a:t>
            </a:r>
            <a:endParaRPr lang="en-US" sz="1200" dirty="0"/>
          </a:p>
        </p:txBody>
      </p:sp>
      <p:sp>
        <p:nvSpPr>
          <p:cNvPr id="7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54400" y="2180530"/>
            <a:ext cx="26416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54400" y="2288480"/>
            <a:ext cx="272084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Legibility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454400" y="2555180"/>
            <a:ext cx="272084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Readable sizes, clear hierarchy, no text over busy images.</a:t>
            </a:r>
            <a:endParaRPr lang="en-US" sz="1200" dirty="0"/>
          </a:p>
        </p:txBody>
      </p:sp>
      <p:sp>
        <p:nvSpPr>
          <p:cNvPr id="10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0" y="2180530"/>
            <a:ext cx="26416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096000" y="2288480"/>
            <a:ext cx="272084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and motion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096000" y="2555180"/>
            <a:ext cx="272084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Visible focus. Reduced motion is honoured.</a:t>
            </a:r>
            <a:endParaRPr lang="en-US" sz="1200" dirty="0"/>
          </a:p>
        </p:txBody>
      </p:sp>
      <p:sp>
        <p:nvSpPr>
          <p:cNvPr id="13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37600" y="2180530"/>
            <a:ext cx="26416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737600" y="2288480"/>
            <a:ext cx="272084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737600" y="2555180"/>
            <a:ext cx="272084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by colour alone. Add a word, a glyph or a shape.</a:t>
            </a:r>
            <a:endParaRPr lang="en-US" sz="1200" dirty="0"/>
          </a:p>
        </p:txBody>
      </p:sp>
      <p:sp>
        <p:nvSpPr>
          <p:cNvPr id="16" name="Shap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4014440"/>
            <a:ext cx="26416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12800" y="4122390"/>
            <a:ext cx="272084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Arabic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2800" y="4389090"/>
            <a:ext cx="272084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 shaping and direction. Native QA pending.</a:t>
            </a:r>
            <a:endParaRPr lang="en-US" sz="1200" dirty="0"/>
          </a:p>
        </p:txBody>
      </p:sp>
      <p:sp>
        <p:nvSpPr>
          <p:cNvPr id="19" name="Shap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54400" y="4014440"/>
            <a:ext cx="26416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454400" y="4122390"/>
            <a:ext cx="272084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Signage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454400" y="4389090"/>
            <a:ext cx="272084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Tactile and contrast rules validated per site.</a:t>
            </a:r>
            <a:endParaRPr lang="en-US" sz="1200" dirty="0"/>
          </a:p>
        </p:txBody>
      </p:sp>
      <p:sp>
        <p:nvSpPr>
          <p:cNvPr id="22" name="Shape 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0" y="4014440"/>
            <a:ext cx="26416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096000" y="4122390"/>
            <a:ext cx="272084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Imagery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096000" y="4389090"/>
            <a:ext cx="272084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Inclusive, candid, respectful people. Alt text always.</a:t>
            </a:r>
            <a:endParaRPr lang="en-US" sz="1200" dirty="0"/>
          </a:p>
        </p:txBody>
      </p:sp>
      <p:sp>
        <p:nvSpPr>
          <p:cNvPr id="25" name="Shape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37600" y="4014440"/>
            <a:ext cx="2641600" cy="0"/>
          </a:xfrm>
          <a:prstGeom prst="line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737600" y="4122390"/>
            <a:ext cx="272084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737600" y="4389090"/>
            <a:ext cx="272084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WCAG 2.2 AA. Detail in Part B.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2800" y="6238280"/>
            <a:ext cx="7620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STEWARDSHIP · ACCESSIBILITY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71</a:t>
            </a:r>
            <a:endParaRPr lang="en-US" sz="12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GOVERNANCE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0" i="0" spc="12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TWELVE ROLES KEEP GEM EXACT.</a:t>
            </a:r>
            <a:endParaRPr lang="en-US" sz="3000" dirty="0"/>
          </a:p>
        </p:txBody>
      </p:sp>
      <p:sp>
        <p:nvSpPr>
          <p:cNvPr id="4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1783080"/>
            <a:ext cx="2533650" cy="10972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78408" y="1920240"/>
            <a:ext cx="22826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Brand Owner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78408" y="2514600"/>
            <a:ext cx="228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[REQUIRES OWNER]</a:t>
            </a:r>
            <a:endParaRPr lang="en-US" sz="1200" dirty="0"/>
          </a:p>
        </p:txBody>
      </p:sp>
      <p:sp>
        <p:nvSpPr>
          <p:cNvPr id="7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93008" y="1783080"/>
            <a:ext cx="2533650" cy="10972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648456" y="1920240"/>
            <a:ext cx="22826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Design Custodian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48456" y="2514600"/>
            <a:ext cx="228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[REQUIRES OWNER]</a:t>
            </a:r>
            <a:endParaRPr lang="en-US" sz="1200" dirty="0"/>
          </a:p>
        </p:txBody>
      </p:sp>
      <p:sp>
        <p:nvSpPr>
          <p:cNvPr id="10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63056" y="1783080"/>
            <a:ext cx="2533650" cy="10972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18504" y="1920240"/>
            <a:ext cx="22826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Commercial Lead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18504" y="2514600"/>
            <a:ext cx="228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[REQUIRES OWNER]</a:t>
            </a:r>
            <a:endParaRPr lang="en-US" sz="1200" dirty="0"/>
          </a:p>
        </p:txBody>
      </p:sp>
      <p:sp>
        <p:nvSpPr>
          <p:cNvPr id="13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42248" y="1783080"/>
            <a:ext cx="2533650" cy="10972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97696" y="1920240"/>
            <a:ext cx="22826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Product / Amenities Lead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997696" y="2514600"/>
            <a:ext cx="228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[REQUIRES OWNER]</a:t>
            </a:r>
            <a:endParaRPr lang="en-US" sz="1200" dirty="0"/>
          </a:p>
        </p:txBody>
      </p:sp>
      <p:sp>
        <p:nvSpPr>
          <p:cNvPr id="16" name="Shap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3017520"/>
            <a:ext cx="2533650" cy="10972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78408" y="3154679"/>
            <a:ext cx="22826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Procurement / Supplier QA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78408" y="3749039"/>
            <a:ext cx="228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[REQUIRES OWNER]</a:t>
            </a:r>
            <a:endParaRPr lang="en-US" sz="1200" dirty="0"/>
          </a:p>
        </p:txBody>
      </p:sp>
      <p:sp>
        <p:nvSpPr>
          <p:cNvPr id="19" name="Shap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93008" y="3017520"/>
            <a:ext cx="2533650" cy="10972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648456" y="3154679"/>
            <a:ext cx="22826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Digital Design Lead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648456" y="3749039"/>
            <a:ext cx="228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[REQUIRES OWNER]</a:t>
            </a:r>
            <a:endParaRPr lang="en-US" sz="1200" dirty="0"/>
          </a:p>
        </p:txBody>
      </p:sp>
      <p:sp>
        <p:nvSpPr>
          <p:cNvPr id="22" name="Shape 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63056" y="3017520"/>
            <a:ext cx="2533650" cy="10972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318504" y="3154679"/>
            <a:ext cx="22826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Engineering Lead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18504" y="3749039"/>
            <a:ext cx="228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[REQUIRES OWNER]</a:t>
            </a:r>
            <a:endParaRPr lang="en-US" sz="1200" dirty="0"/>
          </a:p>
        </p:txBody>
      </p:sp>
      <p:sp>
        <p:nvSpPr>
          <p:cNvPr id="25" name="Shape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42248" y="3017520"/>
            <a:ext cx="2533650" cy="10972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997696" y="3154679"/>
            <a:ext cx="22826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Arabic / Localization Lead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997696" y="3749039"/>
            <a:ext cx="228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[REQUIRES OWNER]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2800" y="5513832"/>
            <a:ext cx="1088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Roles follow the V3 Approval Register (Owners &amp; Governance). Named holders are not yet assigned (AC19). Release authorization (AC20) rests with the Brand Owner. ™ in running text and on packs: [REQUIRES OWNER · Legal / IP Counsel].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STEWARDSHIP · GOVERNANCE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72</a:t>
            </a:r>
            <a:endParaRPr lang="en-US" sz="1200" dirty="0"/>
          </a:p>
        </p:txBody>
      </p:sp>
      <p:sp>
        <p:nvSpPr>
          <p:cNvPr id="31" name="Shape 2-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4251960"/>
            <a:ext cx="2533650" cy="10972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32" name="Text 3-8"/>
          <p:cNvSpPr/>
          <p:nvPr/>
        </p:nvSpPr>
        <p:spPr>
          <a:xfrm>
            <a:off x="978408" y="4389120"/>
            <a:ext cx="22826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Accessibility QA</a:t>
            </a:r>
            <a:endParaRPr lang="en-US" sz="1600" dirty="0"/>
          </a:p>
        </p:txBody>
      </p:sp>
      <p:sp>
        <p:nvSpPr>
          <p:cNvPr id="33" name="Text 4-8"/>
          <p:cNvSpPr/>
          <p:nvPr/>
        </p:nvSpPr>
        <p:spPr>
          <a:xfrm>
            <a:off x="978408" y="4983480"/>
            <a:ext cx="228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[REQUIRES OWNER]</a:t>
            </a:r>
            <a:endParaRPr lang="en-US" sz="1200" dirty="0"/>
          </a:p>
        </p:txBody>
      </p:sp>
      <p:sp>
        <p:nvSpPr>
          <p:cNvPr id="34" name="Shape 2-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93008" y="4251960"/>
            <a:ext cx="2533650" cy="10972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35" name="Text 3-9"/>
          <p:cNvSpPr/>
          <p:nvPr/>
        </p:nvSpPr>
        <p:spPr>
          <a:xfrm>
            <a:off x="3648456" y="4389120"/>
            <a:ext cx="22826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Legal / IP Counsel</a:t>
            </a:r>
            <a:endParaRPr lang="en-US" sz="1600" dirty="0"/>
          </a:p>
        </p:txBody>
      </p:sp>
      <p:sp>
        <p:nvSpPr>
          <p:cNvPr id="36" name="Text 4-9"/>
          <p:cNvSpPr/>
          <p:nvPr/>
        </p:nvSpPr>
        <p:spPr>
          <a:xfrm>
            <a:off x="3648456" y="4983480"/>
            <a:ext cx="228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[REQUIRES OWNER]</a:t>
            </a:r>
            <a:endParaRPr lang="en-US" sz="1200" dirty="0"/>
          </a:p>
        </p:txBody>
      </p:sp>
      <p:sp>
        <p:nvSpPr>
          <p:cNvPr id="37" name="Shape 2-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63056" y="4251960"/>
            <a:ext cx="2533650" cy="10972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38" name="Text 3-10"/>
          <p:cNvSpPr/>
          <p:nvPr/>
        </p:nvSpPr>
        <p:spPr>
          <a:xfrm>
            <a:off x="6318504" y="4389120"/>
            <a:ext cx="22826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Presentation / Document QA</a:t>
            </a:r>
            <a:endParaRPr lang="en-US" sz="1600" dirty="0"/>
          </a:p>
        </p:txBody>
      </p:sp>
      <p:sp>
        <p:nvSpPr>
          <p:cNvPr id="39" name="Text 4-10"/>
          <p:cNvSpPr/>
          <p:nvPr/>
        </p:nvSpPr>
        <p:spPr>
          <a:xfrm>
            <a:off x="6318504" y="4983480"/>
            <a:ext cx="228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[REQUIRES OWNER]</a:t>
            </a:r>
            <a:endParaRPr lang="en-US" sz="1200" dirty="0"/>
          </a:p>
        </p:txBody>
      </p:sp>
      <p:sp>
        <p:nvSpPr>
          <p:cNvPr id="40" name="Shape 2-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42248" y="4251960"/>
            <a:ext cx="2533650" cy="1097280"/>
          </a:xfrm>
          <a:prstGeom prst="rect">
            <a:avLst/>
          </a:prstGeom>
          <a:noFill/>
          <a:ln w="1270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41" name="Text 3-11"/>
          <p:cNvSpPr/>
          <p:nvPr/>
        </p:nvSpPr>
        <p:spPr>
          <a:xfrm>
            <a:off x="8997696" y="4389120"/>
            <a:ext cx="22826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Asset Librarian / Governance PM</a:t>
            </a:r>
            <a:endParaRPr lang="en-US" sz="1600" dirty="0"/>
          </a:p>
        </p:txBody>
      </p:sp>
      <p:sp>
        <p:nvSpPr>
          <p:cNvPr id="42" name="Text 4-11"/>
          <p:cNvSpPr/>
          <p:nvPr/>
        </p:nvSpPr>
        <p:spPr>
          <a:xfrm>
            <a:off x="8997696" y="4983480"/>
            <a:ext cx="228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[REQUIRES OWNER]</a:t>
            </a:r>
            <a:endParaRPr lang="en-US" sz="12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APPROVAL STATUS · FOUR LABELS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Every claim in V3 says how settled it is.</a:t>
            </a:r>
            <a:endParaRPr lang="en-US" sz="3200" dirty="0"/>
          </a:p>
        </p:txBody>
      </p:sp>
      <p:sp>
        <p:nvSpPr>
          <p:cNvPr id="4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1930350"/>
            <a:ext cx="2530475" cy="3443684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16000" y="2133550"/>
            <a:ext cx="2187797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11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APPROVED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16000" y="4708575"/>
            <a:ext cx="2187797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Final. Use as written. Not reopened.</a:t>
            </a:r>
            <a:endParaRPr lang="en-US" sz="1300" dirty="0"/>
          </a:p>
        </p:txBody>
      </p:sp>
      <p:sp>
        <p:nvSpPr>
          <p:cNvPr id="7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70275" y="1930350"/>
            <a:ext cx="2530475" cy="3443684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673475" y="2133550"/>
            <a:ext cx="2187797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11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CONDITIONAL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73475" y="4477445"/>
            <a:ext cx="2187797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Usable once stated evidence or conditions are met.</a:t>
            </a:r>
            <a:endParaRPr lang="en-US" sz="1300" dirty="0"/>
          </a:p>
        </p:txBody>
      </p:sp>
      <p:sp>
        <p:nvSpPr>
          <p:cNvPr id="10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37275" y="1939875"/>
            <a:ext cx="2549525" cy="3424634"/>
          </a:xfrm>
          <a:prstGeom prst="rect">
            <a:avLst/>
          </a:prstGeom>
          <a:noFill/>
          <a:ln w="19050">
            <a:solidFill>
              <a:srgbClr val="12171D"/>
            </a:solidFill>
            <a:prstDash val="dash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50000" y="2152600"/>
            <a:ext cx="2187797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11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PENDING VALIDATION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50000" y="4689525"/>
            <a:ext cx="2187797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Working state. Do not present as final.</a:t>
            </a:r>
            <a:endParaRPr lang="en-US" sz="1300" dirty="0"/>
          </a:p>
        </p:txBody>
      </p:sp>
      <p:sp>
        <p:nvSpPr>
          <p:cNvPr id="13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29675" y="1936700"/>
            <a:ext cx="2543175" cy="3430984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039225" y="2146250"/>
            <a:ext cx="2187797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11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REFERENCE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039225" y="4695875"/>
            <a:ext cx="2187797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Illustrative or historical. Not for production.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5602635"/>
            <a:ext cx="11379200" cy="2647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Labels are always written as words, never signalled by colour alone. Placeholders: [PENDING], [TO BE VERIFIED], [REQUIRES OWNER].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STEWARDSHIP · STATUS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73</a:t>
            </a:r>
            <a:endParaRPr lang="en-US" sz="12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0551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ASSET LIBRARY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3920"/>
            <a:ext cx="4055110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13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TEN FOLDERS. ONE SOURCE.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5363270"/>
            <a:ext cx="4055110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approved artwork lives in the library. Anything pending is labelled and kept apart.</a:t>
            </a:r>
            <a:endParaRPr lang="en-US" sz="1300" dirty="0"/>
          </a:p>
        </p:txBody>
      </p:sp>
      <p:sp>
        <p:nvSpPr>
          <p:cNvPr id="5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59400" y="815975"/>
            <a:ext cx="30099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59400" y="933450"/>
            <a:ext cx="3100197" cy="794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Brand Masters</a:t>
            </a:r>
            <a:endParaRPr lang="en-US" sz="1500" dirty="0"/>
          </a:p>
        </p:txBody>
      </p:sp>
      <p:sp>
        <p:nvSpPr>
          <p:cNvPr id="7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69300" y="815975"/>
            <a:ext cx="30099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369300" y="933450"/>
            <a:ext cx="3100197" cy="794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Packaging</a:t>
            </a:r>
            <a:endParaRPr lang="en-US" sz="1500" dirty="0"/>
          </a:p>
        </p:txBody>
      </p:sp>
      <p:sp>
        <p:nvSpPr>
          <p:cNvPr id="9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59400" y="1820515"/>
            <a:ext cx="30099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359400" y="1937990"/>
            <a:ext cx="3100197" cy="794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Type &amp; Color</a:t>
            </a:r>
            <a:endParaRPr lang="en-US" sz="1500" dirty="0"/>
          </a:p>
        </p:txBody>
      </p:sp>
      <p:sp>
        <p:nvSpPr>
          <p:cNvPr id="11" name="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69300" y="1820515"/>
            <a:ext cx="30099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69300" y="1937990"/>
            <a:ext cx="3100197" cy="794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Digital</a:t>
            </a:r>
            <a:endParaRPr lang="en-US" sz="1500" dirty="0"/>
          </a:p>
        </p:txBody>
      </p:sp>
      <p:sp>
        <p:nvSpPr>
          <p:cNvPr id="13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59400" y="2825055"/>
            <a:ext cx="30099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359400" y="2942530"/>
            <a:ext cx="3100197" cy="795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Imagery</a:t>
            </a:r>
            <a:endParaRPr lang="en-US" sz="1500" dirty="0"/>
          </a:p>
        </p:txBody>
      </p:sp>
      <p:sp>
        <p:nvSpPr>
          <p:cNvPr id="15" name="Shap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69300" y="2825055"/>
            <a:ext cx="30099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369300" y="2942530"/>
            <a:ext cx="3100197" cy="795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Localization</a:t>
            </a:r>
            <a:endParaRPr lang="en-US" sz="1500" dirty="0"/>
          </a:p>
        </p:txBody>
      </p:sp>
      <p:sp>
        <p:nvSpPr>
          <p:cNvPr id="17" name="Shap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59400" y="3829645"/>
            <a:ext cx="30099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359400" y="3947120"/>
            <a:ext cx="3100197" cy="795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Motion</a:t>
            </a:r>
            <a:endParaRPr lang="en-US" sz="1500" dirty="0"/>
          </a:p>
        </p:txBody>
      </p:sp>
      <p:sp>
        <p:nvSpPr>
          <p:cNvPr id="19" name="Shap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69300" y="3829645"/>
            <a:ext cx="30099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369300" y="3947120"/>
            <a:ext cx="3100197" cy="795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Governance</a:t>
            </a:r>
            <a:endParaRPr lang="en-US" sz="1500" dirty="0"/>
          </a:p>
        </p:txBody>
      </p:sp>
      <p:sp>
        <p:nvSpPr>
          <p:cNvPr id="21" name="Shape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59400" y="4834235"/>
            <a:ext cx="30099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2" name="Shape 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59400" y="5838825"/>
            <a:ext cx="30099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359400" y="4951710"/>
            <a:ext cx="3100197" cy="795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Applications</a:t>
            </a:r>
            <a:endParaRPr lang="en-US" sz="1500" dirty="0"/>
          </a:p>
        </p:txBody>
      </p:sp>
      <p:sp>
        <p:nvSpPr>
          <p:cNvPr id="24" name="Shape 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69300" y="4834235"/>
            <a:ext cx="30099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5" name="Shape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69300" y="5838825"/>
            <a:ext cx="30099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369300" y="4951710"/>
            <a:ext cx="3100197" cy="795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Archive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STEWARDSHIP · ASSETS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74</a:t>
            </a:r>
            <a:endParaRPr lang="en-US" sz="12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 NAMING · THE CONVENTION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spc="6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name should say what it is.</a:t>
            </a:r>
            <a:endParaRPr lang="en-US" sz="3200" dirty="0"/>
          </a:p>
        </p:txBody>
      </p:sp>
      <p:sp>
        <p:nvSpPr>
          <p:cNvPr id="4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9150" y="1987500"/>
            <a:ext cx="10553700" cy="138172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181100" y="2298650"/>
            <a:ext cx="10124694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spc="50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GEM_[STREAM]_[ASSET]_[VARIANT]_vX.Y_YYYYMMDD.ext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1100" y="2826941"/>
            <a:ext cx="1012469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Example: GEM_BRAND_Horizontal_Black_v3.0_20261006.svg · convention X12 of the V3 Approval Register</a:t>
            </a:r>
            <a:endParaRPr lang="en-US" sz="1300" dirty="0"/>
          </a:p>
        </p:txBody>
      </p:sp>
      <p:sp>
        <p:nvSpPr>
          <p:cNvPr id="7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3632746"/>
            <a:ext cx="3318917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12800" y="3737521"/>
            <a:ext cx="3418484" cy="1222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spaces. Short, predictable names. The stream field follows the asset library folder.</a:t>
            </a:r>
            <a:endParaRPr lang="en-US" sz="1300" dirty="0"/>
          </a:p>
        </p:txBody>
      </p:sp>
      <p:sp>
        <p:nvSpPr>
          <p:cNvPr id="9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36517" y="3632746"/>
            <a:ext cx="3318966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436517" y="3737521"/>
            <a:ext cx="3418535" cy="1222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"final", "new" or "latest". The date field (YYYYMMDD) is the issue date; the version number carries asset history.</a:t>
            </a:r>
            <a:endParaRPr lang="en-US" sz="1300" dirty="0"/>
          </a:p>
        </p:txBody>
      </p:sp>
      <p:sp>
        <p:nvSpPr>
          <p:cNvPr id="11" name="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60283" y="3632746"/>
            <a:ext cx="3318917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060283" y="3737521"/>
            <a:ext cx="3418484" cy="1222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Approval, checksum, owner, source and release status live in the asset manifest. Proposed, CONDITIONAL [REQUIRES OWNER]: asset ID GEM-[CATEGORY]-[NNN] and SHA-256 checksums (Part C, Appendix N).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STEWARDSHIP · NAMING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</a:t>
            </a:r>
            <a:endParaRPr lang="en-US" sz="12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31"/>
          <p:cNvSpPr>
            <a:spLocks noGrp="1"/>
          </p:cNvSpPr>
          <p:nvPr>
            <p:ph type="title"/>
          </p:nvPr>
        </p:nvSpPr>
        <p:spPr>
          <a:xfrm>
            <a:off x="457200" y="7315200"/>
            <a:ext cx="8229600" cy="36576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200" dirty="0"/>
              <a:t>Do and don't: summary</a:t>
            </a:r>
          </a:p>
        </p:txBody>
      </p:sp>
      <p:sp>
        <p:nvSpPr>
          <p:cNvPr id="2" name="Text 0"/>
          <p:cNvSpPr/>
          <p:nvPr/>
        </p:nvSpPr>
        <p:spPr>
          <a:xfrm>
            <a:off x="812800" y="812800"/>
            <a:ext cx="4813808" cy="878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4800" spc="38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DO</a:t>
            </a:r>
            <a:endParaRPr lang="en-US" sz="4800" dirty="0"/>
          </a:p>
        </p:txBody>
      </p:sp>
      <p:sp>
        <p:nvSpPr>
          <p:cNvPr id="3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1872605"/>
            <a:ext cx="4673600" cy="0"/>
          </a:xfrm>
          <a:prstGeom prst="line">
            <a:avLst/>
          </a:prstGeom>
          <a:noFill/>
          <a:ln w="63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12800" y="1964680"/>
            <a:ext cx="4813808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space</a:t>
            </a:r>
            <a:endParaRPr lang="en-US" sz="1700" dirty="0"/>
          </a:p>
        </p:txBody>
      </p:sp>
      <p:sp>
        <p:nvSpPr>
          <p:cNvPr id="5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2362795"/>
            <a:ext cx="4673600" cy="0"/>
          </a:xfrm>
          <a:prstGeom prst="line">
            <a:avLst/>
          </a:prstGeom>
          <a:noFill/>
          <a:ln w="63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12800" y="2454870"/>
            <a:ext cx="4813808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proportion</a:t>
            </a:r>
            <a:endParaRPr lang="en-US" sz="1700" dirty="0"/>
          </a:p>
        </p:txBody>
      </p:sp>
      <p:sp>
        <p:nvSpPr>
          <p:cNvPr id="7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2852986"/>
            <a:ext cx="4673600" cy="0"/>
          </a:xfrm>
          <a:prstGeom prst="line">
            <a:avLst/>
          </a:prstGeom>
          <a:noFill/>
          <a:ln w="63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12800" y="2945061"/>
            <a:ext cx="4813808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approved artwork</a:t>
            </a:r>
            <a:endParaRPr lang="en-US" sz="1700" dirty="0"/>
          </a:p>
        </p:txBody>
      </p:sp>
      <p:sp>
        <p:nvSpPr>
          <p:cNvPr id="9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3343176"/>
            <a:ext cx="4673600" cy="0"/>
          </a:xfrm>
          <a:prstGeom prst="line">
            <a:avLst/>
          </a:prstGeom>
          <a:noFill/>
          <a:ln w="63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12800" y="3435251"/>
            <a:ext cx="4813808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restraint</a:t>
            </a:r>
            <a:endParaRPr lang="en-US" sz="1700" dirty="0"/>
          </a:p>
        </p:txBody>
      </p:sp>
      <p:sp>
        <p:nvSpPr>
          <p:cNvPr id="11" name="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3833366"/>
            <a:ext cx="4673600" cy="0"/>
          </a:xfrm>
          <a:prstGeom prst="line">
            <a:avLst/>
          </a:prstGeom>
          <a:noFill/>
          <a:ln w="63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12800" y="3925441"/>
            <a:ext cx="4813808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details</a:t>
            </a:r>
            <a:endParaRPr lang="en-US" sz="1700" dirty="0"/>
          </a:p>
        </p:txBody>
      </p:sp>
      <p:sp>
        <p:nvSpPr>
          <p:cNvPr id="13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4323556"/>
            <a:ext cx="4673600" cy="0"/>
          </a:xfrm>
          <a:prstGeom prst="line">
            <a:avLst/>
          </a:prstGeom>
          <a:noFill/>
          <a:ln w="635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12800" y="4415631"/>
            <a:ext cx="4813808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Maintain hierarchy</a:t>
            </a:r>
            <a:endParaRPr lang="en-US" sz="1700" dirty="0"/>
          </a:p>
        </p:txBody>
      </p:sp>
      <p:sp>
        <p:nvSpPr>
          <p:cNvPr id="15" name="Shap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705600" y="812800"/>
            <a:ext cx="4813808" cy="878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4800" spc="38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DON'T</a:t>
            </a:r>
            <a:endParaRPr lang="en-US" sz="4800" dirty="0"/>
          </a:p>
        </p:txBody>
      </p:sp>
      <p:sp>
        <p:nvSpPr>
          <p:cNvPr id="17" name="Shap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05600" y="1872605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705600" y="1964680"/>
            <a:ext cx="4813808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Decorate</a:t>
            </a:r>
            <a:endParaRPr lang="en-US" sz="1700" dirty="0"/>
          </a:p>
        </p:txBody>
      </p:sp>
      <p:sp>
        <p:nvSpPr>
          <p:cNvPr id="19" name="Shap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05600" y="2362795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705600" y="2454870"/>
            <a:ext cx="4813808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Invent</a:t>
            </a:r>
            <a:endParaRPr lang="en-US" sz="1700" dirty="0"/>
          </a:p>
        </p:txBody>
      </p:sp>
      <p:sp>
        <p:nvSpPr>
          <p:cNvPr id="21" name="Shape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05600" y="2852986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705600" y="2945061"/>
            <a:ext cx="4813808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Over-colour</a:t>
            </a:r>
            <a:endParaRPr lang="en-US" sz="1700" dirty="0"/>
          </a:p>
        </p:txBody>
      </p:sp>
      <p:sp>
        <p:nvSpPr>
          <p:cNvPr id="23" name="Shape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05600" y="3343176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705600" y="3435251"/>
            <a:ext cx="4813808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Over-round</a:t>
            </a:r>
            <a:endParaRPr lang="en-US" sz="1700" dirty="0"/>
          </a:p>
        </p:txBody>
      </p:sp>
      <p:sp>
        <p:nvSpPr>
          <p:cNvPr id="25" name="Shape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05600" y="3833366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705600" y="3925441"/>
            <a:ext cx="4813808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Over-brand</a:t>
            </a:r>
            <a:endParaRPr lang="en-US" sz="1700" dirty="0"/>
          </a:p>
        </p:txBody>
      </p:sp>
      <p:sp>
        <p:nvSpPr>
          <p:cNvPr id="27" name="Shape 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05600" y="4323556"/>
            <a:ext cx="46736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705600" y="4415631"/>
            <a:ext cx="4813808" cy="3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Copy generic luxury cues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SUMMARY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76</a:t>
            </a:r>
            <a:endParaRPr lang="en-US" sz="12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29"/>
          <p:cNvSpPr>
            <a:spLocks noGrp="1"/>
          </p:cNvSpPr>
          <p:nvPr>
            <p:ph type="title"/>
          </p:nvPr>
        </p:nvSpPr>
        <p:spPr>
          <a:xfrm>
            <a:off x="457200" y="7315200"/>
            <a:ext cx="8229600" cy="36576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200" dirty="0"/>
              <a:t>Quick reference</a:t>
            </a:r>
          </a:p>
        </p:txBody>
      </p:sp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QUICK REFERENCE</a:t>
            </a:r>
            <a:endParaRPr lang="en-US" sz="1200" dirty="0"/>
          </a:p>
        </p:txBody>
      </p:sp>
      <p:sp>
        <p:nvSpPr>
          <p:cNvPr id="3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1203920"/>
            <a:ext cx="2546350" cy="226060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pic>
        <p:nvPicPr>
          <p:cNvPr id="4" name="Image 0" descr="GEM primary signature, quick reference." title="GEM primary signature, quick reference.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240" r="-240" t="0" b="0"/>
          <a:stretch/>
        </p:blipFill>
        <p:spPr>
          <a:xfrm>
            <a:off x="965200" y="1356320"/>
            <a:ext cx="1270000" cy="4000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5200" y="3098800"/>
            <a:ext cx="23087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 · 1u min, 2u preferred</a:t>
            </a:r>
            <a:endParaRPr lang="en-US" sz="1200" dirty="0"/>
          </a:p>
        </p:txBody>
      </p:sp>
      <p:sp>
        <p:nvSpPr>
          <p:cNvPr id="6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92500" y="1210270"/>
            <a:ext cx="2533650" cy="22479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7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51250" y="1369020"/>
            <a:ext cx="547688" cy="38100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8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98938" y="1369020"/>
            <a:ext cx="547688" cy="381000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9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46625" y="1369020"/>
            <a:ext cx="547688" cy="381000"/>
          </a:xfrm>
          <a:prstGeom prst="rect">
            <a:avLst/>
          </a:prstGeom>
          <a:solidFill>
            <a:srgbClr val="020202"/>
          </a:solidFill>
          <a:ln/>
        </p:spPr>
        <p:txBody>
          <a:bodyPr/>
          <a:p/>
        </p:txBody>
      </p:sp>
      <p:sp>
        <p:nvSpPr>
          <p:cNvPr id="10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00663" y="1375370"/>
            <a:ext cx="560388" cy="3683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3651250" y="2872780"/>
            <a:ext cx="228263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PALETTE · Ink, Beige, Black, White</a:t>
            </a:r>
            <a:endParaRPr lang="en-US" sz="1200" dirty="0"/>
          </a:p>
        </p:txBody>
      </p:sp>
      <p:sp>
        <p:nvSpPr>
          <p:cNvPr id="12" name="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65850" y="1210270"/>
            <a:ext cx="2533650" cy="224790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6324600" y="1369020"/>
            <a:ext cx="2282635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Jost + Inter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324600" y="2872780"/>
            <a:ext cx="228263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 · Arabic: interim, pending</a:t>
            </a:r>
            <a:endParaRPr lang="en-US" sz="1200" dirty="0"/>
          </a:p>
        </p:txBody>
      </p:sp>
      <p:sp>
        <p:nvSpPr>
          <p:cNvPr id="15" name="Shap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32850" y="1203920"/>
            <a:ext cx="2546350" cy="2260600"/>
          </a:xfrm>
          <a:prstGeom prst="rect">
            <a:avLst/>
          </a:prstGeom>
          <a:solidFill>
            <a:srgbClr val="BCACA7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8985250" y="1356320"/>
            <a:ext cx="230879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15" kern="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HOSPITALITY, IN PERFECT PROPORTION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985250" y="3098800"/>
            <a:ext cx="23087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TAGLINE · fixed, never altered</a:t>
            </a:r>
            <a:endParaRPr lang="en-US" sz="1200" dirty="0"/>
          </a:p>
        </p:txBody>
      </p:sp>
      <p:sp>
        <p:nvSpPr>
          <p:cNvPr id="18" name="Shap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9150" y="3597870"/>
            <a:ext cx="2533650" cy="223778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pic>
        <p:nvPicPr>
          <p:cNvPr id="19" name="Image 1" descr="Ring, arc, quarter and spark drawings, quick reference." title="Ring, arc, quarter and spark drawings, quick reference.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77900" y="3756620"/>
            <a:ext cx="1524000" cy="3810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977900" y="5250259"/>
            <a:ext cx="228263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DEVICES · one spark maximum</a:t>
            </a:r>
            <a:endParaRPr lang="en-US" sz="1200" dirty="0"/>
          </a:p>
        </p:txBody>
      </p:sp>
      <p:sp>
        <p:nvSpPr>
          <p:cNvPr id="21" name="Shap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92500" y="3597870"/>
            <a:ext cx="2533650" cy="2237780"/>
          </a:xfrm>
          <a:prstGeom prst="rect">
            <a:avLst/>
          </a:prstGeom>
          <a:noFill/>
          <a:ln w="12700">
            <a:solidFill>
              <a:srgbClr val="12171D"/>
            </a:solidFill>
            <a:prstDash val="solid"/>
          </a:ln>
        </p:spPr>
        <p:txBody>
          <a:bodyPr/>
          <a:p/>
        </p:txBody>
      </p:sp>
      <p:sp>
        <p:nvSpPr>
          <p:cNvPr id="22" name="Text 18"/>
          <p:cNvSpPr/>
          <p:nvPr/>
        </p:nvSpPr>
        <p:spPr>
          <a:xfrm>
            <a:off x="3651250" y="3756620"/>
            <a:ext cx="2282635" cy="454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Measured. Warm. Confident. Precise.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3651250" y="5463580"/>
            <a:ext cx="228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</a:t>
            </a:r>
            <a:endParaRPr lang="en-US" sz="1200" dirty="0"/>
          </a:p>
        </p:txBody>
      </p:sp>
      <p:sp>
        <p:nvSpPr>
          <p:cNvPr id="24" name="Shape 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59500" y="3591520"/>
            <a:ext cx="5219700" cy="2250480"/>
          </a:xfrm>
          <a:prstGeom prst="rect">
            <a:avLst/>
          </a:prstGeom>
          <a:solidFill>
            <a:srgbClr val="12171D"/>
          </a:solidFill>
          <a:ln/>
        </p:spPr>
        <p:txBody>
          <a:bodyPr/>
          <a:p/>
        </p:txBody>
      </p:sp>
      <p:sp>
        <p:nvSpPr>
          <p:cNvPr id="25" name="Text 21"/>
          <p:cNvSpPr/>
          <p:nvPr/>
        </p:nvSpPr>
        <p:spPr>
          <a:xfrm>
            <a:off x="6311900" y="3743920"/>
            <a:ext cx="5062347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gold, gradients, shadows, accent colours, Beige on White, over-rounding, or SaaS styling.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6311900" y="5476280"/>
            <a:ext cx="50623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PROHIBITIONS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812800" y="6238280"/>
            <a:ext cx="7620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SUMMARY · QUICK REFERENCE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77</a:t>
            </a:r>
            <a:endParaRPr lang="en-US" sz="12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VALIDATION ITEMS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0" i="0" spc="12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WHAT IS NOT YET SETTLED.</a:t>
            </a:r>
            <a:endParaRPr lang="en-US" sz="3000" dirty="0"/>
          </a:p>
        </p:txBody>
      </p:sp>
      <p:sp>
        <p:nvSpPr>
          <p:cNvPr id="4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1753195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12800" y="1857970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logo masters · VAL-02 · VECTOR KIT RECEIVED, ACCEPTANCE PENDING</a:t>
            </a:r>
            <a:endParaRPr lang="en-US" sz="1400" dirty="0"/>
          </a:p>
        </p:txBody>
      </p:sp>
      <p:sp>
        <p:nvSpPr>
          <p:cNvPr id="6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0" y="1753195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096000" y="1857970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Packaging pilot proof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VAL-09 · NOT STARTED</a:t>
            </a:r>
            <a:endParaRPr lang="en-US" sz="1400" dirty="0"/>
          </a:p>
        </p:txBody>
      </p:sp>
      <p:sp>
        <p:nvSpPr>
          <p:cNvPr id="8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2570311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12800" y="2675086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Trademark and artwork ownership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VAL-03, VAL-04 · [TO BE VERIFIED]</a:t>
            </a:r>
            <a:endParaRPr lang="en-US" sz="1400" dirty="0"/>
          </a:p>
        </p:txBody>
      </p:sp>
      <p:sp>
        <p:nvSpPr>
          <p:cNvPr id="10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0" y="2570311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096000" y="2675086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standards, Part C RC2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ISSUED · AC17, VAL-10, VAL-11 OPEN</a:t>
            </a:r>
            <a:endParaRPr lang="en-US" sz="1400" dirty="0"/>
          </a:p>
        </p:txBody>
      </p:sp>
      <p:sp>
        <p:nvSpPr>
          <p:cNvPr id="12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3387427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12800" y="3492202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 build and licence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VAL-05 · PENDING VALIDATION</a:t>
            </a:r>
            <a:endParaRPr lang="en-US" sz="1400" dirty="0"/>
          </a:p>
        </p:txBody>
      </p:sp>
      <p:sp>
        <p:nvSpPr>
          <p:cNvPr id="14" name="Shap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0" y="3387427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096000" y="3492202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Accessibility implementation QA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VAL-08 · IN PROGRESS</a:t>
            </a:r>
            <a:endParaRPr lang="en-US" sz="1400" dirty="0"/>
          </a:p>
        </p:txBody>
      </p:sp>
      <p:sp>
        <p:nvSpPr>
          <p:cNvPr id="16" name="Shap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4204543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12800" y="4309318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 rights and commissioned photography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VAL-06 · PENDING</a:t>
            </a:r>
            <a:endParaRPr lang="en-US" sz="1400" dirty="0"/>
          </a:p>
        </p:txBody>
      </p:sp>
      <p:sp>
        <p:nvSpPr>
          <p:cNvPr id="18" name="Shape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0" y="4204543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096000" y="4309318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 holders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AC19 · [REQUIRES OWNER]</a:t>
            </a:r>
            <a:endParaRPr lang="en-US" sz="1400" dirty="0"/>
          </a:p>
        </p:txBody>
      </p:sp>
      <p:sp>
        <p:nvSpPr>
          <p:cNvPr id="20" name="Shape 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5021659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1" name="Shape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5838825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12800" y="5126434"/>
            <a:ext cx="5441696" cy="633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Arabic native QA and localization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VAL-07, AC10 · PENDING VALIDATION</a:t>
            </a:r>
            <a:endParaRPr lang="en-US" sz="1400" dirty="0"/>
          </a:p>
        </p:txBody>
      </p:sp>
      <p:sp>
        <p:nvSpPr>
          <p:cNvPr id="23" name="Shape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0" y="5021659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4" name="Shape 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0" y="5838825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096000" y="5126434"/>
            <a:ext cx="5441696" cy="633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Release authorization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AC20 · [REQUIRES OWNER]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SUMMARY · OPEN ITEMS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3816" y="591616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1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Also open: VAL-13 to VAL-17, VAL-19 to VAL-21 and the template deliverables (AB10, AB11, W01–W14). IDs follow the V3 Approval Register.</a:t>
            </a:r>
            <a:endParaRPr lang="en-US" sz="12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9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 CONTROL &amp; CHANGE LOG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0" i="0" spc="12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ONE VERSION. ONE DATE. ONE OWNER.</a:t>
            </a:r>
            <a:endParaRPr lang="en-US" sz="3000" dirty="0"/>
          </a:p>
        </p:txBody>
      </p:sp>
      <p:sp>
        <p:nvSpPr>
          <p:cNvPr id="4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1753195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12800" y="1857970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 ID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GEM-BG-V3.0-RC2</a:t>
            </a:r>
            <a:endParaRPr lang="en-US" sz="1400" dirty="0"/>
          </a:p>
        </p:txBody>
      </p:sp>
      <p:sp>
        <p:nvSpPr>
          <p:cNvPr id="6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0" y="1753195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096000" y="1857970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Title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GEM™ Brand Guidelines V3.0 — Part A</a:t>
            </a:r>
            <a:endParaRPr lang="en-US" sz="1400" dirty="0"/>
          </a:p>
        </p:txBody>
      </p:sp>
      <p:sp>
        <p:nvSpPr>
          <p:cNvPr id="8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2570311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12800" y="2675086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Version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V3.0 RC2 (Release Candidate 2)</a:t>
            </a:r>
            <a:endParaRPr lang="en-US" sz="1400" dirty="0"/>
          </a:p>
        </p:txBody>
      </p:sp>
      <p:sp>
        <p:nvSpPr>
          <p:cNvPr id="10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0" y="2570311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096000" y="2675086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Edition state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WORKING EDITION · NOT RELEASED</a:t>
            </a:r>
            <a:endParaRPr lang="en-US" sz="1400" dirty="0"/>
          </a:p>
        </p:txBody>
      </p:sp>
      <p:sp>
        <p:nvSpPr>
          <p:cNvPr id="12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3387427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12800" y="3492202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Issue date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2026-10-06</a:t>
            </a:r>
            <a:endParaRPr lang="en-US" sz="1400" dirty="0"/>
          </a:p>
        </p:txBody>
      </p:sp>
      <p:sp>
        <p:nvSpPr>
          <p:cNvPr id="14" name="Shap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0" y="3387427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096000" y="3492202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Brand Owner [REQUIRES OWNER]</a:t>
            </a:r>
            <a:endParaRPr lang="en-US" sz="1400" dirty="0"/>
          </a:p>
        </p:txBody>
      </p:sp>
      <p:sp>
        <p:nvSpPr>
          <p:cNvPr id="16" name="Shap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4204543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12800" y="4309318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Approver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Brand Owner · AC20 PENDING</a:t>
            </a:r>
            <a:endParaRPr lang="en-US" sz="1400" dirty="0"/>
          </a:p>
        </p:txBody>
      </p:sp>
      <p:sp>
        <p:nvSpPr>
          <p:cNvPr id="18" name="Shape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0" y="4204543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096000" y="4309318"/>
            <a:ext cx="5441696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Release status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RC2 synchronized · evidence gates open</a:t>
            </a:r>
            <a:endParaRPr lang="en-US" sz="1400" dirty="0"/>
          </a:p>
        </p:txBody>
      </p:sp>
      <p:sp>
        <p:nvSpPr>
          <p:cNvPr id="20" name="Shape 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5021659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1" name="Shape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800" y="5838825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12800" y="5126434"/>
            <a:ext cx="5441696" cy="633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Supersedes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V3.0 working edition (undated, pre-RC2)</a:t>
            </a:r>
            <a:endParaRPr lang="en-US" sz="1400" dirty="0"/>
          </a:p>
        </p:txBody>
      </p:sp>
      <p:sp>
        <p:nvSpPr>
          <p:cNvPr id="23" name="Shape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0" y="5021659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4" name="Shape 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0" y="5838825"/>
            <a:ext cx="5283200" cy="0"/>
          </a:xfrm>
          <a:prstGeom prst="line">
            <a:avLst/>
          </a:prstGeom>
          <a:noFill/>
          <a:ln w="6350">
            <a:solidFill>
              <a:srgbClr val="BCACA7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096000" y="5126434"/>
            <a:ext cx="5441696" cy="633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Related </a:t>
            </a:r>
            <a:r>
              <a:rPr lang="en-US" sz="14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GEM-DDS-V3.0-RC2 (Part B) · GEM-PS-V3.0-RC2 (Part C) · V3 Approval Register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12800" y="6238280"/>
            <a:ext cx="868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BRAND GUIDELINES V3.0 RC2 · PART A · STEWARDSHIP · DOCUMENT CONTROL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3816" y="5760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00" spc="95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 log · RC2, 2026-10-06: synchronized with Part B and Part C RC2 and the V3 Approval Register (authority order, twelve roles, VAL IDs, S07 wayfinding default, six-level hierarchy T05, X12 naming, edition vocabulary, alt text). Full record: GEM_V3_RC2_Release_Notes.</a:t>
            </a:r>
            <a:endParaRPr lang="en-US" sz="12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6"/>
          <p:cNvSpPr>
            <a:spLocks noGrp="1"/>
          </p:cNvSpPr>
          <p:nvPr>
            <p:ph type="title"/>
          </p:nvPr>
        </p:nvSpPr>
        <p:spPr>
          <a:xfrm>
            <a:off x="457200" y="7315200"/>
            <a:ext cx="8229600" cy="36576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200" dirty="0"/>
              <a:t>Hospitality, in perfect proportion</a:t>
            </a:r>
          </a:p>
        </p:txBody>
      </p:sp>
      <p:pic>
        <p:nvPicPr>
          <p:cNvPr id="2" name="Image 0" descr="Decorative background geometry: cropped GEM ring and quarter forms." title="Decorative background geometry: cropped GEM ring and quarter">
            <a:extLst>
              <a:ext uri="{C183D7F6-B498-43B3-948B-1728B52AA6E4}">
                <ns0:decorative xmlns:ns0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GEM primary horizontal signature, Beige on Ink, supplied raster." title="GEM primary horizontal signature, Beige on Ink, supplied ras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0" r="0" t="-24" b="-24"/>
          <a:stretch/>
        </p:blipFill>
        <p:spPr>
          <a:xfrm>
            <a:off x="812800" y="812800"/>
            <a:ext cx="2667000" cy="8445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12800" y="5572770"/>
            <a:ext cx="719455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325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HOSPITALITY, IN PERFECT PROPORTION</a:t>
            </a:r>
            <a:endParaRPr lang="en-US" sz="1800" dirty="0"/>
          </a:p>
        </p:txBody>
      </p:sp>
      <p:sp>
        <p:nvSpPr>
          <p:cNvPr id="5" name="Text 1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Guidelines V3.0 RC2 · Part A · Working edition · not released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M Brand Guidelines V3.0 — Part A">
  <a:themeElements>
    <a:clrScheme name="GEM Brand Guidelines V3.0 — Part A">
      <a:dk1>
        <a:srgbClr val="12171D"/>
      </a:dk1>
      <a:lt1>
        <a:srgbClr val="FFFFFF"/>
      </a:lt1>
      <a:dk2>
        <a:srgbClr val="4D5156"/>
      </a:dk2>
      <a:lt2>
        <a:srgbClr val="E7E8E8"/>
      </a:lt2>
      <a:accent1>
        <a:srgbClr val="BCACA7"/>
      </a:accent1>
      <a:accent2>
        <a:srgbClr val="9AA0A6"/>
      </a:accent2>
      <a:accent3>
        <a:srgbClr val="717477"/>
      </a:accent3>
      <a:accent4>
        <a:srgbClr val="949799"/>
      </a:accent4>
      <a:accent5>
        <a:srgbClr val="B8B9BB"/>
      </a:accent5>
      <a:accent6>
        <a:srgbClr val="D0D1D2"/>
      </a:accent6>
      <a:hlink>
        <a:srgbClr val="0563C1"/>
      </a:hlink>
      <a:folHlink>
        <a:srgbClr val="954F72"/>
      </a:folHlink>
    </a:clrScheme>
    <a:fontScheme name="GEM Brand Guidelines V3.0 — Part A">
      <a:majorFont>
        <a:latin typeface="Jos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79</Slides>
  <Notes>79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8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GEM Brand Guidelines V3.0 — Part A</dc:title>
  <dc:subject/>
  <dc:creator/>
  <cp:lastModifiedBy/>
  <cp:revision>1</cp:revision>
  <dcterms:created xsi:type="dcterms:W3CDTF">2026-10-06T01:30:59Z</dcterms:created>
  <dcterms:modified xsi:type="dcterms:W3CDTF">2026-10-06T01:30:59Z</dcterms:modified>
</cp:coreProperties>
</file>