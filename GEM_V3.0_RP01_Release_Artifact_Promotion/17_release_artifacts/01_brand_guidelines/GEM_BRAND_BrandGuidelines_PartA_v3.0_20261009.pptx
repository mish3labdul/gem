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6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80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Edition: V3.0, the owner-authorized final brand-system baseline, synchronized with Part B and Part C and with the V3 Final Brand Approval Register. Brand Owner release authorization (AC20) was issued with formal deferrals and artifact-specific external-issue restrictions. The logo is the supplied vector kit (SVG), used unchanged; owner acceptance as production master is PENDING (VAL-02). Document control and change log: slide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Authority order as set by the register (RF01, RF02, DS01): the register first; then each of the three V3.0 products in its own domain; formal technical and legal standards where they apply; V2/V2.1 and V1 are historical evidence only; benchmarks and inspiration never override a GEM rule. Part A cross-references B and C rather than repeating them. Part C exists as V3.0; its production-standard edition state is working edition pending production validation (AC17).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vector kit (SVG), used unchanged. Acceptance as production master is pending (VAL-02); it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vector kit replaces the earlier raster references; logos are never auto-traced or redrawn.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vector kit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vector kit.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size steps down with each level. Six levels per register decision T05: GEM → collection/tier → product/function → quantity/size → instructions/required market information → SKU/artwork version. Detailed layout, dielines and production controls belong to Part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Fabrication, sizes, mounting and materials depend on each property and are not specified here (Part C). Bilingual order for Saudi/GCC wayfinding follows register decision S07: Arabic first and right, English secondary and left; adapt only where regulatory or operational context requires, as a documented project-specific deviation. External property signage is deferred (S02). Arabic text is a placeholder pending localization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Accessibility implementation QA remains an open gate (VAL-08). This deck uses readable sizes and AA contrast pairings; every image carries alt text and purely decorative geometry is marked decorative (V02, V03). Native document QA (VAL-15) is still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twelve roles and their responsibilities are those of the register's Owners &amp; Governance sheet; Part B and Part C cite this list and add only their domain duties. No people are invented. Detailed RACI is intentionally omitted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hold the supplied vector kit; owner acceptance as production master is PENDING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Convention X12 of the register. Earlier working editions omitted the date field; the register wins. Asset-ID format and checksum algorithm are proposals pending owner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Summarized by theme with the register's validation IDs (VAL-01 to VAL-21; there is no VAL-18 in the register) and the release checkpoints AC17, AC19 and AC20. Editing this manual closes none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Closing. Part B is the Digital Design System V3.0, issued as V3.0 with a token package; its component bundle is pending (VAL-13, VAL-20). Part C, Production Standards V3.0, is issued as V3.0, pending production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control per register A11 and the change-log appendix (Z24, AB19). Owner and approver names are recorded by the Brand Owner (AC19 is formally deferred). Part B is issued as its own deck with a token package; its component bundle does not yet exist (VAL-13, VAL-20).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Brand Guidelines V3.0 — Part A: Master Brand Guidelines</a:t>
            </a:r>
          </a:p>
        </p:txBody>
      </p:sp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, PENDING PRODUCTION MASTER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V3.0 · Owner authorized final brand-system baseline (AC20) · formal deferrals recorded · logo from supplied vector kit, owner acceptance PENDING (VAL-02) · Document ID GEM-BG-V3.0 · issued 2026-10-09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Final Brand Approval Register</a:t>
            </a:r>
            <a:endParaRPr lang="en-US" sz="15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Part A, Brand Guidelines: brand and identity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Part B, Digital Design System: digital implementation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Part C, Production Standards: physical production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Formal technical and legal standards, where they apply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V2 / V2.1 and V1: historical, superseded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111496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Benchmarks and inspiration only</a:t>
            </a:r>
            <a:endParaRPr lang="en-US" sz="1500" dirty="0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44982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3816" y="5559552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ownership: where A, B and C cover different implementation domains, the owning document governs that domain unless the Approval Register overrides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846320"/>
            <a:ext cx="37150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Issued as V3.0, pending production validation.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 or CONCEPT / NOT PRODUCTION PHOTOGRAPHY. Further labels: PENDING PRODUCTION MASTER, PENDING LOCALIZATION APPROVAL, PROJECT-SPECIFIC / REQUIRES SITE VALIDATION. Edition states: WORKING EDITION, RELEASE CANDIDATE (RC), APPROVED. An edition becomes APPROVED only by Brand Owner authorization (AC20).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ige field with one cropped ring line, decorative." title="Beige field with one cropped ring line, decorative.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24912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ring pressed into a warm uncoated surface. Concept, not production photography." title="Rendered reference study: a ring pressed into a warm uncoate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of the four device forms: ring, opening arc, quarter mass and four-point spark. Not the master artwork." title="Schematic of the four device forms: ring, opening arc, qu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lit doorway threshold in a dark field. Concept, not production photography." title="Rendered reference study: a lit doorway threshold in a dark 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Positioning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 firstRow="1"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Verbal identity: tone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Vocabulary: use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Taglines and signature language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400.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Primary horizontal signature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Primary horizontal signature, Beige on Ink, supplied raster." title="Primary horizontal signature, Beige on Ink, supplied raster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Monochrome signature, Black on White, supplied raster." title="Monochrome signature, Black on White, supplied raster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Reversed signature, White on Ink, supplied raster." title="Reversed signature, White on Ink, supplied raster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VECTOR KIT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mark, four artworks, vector throughout.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Standalone symbol, Beige on Ink, supplied raster." title="Standalone symbol, Beige on Ink, supplied rast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tandalone symbol, Black on White, supplied raster." title="Standalone symbol, Black on White, supplied raster.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files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Acceptance PENDING (VAL-02)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pic>
        <p:nvPicPr>
          <p:cNvPr id="21" name="Picture 20" descr="GEM stacked logo, bla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684" y="2084831"/>
            <a:ext cx="1015295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4064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Stacked, black on white</a:t>
            </a:r>
            <a:endParaRPr lang="en-US" sz="1200" dirty="0"/>
          </a:p>
        </p:txBody>
      </p:sp>
      <p:pic>
        <p:nvPicPr>
          <p:cNvPr id="22" name="Picture 21" descr="GEM symbol without spark logo, bla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0375" y="2135038"/>
            <a:ext cx="1271016" cy="1271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14616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No-spark, black on white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Logo construction</a:t>
            </a:r>
          </a:p>
        </p:txBody>
      </p:sp>
      <p:pic>
        <p:nvPicPr>
          <p:cNvPr id="2" name="Image 0" descr="GEM symbol enlarged with construction callouts: G-ring, opening, quarter mass and spark, described from the supplied raster." title="GEM symbol enlarged with construction callouts: G-ring, op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Proportions follow the supplied vector kit. PENDING PRODUCTION MASTER (VAL-02).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Clearspace and size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imary signature inside the dashed one-u clearspace boundary." title="Primary signature inside the dashed one-u clearspace bounda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Primary lockup at its 120 px minimum digital width." title="Primary lockup at its 120 px minimum digital width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ymbol at its 32 px minimum digital size." title="Symbol at its 32 px minimum digital size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symbol (supplied kit). PENDING (VAL-02).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3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Logo misuse: never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Logo misuse example: stretched." title="Logo misuse example: stretch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7" name="Image 1" descr="Logo misuse example: rotated." title="Logo misuse example: rotat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0" name="Image 2" descr="Logo misuse example: recoloured outside the palette." title="Logo misuse example: recoloured outside the palette.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3" name="Image 3" descr="Logo misuse example: drop shadow added." title="Logo misuse example: drop shadow add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6" name="Image 4" descr="Logo misuse example: placed on a gradient background." title="Logo misuse example: placed on a gradient background.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9" name="Image 5" descr="Logo misuse example: outlined and contained." title="Logo misuse example: outlined and contain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23" name="Image 6" descr="Logo misuse example: cropped." title="Logo misuse example: cropp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M signature beside a placeholder partner mark, equal-partner co-branding concept." title="GEM signature beside a placeholder partner mark, equal-part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signature in the supplier-relationship concept, placed after 'Supplied by'." title="GEM signature in the supplier-relationship concept, placed a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Colour: the field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114800"/>
            <a:ext cx="21877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fails. Not for essential text, boundaries or the logo (K05). Decorative only (K07).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Typography: Jost, display and headings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4977892"/>
            <a:ext cx="4656836" cy="10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 WEIGHT PENDING ACCEPTED FONT FILE (use 400). Two weights per composition at most. Display capitals carry .08 to .12em tracking (Part B tokens, CONDITIONAL · VAL-19).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Typography: Inter, body and interface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400 · 500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SMALL · INTER 400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.08–.12EM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559552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Values are CONDITIONAL until optical QA in the approved templates (VAL-19).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Bilingual composition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 أولاً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For Saudi/GCC bilingual wayfinding Arabic leads by default (S07, slide 65).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920"/>
              </a:lnSpc>
              <a:buNone/>
            </a:pPr>
            <a:r>
              <a:rPr lang="ar-SA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360"/>
              </a:lnSpc>
              <a:buNone/>
            </a:pPr>
            <a:r>
              <a:rPr lang="ar-SA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</a:t>
            </a: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Composition schematic: margin, edge, crop and open field. Not a template." title="Composition schematic: margin, edge, crop and open field. 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sized ring cropped by the right edge of a dark field, demonstrating scale and tension." title="Oversized ring cropped by the right edge of a dark field, 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33832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A form never intersects a headline or running 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Graphic language: four forms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Illustrative ring drawing." title="Illustrative ring draw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llustrative arc drawing." title="Illustrative arc drawing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llustrative quarter drawing." title="Illustrative quarter drawing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llustrative four-point spark drawing." title="Illustrative four-point spark drawing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clear of the words.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Diagram of outline forms placed large in the open field, off the logo clearspace." title="Diagram of outline forms placed large in the open field, of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 and never behind or through text.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ve four-point spark drawing, not the master artwork." title="Illustrative four-point spark drawing, not the master artw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are geometric, reduced and single-colour: about a 2 px optical stroke on a defined optical box, drawn from the brand's circles and arcs (N15).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Illustrative direction glyph: arrow." title="Illustrative direction glyph: arrow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Illustrative confirm glyph: check in a circle." title="Illustrative confirm glyph: check in a circl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llustrative information glyph: i in a circle." title="Illustrative information glyph: i in a circle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pressed ring in warm single-source light. Concept, not production photography." title="Rendered reference study: pressed ring in warm single-source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2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Photography: nine subjects (reference studies)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0" descr="Reference study: threshold." title="Reference study: threshold.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1" descr="Reference study: material close crop." title="Reference study: material close crop.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6" name="Image 2" descr="Reference study: dining table, overhead." title="Reference study: dining table, overhead.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22" name="Image 3" descr="Reference study: room detail, window light." title="Reference study: room detail, window light.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59161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IMAGES. REQUIRED CATEGORIES (O11–O16): ARCHITECTURE, MATERIALS, THRESHOLDS, AMENITIES; DINING AND SERVICE WHERE RELEVANT. GUEST RITUAL, ROOM DETAILS AND HUMAN PRESENCE ARE SUPPLEMENTARY SUBJECTS.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Photography: do and don't (reference)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Do: one source of light, quiet tones, room to breathe." title="Do: one source of light, quiet tones, room to breathe.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1" descr="Don't: oversaturated with artificial glow." title="Don't: oversaturated with artificial glow.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2" descr="Don't: text placed over the subject." title="Don't: text placed over the subject.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4" name="Image 3" descr="Don't: trendy filter and off-palette tint." title="Don't: trendy filter and off-palette tint.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Threshold study cropped 3:2." title="Threshold study cropped 3:2.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Threshold study cropped 4:5." title="Threshold study cropped 4:5.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Threshold study cropped 16:9." title="Threshold study cropped 16:9.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Threshold study cropped 1:1." title="Threshold study cropped 1:1.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Threshold study cropped 9:16." title="Threshold study cropped 9:16.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9326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RATIOS CONDITIONAL (W07)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5" name="Image 0" descr="Storyboard frame 1: the ring draws itself." title="Storyboard frame 1: the ring draws itself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oryboard frame 2: the spark appears once." title="Storyboard frame 2: the spark appears o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toryboard frame 3: the quarter fills." title="Storyboard frame 3: the quarter fills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401467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Reveal timings CONDITIONAL; motion masters PENDING VALIDATION (VAL-14).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Digital expression: homepage and booking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ignature in the homepage concept header." title="GEM signature in the homepage concept head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Homepage concept: cropped ring behind a quiet arrival headline. Concept, not production artwork." title="Homepage concept: cropped ring behind a quiet arrival headli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Near-square edges (control radius per Part B),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Digital expression: mobile, concierge, B2B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Guest journey timeline with six moments." title="Guest journey timeline with six moments.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Arrival: key card, sleeve, welcome, digital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Key card concept with a cropped ring. Concept, not production artwork." title="Key card concept with a cropped ring. Concept, not product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signature on the key card concept." title="GEM signature on the key card concept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window light on a wall. Concept, not production photography." title="Rendered reference study: window light on a wall. Concept, n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Dining: table detail (reference)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Rendered reference study: table setting from above, few objects. Concept, not production photography." title="Rendered reference study: table setting from above, few obj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Name [REQUIRES OWNER]. Scope [PENDING]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All tiers are CONDITIONAL until commercial scope closes (AC03, VAL-01). Property Edition and Bespoke programmes are named in the register (E14); the name Core Collection is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 and its function, then quantity, information and the SKU. Six levels, as approved (T05). Never reverse the order.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23774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function</a:t>
            </a:r>
            <a:endParaRPr lang="en-US" sz="1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34785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47803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52632"/>
            <a:ext cx="164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/ size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0629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59400" y="3920597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11072"/>
            <a:ext cx="3108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/ market information</a:t>
            </a:r>
            <a:endParaRPr lang="en-US" sz="13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24697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669848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59400" y="435175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351752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Pilot amenity family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ymbol on the Shampoo concept pack." title="GEM symbol on the Shampoo concept pac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9" name="Image 1" descr="GEM symbol on the Conditioner concept pack." title="GEM symbol on the Conditioner concept pack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4" name="Image 2" descr="GEM symbol on the Body Wash concept pack." title="GEM symbol on the Body Wash concept pack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9" name="Image 3" descr="GEM symbol on the Body Lotion concept pack." title="GEM symbol on the Body Lotion concept pack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GEM symbol on the Hand Wash concept pack." title="GEM symbol on the Hand Wash concept pack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Materials and finishes: direction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4" name="Image 0" descr="Rendered reference study: pressed ring on one surface. Concept, not production photography." title="Rendered reference study: pressed ring on one surface. Co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Wayfinding and environment: principles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Illustrative direction arrow glyph." title="Illustrative direction arrow glyp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[العربية]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19472"/>
            <a:ext cx="1088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Arabic. For Saudi/GCC bilingual wayfinding Arabic leads by default: Arabic first and right, English secondary and left, with equivalent information and legibility (S07).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7150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 · EXTERNAL PROPERTY SIGNAGE: DEFERRED (S02)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llustrative information glyph, English sign concept." title="Illustrative information glyph, English sign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llustrative information glyph, Arabic sign concept." title="Illustrative information glyph, Arabic sign concept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200"/>
              </a:lnSpc>
              <a:buNone/>
            </a:pPr>
            <a:r>
              <a:rPr lang="ar-SA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640"/>
              </a:lnSpc>
              <a:buNone/>
            </a:pPr>
            <a:r>
              <a:rPr lang="ar-SA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4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Corporate and B2B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4" name="Image 0" descr="GEM signature on the letterhead concept." title="GEM signature on the letterhead concept.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Miniature bar marks on the data slide concept." title="Miniature bar marks on the data slide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11" name="Image 1" descr="Image-led slide miniature using the threshold study." title="Image-led slide miniature using the threshold study.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40"/>
              </a:lnSpc>
              <a:buNone/>
            </a:pPr>
            <a:r>
              <a:rPr lang="ar-SA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[العربية]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 · TEMPLATES: OPEN DELIVERABLE (AB10, W01, W13)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1:1 social concept with a cropped ring." title="1:1 social concept with a cropped r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2" name="Image 1" descr="9:16 social concept with a quarter form." title="9:16 social concept with a quarter form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 Social starter set: OPEN DELIVERABLE (W07), not yet produced.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TWELVE ROLES KEEP GEM EXACT.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8408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4845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8504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18504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9769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Amenities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/ Supplier 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4845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Design Lead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8504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769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/ Localization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69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513832"/>
            <a:ext cx="1088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follow the V3 Approval Register (Owners &amp; Governance). Named holders are not yet assigned (AC19). Release authorization (AC20) was issued by the Brand Owner, with formal deferrals. ™ in running text and on packs: [REQUIRES OWNER · Legal / IP Counsel].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  <p:sp>
        <p:nvSpPr>
          <p:cNvPr id="31" name="Shape 2-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2" name="Text 3-8"/>
          <p:cNvSpPr/>
          <p:nvPr/>
        </p:nvSpPr>
        <p:spPr>
          <a:xfrm>
            <a:off x="978408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 QA</a:t>
            </a:r>
            <a:endParaRPr lang="en-US" sz="1600" dirty="0"/>
          </a:p>
        </p:txBody>
      </p:sp>
      <p:sp>
        <p:nvSpPr>
          <p:cNvPr id="33" name="Text 4-8"/>
          <p:cNvSpPr/>
          <p:nvPr/>
        </p:nvSpPr>
        <p:spPr>
          <a:xfrm>
            <a:off x="978408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4" name="Shape 2-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5" name="Text 3-9"/>
          <p:cNvSpPr/>
          <p:nvPr/>
        </p:nvSpPr>
        <p:spPr>
          <a:xfrm>
            <a:off x="364845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 / IP Counsel</a:t>
            </a:r>
            <a:endParaRPr lang="en-US" sz="1600" dirty="0"/>
          </a:p>
        </p:txBody>
      </p:sp>
      <p:sp>
        <p:nvSpPr>
          <p:cNvPr id="36" name="Text 4-9"/>
          <p:cNvSpPr/>
          <p:nvPr/>
        </p:nvSpPr>
        <p:spPr>
          <a:xfrm>
            <a:off x="364845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7" name="Shape 2-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8" name="Text 3-10"/>
          <p:cNvSpPr/>
          <p:nvPr/>
        </p:nvSpPr>
        <p:spPr>
          <a:xfrm>
            <a:off x="6318504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/ Document QA</a:t>
            </a:r>
            <a:endParaRPr lang="en-US" sz="1600" dirty="0"/>
          </a:p>
        </p:txBody>
      </p:sp>
      <p:sp>
        <p:nvSpPr>
          <p:cNvPr id="39" name="Text 4-10"/>
          <p:cNvSpPr/>
          <p:nvPr/>
        </p:nvSpPr>
        <p:spPr>
          <a:xfrm>
            <a:off x="6318504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40" name="Shape 2-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1" name="Text 3-11"/>
          <p:cNvSpPr/>
          <p:nvPr/>
        </p:nvSpPr>
        <p:spPr>
          <a:xfrm>
            <a:off x="899769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Librarian / Governance PM</a:t>
            </a:r>
            <a:endParaRPr lang="en-US" sz="1600" dirty="0"/>
          </a:p>
        </p:txBody>
      </p:sp>
      <p:sp>
        <p:nvSpPr>
          <p:cNvPr id="42" name="Text 4-11"/>
          <p:cNvSpPr/>
          <p:nvPr/>
        </p:nvSpPr>
        <p:spPr>
          <a:xfrm>
            <a:off x="899769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GEM_[STREAM]_[ASSET]_[VARIANT]_vX.Y_YYYYMMDD.ext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GEM_BRAND_Horizontal_Black_v3.0_20261006.svg · convention X12 of the V3 Approval Register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stream field follows the asset library folder.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The date field (YYYYMMDD) is the issue date; the version number carries asset history.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Approval, checksum, owner, source and release status live in the asset manifest. Proposed, CONDITIONAL [REQUIRES OWNER]: asset ID GEM-[CATEGORY]-[NNN] and SHA-256 checksums (Part C, Appendix 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Do and don't: summary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Quick reference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primary signature, quick reference." title="GEM primary signature, quick reference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Ring, arc, quarter and spark drawings, quick reference." title="Ring, arc, quarter and spark drawings, quick refere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· VAL-02 · VECTOR KIT RECEIVED, ACCEPTANCE PENDING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pilot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VAL-09 · NOT STARTED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artwork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VAL-03, VAL-04 · [TO BE VERIFIED]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ISSUED · AC17, VAL-10, VAL-11 OPEN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VAL-05 · PENDING VALIDATION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VAL-08 · IN PROGRESS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VAL-06 · PENDING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AC19 · [REQUIRES OWNER]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VAL-07, AC10 · PENDING VALIDATION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AC20 · AUTHORIZED, WITH FORMAL DEFERRALS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open: VAL-13 to VAL-17, VAL-19 to VAL-21 and the template deliverables (AB10, AB11, W01–W14). IDs follow the V3 Approval Register.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CONTROL &amp; CHANGE LOG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VERSION. ONE DATE. ONE OWNER.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GEM-BG-V3.0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GEM™ Brand Guidelines V3.0 — Part A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(final brand-system baseline)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state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OWNER AUTHORIZED FINAL BRAND-SYSTEM BASELINE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date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2026-10-09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[REQUIRES OWNER]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· AC20 AUTHORIZED WITH FORMAL DEFERRALS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Owner authorized baseline · formal deferrals recorded · evidence gates open or deferred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RC2 (2026-10-06) and V3.0 working edition (undated)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GEM-DDS-V3.0 (Part B) · GEM-PS-V3.0 (Part C) · V3 Approval 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68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DOCUMENT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· V3.0 labels; RC2, 2026-10-06: synchronized with Part B and Part C RC2 and the V3 Approval Register (authority order, twelve roles, VAL IDs, S07 wayfinding default, six-level hierarchy T05, X12 naming, edition vocabulary, alt text). Full record: GEM_V3_RC2_Release_Notes.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Hospitality, in perfect proportion</a:t>
            </a:r>
          </a:p>
        </p:txBody>
      </p:sp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.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· Part A · Owner authorized final brand-system baseline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